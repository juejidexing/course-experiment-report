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83" r:id="rId3"/>
    <p:sldId id="260" r:id="rId4"/>
    <p:sldId id="284" r:id="rId5"/>
    <p:sldId id="450" r:id="rId6"/>
    <p:sldId id="422" r:id="rId7"/>
    <p:sldId id="312" r:id="rId8"/>
    <p:sldId id="365" r:id="rId9"/>
    <p:sldId id="261" r:id="rId10"/>
    <p:sldId id="263" r:id="rId11"/>
    <p:sldId id="264" r:id="rId12"/>
    <p:sldId id="265" r:id="rId13"/>
    <p:sldId id="423" r:id="rId14"/>
    <p:sldId id="424" r:id="rId15"/>
    <p:sldId id="257" r:id="rId16"/>
    <p:sldId id="337" r:id="rId17"/>
    <p:sldId id="409" r:id="rId18"/>
    <p:sldId id="410" r:id="rId19"/>
    <p:sldId id="411" r:id="rId20"/>
    <p:sldId id="425" r:id="rId21"/>
    <p:sldId id="426" r:id="rId22"/>
    <p:sldId id="428" r:id="rId23"/>
    <p:sldId id="397" r:id="rId24"/>
  </p:sldIdLst>
  <p:sldSz cx="9144000" cy="6858000" type="screen4x3"/>
  <p:notesSz cx="6858000" cy="9144000"/>
  <p:custDataLst>
    <p:tags r:id="rId26"/>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37">
          <p15:clr>
            <a:srgbClr val="A4A3A4"/>
          </p15:clr>
        </p15:guide>
        <p15:guide id="2" pos="284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6" autoAdjust="0"/>
    <p:restoredTop sz="94660"/>
  </p:normalViewPr>
  <p:slideViewPr>
    <p:cSldViewPr showGuides="1">
      <p:cViewPr varScale="1">
        <p:scale>
          <a:sx n="83" d="100"/>
          <a:sy n="83" d="100"/>
        </p:scale>
        <p:origin x="667" y="82"/>
      </p:cViewPr>
      <p:guideLst>
        <p:guide orient="horz" pos="2237"/>
        <p:guide pos="284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7E6A5B-4D69-4B41-87DD-F0AB8865EA53}" type="datetimeFigureOut">
              <a:rPr lang="zh-CN" altLang="en-US" smtClean="0"/>
              <a:t>2025/4/22 Tuesday</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8C69B3-F6C1-4CC8-8409-039862D96C16}" type="slidenum">
              <a:rPr lang="zh-CN" altLang="en-US" smtClean="0"/>
              <a:t>‹#›</a:t>
            </a:fld>
            <a:endParaRPr lang="zh-CN" altLang="en-US"/>
          </a:p>
        </p:txBody>
      </p:sp>
    </p:spTree>
    <p:extLst>
      <p:ext uri="{BB962C8B-B14F-4D97-AF65-F5344CB8AC3E}">
        <p14:creationId xmlns:p14="http://schemas.microsoft.com/office/powerpoint/2010/main" val="1505585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48C69B3-F6C1-4CC8-8409-039862D96C16}" type="slidenum">
              <a:rPr lang="zh-CN" altLang="en-US" smtClean="0"/>
              <a:t>12</a:t>
            </a:fld>
            <a:endParaRPr lang="zh-CN" altLang="en-US"/>
          </a:p>
        </p:txBody>
      </p:sp>
    </p:spTree>
    <p:extLst>
      <p:ext uri="{BB962C8B-B14F-4D97-AF65-F5344CB8AC3E}">
        <p14:creationId xmlns:p14="http://schemas.microsoft.com/office/powerpoint/2010/main" val="31453754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79874" name="标题 79873"/>
          <p:cNvSpPr>
            <a:spLocks noGrp="1" noRot="1"/>
          </p:cNvSpPr>
          <p:nvPr>
            <p:ph type="ctrTitle"/>
          </p:nvPr>
        </p:nvSpPr>
        <p:spPr>
          <a:xfrm>
            <a:off x="685800" y="2286000"/>
            <a:ext cx="7772400" cy="1143000"/>
          </a:xfrm>
          <a:prstGeom prst="rect">
            <a:avLst/>
          </a:prstGeom>
          <a:noFill/>
          <a:ln w="9525">
            <a:noFill/>
          </a:ln>
        </p:spPr>
        <p:txBody>
          <a:bodyPr anchor="ctr"/>
          <a:lstStyle>
            <a:lvl1pPr lvl="0">
              <a:buClrTx/>
              <a:buSzTx/>
              <a:buFontTx/>
              <a:defRPr/>
            </a:lvl1pPr>
          </a:lstStyle>
          <a:p>
            <a:pPr lvl="0"/>
            <a:r>
              <a:rPr lang="zh-CN" altLang="en-US" dirty="0"/>
              <a:t>单击此处编辑母版标题样式</a:t>
            </a:r>
          </a:p>
        </p:txBody>
      </p:sp>
      <p:sp>
        <p:nvSpPr>
          <p:cNvPr id="79875" name="副标题 79874"/>
          <p:cNvSpPr>
            <a:spLocks noGrp="1" noRot="1"/>
          </p:cNvSpPr>
          <p:nvPr>
            <p:ph type="subTitle" idx="1"/>
          </p:nvPr>
        </p:nvSpPr>
        <p:spPr>
          <a:xfrm>
            <a:off x="1371600" y="3886200"/>
            <a:ext cx="6400800" cy="1752600"/>
          </a:xfrm>
          <a:prstGeom prst="rect">
            <a:avLst/>
          </a:prstGeom>
          <a:noFill/>
          <a:ln w="9525">
            <a:noFill/>
          </a:ln>
        </p:spPr>
        <p:txBody>
          <a:bodyPr anchor="t"/>
          <a:lstStyle>
            <a:lvl1pPr marL="0" lvl="0" indent="0" algn="ctr">
              <a:buClr>
                <a:schemeClr val="hlink"/>
              </a:buClr>
              <a:buSzPct val="75000"/>
              <a:buFont typeface="Wingdings" panose="05000000000000000000" pitchFamily="2" charset="2"/>
              <a:buNone/>
              <a:defRPr/>
            </a:lvl1pPr>
            <a:lvl2pPr marL="457200" lvl="1" indent="0" algn="ctr">
              <a:buClr>
                <a:schemeClr val="accent2"/>
              </a:buClr>
              <a:buSzPct val="85000"/>
              <a:buFont typeface="Wingdings" panose="05000000000000000000" pitchFamily="2" charset="2"/>
              <a:buNone/>
              <a:defRPr/>
            </a:lvl2pPr>
            <a:lvl3pPr marL="914400" lvl="2" indent="0" algn="ctr">
              <a:buClr>
                <a:schemeClr val="hlink"/>
              </a:buClr>
              <a:buSzPct val="85000"/>
              <a:buFont typeface="Wingdings" panose="05000000000000000000" pitchFamily="2" charset="2"/>
              <a:buNone/>
              <a:defRPr/>
            </a:lvl3pPr>
            <a:lvl4pPr marL="1371600" lvl="3" indent="0" algn="ctr">
              <a:buClr>
                <a:schemeClr val="accent2"/>
              </a:buClr>
              <a:buSzPct val="90000"/>
              <a:buFont typeface="Wingdings" panose="05000000000000000000" pitchFamily="2" charset="2"/>
              <a:buNone/>
              <a:defRPr/>
            </a:lvl4pPr>
            <a:lvl5pPr marL="1828800" lvl="4" indent="0" algn="ctr">
              <a:buClr>
                <a:schemeClr val="hlink"/>
              </a:buClr>
              <a:buSzPct val="85000"/>
              <a:buFont typeface="Wingdings" panose="05000000000000000000" pitchFamily="2" charset="2"/>
              <a:buNone/>
              <a:defRPr/>
            </a:lvl5pPr>
          </a:lstStyle>
          <a:p>
            <a:pPr lvl="0"/>
            <a:r>
              <a:rPr lang="zh-CN" altLang="en-US" dirty="0"/>
              <a:t>单击此处编辑母版副标题样式</a:t>
            </a:r>
          </a:p>
        </p:txBody>
      </p:sp>
      <p:sp>
        <p:nvSpPr>
          <p:cNvPr id="79876" name="日期占位符 79875"/>
          <p:cNvSpPr>
            <a:spLocks noGrp="1"/>
          </p:cNvSpPr>
          <p:nvPr>
            <p:ph type="dt" sz="half" idx="2"/>
          </p:nvPr>
        </p:nvSpPr>
        <p:spPr>
          <a:xfrm>
            <a:off x="301625" y="6245225"/>
            <a:ext cx="2289175" cy="476250"/>
          </a:xfrm>
          <a:prstGeom prst="rect">
            <a:avLst/>
          </a:prstGeom>
          <a:noFill/>
          <a:ln w="9525">
            <a:noFill/>
          </a:ln>
        </p:spPr>
        <p:txBody>
          <a:bodyPr anchor="t"/>
          <a:lstStyle>
            <a:lvl1pPr>
              <a:defRPr sz="1400"/>
            </a:lvl1pPr>
          </a:lstStyle>
          <a:p>
            <a:endParaRPr lang="zh-CN" altLang="en-US" dirty="0">
              <a:latin typeface="Arial" panose="020B0604020202020204" pitchFamily="34" charset="0"/>
            </a:endParaRPr>
          </a:p>
        </p:txBody>
      </p:sp>
      <p:sp>
        <p:nvSpPr>
          <p:cNvPr id="79877" name="页脚占位符 79876"/>
          <p:cNvSpPr>
            <a:spLocks noGrp="1"/>
          </p:cNvSpPr>
          <p:nvPr>
            <p:ph type="ftr" sz="quarter" idx="3"/>
          </p:nvPr>
        </p:nvSpPr>
        <p:spPr>
          <a:xfrm>
            <a:off x="3124200" y="6245225"/>
            <a:ext cx="2895600" cy="476250"/>
          </a:xfrm>
          <a:prstGeom prst="rect">
            <a:avLst/>
          </a:prstGeom>
          <a:noFill/>
          <a:ln w="9525">
            <a:noFill/>
          </a:ln>
        </p:spPr>
        <p:txBody>
          <a:bodyPr anchor="t"/>
          <a:lstStyle>
            <a:lvl1pPr algn="ctr">
              <a:defRPr sz="1400"/>
            </a:lvl1pPr>
          </a:lstStyle>
          <a:p>
            <a:endParaRPr lang="zh-CN" altLang="en-US" dirty="0">
              <a:latin typeface="Arial" panose="020B0604020202020204" pitchFamily="34" charset="0"/>
            </a:endParaRPr>
          </a:p>
        </p:txBody>
      </p:sp>
      <p:sp>
        <p:nvSpPr>
          <p:cNvPr id="79878" name="灯片编号占位符 79877"/>
          <p:cNvSpPr>
            <a:spLocks noGrp="1"/>
          </p:cNvSpPr>
          <p:nvPr>
            <p:ph type="sldNum" sz="quarter" idx="4"/>
          </p:nvPr>
        </p:nvSpPr>
        <p:spPr>
          <a:xfrm>
            <a:off x="6553200" y="6245225"/>
            <a:ext cx="2289175" cy="476250"/>
          </a:xfrm>
          <a:prstGeom prst="rect">
            <a:avLst/>
          </a:prstGeom>
          <a:noFill/>
          <a:ln w="9525">
            <a:noFill/>
          </a:ln>
        </p:spPr>
        <p:txBody>
          <a:bodyPr anchor="t"/>
          <a:lstStyle>
            <a:lvl1pPr algn="r">
              <a:defRPr sz="1400"/>
            </a:lvl1pPr>
          </a:lstStyle>
          <a:p>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1625" y="1905000"/>
            <a:ext cx="4184968" cy="41941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57408" y="1905000"/>
            <a:ext cx="4184968" cy="41941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8" name="页脚占位符 7"/>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latin typeface="Arial" panose="020B0604020202020204" pitchFamily="34" charset="0"/>
              </a:rPr>
              <a:t>2025/4/22 Tuesday</a:t>
            </a:fld>
            <a:endParaRPr lang="zh-CN" altLang="en-US" dirty="0">
              <a:latin typeface="Arial" panose="020B0604020202020204" pitchFamily="34" charset="0"/>
            </a:endParaRPr>
          </a:p>
        </p:txBody>
      </p:sp>
      <p:sp>
        <p:nvSpPr>
          <p:cNvPr id="3" name="页脚占位符 2"/>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609600"/>
            <a:ext cx="2135188" cy="54895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1625" y="609600"/>
            <a:ext cx="6281784" cy="54895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29150" y="1825625"/>
            <a:ext cx="3886200" cy="2098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29150" y="4076700"/>
            <a:ext cx="3886200" cy="21002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7" name="页脚占位符 6"/>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8" name="灯片编号占位符 7"/>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29150" y="1825625"/>
            <a:ext cx="3886200" cy="2098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29150" y="4076700"/>
            <a:ext cx="3886200" cy="21002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7" name="页脚占位符 6"/>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8" name="灯片编号占位符 7"/>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836613"/>
            <a:ext cx="8240713" cy="52895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7"/>
          <a:stretch>
            <a:fillRect/>
          </a:stretch>
        </a:blipFill>
        <a:effectLst/>
      </p:bgPr>
    </p:bg>
    <p:spTree>
      <p:nvGrpSpPr>
        <p:cNvPr id="1" name=""/>
        <p:cNvGrpSpPr/>
        <p:nvPr/>
      </p:nvGrpSpPr>
      <p:grpSpPr>
        <a:xfrm>
          <a:off x="0" y="0"/>
          <a:ext cx="0" cy="0"/>
          <a:chOff x="0" y="0"/>
          <a:chExt cx="0" cy="0"/>
        </a:xfrm>
      </p:grpSpPr>
      <p:sp>
        <p:nvSpPr>
          <p:cNvPr id="78850" name="标题 78849"/>
          <p:cNvSpPr>
            <a:spLocks noGrp="1" noRot="1"/>
          </p:cNvSpPr>
          <p:nvPr>
            <p:ph type="title"/>
          </p:nvPr>
        </p:nvSpPr>
        <p:spPr>
          <a:xfrm>
            <a:off x="301625" y="609600"/>
            <a:ext cx="8540750" cy="1143000"/>
          </a:xfrm>
          <a:prstGeom prst="rect">
            <a:avLst/>
          </a:prstGeom>
          <a:noFill/>
          <a:ln w="9525">
            <a:noFill/>
          </a:ln>
        </p:spPr>
        <p:txBody>
          <a:bodyPr anchor="ctr"/>
          <a:lstStyle/>
          <a:p>
            <a:pPr lvl="0"/>
            <a:r>
              <a:rPr lang="zh-CN" altLang="en-US" dirty="0"/>
              <a:t>单击此处编辑母版标题样式</a:t>
            </a:r>
          </a:p>
        </p:txBody>
      </p:sp>
      <p:sp>
        <p:nvSpPr>
          <p:cNvPr id="78851" name="文本占位符 78850"/>
          <p:cNvSpPr>
            <a:spLocks noGrp="1" noRot="1"/>
          </p:cNvSpPr>
          <p:nvPr>
            <p:ph type="body" idx="1"/>
          </p:nvPr>
        </p:nvSpPr>
        <p:spPr>
          <a:xfrm>
            <a:off x="301625" y="1905000"/>
            <a:ext cx="8540750" cy="4194175"/>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8852" name="日期占位符 78851"/>
          <p:cNvSpPr>
            <a:spLocks noGrp="1"/>
          </p:cNvSpPr>
          <p:nvPr>
            <p:ph type="dt" sz="half" idx="2"/>
          </p:nvPr>
        </p:nvSpPr>
        <p:spPr>
          <a:xfrm>
            <a:off x="301625" y="6245225"/>
            <a:ext cx="2289175" cy="476250"/>
          </a:xfrm>
          <a:prstGeom prst="rect">
            <a:avLst/>
          </a:prstGeom>
          <a:noFill/>
          <a:ln w="9525">
            <a:noFill/>
          </a:ln>
        </p:spPr>
        <p:txBody>
          <a:bodyPr/>
          <a:lstStyle>
            <a:lvl1pPr>
              <a:defRPr sz="1400"/>
            </a:lvl1pPr>
          </a:lstStyle>
          <a:p>
            <a:pPr lvl="0"/>
            <a:fld id="{BB962C8B-B14F-4D97-AF65-F5344CB8AC3E}" type="datetime1">
              <a:rPr lang="zh-CN" altLang="en-US" dirty="0">
                <a:latin typeface="Arial" panose="020B0604020202020204" pitchFamily="34" charset="0"/>
              </a:rPr>
              <a:t>2025/4/22 Tuesday</a:t>
            </a:fld>
            <a:endParaRPr lang="zh-CN" altLang="en-US" dirty="0">
              <a:latin typeface="Arial" panose="020B0604020202020204" pitchFamily="34" charset="0"/>
            </a:endParaRPr>
          </a:p>
        </p:txBody>
      </p:sp>
      <p:sp>
        <p:nvSpPr>
          <p:cNvPr id="78853" name="页脚占位符 78852"/>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a:endParaRPr lang="zh-CN" altLang="en-US" dirty="0">
              <a:latin typeface="Arial" panose="020B0604020202020204" pitchFamily="34" charset="0"/>
            </a:endParaRPr>
          </a:p>
        </p:txBody>
      </p:sp>
      <p:sp>
        <p:nvSpPr>
          <p:cNvPr id="78854" name="灯片编号占位符 78853"/>
          <p:cNvSpPr>
            <a:spLocks noGrp="1"/>
          </p:cNvSpPr>
          <p:nvPr>
            <p:ph type="sldNum" sz="quarter" idx="4"/>
          </p:nvPr>
        </p:nvSpPr>
        <p:spPr>
          <a:xfrm>
            <a:off x="6553200" y="6245225"/>
            <a:ext cx="2289175" cy="476250"/>
          </a:xfrm>
          <a:prstGeom prst="rect">
            <a:avLst/>
          </a:prstGeom>
          <a:noFill/>
          <a:ln w="9525">
            <a:noFill/>
          </a:ln>
        </p:spPr>
        <p:txBody>
          <a:bodyPr/>
          <a:lstStyle>
            <a:lvl1pPr algn="r">
              <a:defRPr sz="1400"/>
            </a:lvl1p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Char char="v"/>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22823;&#26725;&#20849;&#25391;.avi" TargetMode="Externa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8.wmf"/><Relationship Id="rId7"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9.wmf"/><Relationship Id="rId10" Type="http://schemas.openxmlformats.org/officeDocument/2006/relationships/image" Target="../media/image12.png"/><Relationship Id="rId4" Type="http://schemas.openxmlformats.org/officeDocument/2006/relationships/oleObject" Target="../embeddings/oleObject2.bin"/><Relationship Id="rId9" Type="http://schemas.openxmlformats.org/officeDocument/2006/relationships/image" Target="../media/image11.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13.wmf"/><Relationship Id="rId7" Type="http://schemas.openxmlformats.org/officeDocument/2006/relationships/image" Target="../media/image15.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oleObject" Target="../embeddings/oleObject7.bin"/><Relationship Id="rId11" Type="http://schemas.openxmlformats.org/officeDocument/2006/relationships/image" Target="../media/image17.wmf"/><Relationship Id="rId5" Type="http://schemas.openxmlformats.org/officeDocument/2006/relationships/image" Target="../media/image14.w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16.wmf"/></Relationships>
</file>

<file path=ppt/slides/_rels/slide8.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image" Target="../media/image18.wmf"/><Relationship Id="rId7" Type="http://schemas.openxmlformats.org/officeDocument/2006/relationships/image" Target="../media/image16.wmf"/><Relationship Id="rId2"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8.bin"/><Relationship Id="rId11" Type="http://schemas.openxmlformats.org/officeDocument/2006/relationships/image" Target="../media/image21.wmf"/><Relationship Id="rId5" Type="http://schemas.openxmlformats.org/officeDocument/2006/relationships/image" Target="../media/image19.wmf"/><Relationship Id="rId10" Type="http://schemas.openxmlformats.org/officeDocument/2006/relationships/oleObject" Target="../embeddings/oleObject12.bin"/><Relationship Id="rId4" Type="http://schemas.openxmlformats.org/officeDocument/2006/relationships/oleObject" Target="../embeddings/oleObject11.bin"/><Relationship Id="rId9"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27.wmf"/><Relationship Id="rId18" Type="http://schemas.openxmlformats.org/officeDocument/2006/relationships/oleObject" Target="../embeddings/oleObject21.bin"/><Relationship Id="rId3" Type="http://schemas.openxmlformats.org/officeDocument/2006/relationships/image" Target="../media/image22.wmf"/><Relationship Id="rId21" Type="http://schemas.openxmlformats.org/officeDocument/2006/relationships/image" Target="../media/image31.wmf"/><Relationship Id="rId7" Type="http://schemas.openxmlformats.org/officeDocument/2006/relationships/image" Target="../media/image24.wmf"/><Relationship Id="rId12" Type="http://schemas.openxmlformats.org/officeDocument/2006/relationships/oleObject" Target="../embeddings/oleObject18.bin"/><Relationship Id="rId17" Type="http://schemas.openxmlformats.org/officeDocument/2006/relationships/image" Target="../media/image29.wmf"/><Relationship Id="rId2" Type="http://schemas.openxmlformats.org/officeDocument/2006/relationships/oleObject" Target="../embeddings/oleObject13.bin"/><Relationship Id="rId16" Type="http://schemas.openxmlformats.org/officeDocument/2006/relationships/oleObject" Target="../embeddings/oleObject20.bin"/><Relationship Id="rId20" Type="http://schemas.openxmlformats.org/officeDocument/2006/relationships/oleObject" Target="../embeddings/oleObject22.bin"/><Relationship Id="rId1" Type="http://schemas.openxmlformats.org/officeDocument/2006/relationships/slideLayout" Target="../slideLayouts/slideLayout2.xml"/><Relationship Id="rId6" Type="http://schemas.openxmlformats.org/officeDocument/2006/relationships/oleObject" Target="../embeddings/oleObject15.bin"/><Relationship Id="rId11" Type="http://schemas.openxmlformats.org/officeDocument/2006/relationships/image" Target="../media/image26.wmf"/><Relationship Id="rId5" Type="http://schemas.openxmlformats.org/officeDocument/2006/relationships/image" Target="../media/image23.wmf"/><Relationship Id="rId15" Type="http://schemas.openxmlformats.org/officeDocument/2006/relationships/image" Target="../media/image28.wmf"/><Relationship Id="rId10" Type="http://schemas.openxmlformats.org/officeDocument/2006/relationships/oleObject" Target="../embeddings/oleObject17.bin"/><Relationship Id="rId19" Type="http://schemas.openxmlformats.org/officeDocument/2006/relationships/image" Target="../media/image30.wmf"/><Relationship Id="rId4" Type="http://schemas.openxmlformats.org/officeDocument/2006/relationships/oleObject" Target="../embeddings/oleObject14.bin"/><Relationship Id="rId9" Type="http://schemas.openxmlformats.org/officeDocument/2006/relationships/image" Target="../media/image25.wmf"/><Relationship Id="rId14" Type="http://schemas.openxmlformats.org/officeDocument/2006/relationships/oleObject" Target="../embeddings/oleObject19.bin"/><Relationship Id="rId22"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image" Target="../media/image32.wmf"/><Relationship Id="rId7" Type="http://schemas.openxmlformats.org/officeDocument/2006/relationships/image" Target="../media/image34.wmf"/><Relationship Id="rId2" Type="http://schemas.openxmlformats.org/officeDocument/2006/relationships/oleObject" Target="../embeddings/oleObject23.bin"/><Relationship Id="rId1" Type="http://schemas.openxmlformats.org/officeDocument/2006/relationships/slideLayout" Target="../slideLayouts/slideLayout2.xml"/><Relationship Id="rId6" Type="http://schemas.openxmlformats.org/officeDocument/2006/relationships/oleObject" Target="../embeddings/oleObject25.bin"/><Relationship Id="rId11" Type="http://schemas.openxmlformats.org/officeDocument/2006/relationships/image" Target="../media/image36.wmf"/><Relationship Id="rId5" Type="http://schemas.openxmlformats.org/officeDocument/2006/relationships/image" Target="../media/image33.w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35.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42.wmf"/><Relationship Id="rId3" Type="http://schemas.openxmlformats.org/officeDocument/2006/relationships/image" Target="../media/image37.wmf"/><Relationship Id="rId7" Type="http://schemas.openxmlformats.org/officeDocument/2006/relationships/image" Target="../media/image39.wmf"/><Relationship Id="rId12" Type="http://schemas.openxmlformats.org/officeDocument/2006/relationships/oleObject" Target="../embeddings/oleObject33.bin"/><Relationship Id="rId17" Type="http://schemas.openxmlformats.org/officeDocument/2006/relationships/image" Target="../media/image44.wmf"/><Relationship Id="rId2" Type="http://schemas.openxmlformats.org/officeDocument/2006/relationships/oleObject" Target="../embeddings/oleObject28.bin"/><Relationship Id="rId16" Type="http://schemas.openxmlformats.org/officeDocument/2006/relationships/oleObject" Target="../embeddings/oleObject35.bin"/><Relationship Id="rId1" Type="http://schemas.openxmlformats.org/officeDocument/2006/relationships/slideLayout" Target="../slideLayouts/slideLayout2.xml"/><Relationship Id="rId6" Type="http://schemas.openxmlformats.org/officeDocument/2006/relationships/oleObject" Target="../embeddings/oleObject30.bin"/><Relationship Id="rId11" Type="http://schemas.openxmlformats.org/officeDocument/2006/relationships/image" Target="../media/image41.wmf"/><Relationship Id="rId5" Type="http://schemas.openxmlformats.org/officeDocument/2006/relationships/image" Target="../media/image38.wmf"/><Relationship Id="rId15" Type="http://schemas.openxmlformats.org/officeDocument/2006/relationships/image" Target="../media/image43.wmf"/><Relationship Id="rId10" Type="http://schemas.openxmlformats.org/officeDocument/2006/relationships/oleObject" Target="../embeddings/oleObject32.bin"/><Relationship Id="rId4" Type="http://schemas.openxmlformats.org/officeDocument/2006/relationships/oleObject" Target="../embeddings/oleObject29.bin"/><Relationship Id="rId9" Type="http://schemas.openxmlformats.org/officeDocument/2006/relationships/image" Target="../media/image40.wmf"/><Relationship Id="rId14" Type="http://schemas.openxmlformats.org/officeDocument/2006/relationships/oleObject" Target="../embeddings/oleObject34.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50.wmf"/><Relationship Id="rId18" Type="http://schemas.openxmlformats.org/officeDocument/2006/relationships/oleObject" Target="../embeddings/oleObject42.bin"/><Relationship Id="rId3" Type="http://schemas.openxmlformats.org/officeDocument/2006/relationships/image" Target="../media/image45.png"/><Relationship Id="rId21" Type="http://schemas.openxmlformats.org/officeDocument/2006/relationships/image" Target="../media/image54.wmf"/><Relationship Id="rId7" Type="http://schemas.openxmlformats.org/officeDocument/2006/relationships/image" Target="../media/image47.wmf"/><Relationship Id="rId12" Type="http://schemas.openxmlformats.org/officeDocument/2006/relationships/oleObject" Target="../embeddings/oleObject39.bin"/><Relationship Id="rId17" Type="http://schemas.openxmlformats.org/officeDocument/2006/relationships/image" Target="../media/image52.wmf"/><Relationship Id="rId2" Type="http://schemas.openxmlformats.org/officeDocument/2006/relationships/notesSlide" Target="../notesSlides/notesSlide1.xml"/><Relationship Id="rId16" Type="http://schemas.openxmlformats.org/officeDocument/2006/relationships/oleObject" Target="../embeddings/oleObject41.bin"/><Relationship Id="rId20" Type="http://schemas.openxmlformats.org/officeDocument/2006/relationships/oleObject" Target="../embeddings/oleObject43.bin"/><Relationship Id="rId1" Type="http://schemas.openxmlformats.org/officeDocument/2006/relationships/slideLayout" Target="../slideLayouts/slideLayout2.xml"/><Relationship Id="rId6" Type="http://schemas.openxmlformats.org/officeDocument/2006/relationships/oleObject" Target="../embeddings/oleObject37.bin"/><Relationship Id="rId11" Type="http://schemas.openxmlformats.org/officeDocument/2006/relationships/image" Target="../media/image49.png"/><Relationship Id="rId5" Type="http://schemas.openxmlformats.org/officeDocument/2006/relationships/image" Target="../media/image46.wmf"/><Relationship Id="rId15" Type="http://schemas.openxmlformats.org/officeDocument/2006/relationships/image" Target="../media/image51.wmf"/><Relationship Id="rId23" Type="http://schemas.openxmlformats.org/officeDocument/2006/relationships/image" Target="../media/image55.wmf"/><Relationship Id="rId10" Type="http://schemas.openxmlformats.org/officeDocument/2006/relationships/hyperlink" Target="file:///E:\&#25945;&#26696;\&#22823;&#23398;&#29289;&#29702;&#23454;&#39564;&#65293;&#19978;\&#29289;&#29702;&#23454;&#39564;&#19978;&#65293;&#20462;&#25913;&#65293;&#38047;\zdqx\caisoft.exe" TargetMode="External"/><Relationship Id="rId19" Type="http://schemas.openxmlformats.org/officeDocument/2006/relationships/image" Target="../media/image53.wmf"/><Relationship Id="rId4" Type="http://schemas.openxmlformats.org/officeDocument/2006/relationships/oleObject" Target="../embeddings/oleObject36.bin"/><Relationship Id="rId9" Type="http://schemas.openxmlformats.org/officeDocument/2006/relationships/image" Target="../media/image48.wmf"/><Relationship Id="rId14" Type="http://schemas.openxmlformats.org/officeDocument/2006/relationships/oleObject" Target="../embeddings/oleObject40.bin"/><Relationship Id="rId22" Type="http://schemas.openxmlformats.org/officeDocument/2006/relationships/oleObject" Target="../embeddings/oleObject44.bin"/></Relationships>
</file>

<file path=ppt/slides/_rels/slide13.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slideLayout" Target="../slideLayouts/slideLayout2.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image" Target="../media/image57.png"/><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image" Target="../media/image56.png"/></Relationships>
</file>

<file path=ppt/slides/_rels/slide1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slideLayout" Target="../slideLayouts/slideLayout14.xml"/><Relationship Id="rId1" Type="http://schemas.openxmlformats.org/officeDocument/2006/relationships/tags" Target="../tags/tag1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5.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6.xml"/></Relationships>
</file>

<file path=ppt/slides/_rels/slide1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4" name="矩形 4103"/>
          <p:cNvSpPr/>
          <p:nvPr/>
        </p:nvSpPr>
        <p:spPr>
          <a:xfrm>
            <a:off x="0" y="2390140"/>
            <a:ext cx="8686800" cy="922020"/>
          </a:xfrm>
          <a:prstGeom prst="rect">
            <a:avLst/>
          </a:prstGeom>
          <a:noFill/>
          <a:ln w="9525">
            <a:noFill/>
          </a:ln>
        </p:spPr>
        <p:txBody>
          <a:bodyPr anchor="ctr">
            <a:spAutoFit/>
          </a:bodyPr>
          <a:lstStyle/>
          <a:p>
            <a:pPr algn="ctr" defTabSz="914400">
              <a:tabLst>
                <a:tab pos="2057400" algn="l"/>
              </a:tabLst>
            </a:pPr>
            <a:r>
              <a:rPr lang="zh-CN" altLang="en-US" sz="5400" b="1" dirty="0">
                <a:latin typeface="Arial" panose="020B0604020202020204" pitchFamily="34" charset="0"/>
              </a:rPr>
              <a:t>波 尔 振动实验</a:t>
            </a:r>
            <a:r>
              <a:rPr lang="zh-CN" altLang="en-US" sz="5400" dirty="0">
                <a:latin typeface="Arial" panose="020B0604020202020204" pitchFamily="34" charset="0"/>
              </a:rPr>
              <a:t>	</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9217"/>
          <p:cNvSpPr>
            <a:spLocks noGrp="1"/>
          </p:cNvSpPr>
          <p:nvPr>
            <p:ph type="title"/>
          </p:nvPr>
        </p:nvSpPr>
        <p:spPr>
          <a:xfrm>
            <a:off x="52070" y="481330"/>
            <a:ext cx="6475095" cy="796925"/>
          </a:xfrm>
        </p:spPr>
        <p:txBody>
          <a:bodyPr anchor="ctr"/>
          <a:lstStyle/>
          <a:p>
            <a:pPr algn="l"/>
            <a:r>
              <a:rPr lang="zh-CN" altLang="en-US" dirty="0"/>
              <a:t>实验目的：</a:t>
            </a:r>
          </a:p>
        </p:txBody>
      </p:sp>
      <p:sp>
        <p:nvSpPr>
          <p:cNvPr id="15" name="Text Box 9"/>
          <p:cNvSpPr txBox="1">
            <a:spLocks noChangeArrowheads="1"/>
          </p:cNvSpPr>
          <p:nvPr/>
        </p:nvSpPr>
        <p:spPr bwMode="auto">
          <a:xfrm>
            <a:off x="447160" y="1386860"/>
            <a:ext cx="8820472" cy="3753485"/>
          </a:xfrm>
          <a:prstGeom prst="rect">
            <a:avLst/>
          </a:prstGeom>
          <a:noFill/>
          <a:ln w="9525">
            <a:noFill/>
            <a:miter lim="800000"/>
          </a:ln>
          <a:effectLst>
            <a:prstShdw prst="shdw17" dist="17961" dir="2700000">
              <a:schemeClr val="accent1">
                <a:gamma/>
                <a:shade val="60000"/>
                <a:invGamma/>
              </a:schemeClr>
            </a:prstShdw>
          </a:effectLst>
        </p:spPr>
        <p:txBody>
          <a:bodyPr wrap="square">
            <a:spAutoFit/>
          </a:bodyPr>
          <a:lstStyle/>
          <a:p>
            <a:pPr>
              <a:spcBef>
                <a:spcPct val="50000"/>
              </a:spcBef>
              <a:defRPr/>
            </a:pPr>
            <a:r>
              <a:rPr lang="zh-CN" altLang="en-US" sz="2800" b="1" dirty="0">
                <a:solidFill>
                  <a:srgbClr val="002060"/>
                </a:solidFill>
                <a:sym typeface="+mn-ea"/>
              </a:rPr>
              <a:t>1．利用波尔摆，观察自由振动、阻尼振动、受迫振动、磁阻尼、拍频等振动现象，定量测量相关振动参数。</a:t>
            </a:r>
          </a:p>
          <a:p>
            <a:pPr>
              <a:spcBef>
                <a:spcPct val="50000"/>
              </a:spcBef>
              <a:defRPr/>
            </a:pPr>
            <a:r>
              <a:rPr lang="zh-CN" altLang="en-US" sz="2800" b="1" dirty="0">
                <a:solidFill>
                  <a:srgbClr val="002060"/>
                </a:solidFill>
                <a:sym typeface="+mn-ea"/>
              </a:rPr>
              <a:t>2．研究波尔振动的幅频特性和相频特性以及共振现象。</a:t>
            </a:r>
          </a:p>
          <a:p>
            <a:pPr>
              <a:spcBef>
                <a:spcPct val="50000"/>
              </a:spcBef>
              <a:defRPr/>
            </a:pPr>
            <a:r>
              <a:rPr lang="zh-CN" altLang="en-US" sz="2800" b="1" dirty="0">
                <a:solidFill>
                  <a:srgbClr val="002060"/>
                </a:solidFill>
                <a:sym typeface="+mn-ea"/>
              </a:rPr>
              <a:t>3．通过用数据采集器和转动传感器观测波尔振动现象。  4．观测波尔振动的频谱特性。</a:t>
            </a:r>
          </a:p>
          <a:p>
            <a:pPr>
              <a:spcBef>
                <a:spcPct val="50000"/>
              </a:spcBef>
              <a:defRPr/>
            </a:pPr>
            <a:r>
              <a:rPr lang="en-US" altLang="zh-CN" sz="2800" b="1" dirty="0">
                <a:solidFill>
                  <a:srgbClr val="002060"/>
                </a:solidFill>
                <a:sym typeface="+mn-ea"/>
              </a:rPr>
              <a:t>5</a:t>
            </a:r>
            <a:r>
              <a:rPr lang="zh-CN" altLang="en-US" sz="2800" b="1" dirty="0">
                <a:solidFill>
                  <a:srgbClr val="002060"/>
                </a:solidFill>
                <a:sym typeface="+mn-ea"/>
              </a:rPr>
              <a:t>．观测波尔摆的相图，及摆动过程中机械能的转换和守恒特性。</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083" name="文本占位符 46082"/>
          <p:cNvSpPr>
            <a:spLocks noGrp="1" noRot="1"/>
          </p:cNvSpPr>
          <p:nvPr>
            <p:ph type="body" idx="1"/>
          </p:nvPr>
        </p:nvSpPr>
        <p:spPr>
          <a:xfrm>
            <a:off x="301625" y="1387475"/>
            <a:ext cx="8540750" cy="4853305"/>
          </a:xfrm>
        </p:spPr>
        <p:txBody>
          <a:bodyPr/>
          <a:lstStyle/>
          <a:p>
            <a:pPr marL="0" indent="0">
              <a:lnSpc>
                <a:spcPct val="80000"/>
              </a:lnSpc>
              <a:spcBef>
                <a:spcPts val="0"/>
              </a:spcBef>
              <a:buNone/>
            </a:pPr>
            <a:r>
              <a:rPr lang="en-US" altLang="zh-CN" sz="2800" b="1" dirty="0">
                <a:latin typeface="宋体" panose="02010600030101010101" pitchFamily="2" charset="-122"/>
                <a:ea typeface="宋体" panose="02010600030101010101" pitchFamily="2" charset="-122"/>
                <a:cs typeface="宋体" panose="02010600030101010101" pitchFamily="2" charset="-122"/>
              </a:rPr>
              <a:t>    </a:t>
            </a:r>
            <a:r>
              <a:rPr lang="zh-CN" altLang="en-US" sz="2800" b="1" dirty="0">
                <a:solidFill>
                  <a:srgbClr val="000000"/>
                </a:solidFill>
                <a:latin typeface="宋体" panose="02010600030101010101" pitchFamily="2" charset="-122"/>
                <a:ea typeface="宋体" panose="02010600030101010101" pitchFamily="2" charset="-122"/>
                <a:cs typeface="宋体" panose="02010600030101010101" pitchFamily="2" charset="-122"/>
              </a:rPr>
              <a:t>物体在周期外力的持续作用下发生的振动称为</a:t>
            </a:r>
            <a:r>
              <a:rPr lang="zh-CN" altLang="en-US" sz="2800" b="1" dirty="0">
                <a:solidFill>
                  <a:srgbClr val="FF0000"/>
                </a:solidFill>
                <a:latin typeface="宋体" panose="02010600030101010101" pitchFamily="2" charset="-122"/>
                <a:ea typeface="宋体" panose="02010600030101010101" pitchFamily="2" charset="-122"/>
                <a:cs typeface="宋体" panose="02010600030101010101" pitchFamily="2" charset="-122"/>
              </a:rPr>
              <a:t>受迫振动</a:t>
            </a:r>
            <a:r>
              <a:rPr lang="zh-CN" altLang="en-US" sz="2800" b="1" dirty="0">
                <a:solidFill>
                  <a:srgbClr val="000000"/>
                </a:solidFill>
                <a:latin typeface="宋体" panose="02010600030101010101" pitchFamily="2" charset="-122"/>
                <a:ea typeface="宋体" panose="02010600030101010101" pitchFamily="2" charset="-122"/>
                <a:cs typeface="宋体" panose="02010600030101010101" pitchFamily="2" charset="-122"/>
              </a:rPr>
              <a:t>，这种周期性的外力称为强迫力。如果外力是按简谐振动规律变化，那么稳定状态时的受迫振动也是简谐振动，此时，振幅保持恒定，振幅的大小与强迫力的频率和原振动系统无阻尼时的固有振动频率以及阻尼系数有关。</a:t>
            </a:r>
            <a:r>
              <a:rPr lang="zh-CN" altLang="en-US" sz="2800" b="1" dirty="0">
                <a:solidFill>
                  <a:srgbClr val="FF0000"/>
                </a:solidFill>
                <a:latin typeface="宋体" panose="02010600030101010101" pitchFamily="2" charset="-122"/>
                <a:ea typeface="宋体" panose="02010600030101010101" pitchFamily="2" charset="-122"/>
                <a:cs typeface="宋体" panose="02010600030101010101" pitchFamily="2" charset="-122"/>
              </a:rPr>
              <a:t>在受迫振动状态下，系统除了受到强迫力的作用外，同时还受到回复力和阻尼力的作用。所以在稳定状态时物体的位移、速度变化与强迫力变化不是同相位的，存在一个相位差。</a:t>
            </a:r>
            <a:r>
              <a:rPr lang="zh-CN" altLang="en-US" sz="2800" b="1" dirty="0">
                <a:solidFill>
                  <a:srgbClr val="000000"/>
                </a:solidFill>
                <a:latin typeface="宋体" panose="02010600030101010101" pitchFamily="2" charset="-122"/>
                <a:ea typeface="宋体" panose="02010600030101010101" pitchFamily="2" charset="-122"/>
                <a:cs typeface="宋体" panose="02010600030101010101" pitchFamily="2" charset="-122"/>
              </a:rPr>
              <a:t>当强迫力频率与系统的固有频率相同时产生共振，此时振幅最大，相位差为</a:t>
            </a:r>
            <a:r>
              <a:rPr lang="en-US" altLang="zh-CN" sz="2800" b="1" dirty="0">
                <a:solidFill>
                  <a:srgbClr val="000000"/>
                </a:solidFill>
                <a:latin typeface="宋体" panose="02010600030101010101" pitchFamily="2" charset="-122"/>
                <a:ea typeface="宋体" panose="02010600030101010101" pitchFamily="2" charset="-122"/>
                <a:cs typeface="宋体" panose="02010600030101010101" pitchFamily="2" charset="-122"/>
              </a:rPr>
              <a:t>90</a:t>
            </a:r>
            <a:r>
              <a:rPr lang="zh-CN" altLang="en-US" sz="2800" b="1" baseline="30000" dirty="0">
                <a:solidFill>
                  <a:srgbClr val="000000"/>
                </a:solidFill>
                <a:latin typeface="宋体" panose="02010600030101010101" pitchFamily="2" charset="-122"/>
                <a:ea typeface="宋体" panose="02010600030101010101" pitchFamily="2" charset="-122"/>
                <a:cs typeface="宋体" panose="02010600030101010101" pitchFamily="2" charset="-122"/>
              </a:rPr>
              <a:t>。</a:t>
            </a:r>
            <a:endParaRPr lang="zh-CN" altLang="en-US" sz="2800" b="1" dirty="0">
              <a:solidFill>
                <a:srgbClr val="000000"/>
              </a:solidFill>
              <a:latin typeface="宋体" panose="02010600030101010101" pitchFamily="2" charset="-122"/>
              <a:ea typeface="宋体" panose="02010600030101010101" pitchFamily="2" charset="-122"/>
              <a:cs typeface="宋体" panose="02010600030101010101" pitchFamily="2" charset="-122"/>
            </a:endParaRPr>
          </a:p>
          <a:p>
            <a:pPr marL="0" indent="0">
              <a:lnSpc>
                <a:spcPct val="80000"/>
              </a:lnSpc>
              <a:spcBef>
                <a:spcPts val="0"/>
              </a:spcBef>
              <a:buNone/>
            </a:pPr>
            <a:endParaRPr lang="zh-CN" altLang="en-US" sz="2800" b="1" dirty="0">
              <a:solidFill>
                <a:srgbClr val="000000"/>
              </a:solidFill>
              <a:latin typeface="宋体" panose="02010600030101010101" pitchFamily="2" charset="-122"/>
              <a:ea typeface="宋体" panose="02010600030101010101" pitchFamily="2" charset="-122"/>
              <a:cs typeface="宋体" panose="02010600030101010101" pitchFamily="2" charset="-122"/>
            </a:endParaRPr>
          </a:p>
          <a:p>
            <a:pPr marL="0" indent="0">
              <a:lnSpc>
                <a:spcPct val="80000"/>
              </a:lnSpc>
              <a:spcBef>
                <a:spcPts val="0"/>
              </a:spcBef>
              <a:buNone/>
            </a:pPr>
            <a:r>
              <a:rPr lang="zh-CN" altLang="en-US" sz="2800" b="1" dirty="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zh-CN" altLang="en-US" sz="2800" b="1" dirty="0">
                <a:solidFill>
                  <a:srgbClr val="000000"/>
                </a:solidFill>
                <a:sym typeface="+mn-ea"/>
              </a:rPr>
              <a:t>表征受迫振动性质是受迫振动的振幅</a:t>
            </a:r>
            <a:r>
              <a:rPr lang="en-US" altLang="zh-CN" sz="2800" b="1">
                <a:solidFill>
                  <a:srgbClr val="000000"/>
                </a:solidFill>
                <a:latin typeface="Arial" panose="020B0604020202020204" pitchFamily="34" charset="0"/>
                <a:sym typeface="+mn-ea"/>
              </a:rPr>
              <a:t>—</a:t>
            </a:r>
            <a:r>
              <a:rPr lang="zh-CN" altLang="en-US" sz="2800" b="1" dirty="0">
                <a:solidFill>
                  <a:srgbClr val="000000"/>
                </a:solidFill>
                <a:sym typeface="+mn-ea"/>
              </a:rPr>
              <a:t>频率特性和相位</a:t>
            </a:r>
            <a:r>
              <a:rPr lang="en-US" altLang="zh-CN" sz="2800" b="1">
                <a:solidFill>
                  <a:srgbClr val="000000"/>
                </a:solidFill>
                <a:latin typeface="Arial" panose="020B0604020202020204" pitchFamily="34" charset="0"/>
                <a:sym typeface="+mn-ea"/>
              </a:rPr>
              <a:t>—</a:t>
            </a:r>
            <a:r>
              <a:rPr lang="zh-CN" altLang="en-US" sz="2800" b="1" dirty="0">
                <a:solidFill>
                  <a:srgbClr val="000000"/>
                </a:solidFill>
                <a:sym typeface="+mn-ea"/>
              </a:rPr>
              <a:t>频率特性（简称</a:t>
            </a:r>
            <a:r>
              <a:rPr lang="zh-CN" altLang="en-US" sz="2800" b="1" dirty="0">
                <a:solidFill>
                  <a:srgbClr val="FF0000"/>
                </a:solidFill>
                <a:sym typeface="+mn-ea"/>
              </a:rPr>
              <a:t>幅频和相频特性</a:t>
            </a:r>
            <a:r>
              <a:rPr lang="zh-CN" altLang="en-US" sz="2800" b="1" dirty="0">
                <a:solidFill>
                  <a:srgbClr val="000000"/>
                </a:solidFill>
                <a:sym typeface="+mn-ea"/>
              </a:rPr>
              <a:t>）。</a:t>
            </a:r>
            <a:endParaRPr lang="zh-CN" altLang="en-US" sz="2800" b="1" dirty="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sp>
        <p:nvSpPr>
          <p:cNvPr id="12290" name="标题 12289"/>
          <p:cNvSpPr>
            <a:spLocks noGrp="1"/>
          </p:cNvSpPr>
          <p:nvPr>
            <p:ph type="title"/>
          </p:nvPr>
        </p:nvSpPr>
        <p:spPr>
          <a:xfrm>
            <a:off x="296863" y="590550"/>
            <a:ext cx="8229600" cy="796925"/>
          </a:xfrm>
        </p:spPr>
        <p:txBody>
          <a:bodyPr anchor="ctr"/>
          <a:lstStyle/>
          <a:p>
            <a:pPr algn="l"/>
            <a:r>
              <a:rPr lang="zh-CN" altLang="en-US" b="1" dirty="0">
                <a:latin typeface="幼圆" panose="02010509060101010101" pitchFamily="49" charset="-122"/>
              </a:rPr>
              <a:t>实验原理</a:t>
            </a:r>
            <a:r>
              <a:rPr lang="zh-CN" altLang="en-US" b="1" dirty="0"/>
              <a:t> </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28" name="矩形 12527"/>
          <p:cNvSpPr/>
          <p:nvPr/>
        </p:nvSpPr>
        <p:spPr>
          <a:xfrm>
            <a:off x="158750" y="1161415"/>
            <a:ext cx="8326755" cy="1199515"/>
          </a:xfrm>
          <a:prstGeom prst="rect">
            <a:avLst/>
          </a:prstGeom>
          <a:noFill/>
          <a:ln w="9525">
            <a:noFill/>
          </a:ln>
        </p:spPr>
        <p:txBody>
          <a:bodyPr/>
          <a:lstStyle/>
          <a:p>
            <a:pPr algn="l"/>
            <a:r>
              <a:rPr lang="en-US" altLang="zh-CN" sz="2800" b="1" baseline="0" dirty="0">
                <a:solidFill>
                  <a:srgbClr val="000000"/>
                </a:solidFill>
                <a:latin typeface="幼圆" panose="02010509060101010101" pitchFamily="49" charset="-122"/>
                <a:ea typeface="+mn-ea"/>
              </a:rPr>
              <a:t>  </a:t>
            </a:r>
            <a:r>
              <a:rPr lang="en-US" altLang="zh-CN" sz="2800" dirty="0">
                <a:solidFill>
                  <a:srgbClr val="000000"/>
                </a:solidFill>
                <a:sym typeface="+mn-ea"/>
              </a:rPr>
              <a:t>   </a:t>
            </a:r>
            <a:r>
              <a:rPr lang="zh-CN" altLang="en-US" sz="2400" b="1" dirty="0">
                <a:solidFill>
                  <a:srgbClr val="FF0000"/>
                </a:solidFill>
                <a:latin typeface="幼圆" panose="02010509060101010101" pitchFamily="49" charset="-122"/>
                <a:ea typeface="+mn-ea"/>
                <a:sym typeface="+mn-ea"/>
              </a:rPr>
              <a:t>自由振动</a:t>
            </a:r>
            <a:r>
              <a:rPr lang="zh-CN" altLang="en-US" sz="2400" b="1" dirty="0">
                <a:solidFill>
                  <a:srgbClr val="000000"/>
                </a:solidFill>
                <a:latin typeface="幼圆" panose="02010509060101010101" pitchFamily="49" charset="-122"/>
                <a:ea typeface="+mn-ea"/>
                <a:sym typeface="+mn-ea"/>
              </a:rPr>
              <a:t>是指物体受到大小跟位移成正比，而方向与位移恒相反的合外力作用下的简谐振动。</a:t>
            </a:r>
          </a:p>
          <a:p>
            <a:pPr algn="l"/>
            <a:endParaRPr lang="zh-CN" altLang="en-US" sz="2400" dirty="0">
              <a:solidFill>
                <a:srgbClr val="000000"/>
              </a:solidFill>
              <a:sym typeface="+mn-ea"/>
            </a:endParaRPr>
          </a:p>
          <a:p>
            <a:pPr algn="l"/>
            <a:r>
              <a:rPr lang="zh-CN" altLang="en-US" sz="2400" dirty="0">
                <a:solidFill>
                  <a:srgbClr val="000000"/>
                </a:solidFill>
                <a:sym typeface="+mn-ea"/>
              </a:rPr>
              <a:t>    </a:t>
            </a:r>
            <a:endParaRPr lang="zh-CN" altLang="en-US" sz="2400" b="1" baseline="0" dirty="0">
              <a:latin typeface="幼圆" panose="02010509060101010101" pitchFamily="49" charset="-122"/>
              <a:ea typeface="幼圆" panose="02010509060101010101" pitchFamily="49" charset="-122"/>
            </a:endParaRPr>
          </a:p>
        </p:txBody>
      </p:sp>
      <p:grpSp>
        <p:nvGrpSpPr>
          <p:cNvPr id="20518" name="组合 20517"/>
          <p:cNvGrpSpPr/>
          <p:nvPr/>
        </p:nvGrpSpPr>
        <p:grpSpPr>
          <a:xfrm>
            <a:off x="282575" y="3073717"/>
            <a:ext cx="8078787" cy="1960563"/>
            <a:chOff x="414" y="-649"/>
            <a:chExt cx="5089" cy="1235"/>
          </a:xfrm>
        </p:grpSpPr>
        <p:sp>
          <p:nvSpPr>
            <p:cNvPr id="20516" name="矩形 20515"/>
            <p:cNvSpPr/>
            <p:nvPr/>
          </p:nvSpPr>
          <p:spPr>
            <a:xfrm>
              <a:off x="414" y="-612"/>
              <a:ext cx="3260" cy="1027"/>
            </a:xfrm>
            <a:prstGeom prst="rect">
              <a:avLst/>
            </a:prstGeom>
            <a:noFill/>
            <a:ln w="9525">
              <a:noFill/>
            </a:ln>
          </p:spPr>
          <p:txBody>
            <a:bodyPr wrap="square" anchor="ctr">
              <a:spAutoFit/>
            </a:bodyPr>
            <a:lstStyle/>
            <a:p>
              <a:pPr defTabSz="914400">
                <a:tabLst>
                  <a:tab pos="342900" algn="l"/>
                </a:tabLst>
              </a:pPr>
              <a:r>
                <a:rPr lang="en-US" altLang="zh-CN" sz="2000" b="1" baseline="0" dirty="0">
                  <a:solidFill>
                    <a:srgbClr val="000000"/>
                  </a:solidFill>
                  <a:latin typeface="Arial" panose="020B0604020202020204" pitchFamily="34" charset="0"/>
                </a:rPr>
                <a:t>      </a:t>
              </a:r>
              <a:r>
                <a:rPr lang="zh-CN" altLang="en-US" sz="2400" b="1" baseline="0" dirty="0">
                  <a:solidFill>
                    <a:srgbClr val="000000"/>
                  </a:solidFill>
                  <a:latin typeface="幼圆" panose="02010509060101010101" pitchFamily="49" charset="-122"/>
                  <a:ea typeface="+mn-ea"/>
                </a:rPr>
                <a:t>振动系统往往由于受到阻力（称为阻尼）作用，造成能量损失而使振幅减小的振动叫“</a:t>
              </a:r>
              <a:r>
                <a:rPr lang="zh-CN" altLang="en-US" sz="2400" b="1" baseline="0" dirty="0">
                  <a:solidFill>
                    <a:srgbClr val="FF0000"/>
                  </a:solidFill>
                  <a:latin typeface="幼圆" panose="02010509060101010101" pitchFamily="49" charset="-122"/>
                  <a:ea typeface="+mn-ea"/>
                </a:rPr>
                <a:t>阻尼振动</a:t>
              </a:r>
              <a:r>
                <a:rPr lang="zh-CN" altLang="en-US" sz="2400" b="1" baseline="0" dirty="0">
                  <a:solidFill>
                    <a:srgbClr val="000000"/>
                  </a:solidFill>
                  <a:latin typeface="幼圆" panose="02010509060101010101" pitchFamily="49" charset="-122"/>
                  <a:ea typeface="+mn-ea"/>
                </a:rPr>
                <a:t>”，也称减幅振动 </a:t>
              </a:r>
              <a:r>
                <a:rPr lang="zh-CN" altLang="en-US" sz="2800" b="1" baseline="0" dirty="0">
                  <a:solidFill>
                    <a:srgbClr val="000000"/>
                  </a:solidFill>
                  <a:latin typeface="幼圆" panose="02010509060101010101" pitchFamily="49" charset="-122"/>
                  <a:ea typeface="+mn-ea"/>
                </a:rPr>
                <a:t>。</a:t>
              </a:r>
            </a:p>
          </p:txBody>
        </p:sp>
        <p:pic>
          <p:nvPicPr>
            <p:cNvPr id="20517" name="图片 20516" descr="0df3d7ca7bcb0a462606d5156f63f6246b60aff2"/>
            <p:cNvPicPr>
              <a:picLocks noChangeAspect="1"/>
            </p:cNvPicPr>
            <p:nvPr/>
          </p:nvPicPr>
          <p:blipFill>
            <a:blip r:embed="rId2"/>
            <a:stretch>
              <a:fillRect/>
            </a:stretch>
          </p:blipFill>
          <p:spPr>
            <a:xfrm>
              <a:off x="3632" y="-649"/>
              <a:ext cx="1871" cy="1235"/>
            </a:xfrm>
            <a:prstGeom prst="rect">
              <a:avLst/>
            </a:prstGeom>
            <a:noFill/>
            <a:ln w="9525">
              <a:noFill/>
            </a:ln>
          </p:spPr>
        </p:pic>
      </p:grpSp>
      <p:sp>
        <p:nvSpPr>
          <p:cNvPr id="113669" name="矩形 113668"/>
          <p:cNvSpPr/>
          <p:nvPr/>
        </p:nvSpPr>
        <p:spPr>
          <a:xfrm>
            <a:off x="276543" y="2131060"/>
            <a:ext cx="8208962" cy="829945"/>
          </a:xfrm>
          <a:prstGeom prst="rect">
            <a:avLst/>
          </a:prstGeom>
          <a:noFill/>
          <a:ln w="9525">
            <a:noFill/>
          </a:ln>
        </p:spPr>
        <p:txBody>
          <a:bodyPr anchor="ctr">
            <a:spAutoFit/>
          </a:bodyPr>
          <a:lstStyle/>
          <a:p>
            <a:pPr algn="l" defTabSz="914400">
              <a:buClrTx/>
              <a:buSzTx/>
              <a:buFontTx/>
              <a:tabLst>
                <a:tab pos="342900" algn="l"/>
              </a:tabLst>
            </a:pPr>
            <a:r>
              <a:rPr lang="en-US" altLang="zh-CN" sz="2400" b="1" baseline="0" dirty="0">
                <a:solidFill>
                  <a:srgbClr val="000000"/>
                </a:solidFill>
                <a:latin typeface="Arial" panose="020B0604020202020204" pitchFamily="34" charset="0"/>
              </a:rPr>
              <a:t>     </a:t>
            </a:r>
            <a:r>
              <a:rPr lang="zh-CN" altLang="en-US" sz="2400" b="1" dirty="0">
                <a:solidFill>
                  <a:srgbClr val="FF0000"/>
                </a:solidFill>
                <a:sym typeface="+mn-ea"/>
              </a:rPr>
              <a:t>受迫振动</a:t>
            </a:r>
            <a:r>
              <a:rPr lang="zh-CN" altLang="en-US" sz="2400" b="1" dirty="0">
                <a:solidFill>
                  <a:srgbClr val="000000"/>
                </a:solidFill>
                <a:latin typeface="幼圆" panose="02010509060101010101" pitchFamily="49" charset="-122"/>
                <a:ea typeface="+mn-ea"/>
                <a:sym typeface="+mn-ea"/>
              </a:rPr>
              <a:t>是指</a:t>
            </a:r>
            <a:r>
              <a:rPr lang="zh-CN" altLang="en-US" sz="2400" b="1" baseline="0" dirty="0">
                <a:solidFill>
                  <a:srgbClr val="000000"/>
                </a:solidFill>
                <a:latin typeface="Arial" panose="020B0604020202020204" pitchFamily="34" charset="0"/>
              </a:rPr>
              <a:t>物体在周期性外力的持续作用下发生的振动，这种周期性的外力称为强迫力。</a:t>
            </a:r>
          </a:p>
        </p:txBody>
      </p:sp>
      <p:sp>
        <p:nvSpPr>
          <p:cNvPr id="3" name="文本框 2"/>
          <p:cNvSpPr txBox="1"/>
          <p:nvPr/>
        </p:nvSpPr>
        <p:spPr>
          <a:xfrm>
            <a:off x="318770" y="5034280"/>
            <a:ext cx="8220075" cy="1198880"/>
          </a:xfrm>
          <a:prstGeom prst="rect">
            <a:avLst/>
          </a:prstGeom>
          <a:noFill/>
        </p:spPr>
        <p:txBody>
          <a:bodyPr wrap="square" rtlCol="0" anchor="t">
            <a:spAutoFit/>
          </a:bodyPr>
          <a:lstStyle/>
          <a:p>
            <a:r>
              <a:rPr lang="en-US" altLang="zh-CN" sz="2400" b="1" dirty="0">
                <a:solidFill>
                  <a:srgbClr val="000000"/>
                </a:solidFill>
                <a:sym typeface="+mn-ea"/>
              </a:rPr>
              <a:t>    </a:t>
            </a:r>
            <a:r>
              <a:rPr lang="zh-CN" altLang="en-US" sz="2400" b="1" dirty="0">
                <a:solidFill>
                  <a:srgbClr val="000000"/>
                </a:solidFill>
                <a:sym typeface="+mn-ea"/>
              </a:rPr>
              <a:t>本实验采用摆轮在弹性力矩作用下自由摆动，在电磁阻尼力矩作用下作受迫振动来研究受迫振动特性，可直观地显示机械振动中的一些物理现象。</a:t>
            </a:r>
            <a:endParaRPr lang="zh-CN" altLang="en-US" sz="2400" b="1"/>
          </a:p>
        </p:txBody>
      </p:sp>
      <p:sp>
        <p:nvSpPr>
          <p:cNvPr id="12290" name="标题 12289"/>
          <p:cNvSpPr>
            <a:spLocks noGrp="1"/>
          </p:cNvSpPr>
          <p:nvPr>
            <p:ph type="title"/>
          </p:nvPr>
        </p:nvSpPr>
        <p:spPr>
          <a:xfrm>
            <a:off x="38100" y="454025"/>
            <a:ext cx="3058160" cy="796925"/>
          </a:xfrm>
        </p:spPr>
        <p:txBody>
          <a:bodyPr anchor="ctr"/>
          <a:lstStyle/>
          <a:p>
            <a:pPr algn="l"/>
            <a:r>
              <a:rPr lang="zh-CN" altLang="en-US" b="1" dirty="0">
                <a:latin typeface="幼圆" panose="02010509060101010101" pitchFamily="49" charset="-122"/>
              </a:rPr>
              <a:t>实验原理</a:t>
            </a:r>
            <a:r>
              <a:rPr lang="zh-CN" altLang="en-US" b="1" dirty="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3" name="图片 663553">
            <a:hlinkClick r:id="rId2" action="ppaction://hlinkfile"/>
          </p:cNvPr>
          <p:cNvPicPr>
            <a:picLocks noChangeAspect="1"/>
          </p:cNvPicPr>
          <p:nvPr/>
        </p:nvPicPr>
        <p:blipFill>
          <a:blip r:embed="rId3"/>
          <a:stretch>
            <a:fillRect/>
          </a:stretch>
        </p:blipFill>
        <p:spPr>
          <a:xfrm>
            <a:off x="6113463" y="895350"/>
            <a:ext cx="2663825" cy="2301875"/>
          </a:xfrm>
          <a:prstGeom prst="rect">
            <a:avLst/>
          </a:prstGeom>
          <a:noFill/>
          <a:ln w="9525">
            <a:noFill/>
          </a:ln>
        </p:spPr>
      </p:pic>
      <p:sp>
        <p:nvSpPr>
          <p:cNvPr id="18434" name="矩形 663554"/>
          <p:cNvSpPr/>
          <p:nvPr/>
        </p:nvSpPr>
        <p:spPr>
          <a:xfrm>
            <a:off x="0" y="115888"/>
            <a:ext cx="9324975" cy="579437"/>
          </a:xfrm>
          <a:prstGeom prst="rect">
            <a:avLst/>
          </a:prstGeom>
          <a:noFill/>
          <a:ln w="9525">
            <a:noFill/>
          </a:ln>
        </p:spPr>
        <p:txBody>
          <a:bodyPr anchor="t">
            <a:spAutoFit/>
          </a:bodyPr>
          <a:lstStyle/>
          <a:p>
            <a:r>
              <a:rPr lang="zh-CN" altLang="en-US" sz="3200" b="1" dirty="0">
                <a:solidFill>
                  <a:srgbClr val="003300"/>
                </a:solidFill>
                <a:latin typeface="Arial" panose="020B0604020202020204" pitchFamily="34" charset="0"/>
                <a:ea typeface="华文中宋" panose="02010600040101010101" pitchFamily="2" charset="-122"/>
              </a:rPr>
              <a:t>风振致华盛顿州塔科马桥损毁（</a:t>
            </a:r>
            <a:r>
              <a:rPr lang="en-US" altLang="zh-CN" sz="3200" b="1" dirty="0">
                <a:solidFill>
                  <a:srgbClr val="003300"/>
                </a:solidFill>
                <a:latin typeface="Arial" panose="020B0604020202020204" pitchFamily="34" charset="0"/>
                <a:ea typeface="华文中宋" panose="02010600040101010101" pitchFamily="2" charset="-122"/>
              </a:rPr>
              <a:t>1940</a:t>
            </a:r>
            <a:r>
              <a:rPr lang="zh-CN" altLang="en-US" sz="3200" b="1" dirty="0">
                <a:solidFill>
                  <a:srgbClr val="003300"/>
                </a:solidFill>
                <a:latin typeface="Arial" panose="020B0604020202020204" pitchFamily="34" charset="0"/>
                <a:ea typeface="华文中宋" panose="02010600040101010101" pitchFamily="2" charset="-122"/>
              </a:rPr>
              <a:t>，</a:t>
            </a:r>
            <a:r>
              <a:rPr lang="en-US" altLang="zh-CN" sz="3200" b="1" dirty="0">
                <a:solidFill>
                  <a:srgbClr val="003300"/>
                </a:solidFill>
                <a:latin typeface="Arial" panose="020B0604020202020204" pitchFamily="34" charset="0"/>
                <a:ea typeface="华文中宋" panose="02010600040101010101" pitchFamily="2" charset="-122"/>
              </a:rPr>
              <a:t>1950</a:t>
            </a:r>
            <a:r>
              <a:rPr lang="zh-CN" altLang="en-US" sz="3200" b="1" dirty="0">
                <a:solidFill>
                  <a:srgbClr val="003300"/>
                </a:solidFill>
                <a:latin typeface="Arial" panose="020B0604020202020204" pitchFamily="34" charset="0"/>
                <a:ea typeface="华文中宋" panose="02010600040101010101" pitchFamily="2" charset="-122"/>
              </a:rPr>
              <a:t>重建）</a:t>
            </a:r>
          </a:p>
        </p:txBody>
      </p:sp>
      <p:pic>
        <p:nvPicPr>
          <p:cNvPr id="18435" name="图片 663555" descr="TWIST-P2"/>
          <p:cNvPicPr>
            <a:picLocks noChangeAspect="1"/>
          </p:cNvPicPr>
          <p:nvPr/>
        </p:nvPicPr>
        <p:blipFill>
          <a:blip r:embed="rId4"/>
          <a:stretch>
            <a:fillRect/>
          </a:stretch>
        </p:blipFill>
        <p:spPr>
          <a:xfrm>
            <a:off x="0" y="895350"/>
            <a:ext cx="2549525" cy="2230438"/>
          </a:xfrm>
          <a:prstGeom prst="rect">
            <a:avLst/>
          </a:prstGeom>
          <a:noFill/>
          <a:ln w="9525">
            <a:noFill/>
          </a:ln>
        </p:spPr>
      </p:pic>
      <p:pic>
        <p:nvPicPr>
          <p:cNvPr id="18436" name="图片 663556" descr="SAG-P4"/>
          <p:cNvPicPr>
            <a:picLocks noChangeAspect="1"/>
          </p:cNvPicPr>
          <p:nvPr/>
        </p:nvPicPr>
        <p:blipFill>
          <a:blip r:embed="rId5"/>
          <a:stretch>
            <a:fillRect/>
          </a:stretch>
        </p:blipFill>
        <p:spPr>
          <a:xfrm>
            <a:off x="3132138" y="895350"/>
            <a:ext cx="2663825" cy="2236788"/>
          </a:xfrm>
          <a:prstGeom prst="rect">
            <a:avLst/>
          </a:prstGeom>
          <a:noFill/>
          <a:ln w="9525">
            <a:noFill/>
          </a:ln>
        </p:spPr>
      </p:pic>
      <p:pic>
        <p:nvPicPr>
          <p:cNvPr id="18437" name="图片 663557" descr="2006102018124342394新塔科马桥-new-tacoma"/>
          <p:cNvPicPr>
            <a:picLocks noChangeAspect="1"/>
          </p:cNvPicPr>
          <p:nvPr/>
        </p:nvPicPr>
        <p:blipFill>
          <a:blip r:embed="rId6"/>
          <a:stretch>
            <a:fillRect/>
          </a:stretch>
        </p:blipFill>
        <p:spPr>
          <a:xfrm>
            <a:off x="1985963" y="3197225"/>
            <a:ext cx="4314825" cy="2824163"/>
          </a:xfrm>
          <a:prstGeom prst="rect">
            <a:avLst/>
          </a:prstGeom>
          <a:noFill/>
          <a:ln w="9525">
            <a:noFill/>
          </a:ln>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31445" y="915670"/>
            <a:ext cx="8809355" cy="706755"/>
          </a:xfrm>
          <a:prstGeom prst="rect">
            <a:avLst/>
          </a:prstGeom>
          <a:noFill/>
        </p:spPr>
        <p:txBody>
          <a:bodyPr wrap="square" rtlCol="0" anchor="t">
            <a:spAutoFit/>
          </a:bodyPr>
          <a:lstStyle/>
          <a:p>
            <a:r>
              <a:rPr lang="en-US" altLang="zh-CN" sz="2000" b="1" dirty="0">
                <a:solidFill>
                  <a:srgbClr val="000000"/>
                </a:solidFill>
                <a:ea typeface="华文细黑" panose="02010600040101010101" pitchFamily="2" charset="-122"/>
                <a:sym typeface="+mn-ea"/>
              </a:rPr>
              <a:t>      在有阻力矩的情况下，将扭摆在某一摆角位置释放，使其开始摆动。此时扭摆受到两个力矩的作用</a:t>
            </a:r>
            <a:r>
              <a:rPr lang="zh-CN" altLang="en-US" sz="2000" b="1" dirty="0">
                <a:solidFill>
                  <a:srgbClr val="000000"/>
                </a:solidFill>
                <a:ea typeface="华文细黑" panose="02010600040101010101" pitchFamily="2" charset="-122"/>
                <a:sym typeface="+mn-ea"/>
              </a:rPr>
              <a:t>：一是</a:t>
            </a:r>
            <a:r>
              <a:rPr lang="zh-CN" altLang="zh-CN" sz="2000" b="1" dirty="0">
                <a:solidFill>
                  <a:srgbClr val="000000"/>
                </a:solidFill>
                <a:ea typeface="华文细黑" panose="02010600040101010101" pitchFamily="2" charset="-122"/>
                <a:sym typeface="+mn-ea"/>
              </a:rPr>
              <a:t>弹簧产生恢复力矩</a:t>
            </a:r>
            <a:r>
              <a:rPr lang="zh-CN" altLang="en-US" sz="2000" b="1" dirty="0">
                <a:solidFill>
                  <a:srgbClr val="000000"/>
                </a:solidFill>
                <a:ea typeface="华文细黑" panose="02010600040101010101" pitchFamily="2" charset="-122"/>
                <a:sym typeface="+mn-ea"/>
              </a:rPr>
              <a:t> </a:t>
            </a:r>
            <a:r>
              <a:rPr lang="zh-CN" altLang="zh-CN" sz="2000" b="1" dirty="0">
                <a:solidFill>
                  <a:srgbClr val="000000"/>
                </a:solidFill>
                <a:ea typeface="华文细黑" panose="02010600040101010101" pitchFamily="2" charset="-122"/>
                <a:sym typeface="+mn-ea"/>
              </a:rPr>
              <a:t>M</a:t>
            </a:r>
            <a:r>
              <a:rPr lang="en-US" altLang="zh-CN" sz="2000" b="1" baseline="-25000" dirty="0">
                <a:solidFill>
                  <a:srgbClr val="000000"/>
                </a:solidFill>
                <a:ea typeface="华文细黑" panose="02010600040101010101" pitchFamily="2" charset="-122"/>
                <a:sym typeface="+mn-ea"/>
              </a:rPr>
              <a:t>E</a:t>
            </a:r>
            <a:r>
              <a:rPr lang="zh-CN" altLang="zh-CN" sz="2000" b="1" i="1" dirty="0">
                <a:solidFill>
                  <a:srgbClr val="000000"/>
                </a:solidFill>
                <a:ea typeface="华文细黑" panose="02010600040101010101" pitchFamily="2" charset="-122"/>
                <a:sym typeface="+mn-ea"/>
              </a:rPr>
              <a:t> </a:t>
            </a:r>
            <a:r>
              <a:rPr lang="en-US" altLang="zh-CN" sz="2000" b="1" i="1" dirty="0">
                <a:solidFill>
                  <a:srgbClr val="000000"/>
                </a:solidFill>
                <a:ea typeface="华文细黑" panose="02010600040101010101" pitchFamily="2" charset="-122"/>
                <a:sym typeface="+mn-ea"/>
              </a:rPr>
              <a:t>,C</a:t>
            </a:r>
            <a:r>
              <a:rPr lang="en-US" altLang="zh-CN" sz="2000" b="1" dirty="0">
                <a:solidFill>
                  <a:srgbClr val="000000"/>
                </a:solidFill>
                <a:ea typeface="华文细黑" panose="02010600040101010101" pitchFamily="2" charset="-122"/>
                <a:sym typeface="+mn-ea"/>
              </a:rPr>
              <a:t>为扭转恢复力系数</a:t>
            </a:r>
            <a:r>
              <a:rPr lang="zh-CN" altLang="zh-CN" sz="2000" b="1" dirty="0">
                <a:solidFill>
                  <a:srgbClr val="000000"/>
                </a:solidFill>
                <a:ea typeface="华文细黑" panose="02010600040101010101" pitchFamily="2" charset="-122"/>
                <a:sym typeface="+mn-ea"/>
              </a:rPr>
              <a:t>：</a:t>
            </a:r>
            <a:endParaRPr lang="zh-CN" altLang="en-US" sz="2000" b="1"/>
          </a:p>
        </p:txBody>
      </p:sp>
      <p:graphicFrame>
        <p:nvGraphicFramePr>
          <p:cNvPr id="9219" name="对象 3">
            <a:hlinkClick r:id="" action="ppaction://ole?verb=0"/>
          </p:cNvPr>
          <p:cNvGraphicFramePr>
            <a:graphicFrameLocks noChangeAspect="1"/>
          </p:cNvGraphicFramePr>
          <p:nvPr/>
        </p:nvGraphicFramePr>
        <p:xfrm>
          <a:off x="2048828" y="1965960"/>
          <a:ext cx="1233170" cy="394970"/>
        </p:xfrm>
        <a:graphic>
          <a:graphicData uri="http://schemas.openxmlformats.org/presentationml/2006/ole">
            <mc:AlternateContent xmlns:mc="http://schemas.openxmlformats.org/markup-compatibility/2006">
              <mc:Choice xmlns:v="urn:schemas-microsoft-com:vml" Requires="v">
                <p:oleObj r:id="rId2" imgW="673100" imgH="215900" progId="Equation.KSEE3">
                  <p:embed/>
                </p:oleObj>
              </mc:Choice>
              <mc:Fallback>
                <p:oleObj r:id="rId2" imgW="673100" imgH="215900" progId="Equation.KSEE3">
                  <p:embed/>
                  <p:pic>
                    <p:nvPicPr>
                      <p:cNvPr id="0" name="图片 3112"/>
                      <p:cNvPicPr/>
                      <p:nvPr/>
                    </p:nvPicPr>
                    <p:blipFill>
                      <a:blip r:embed="rId3"/>
                      <a:stretch>
                        <a:fillRect/>
                      </a:stretch>
                    </p:blipFill>
                    <p:spPr>
                      <a:xfrm>
                        <a:off x="2048828" y="1965960"/>
                        <a:ext cx="1233170" cy="394970"/>
                      </a:xfrm>
                      <a:prstGeom prst="rect">
                        <a:avLst/>
                      </a:prstGeom>
                      <a:solidFill>
                        <a:schemeClr val="accent6">
                          <a:lumMod val="20000"/>
                          <a:lumOff val="80000"/>
                        </a:schemeClr>
                      </a:solidFill>
                      <a:ln w="38100">
                        <a:noFill/>
                        <a:miter/>
                      </a:ln>
                    </p:spPr>
                  </p:pic>
                </p:oleObj>
              </mc:Fallback>
            </mc:AlternateContent>
          </a:graphicData>
        </a:graphic>
      </p:graphicFrame>
      <p:sp>
        <p:nvSpPr>
          <p:cNvPr id="100" name="文本框 99"/>
          <p:cNvSpPr txBox="1"/>
          <p:nvPr/>
        </p:nvSpPr>
        <p:spPr>
          <a:xfrm>
            <a:off x="131445" y="2540000"/>
            <a:ext cx="4631055" cy="706755"/>
          </a:xfrm>
          <a:prstGeom prst="rect">
            <a:avLst/>
          </a:prstGeom>
          <a:noFill/>
          <a:ln w="9525">
            <a:noFill/>
          </a:ln>
        </p:spPr>
        <p:txBody>
          <a:bodyPr wrap="square">
            <a:spAutoFit/>
          </a:bodyPr>
          <a:lstStyle/>
          <a:p>
            <a:pPr>
              <a:buClrTx/>
              <a:buSzTx/>
              <a:buFontTx/>
            </a:pPr>
            <a:r>
              <a:rPr lang="en-US" altLang="zh-CN" sz="2000" b="1" dirty="0">
                <a:solidFill>
                  <a:srgbClr val="000000"/>
                </a:solidFill>
                <a:ea typeface="华文细黑" panose="02010600040101010101" pitchFamily="2" charset="-122"/>
                <a:sym typeface="+mn-ea"/>
              </a:rPr>
              <a:t>   </a:t>
            </a:r>
            <a:r>
              <a:rPr lang="zh-CN" altLang="zh-CN" sz="2000" b="1" dirty="0">
                <a:solidFill>
                  <a:srgbClr val="000000"/>
                </a:solidFill>
                <a:ea typeface="华文细黑" panose="02010600040101010101" pitchFamily="2" charset="-122"/>
                <a:sym typeface="+mn-ea"/>
              </a:rPr>
              <a:t>在摆角不太大时，阻力矩</a:t>
            </a:r>
            <a:r>
              <a:rPr lang="en-US" altLang="zh-CN" sz="2000" b="1" dirty="0">
                <a:solidFill>
                  <a:srgbClr val="000000"/>
                </a:solidFill>
                <a:ea typeface="华文细黑" panose="02010600040101010101" pitchFamily="2" charset="-122"/>
                <a:sym typeface="+mn-ea"/>
              </a:rPr>
              <a:t>M</a:t>
            </a:r>
            <a:r>
              <a:rPr lang="en-US" altLang="zh-CN" sz="2000" b="1" baseline="-25000" dirty="0">
                <a:solidFill>
                  <a:srgbClr val="000000"/>
                </a:solidFill>
                <a:ea typeface="华文细黑" panose="02010600040101010101" pitchFamily="2" charset="-122"/>
                <a:sym typeface="+mn-ea"/>
              </a:rPr>
              <a:t>R</a:t>
            </a:r>
            <a:r>
              <a:rPr lang="zh-CN" altLang="zh-CN" sz="2000" b="1" dirty="0">
                <a:solidFill>
                  <a:srgbClr val="000000"/>
                </a:solidFill>
                <a:ea typeface="华文细黑" panose="02010600040101010101" pitchFamily="2" charset="-122"/>
                <a:sym typeface="+mn-ea"/>
              </a:rPr>
              <a:t>近似与摆动的角速度成正比，</a:t>
            </a:r>
            <a:r>
              <a:rPr lang="zh-CN" altLang="zh-CN" sz="2000" b="1" dirty="0">
                <a:solidFill>
                  <a:srgbClr val="000000"/>
                </a:solidFill>
                <a:ea typeface="华文细黑" panose="02010600040101010101" pitchFamily="2" charset="-122"/>
              </a:rPr>
              <a:t>其中</a:t>
            </a:r>
            <a:r>
              <a:rPr lang="en-US" altLang="zh-CN" sz="2000" b="1" i="1" dirty="0">
                <a:solidFill>
                  <a:srgbClr val="000000"/>
                </a:solidFill>
                <a:ea typeface="华文细黑" panose="02010600040101010101" pitchFamily="2" charset="-122"/>
              </a:rPr>
              <a:t>r</a:t>
            </a:r>
            <a:r>
              <a:rPr lang="zh-CN" altLang="zh-CN" sz="2000" b="1" dirty="0">
                <a:solidFill>
                  <a:srgbClr val="000000"/>
                </a:solidFill>
                <a:ea typeface="华文细黑" panose="02010600040101010101" pitchFamily="2" charset="-122"/>
              </a:rPr>
              <a:t>为阻力矩系数</a:t>
            </a:r>
          </a:p>
        </p:txBody>
      </p:sp>
      <p:graphicFrame>
        <p:nvGraphicFramePr>
          <p:cNvPr id="9224" name="对象 11">
            <a:hlinkClick r:id="" action="ppaction://ole?verb=0"/>
          </p:cNvPr>
          <p:cNvGraphicFramePr>
            <a:graphicFrameLocks noChangeAspect="1"/>
          </p:cNvGraphicFramePr>
          <p:nvPr/>
        </p:nvGraphicFramePr>
        <p:xfrm>
          <a:off x="2049145" y="3411220"/>
          <a:ext cx="1137920" cy="704215"/>
        </p:xfrm>
        <a:graphic>
          <a:graphicData uri="http://schemas.openxmlformats.org/presentationml/2006/ole">
            <mc:AlternateContent xmlns:mc="http://schemas.openxmlformats.org/markup-compatibility/2006">
              <mc:Choice xmlns:v="urn:schemas-microsoft-com:vml" Requires="v">
                <p:oleObj r:id="rId4" imgW="800100" imgH="393700" progId="Equation.KSEE3">
                  <p:embed/>
                </p:oleObj>
              </mc:Choice>
              <mc:Fallback>
                <p:oleObj r:id="rId4" imgW="800100" imgH="393700" progId="Equation.KSEE3">
                  <p:embed/>
                  <p:pic>
                    <p:nvPicPr>
                      <p:cNvPr id="0" name="图片 3114"/>
                      <p:cNvPicPr/>
                      <p:nvPr/>
                    </p:nvPicPr>
                    <p:blipFill>
                      <a:blip r:embed="rId5"/>
                      <a:stretch>
                        <a:fillRect/>
                      </a:stretch>
                    </p:blipFill>
                    <p:spPr>
                      <a:xfrm>
                        <a:off x="2049145" y="3411220"/>
                        <a:ext cx="1137920" cy="704215"/>
                      </a:xfrm>
                      <a:prstGeom prst="rect">
                        <a:avLst/>
                      </a:prstGeom>
                      <a:solidFill>
                        <a:schemeClr val="accent6">
                          <a:lumMod val="20000"/>
                          <a:lumOff val="80000"/>
                        </a:schemeClr>
                      </a:solidFill>
                      <a:ln w="38100">
                        <a:noFill/>
                        <a:miter/>
                      </a:ln>
                    </p:spPr>
                  </p:pic>
                </p:oleObj>
              </mc:Fallback>
            </mc:AlternateContent>
          </a:graphicData>
        </a:graphic>
      </p:graphicFrame>
      <p:sp>
        <p:nvSpPr>
          <p:cNvPr id="9" name="文本框 8"/>
          <p:cNvSpPr txBox="1"/>
          <p:nvPr/>
        </p:nvSpPr>
        <p:spPr>
          <a:xfrm>
            <a:off x="131445" y="4185285"/>
            <a:ext cx="7506335" cy="398780"/>
          </a:xfrm>
          <a:prstGeom prst="rect">
            <a:avLst/>
          </a:prstGeom>
          <a:noFill/>
          <a:ln w="9525">
            <a:noFill/>
          </a:ln>
        </p:spPr>
        <p:txBody>
          <a:bodyPr wrap="square">
            <a:spAutoFit/>
          </a:bodyPr>
          <a:lstStyle/>
          <a:p>
            <a:pPr>
              <a:buClrTx/>
              <a:buSzTx/>
              <a:buFontTx/>
            </a:pPr>
            <a:r>
              <a:rPr lang="zh-CN" altLang="zh-CN" sz="2000" b="1" dirty="0">
                <a:solidFill>
                  <a:srgbClr val="000000"/>
                </a:solidFill>
                <a:ea typeface="华文细黑" panose="02010600040101010101" pitchFamily="2" charset="-122"/>
              </a:rPr>
              <a:t>若扭摆的转动惯量为</a:t>
            </a:r>
            <a:r>
              <a:rPr lang="en-US" altLang="zh-CN" sz="2000" b="1" i="1" dirty="0">
                <a:solidFill>
                  <a:srgbClr val="FF0000"/>
                </a:solidFill>
                <a:ea typeface="华文细黑" panose="02010600040101010101" pitchFamily="2" charset="-122"/>
              </a:rPr>
              <a:t>I</a:t>
            </a:r>
            <a:r>
              <a:rPr lang="zh-CN" altLang="en-US" sz="2000" b="1" i="1" dirty="0">
                <a:solidFill>
                  <a:srgbClr val="FF0000"/>
                </a:solidFill>
                <a:ea typeface="华文细黑" panose="02010600040101010101" pitchFamily="2" charset="-122"/>
              </a:rPr>
              <a:t>，</a:t>
            </a:r>
            <a:r>
              <a:rPr lang="en-US" altLang="zh-CN" sz="2000" b="1" dirty="0">
                <a:solidFill>
                  <a:srgbClr val="000000"/>
                </a:solidFill>
                <a:ea typeface="华文细黑" panose="02010600040101010101" pitchFamily="2" charset="-122"/>
              </a:rPr>
              <a:t>则根据</a:t>
            </a:r>
            <a:r>
              <a:rPr lang="zh-CN" altLang="en-US" sz="2000" b="1" dirty="0">
                <a:ln w="22225">
                  <a:solidFill>
                    <a:schemeClr val="accent2"/>
                  </a:solidFill>
                  <a:prstDash val="solid"/>
                </a:ln>
                <a:solidFill>
                  <a:schemeClr val="accent2">
                    <a:lumMod val="40000"/>
                    <a:lumOff val="60000"/>
                  </a:schemeClr>
                </a:solidFill>
                <a:ea typeface="华文细黑" panose="02010600040101010101" pitchFamily="2" charset="-122"/>
              </a:rPr>
              <a:t>转动定律</a:t>
            </a:r>
            <a:r>
              <a:rPr lang="en-US" altLang="zh-CN" sz="2000" b="1" dirty="0">
                <a:solidFill>
                  <a:srgbClr val="000000"/>
                </a:solidFill>
                <a:ea typeface="华文细黑" panose="02010600040101010101" pitchFamily="2" charset="-122"/>
              </a:rPr>
              <a:t>可列出扭摆的运动方程：</a:t>
            </a:r>
          </a:p>
        </p:txBody>
      </p:sp>
      <p:graphicFrame>
        <p:nvGraphicFramePr>
          <p:cNvPr id="10" name="对象 9">
            <a:hlinkClick r:id="" action="ppaction://ole?verb=0"/>
          </p:cNvPr>
          <p:cNvGraphicFramePr>
            <a:graphicFrameLocks noChangeAspect="1"/>
          </p:cNvGraphicFramePr>
          <p:nvPr>
            <p:extLst>
              <p:ext uri="{D42A27DB-BD31-4B8C-83A1-F6EECF244321}">
                <p14:modId xmlns:p14="http://schemas.microsoft.com/office/powerpoint/2010/main" val="1513334239"/>
              </p:ext>
            </p:extLst>
          </p:nvPr>
        </p:nvGraphicFramePr>
        <p:xfrm>
          <a:off x="1951297" y="4724400"/>
          <a:ext cx="3056890" cy="650875"/>
        </p:xfrm>
        <a:graphic>
          <a:graphicData uri="http://schemas.openxmlformats.org/presentationml/2006/ole">
            <mc:AlternateContent xmlns:mc="http://schemas.openxmlformats.org/markup-compatibility/2006">
              <mc:Choice xmlns:v="urn:schemas-microsoft-com:vml" Requires="v">
                <p:oleObj r:id="rId6" imgW="1968500" imgH="419100" progId="Equation.KSEE3">
                  <p:embed/>
                </p:oleObj>
              </mc:Choice>
              <mc:Fallback>
                <p:oleObj r:id="rId6" imgW="1968500" imgH="419100" progId="Equation.KSEE3">
                  <p:embed/>
                  <p:pic>
                    <p:nvPicPr>
                      <p:cNvPr id="0" name="图片 1024"/>
                      <p:cNvPicPr/>
                      <p:nvPr/>
                    </p:nvPicPr>
                    <p:blipFill>
                      <a:blip r:embed="rId7"/>
                      <a:stretch>
                        <a:fillRect/>
                      </a:stretch>
                    </p:blipFill>
                    <p:spPr>
                      <a:xfrm>
                        <a:off x="1951297" y="4724400"/>
                        <a:ext cx="3056890" cy="650875"/>
                      </a:xfrm>
                      <a:prstGeom prst="rect">
                        <a:avLst/>
                      </a:prstGeom>
                      <a:solidFill>
                        <a:schemeClr val="accent6">
                          <a:lumMod val="20000"/>
                          <a:lumOff val="80000"/>
                        </a:schemeClr>
                      </a:solidFill>
                    </p:spPr>
                  </p:pic>
                </p:oleObj>
              </mc:Fallback>
            </mc:AlternateContent>
          </a:graphicData>
        </a:graphic>
      </p:graphicFrame>
      <p:graphicFrame>
        <p:nvGraphicFramePr>
          <p:cNvPr id="11" name="对象 10">
            <a:hlinkClick r:id="" action="ppaction://ole?verb=0"/>
          </p:cNvPr>
          <p:cNvGraphicFramePr>
            <a:graphicFrameLocks noChangeAspect="1"/>
          </p:cNvGraphicFramePr>
          <p:nvPr>
            <p:extLst>
              <p:ext uri="{D42A27DB-BD31-4B8C-83A1-F6EECF244321}">
                <p14:modId xmlns:p14="http://schemas.microsoft.com/office/powerpoint/2010/main" val="1622992002"/>
              </p:ext>
            </p:extLst>
          </p:nvPr>
        </p:nvGraphicFramePr>
        <p:xfrm>
          <a:off x="1951297" y="5616892"/>
          <a:ext cx="2071370" cy="650875"/>
        </p:xfrm>
        <a:graphic>
          <a:graphicData uri="http://schemas.openxmlformats.org/presentationml/2006/ole">
            <mc:AlternateContent xmlns:mc="http://schemas.openxmlformats.org/markup-compatibility/2006">
              <mc:Choice xmlns:v="urn:schemas-microsoft-com:vml" Requires="v">
                <p:oleObj r:id="rId8" imgW="1333500" imgH="419100" progId="Equation.KSEE3">
                  <p:embed/>
                </p:oleObj>
              </mc:Choice>
              <mc:Fallback>
                <p:oleObj r:id="rId8" imgW="1333500" imgH="419100" progId="Equation.KSEE3">
                  <p:embed/>
                  <p:pic>
                    <p:nvPicPr>
                      <p:cNvPr id="0" name="图片 1024"/>
                      <p:cNvPicPr/>
                      <p:nvPr/>
                    </p:nvPicPr>
                    <p:blipFill>
                      <a:blip r:embed="rId9"/>
                      <a:stretch>
                        <a:fillRect/>
                      </a:stretch>
                    </p:blipFill>
                    <p:spPr>
                      <a:xfrm>
                        <a:off x="1951297" y="5616892"/>
                        <a:ext cx="2071370" cy="650875"/>
                      </a:xfrm>
                      <a:prstGeom prst="rect">
                        <a:avLst/>
                      </a:prstGeom>
                      <a:solidFill>
                        <a:schemeClr val="accent6">
                          <a:lumMod val="20000"/>
                          <a:lumOff val="80000"/>
                        </a:schemeClr>
                      </a:solidFill>
                    </p:spPr>
                  </p:pic>
                </p:oleObj>
              </mc:Fallback>
            </mc:AlternateContent>
          </a:graphicData>
        </a:graphic>
      </p:graphicFrame>
      <p:pic>
        <p:nvPicPr>
          <p:cNvPr id="3" name="图片 352"/>
          <p:cNvPicPr>
            <a:picLocks noChangeAspect="1"/>
          </p:cNvPicPr>
          <p:nvPr/>
        </p:nvPicPr>
        <p:blipFill>
          <a:blip r:embed="rId10"/>
          <a:stretch>
            <a:fillRect/>
          </a:stretch>
        </p:blipFill>
        <p:spPr>
          <a:xfrm>
            <a:off x="5427980" y="1783080"/>
            <a:ext cx="3512820" cy="2332355"/>
          </a:xfrm>
          <a:prstGeom prst="rect">
            <a:avLst/>
          </a:prstGeom>
          <a:noFill/>
          <a:ln w="9525">
            <a:noFill/>
          </a:ln>
        </p:spPr>
      </p:pic>
      <p:sp>
        <p:nvSpPr>
          <p:cNvPr id="5" name="文本框 4"/>
          <p:cNvSpPr txBox="1"/>
          <p:nvPr/>
        </p:nvSpPr>
        <p:spPr>
          <a:xfrm>
            <a:off x="-4445" y="393700"/>
            <a:ext cx="5747385" cy="521970"/>
          </a:xfrm>
          <a:prstGeom prst="rect">
            <a:avLst/>
          </a:prstGeom>
          <a:noFill/>
        </p:spPr>
        <p:txBody>
          <a:bodyPr wrap="square" rtlCol="0">
            <a:spAutoFit/>
          </a:bodyPr>
          <a:lstStyle/>
          <a:p>
            <a:r>
              <a:rPr lang="zh-CN" altLang="en-US" sz="2800" b="1">
                <a:solidFill>
                  <a:schemeClr val="accent2">
                    <a:lumMod val="75000"/>
                  </a:schemeClr>
                </a:solidFill>
              </a:rPr>
              <a:t>一、扭摆的阻尼振动和自由振动</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25" name="对象 14">
            <a:hlinkClick r:id="" action="ppaction://ole?verb=0"/>
          </p:cNvPr>
          <p:cNvGraphicFramePr>
            <a:graphicFrameLocks noChangeAspect="1"/>
          </p:cNvGraphicFramePr>
          <p:nvPr/>
        </p:nvGraphicFramePr>
        <p:xfrm>
          <a:off x="4064318" y="836930"/>
          <a:ext cx="3768725" cy="712470"/>
        </p:xfrm>
        <a:graphic>
          <a:graphicData uri="http://schemas.openxmlformats.org/presentationml/2006/ole">
            <mc:AlternateContent xmlns:mc="http://schemas.openxmlformats.org/markup-compatibility/2006">
              <mc:Choice xmlns:v="urn:schemas-microsoft-com:vml" Requires="v">
                <p:oleObj r:id="rId2" imgW="1739900" imgH="393700" progId="Equation.KSEE3">
                  <p:embed/>
                </p:oleObj>
              </mc:Choice>
              <mc:Fallback>
                <p:oleObj r:id="rId2" imgW="1739900" imgH="393700" progId="Equation.KSEE3">
                  <p:embed/>
                  <p:pic>
                    <p:nvPicPr>
                      <p:cNvPr id="0" name="图片 3115"/>
                      <p:cNvPicPr/>
                      <p:nvPr/>
                    </p:nvPicPr>
                    <p:blipFill>
                      <a:blip r:embed="rId3"/>
                      <a:stretch>
                        <a:fillRect/>
                      </a:stretch>
                    </p:blipFill>
                    <p:spPr>
                      <a:xfrm>
                        <a:off x="4064318" y="836930"/>
                        <a:ext cx="3768725" cy="712470"/>
                      </a:xfrm>
                      <a:prstGeom prst="rect">
                        <a:avLst/>
                      </a:prstGeom>
                      <a:noFill/>
                      <a:ln w="38100">
                        <a:noFill/>
                        <a:miter/>
                      </a:ln>
                    </p:spPr>
                  </p:pic>
                </p:oleObj>
              </mc:Fallback>
            </mc:AlternateContent>
          </a:graphicData>
        </a:graphic>
      </p:graphicFrame>
      <p:graphicFrame>
        <p:nvGraphicFramePr>
          <p:cNvPr id="12" name="对象 14">
            <a:hlinkClick r:id="" action="ppaction://ole?verb=0"/>
          </p:cNvPr>
          <p:cNvGraphicFramePr>
            <a:graphicFrameLocks noChangeAspect="1"/>
          </p:cNvGraphicFramePr>
          <p:nvPr/>
        </p:nvGraphicFramePr>
        <p:xfrm>
          <a:off x="589280" y="836930"/>
          <a:ext cx="3310255" cy="760095"/>
        </p:xfrm>
        <a:graphic>
          <a:graphicData uri="http://schemas.openxmlformats.org/presentationml/2006/ole">
            <mc:AlternateContent xmlns:mc="http://schemas.openxmlformats.org/markup-compatibility/2006">
              <mc:Choice xmlns:v="urn:schemas-microsoft-com:vml" Requires="v">
                <p:oleObj r:id="rId4" imgW="1638300" imgH="393700" progId="Equation.KSEE3">
                  <p:embed/>
                </p:oleObj>
              </mc:Choice>
              <mc:Fallback>
                <p:oleObj r:id="rId4" imgW="1638300" imgH="393700" progId="Equation.KSEE3">
                  <p:embed/>
                  <p:pic>
                    <p:nvPicPr>
                      <p:cNvPr id="0" name="图片 3115"/>
                      <p:cNvPicPr/>
                      <p:nvPr/>
                    </p:nvPicPr>
                    <p:blipFill>
                      <a:blip r:embed="rId5"/>
                      <a:stretch>
                        <a:fillRect/>
                      </a:stretch>
                    </p:blipFill>
                    <p:spPr>
                      <a:xfrm>
                        <a:off x="589280" y="836930"/>
                        <a:ext cx="3310255" cy="760095"/>
                      </a:xfrm>
                      <a:prstGeom prst="rect">
                        <a:avLst/>
                      </a:prstGeom>
                      <a:noFill/>
                      <a:ln w="38100">
                        <a:noFill/>
                        <a:miter/>
                      </a:ln>
                    </p:spPr>
                  </p:pic>
                </p:oleObj>
              </mc:Fallback>
            </mc:AlternateContent>
          </a:graphicData>
        </a:graphic>
      </p:graphicFrame>
      <p:graphicFrame>
        <p:nvGraphicFramePr>
          <p:cNvPr id="15" name="对象 14">
            <a:hlinkClick r:id="" action="ppaction://ole?verb=0"/>
          </p:cNvPr>
          <p:cNvGraphicFramePr>
            <a:graphicFrameLocks noChangeAspect="1"/>
          </p:cNvGraphicFramePr>
          <p:nvPr>
            <p:extLst>
              <p:ext uri="{D42A27DB-BD31-4B8C-83A1-F6EECF244321}">
                <p14:modId xmlns:p14="http://schemas.microsoft.com/office/powerpoint/2010/main" val="38457724"/>
              </p:ext>
            </p:extLst>
          </p:nvPr>
        </p:nvGraphicFramePr>
        <p:xfrm>
          <a:off x="589280" y="1788102"/>
          <a:ext cx="2268220" cy="650875"/>
        </p:xfrm>
        <a:graphic>
          <a:graphicData uri="http://schemas.openxmlformats.org/presentationml/2006/ole">
            <mc:AlternateContent xmlns:mc="http://schemas.openxmlformats.org/markup-compatibility/2006">
              <mc:Choice xmlns:v="urn:schemas-microsoft-com:vml" Requires="v">
                <p:oleObj r:id="rId6" imgW="1459865" imgH="419100" progId="Equation.KSEE3">
                  <p:embed/>
                </p:oleObj>
              </mc:Choice>
              <mc:Fallback>
                <p:oleObj r:id="rId6" imgW="1459865" imgH="419100" progId="Equation.KSEE3">
                  <p:embed/>
                  <p:pic>
                    <p:nvPicPr>
                      <p:cNvPr id="0" name="图片 1024"/>
                      <p:cNvPicPr/>
                      <p:nvPr/>
                    </p:nvPicPr>
                    <p:blipFill>
                      <a:blip r:embed="rId7"/>
                      <a:stretch>
                        <a:fillRect/>
                      </a:stretch>
                    </p:blipFill>
                    <p:spPr>
                      <a:xfrm>
                        <a:off x="589280" y="1788102"/>
                        <a:ext cx="2268220" cy="650875"/>
                      </a:xfrm>
                      <a:prstGeom prst="rect">
                        <a:avLst/>
                      </a:prstGeom>
                      <a:solidFill>
                        <a:schemeClr val="accent6">
                          <a:lumMod val="20000"/>
                          <a:lumOff val="80000"/>
                        </a:schemeClr>
                      </a:solidFill>
                    </p:spPr>
                  </p:pic>
                </p:oleObj>
              </mc:Fallback>
            </mc:AlternateContent>
          </a:graphicData>
        </a:graphic>
      </p:graphicFrame>
      <p:graphicFrame>
        <p:nvGraphicFramePr>
          <p:cNvPr id="48148" name="对象 48147"/>
          <p:cNvGraphicFramePr/>
          <p:nvPr/>
        </p:nvGraphicFramePr>
        <p:xfrm>
          <a:off x="3258185" y="1958975"/>
          <a:ext cx="4837430" cy="438150"/>
        </p:xfrm>
        <a:graphic>
          <a:graphicData uri="http://schemas.openxmlformats.org/presentationml/2006/ole">
            <mc:AlternateContent xmlns:mc="http://schemas.openxmlformats.org/markup-compatibility/2006">
              <mc:Choice xmlns:v="urn:schemas-microsoft-com:vml" Requires="v">
                <p:oleObj r:id="rId8" imgW="2374265" imgH="241300" progId="Equation.3">
                  <p:embed/>
                </p:oleObj>
              </mc:Choice>
              <mc:Fallback>
                <p:oleObj r:id="rId8" imgW="2374265" imgH="241300" progId="Equation.3">
                  <p:embed/>
                  <p:pic>
                    <p:nvPicPr>
                      <p:cNvPr id="0" name="图片 3084"/>
                      <p:cNvPicPr/>
                      <p:nvPr/>
                    </p:nvPicPr>
                    <p:blipFill>
                      <a:blip r:embed="rId9"/>
                      <a:stretch>
                        <a:fillRect/>
                      </a:stretch>
                    </p:blipFill>
                    <p:spPr>
                      <a:xfrm>
                        <a:off x="3258185" y="1958975"/>
                        <a:ext cx="4837430" cy="438150"/>
                      </a:xfrm>
                      <a:prstGeom prst="rect">
                        <a:avLst/>
                      </a:prstGeom>
                      <a:solidFill>
                        <a:schemeClr val="accent6">
                          <a:lumMod val="40000"/>
                          <a:lumOff val="60000"/>
                        </a:schemeClr>
                      </a:solidFill>
                      <a:ln w="38100">
                        <a:noFill/>
                        <a:miter/>
                      </a:ln>
                    </p:spPr>
                  </p:pic>
                </p:oleObj>
              </mc:Fallback>
            </mc:AlternateContent>
          </a:graphicData>
        </a:graphic>
      </p:graphicFrame>
      <p:sp>
        <p:nvSpPr>
          <p:cNvPr id="21" name="文本框 20"/>
          <p:cNvSpPr txBox="1"/>
          <p:nvPr/>
        </p:nvSpPr>
        <p:spPr>
          <a:xfrm>
            <a:off x="457200" y="3052127"/>
            <a:ext cx="7973695" cy="829945"/>
          </a:xfrm>
          <a:prstGeom prst="rect">
            <a:avLst/>
          </a:prstGeom>
          <a:solidFill>
            <a:schemeClr val="accent4">
              <a:lumMod val="20000"/>
              <a:lumOff val="80000"/>
            </a:schemeClr>
          </a:solidFill>
          <a:ln>
            <a:solidFill>
              <a:schemeClr val="tx2"/>
            </a:solidFill>
          </a:ln>
        </p:spPr>
        <p:txBody>
          <a:bodyPr wrap="square" rtlCol="0">
            <a:spAutoFit/>
          </a:bodyPr>
          <a:lstStyle/>
          <a:p>
            <a:r>
              <a:rPr lang="en-US" altLang="zh-CN" sz="2400" b="1">
                <a:solidFill>
                  <a:srgbClr val="000000"/>
                </a:solidFill>
              </a:rPr>
              <a:t>    A</a:t>
            </a:r>
            <a:r>
              <a:rPr lang="en-US" altLang="zh-CN" sz="2400" b="1" baseline="-25000">
                <a:solidFill>
                  <a:srgbClr val="000000"/>
                </a:solidFill>
              </a:rPr>
              <a:t>0</a:t>
            </a:r>
            <a:r>
              <a:rPr lang="zh-CN" altLang="zh-CN" sz="2400" b="1">
                <a:solidFill>
                  <a:srgbClr val="000000"/>
                </a:solidFill>
              </a:rPr>
              <a:t>为初始振幅，</a:t>
            </a:r>
            <a:r>
              <a:rPr lang="en-US" altLang="zh-CN" sz="2400" b="1">
                <a:solidFill>
                  <a:srgbClr val="000000"/>
                </a:solidFill>
              </a:rPr>
              <a:t>T</a:t>
            </a:r>
            <a:r>
              <a:rPr lang="zh-CN" altLang="zh-CN" sz="2400" b="1">
                <a:solidFill>
                  <a:srgbClr val="000000"/>
                </a:solidFill>
              </a:rPr>
              <a:t>为扭摆作阻尼振动的周期，</a:t>
            </a:r>
            <a:r>
              <a:rPr lang="zh-CN" altLang="zh-CN" sz="2400" b="1">
                <a:solidFill>
                  <a:srgbClr val="000000"/>
                </a:solidFill>
                <a:sym typeface="+mn-ea"/>
              </a:rPr>
              <a:t>扭摆的振幅随着时间按指数规律衰减。</a:t>
            </a:r>
            <a:endParaRPr lang="zh-CN" altLang="zh-CN" sz="2400" b="1">
              <a:solidFill>
                <a:srgbClr val="000000"/>
              </a:solidFill>
            </a:endParaRPr>
          </a:p>
        </p:txBody>
      </p:sp>
      <p:graphicFrame>
        <p:nvGraphicFramePr>
          <p:cNvPr id="22" name="对象 14">
            <a:hlinkClick r:id="" action="ppaction://ole?verb=0"/>
          </p:cNvPr>
          <p:cNvGraphicFramePr>
            <a:graphicFrameLocks noChangeAspect="1"/>
          </p:cNvGraphicFramePr>
          <p:nvPr>
            <p:extLst>
              <p:ext uri="{D42A27DB-BD31-4B8C-83A1-F6EECF244321}">
                <p14:modId xmlns:p14="http://schemas.microsoft.com/office/powerpoint/2010/main" val="627237942"/>
              </p:ext>
            </p:extLst>
          </p:nvPr>
        </p:nvGraphicFramePr>
        <p:xfrm>
          <a:off x="2667000" y="4267200"/>
          <a:ext cx="2723515" cy="712470"/>
        </p:xfrm>
        <a:graphic>
          <a:graphicData uri="http://schemas.openxmlformats.org/presentationml/2006/ole">
            <mc:AlternateContent xmlns:mc="http://schemas.openxmlformats.org/markup-compatibility/2006">
              <mc:Choice xmlns:v="urn:schemas-microsoft-com:vml" Requires="v">
                <p:oleObj r:id="rId10" imgW="1257300" imgH="393700" progId="Equation.KSEE3">
                  <p:embed/>
                </p:oleObj>
              </mc:Choice>
              <mc:Fallback>
                <p:oleObj r:id="rId10" imgW="1257300" imgH="393700" progId="Equation.KSEE3">
                  <p:embed/>
                  <p:pic>
                    <p:nvPicPr>
                      <p:cNvPr id="0" name="图片 3115"/>
                      <p:cNvPicPr/>
                      <p:nvPr/>
                    </p:nvPicPr>
                    <p:blipFill>
                      <a:blip r:embed="rId11"/>
                      <a:stretch>
                        <a:fillRect/>
                      </a:stretch>
                    </p:blipFill>
                    <p:spPr>
                      <a:xfrm>
                        <a:off x="2667000" y="4267200"/>
                        <a:ext cx="2723515" cy="712470"/>
                      </a:xfrm>
                      <a:prstGeom prst="rect">
                        <a:avLst/>
                      </a:prstGeom>
                      <a:solidFill>
                        <a:schemeClr val="accent6">
                          <a:lumMod val="20000"/>
                          <a:lumOff val="80000"/>
                        </a:schemeClr>
                      </a:solidFill>
                      <a:ln w="38100">
                        <a:noFill/>
                        <a:miter/>
                      </a:ln>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127000" y="1268730"/>
            <a:ext cx="8610600" cy="706755"/>
          </a:xfrm>
          <a:prstGeom prst="rect">
            <a:avLst/>
          </a:prstGeom>
          <a:noFill/>
          <a:ln w="9525">
            <a:noFill/>
          </a:ln>
        </p:spPr>
        <p:txBody>
          <a:bodyPr wrap="square">
            <a:spAutoFit/>
          </a:bodyPr>
          <a:lstStyle/>
          <a:p>
            <a:r>
              <a:rPr lang="en-US" altLang="zh-CN" sz="2000" b="1">
                <a:solidFill>
                  <a:srgbClr val="000000"/>
                </a:solidFill>
                <a:ea typeface="宋体" panose="02010600030101010101" pitchFamily="2" charset="-122"/>
              </a:rPr>
              <a:t>    </a:t>
            </a:r>
            <a:r>
              <a:rPr lang="zh-CN" sz="2000" b="1">
                <a:solidFill>
                  <a:srgbClr val="000000"/>
                </a:solidFill>
                <a:ea typeface="宋体" panose="02010600030101010101" pitchFamily="2" charset="-122"/>
              </a:rPr>
              <a:t>扭摆的振幅随着时间按指数规律衰减。若测得初始振幅 </a:t>
            </a:r>
            <a:r>
              <a:rPr lang="en-US" altLang="zh-CN" sz="2000" b="1">
                <a:solidFill>
                  <a:srgbClr val="000000"/>
                </a:solidFill>
                <a:ea typeface="宋体" panose="02010600030101010101" pitchFamily="2" charset="-122"/>
              </a:rPr>
              <a:t>A</a:t>
            </a:r>
            <a:r>
              <a:rPr lang="en-US" altLang="zh-CN" sz="2000" b="1" baseline="-25000">
                <a:solidFill>
                  <a:srgbClr val="000000"/>
                </a:solidFill>
                <a:ea typeface="宋体" panose="02010600030101010101" pitchFamily="2" charset="-122"/>
              </a:rPr>
              <a:t>0</a:t>
            </a:r>
            <a:r>
              <a:rPr lang="zh-CN" sz="2000" b="1">
                <a:solidFill>
                  <a:srgbClr val="000000"/>
                </a:solidFill>
                <a:ea typeface="宋体" panose="02010600030101010101" pitchFamily="2" charset="-122"/>
              </a:rPr>
              <a:t>及第n个周期时的振幅 </a:t>
            </a:r>
            <a:r>
              <a:rPr lang="en-US" altLang="zh-CN" sz="2000" b="1">
                <a:solidFill>
                  <a:srgbClr val="000000"/>
                </a:solidFill>
                <a:sym typeface="+mn-ea"/>
              </a:rPr>
              <a:t>A</a:t>
            </a:r>
            <a:r>
              <a:rPr lang="en-US" altLang="zh-CN" sz="2000" b="1" baseline="-25000">
                <a:solidFill>
                  <a:srgbClr val="000000"/>
                </a:solidFill>
                <a:ea typeface="宋体" panose="02010600030101010101" pitchFamily="2" charset="-122"/>
              </a:rPr>
              <a:t>n</a:t>
            </a:r>
            <a:r>
              <a:rPr lang="zh-CN" sz="2000" b="1">
                <a:solidFill>
                  <a:srgbClr val="000000"/>
                </a:solidFill>
                <a:ea typeface="宋体" panose="02010600030101010101" pitchFamily="2" charset="-122"/>
              </a:rPr>
              <a:t> 并测得摆动n个周期所用的时间 </a:t>
            </a:r>
            <a:r>
              <a:rPr lang="en-US" altLang="zh-CN" sz="2000" b="1" i="1">
                <a:solidFill>
                  <a:srgbClr val="000000"/>
                </a:solidFill>
                <a:ea typeface="宋体" panose="02010600030101010101" pitchFamily="2" charset="-122"/>
              </a:rPr>
              <a:t>t </a:t>
            </a:r>
            <a:r>
              <a:rPr lang="en-US" altLang="zh-CN" sz="2000" b="1">
                <a:solidFill>
                  <a:srgbClr val="000000"/>
                </a:solidFill>
                <a:ea typeface="宋体" panose="02010600030101010101" pitchFamily="2" charset="-122"/>
              </a:rPr>
              <a:t>=nT</a:t>
            </a:r>
          </a:p>
        </p:txBody>
      </p:sp>
      <p:graphicFrame>
        <p:nvGraphicFramePr>
          <p:cNvPr id="4" name="对象 3">
            <a:hlinkClick r:id="" action="ppaction://ole?verb=0"/>
          </p:cNvPr>
          <p:cNvGraphicFramePr>
            <a:graphicFrameLocks noChangeAspect="1"/>
          </p:cNvGraphicFramePr>
          <p:nvPr/>
        </p:nvGraphicFramePr>
        <p:xfrm>
          <a:off x="1768475" y="1913255"/>
          <a:ext cx="3555365" cy="1076325"/>
        </p:xfrm>
        <a:graphic>
          <a:graphicData uri="http://schemas.openxmlformats.org/presentationml/2006/ole">
            <mc:AlternateContent xmlns:mc="http://schemas.openxmlformats.org/markup-compatibility/2006">
              <mc:Choice xmlns:v="urn:schemas-microsoft-com:vml" Requires="v">
                <p:oleObj r:id="rId2" imgW="1244600" imgH="431800" progId="Equation.KSEE3">
                  <p:embed/>
                </p:oleObj>
              </mc:Choice>
              <mc:Fallback>
                <p:oleObj r:id="rId2" imgW="1244600" imgH="431800" progId="Equation.KSEE3">
                  <p:embed/>
                  <p:pic>
                    <p:nvPicPr>
                      <p:cNvPr id="0" name="图片 1024"/>
                      <p:cNvPicPr/>
                      <p:nvPr/>
                    </p:nvPicPr>
                    <p:blipFill>
                      <a:blip r:embed="rId3"/>
                      <a:stretch>
                        <a:fillRect/>
                      </a:stretch>
                    </p:blipFill>
                    <p:spPr>
                      <a:xfrm>
                        <a:off x="1768475" y="1913255"/>
                        <a:ext cx="3555365" cy="1076325"/>
                      </a:xfrm>
                      <a:prstGeom prst="rect">
                        <a:avLst/>
                      </a:prstGeom>
                      <a:solidFill>
                        <a:schemeClr val="accent6">
                          <a:lumMod val="20000"/>
                          <a:lumOff val="80000"/>
                        </a:schemeClr>
                      </a:solidFill>
                    </p:spPr>
                  </p:pic>
                </p:oleObj>
              </mc:Fallback>
            </mc:AlternateContent>
          </a:graphicData>
        </a:graphic>
      </p:graphicFrame>
      <p:graphicFrame>
        <p:nvGraphicFramePr>
          <p:cNvPr id="5" name="对象 4">
            <a:hlinkClick r:id="" action="ppaction://ole?verb=0"/>
          </p:cNvPr>
          <p:cNvGraphicFramePr>
            <a:graphicFrameLocks noChangeAspect="1"/>
          </p:cNvGraphicFramePr>
          <p:nvPr>
            <p:extLst>
              <p:ext uri="{D42A27DB-BD31-4B8C-83A1-F6EECF244321}">
                <p14:modId xmlns:p14="http://schemas.microsoft.com/office/powerpoint/2010/main" val="2457589676"/>
              </p:ext>
            </p:extLst>
          </p:nvPr>
        </p:nvGraphicFramePr>
        <p:xfrm>
          <a:off x="1768475" y="3200400"/>
          <a:ext cx="3193415" cy="861695"/>
        </p:xfrm>
        <a:graphic>
          <a:graphicData uri="http://schemas.openxmlformats.org/presentationml/2006/ole">
            <mc:AlternateContent xmlns:mc="http://schemas.openxmlformats.org/markup-compatibility/2006">
              <mc:Choice xmlns:v="urn:schemas-microsoft-com:vml" Requires="v">
                <p:oleObj r:id="rId4" imgW="1600200" imgH="431800" progId="Equation.KSEE3">
                  <p:embed/>
                </p:oleObj>
              </mc:Choice>
              <mc:Fallback>
                <p:oleObj r:id="rId4" imgW="1600200" imgH="431800" progId="Equation.KSEE3">
                  <p:embed/>
                  <p:pic>
                    <p:nvPicPr>
                      <p:cNvPr id="0" name="图片 1025"/>
                      <p:cNvPicPr/>
                      <p:nvPr/>
                    </p:nvPicPr>
                    <p:blipFill>
                      <a:blip r:embed="rId5"/>
                      <a:stretch>
                        <a:fillRect/>
                      </a:stretch>
                    </p:blipFill>
                    <p:spPr>
                      <a:xfrm>
                        <a:off x="1768475" y="3200400"/>
                        <a:ext cx="3193415" cy="861695"/>
                      </a:xfrm>
                      <a:prstGeom prst="rect">
                        <a:avLst/>
                      </a:prstGeom>
                      <a:solidFill>
                        <a:schemeClr val="accent6">
                          <a:lumMod val="20000"/>
                          <a:lumOff val="80000"/>
                        </a:schemeClr>
                      </a:solidFill>
                    </p:spPr>
                  </p:pic>
                </p:oleObj>
              </mc:Fallback>
            </mc:AlternateContent>
          </a:graphicData>
        </a:graphic>
      </p:graphicFrame>
      <p:graphicFrame>
        <p:nvGraphicFramePr>
          <p:cNvPr id="48148" name="对象 48147"/>
          <p:cNvGraphicFramePr/>
          <p:nvPr/>
        </p:nvGraphicFramePr>
        <p:xfrm>
          <a:off x="1768475" y="645160"/>
          <a:ext cx="4837430" cy="438150"/>
        </p:xfrm>
        <a:graphic>
          <a:graphicData uri="http://schemas.openxmlformats.org/presentationml/2006/ole">
            <mc:AlternateContent xmlns:mc="http://schemas.openxmlformats.org/markup-compatibility/2006">
              <mc:Choice xmlns:v="urn:schemas-microsoft-com:vml" Requires="v">
                <p:oleObj r:id="rId6" imgW="2374265" imgH="241300" progId="Equation.3">
                  <p:embed/>
                </p:oleObj>
              </mc:Choice>
              <mc:Fallback>
                <p:oleObj r:id="rId6" imgW="2374265" imgH="241300" progId="Equation.3">
                  <p:embed/>
                  <p:pic>
                    <p:nvPicPr>
                      <p:cNvPr id="0" name="图片 3084"/>
                      <p:cNvPicPr/>
                      <p:nvPr/>
                    </p:nvPicPr>
                    <p:blipFill>
                      <a:blip r:embed="rId7"/>
                      <a:stretch>
                        <a:fillRect/>
                      </a:stretch>
                    </p:blipFill>
                    <p:spPr>
                      <a:xfrm>
                        <a:off x="1768475" y="645160"/>
                        <a:ext cx="4837430" cy="438150"/>
                      </a:xfrm>
                      <a:prstGeom prst="rect">
                        <a:avLst/>
                      </a:prstGeom>
                      <a:solidFill>
                        <a:schemeClr val="accent6">
                          <a:lumMod val="20000"/>
                          <a:lumOff val="80000"/>
                        </a:schemeClr>
                      </a:solidFill>
                      <a:ln w="38100">
                        <a:noFill/>
                        <a:miter/>
                      </a:ln>
                    </p:spPr>
                  </p:pic>
                </p:oleObj>
              </mc:Fallback>
            </mc:AlternateContent>
          </a:graphicData>
        </a:graphic>
      </p:graphicFrame>
      <p:sp>
        <p:nvSpPr>
          <p:cNvPr id="2" name="文本框 1"/>
          <p:cNvSpPr txBox="1"/>
          <p:nvPr/>
        </p:nvSpPr>
        <p:spPr>
          <a:xfrm>
            <a:off x="313690" y="4257040"/>
            <a:ext cx="8237220" cy="398780"/>
          </a:xfrm>
          <a:prstGeom prst="rect">
            <a:avLst/>
          </a:prstGeom>
          <a:noFill/>
          <a:ln w="9525">
            <a:noFill/>
          </a:ln>
        </p:spPr>
        <p:txBody>
          <a:bodyPr wrap="square">
            <a:spAutoFit/>
          </a:bodyPr>
          <a:lstStyle/>
          <a:p>
            <a:r>
              <a:rPr lang="en-US" altLang="zh-CN" sz="2000" b="1">
                <a:solidFill>
                  <a:srgbClr val="000000"/>
                </a:solidFill>
                <a:ea typeface="宋体" panose="02010600030101010101" pitchFamily="2" charset="-122"/>
              </a:rPr>
              <a:t>   </a:t>
            </a:r>
            <a:r>
              <a:rPr lang="zh-CN" sz="2000" b="1">
                <a:solidFill>
                  <a:srgbClr val="000000"/>
                </a:solidFill>
                <a:ea typeface="宋体" panose="02010600030101010101" pitchFamily="2" charset="-122"/>
              </a:rPr>
              <a:t>若扭摆在摆动过程中不受阻力矩的作用 ，即  </a:t>
            </a:r>
            <a:endParaRPr lang="zh-CN" altLang="en-US" sz="2000" b="1">
              <a:solidFill>
                <a:srgbClr val="000000"/>
              </a:solidFill>
              <a:ea typeface="宋体" panose="02010600030101010101" pitchFamily="2" charset="-122"/>
            </a:endParaRPr>
          </a:p>
        </p:txBody>
      </p:sp>
      <p:pic>
        <p:nvPicPr>
          <p:cNvPr id="20517" name="图片 20516" descr="0df3d7ca7bcb0a462606d5156f63f6246b60aff2"/>
          <p:cNvPicPr>
            <a:picLocks noChangeAspect="1"/>
          </p:cNvPicPr>
          <p:nvPr/>
        </p:nvPicPr>
        <p:blipFill>
          <a:blip r:embed="rId8"/>
          <a:stretch>
            <a:fillRect/>
          </a:stretch>
        </p:blipFill>
        <p:spPr>
          <a:xfrm>
            <a:off x="5617209" y="1913255"/>
            <a:ext cx="3216967" cy="2123440"/>
          </a:xfrm>
          <a:prstGeom prst="rect">
            <a:avLst/>
          </a:prstGeom>
          <a:noFill/>
          <a:ln w="9525">
            <a:noFill/>
          </a:ln>
        </p:spPr>
      </p:pic>
      <p:pic>
        <p:nvPicPr>
          <p:cNvPr id="3" name="图片 -2147482434"/>
          <p:cNvPicPr>
            <a:picLocks noChangeAspect="1"/>
          </p:cNvPicPr>
          <p:nvPr/>
        </p:nvPicPr>
        <p:blipFill>
          <a:blip r:embed="rId9">
            <a:clrChange>
              <a:clrFrom>
                <a:srgbClr val="FFFFFF"/>
              </a:clrFrom>
              <a:clrTo>
                <a:srgbClr val="FFFFFF">
                  <a:alpha val="0"/>
                </a:srgbClr>
              </a:clrTo>
            </a:clrChange>
          </a:blip>
          <a:stretch>
            <a:fillRect/>
          </a:stretch>
        </p:blipFill>
        <p:spPr>
          <a:xfrm>
            <a:off x="5617210" y="4300220"/>
            <a:ext cx="520700" cy="312420"/>
          </a:xfrm>
          <a:prstGeom prst="rect">
            <a:avLst/>
          </a:prstGeom>
          <a:noFill/>
          <a:ln w="9525">
            <a:noFill/>
          </a:ln>
        </p:spPr>
      </p:pic>
      <p:sp>
        <p:nvSpPr>
          <p:cNvPr id="102" name="文本框 101"/>
          <p:cNvSpPr txBox="1"/>
          <p:nvPr/>
        </p:nvSpPr>
        <p:spPr>
          <a:xfrm>
            <a:off x="127000" y="4765040"/>
            <a:ext cx="7899400" cy="398780"/>
          </a:xfrm>
          <a:prstGeom prst="rect">
            <a:avLst/>
          </a:prstGeom>
          <a:noFill/>
          <a:ln w="9525">
            <a:noFill/>
          </a:ln>
        </p:spPr>
        <p:txBody>
          <a:bodyPr wrap="square">
            <a:spAutoFit/>
          </a:bodyPr>
          <a:lstStyle/>
          <a:p>
            <a:r>
              <a:rPr lang="zh-CN" sz="2000" b="1">
                <a:solidFill>
                  <a:srgbClr val="000000"/>
                </a:solidFill>
                <a:sym typeface="+mn-ea"/>
              </a:rPr>
              <a:t>不论摆动的次数如何，</a:t>
            </a:r>
            <a:r>
              <a:rPr lang="zh-CN" sz="2000" b="1">
                <a:solidFill>
                  <a:srgbClr val="000000"/>
                </a:solidFill>
                <a:ea typeface="宋体" panose="02010600030101010101" pitchFamily="2" charset="-122"/>
              </a:rPr>
              <a:t>振幅始终保持不变，扭摆处于自由振动状态。</a:t>
            </a:r>
            <a:endParaRPr lang="zh-CN" altLang="en-US" sz="2000" b="1">
              <a:solidFill>
                <a:srgbClr val="000000"/>
              </a:solidFill>
              <a:ea typeface="宋体" panose="02010600030101010101" pitchFamily="2" charset="-122"/>
            </a:endParaRPr>
          </a:p>
        </p:txBody>
      </p:sp>
      <p:graphicFrame>
        <p:nvGraphicFramePr>
          <p:cNvPr id="7" name="对象 6"/>
          <p:cNvGraphicFramePr/>
          <p:nvPr>
            <p:extLst>
              <p:ext uri="{D42A27DB-BD31-4B8C-83A1-F6EECF244321}">
                <p14:modId xmlns:p14="http://schemas.microsoft.com/office/powerpoint/2010/main" val="3344100437"/>
              </p:ext>
            </p:extLst>
          </p:nvPr>
        </p:nvGraphicFramePr>
        <p:xfrm>
          <a:off x="1579562" y="5507990"/>
          <a:ext cx="3933190" cy="415290"/>
        </p:xfrm>
        <a:graphic>
          <a:graphicData uri="http://schemas.openxmlformats.org/presentationml/2006/ole">
            <mc:AlternateContent xmlns:mc="http://schemas.openxmlformats.org/markup-compatibility/2006">
              <mc:Choice xmlns:v="urn:schemas-microsoft-com:vml" Requires="v">
                <p:oleObj r:id="rId10" imgW="1930400" imgH="228600" progId="Equation.3">
                  <p:embed/>
                </p:oleObj>
              </mc:Choice>
              <mc:Fallback>
                <p:oleObj r:id="rId10" imgW="1930400" imgH="228600" progId="Equation.3">
                  <p:embed/>
                  <p:pic>
                    <p:nvPicPr>
                      <p:cNvPr id="0" name="图片 3084"/>
                      <p:cNvPicPr/>
                      <p:nvPr/>
                    </p:nvPicPr>
                    <p:blipFill>
                      <a:blip r:embed="rId11"/>
                      <a:stretch>
                        <a:fillRect/>
                      </a:stretch>
                    </p:blipFill>
                    <p:spPr>
                      <a:xfrm>
                        <a:off x="1579562" y="5507990"/>
                        <a:ext cx="3933190" cy="415290"/>
                      </a:xfrm>
                      <a:prstGeom prst="rect">
                        <a:avLst/>
                      </a:prstGeom>
                      <a:solidFill>
                        <a:schemeClr val="accent6">
                          <a:lumMod val="20000"/>
                          <a:lumOff val="80000"/>
                        </a:schemeClr>
                      </a:solidFill>
                      <a:ln w="38100">
                        <a:noFill/>
                        <a:miter/>
                      </a:ln>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文本占位符 47106"/>
          <p:cNvSpPr>
            <a:spLocks noGrp="1" noRot="1"/>
          </p:cNvSpPr>
          <p:nvPr>
            <p:ph type="body" idx="1"/>
          </p:nvPr>
        </p:nvSpPr>
        <p:spPr>
          <a:xfrm>
            <a:off x="100330" y="1048385"/>
            <a:ext cx="8713470" cy="1262380"/>
          </a:xfrm>
        </p:spPr>
        <p:txBody>
          <a:bodyPr/>
          <a:lstStyle/>
          <a:p>
            <a:pPr marL="0" indent="0">
              <a:spcBef>
                <a:spcPts val="0"/>
              </a:spcBef>
              <a:buNone/>
            </a:pPr>
            <a:r>
              <a:rPr lang="en-US" altLang="zh-CN" sz="2800" b="1" dirty="0">
                <a:solidFill>
                  <a:srgbClr val="000000"/>
                </a:solidFill>
              </a:rPr>
              <a:t>      </a:t>
            </a:r>
            <a:r>
              <a:rPr lang="zh-CN" altLang="en-US" sz="2000" b="1" dirty="0">
                <a:solidFill>
                  <a:srgbClr val="000000"/>
                </a:solidFill>
              </a:rPr>
              <a:t> 外加简谐力矩的频率是     ，外力矩角幅度为     ，外力矩幅度为：     当摆轮受到周期性强迫外力矩                         的作用，并在有空气阻尼和电磁阻尼的媒质中运动时其运动方程</a:t>
            </a:r>
            <a:endParaRPr lang="en-US" altLang="zh-CN" sz="1800" b="1" dirty="0">
              <a:solidFill>
                <a:srgbClr val="000000"/>
              </a:solidFill>
              <a:latin typeface="Arial" panose="020B0604020202020204" pitchFamily="34" charset="0"/>
              <a:ea typeface="宋体" panose="02010600030101010101" pitchFamily="2" charset="-122"/>
            </a:endParaRPr>
          </a:p>
        </p:txBody>
      </p:sp>
      <p:graphicFrame>
        <p:nvGraphicFramePr>
          <p:cNvPr id="47108" name="对象 47107"/>
          <p:cNvGraphicFramePr/>
          <p:nvPr/>
        </p:nvGraphicFramePr>
        <p:xfrm>
          <a:off x="1158558" y="2113280"/>
          <a:ext cx="3642995" cy="762635"/>
        </p:xfrm>
        <a:graphic>
          <a:graphicData uri="http://schemas.openxmlformats.org/presentationml/2006/ole">
            <mc:AlternateContent xmlns:mc="http://schemas.openxmlformats.org/markup-compatibility/2006">
              <mc:Choice xmlns:v="urn:schemas-microsoft-com:vml" Requires="v">
                <p:oleObj r:id="rId2" imgW="1955800" imgH="419100" progId="Equation.3">
                  <p:embed/>
                </p:oleObj>
              </mc:Choice>
              <mc:Fallback>
                <p:oleObj r:id="rId2" imgW="1955800" imgH="419100" progId="Equation.3">
                  <p:embed/>
                  <p:pic>
                    <p:nvPicPr>
                      <p:cNvPr id="0" name="图片 3085"/>
                      <p:cNvPicPr/>
                      <p:nvPr/>
                    </p:nvPicPr>
                    <p:blipFill>
                      <a:blip r:embed="rId3"/>
                      <a:stretch>
                        <a:fillRect/>
                      </a:stretch>
                    </p:blipFill>
                    <p:spPr>
                      <a:xfrm>
                        <a:off x="1158558" y="2113280"/>
                        <a:ext cx="3642995" cy="762635"/>
                      </a:xfrm>
                      <a:prstGeom prst="rect">
                        <a:avLst/>
                      </a:prstGeom>
                      <a:solidFill>
                        <a:schemeClr val="accent6">
                          <a:lumMod val="20000"/>
                          <a:lumOff val="80000"/>
                        </a:schemeClr>
                      </a:solidFill>
                      <a:ln w="38100">
                        <a:noFill/>
                        <a:miter/>
                      </a:ln>
                    </p:spPr>
                  </p:pic>
                </p:oleObj>
              </mc:Fallback>
            </mc:AlternateContent>
          </a:graphicData>
        </a:graphic>
      </p:graphicFrame>
      <p:sp>
        <p:nvSpPr>
          <p:cNvPr id="47111" name="矩形 47110"/>
          <p:cNvSpPr/>
          <p:nvPr/>
        </p:nvSpPr>
        <p:spPr>
          <a:xfrm>
            <a:off x="0" y="0"/>
            <a:ext cx="9144000" cy="0"/>
          </a:xfrm>
          <a:prstGeom prst="rect">
            <a:avLst/>
          </a:prstGeom>
          <a:noFill/>
          <a:ln w="9525">
            <a:noFill/>
          </a:ln>
        </p:spPr>
        <p:txBody>
          <a:bodyPr/>
          <a:lstStyle/>
          <a:p>
            <a:endParaRPr lang="zh-CN" altLang="en-US"/>
          </a:p>
        </p:txBody>
      </p:sp>
      <p:sp>
        <p:nvSpPr>
          <p:cNvPr id="47113" name="矩形 47112"/>
          <p:cNvSpPr/>
          <p:nvPr/>
        </p:nvSpPr>
        <p:spPr>
          <a:xfrm>
            <a:off x="0" y="0"/>
            <a:ext cx="9144000" cy="0"/>
          </a:xfrm>
          <a:prstGeom prst="rect">
            <a:avLst/>
          </a:prstGeom>
          <a:noFill/>
          <a:ln w="9525">
            <a:noFill/>
          </a:ln>
        </p:spPr>
        <p:txBody>
          <a:bodyPr/>
          <a:lstStyle/>
          <a:p>
            <a:endParaRPr lang="zh-CN" altLang="en-US"/>
          </a:p>
        </p:txBody>
      </p:sp>
      <p:sp>
        <p:nvSpPr>
          <p:cNvPr id="47115" name="矩形 47114"/>
          <p:cNvSpPr/>
          <p:nvPr/>
        </p:nvSpPr>
        <p:spPr>
          <a:xfrm>
            <a:off x="0" y="0"/>
            <a:ext cx="9144000" cy="0"/>
          </a:xfrm>
          <a:prstGeom prst="rect">
            <a:avLst/>
          </a:prstGeom>
          <a:noFill/>
          <a:ln w="9525">
            <a:noFill/>
          </a:ln>
        </p:spPr>
        <p:txBody>
          <a:bodyPr/>
          <a:lstStyle/>
          <a:p>
            <a:endParaRPr lang="zh-CN" altLang="en-US"/>
          </a:p>
        </p:txBody>
      </p:sp>
      <p:sp>
        <p:nvSpPr>
          <p:cNvPr id="47117" name="矩形 47116"/>
          <p:cNvSpPr/>
          <p:nvPr/>
        </p:nvSpPr>
        <p:spPr>
          <a:xfrm>
            <a:off x="0" y="0"/>
            <a:ext cx="9144000" cy="0"/>
          </a:xfrm>
          <a:prstGeom prst="rect">
            <a:avLst/>
          </a:prstGeom>
          <a:noFill/>
          <a:ln w="9525">
            <a:noFill/>
          </a:ln>
        </p:spPr>
        <p:txBody>
          <a:bodyPr/>
          <a:lstStyle/>
          <a:p>
            <a:endParaRPr lang="zh-CN" altLang="en-US"/>
          </a:p>
        </p:txBody>
      </p:sp>
      <p:graphicFrame>
        <p:nvGraphicFramePr>
          <p:cNvPr id="47118" name="对象 47117"/>
          <p:cNvGraphicFramePr/>
          <p:nvPr/>
        </p:nvGraphicFramePr>
        <p:xfrm>
          <a:off x="3575050" y="1494790"/>
          <a:ext cx="1764030" cy="372110"/>
        </p:xfrm>
        <a:graphic>
          <a:graphicData uri="http://schemas.openxmlformats.org/presentationml/2006/ole">
            <mc:AlternateContent xmlns:mc="http://schemas.openxmlformats.org/markup-compatibility/2006">
              <mc:Choice xmlns:v="urn:schemas-microsoft-com:vml" Requires="v">
                <p:oleObj r:id="rId4" imgW="965200" imgH="228600" progId="Equation.3">
                  <p:embed/>
                </p:oleObj>
              </mc:Choice>
              <mc:Fallback>
                <p:oleObj r:id="rId4" imgW="965200" imgH="228600" progId="Equation.3">
                  <p:embed/>
                  <p:pic>
                    <p:nvPicPr>
                      <p:cNvPr id="0" name="图片 3086"/>
                      <p:cNvPicPr/>
                      <p:nvPr/>
                    </p:nvPicPr>
                    <p:blipFill>
                      <a:blip r:embed="rId5"/>
                      <a:stretch>
                        <a:fillRect/>
                      </a:stretch>
                    </p:blipFill>
                    <p:spPr>
                      <a:xfrm>
                        <a:off x="3575050" y="1494790"/>
                        <a:ext cx="1764030" cy="372110"/>
                      </a:xfrm>
                      <a:prstGeom prst="rect">
                        <a:avLst/>
                      </a:prstGeom>
                      <a:noFill/>
                      <a:ln w="38100">
                        <a:noFill/>
                        <a:miter/>
                      </a:ln>
                    </p:spPr>
                  </p:pic>
                </p:oleObj>
              </mc:Fallback>
            </mc:AlternateContent>
          </a:graphicData>
        </a:graphic>
      </p:graphicFrame>
      <p:graphicFrame>
        <p:nvGraphicFramePr>
          <p:cNvPr id="48132" name="对象 48131"/>
          <p:cNvGraphicFramePr/>
          <p:nvPr/>
        </p:nvGraphicFramePr>
        <p:xfrm>
          <a:off x="793908" y="4124325"/>
          <a:ext cx="1731645" cy="695325"/>
        </p:xfrm>
        <a:graphic>
          <a:graphicData uri="http://schemas.openxmlformats.org/presentationml/2006/ole">
            <mc:AlternateContent xmlns:mc="http://schemas.openxmlformats.org/markup-compatibility/2006">
              <mc:Choice xmlns:v="urn:schemas-microsoft-com:vml" Requires="v">
                <p:oleObj r:id="rId6" imgW="825500" imgH="393700" progId="Equation.3">
                  <p:embed/>
                </p:oleObj>
              </mc:Choice>
              <mc:Fallback>
                <p:oleObj r:id="rId6" imgW="825500" imgH="393700" progId="Equation.3">
                  <p:embed/>
                  <p:pic>
                    <p:nvPicPr>
                      <p:cNvPr id="0" name="图片 3079"/>
                      <p:cNvPicPr/>
                      <p:nvPr/>
                    </p:nvPicPr>
                    <p:blipFill>
                      <a:blip r:embed="rId7"/>
                      <a:stretch>
                        <a:fillRect/>
                      </a:stretch>
                    </p:blipFill>
                    <p:spPr>
                      <a:xfrm>
                        <a:off x="793908" y="4124325"/>
                        <a:ext cx="1731645" cy="695325"/>
                      </a:xfrm>
                      <a:prstGeom prst="rect">
                        <a:avLst/>
                      </a:prstGeom>
                      <a:noFill/>
                      <a:ln w="38100">
                        <a:noFill/>
                        <a:miter/>
                      </a:ln>
                    </p:spPr>
                  </p:pic>
                </p:oleObj>
              </mc:Fallback>
            </mc:AlternateContent>
          </a:graphicData>
        </a:graphic>
      </p:graphicFrame>
      <p:graphicFrame>
        <p:nvGraphicFramePr>
          <p:cNvPr id="48134" name="对象 48133"/>
          <p:cNvGraphicFramePr/>
          <p:nvPr/>
        </p:nvGraphicFramePr>
        <p:xfrm>
          <a:off x="2775268" y="4133850"/>
          <a:ext cx="861695" cy="685800"/>
        </p:xfrm>
        <a:graphic>
          <a:graphicData uri="http://schemas.openxmlformats.org/presentationml/2006/ole">
            <mc:AlternateContent xmlns:mc="http://schemas.openxmlformats.org/markup-compatibility/2006">
              <mc:Choice xmlns:v="urn:schemas-microsoft-com:vml" Requires="v">
                <p:oleObj r:id="rId8" imgW="482600" imgH="393700" progId="Equation.3">
                  <p:embed/>
                </p:oleObj>
              </mc:Choice>
              <mc:Fallback>
                <p:oleObj r:id="rId8" imgW="482600" imgH="393700" progId="Equation.3">
                  <p:embed/>
                  <p:pic>
                    <p:nvPicPr>
                      <p:cNvPr id="0" name="图片 3080"/>
                      <p:cNvPicPr/>
                      <p:nvPr/>
                    </p:nvPicPr>
                    <p:blipFill>
                      <a:blip r:embed="rId9"/>
                      <a:stretch>
                        <a:fillRect/>
                      </a:stretch>
                    </p:blipFill>
                    <p:spPr>
                      <a:xfrm>
                        <a:off x="2775268" y="4133850"/>
                        <a:ext cx="861695" cy="685800"/>
                      </a:xfrm>
                      <a:prstGeom prst="rect">
                        <a:avLst/>
                      </a:prstGeom>
                      <a:noFill/>
                      <a:ln w="38100">
                        <a:noFill/>
                        <a:miter/>
                      </a:ln>
                    </p:spPr>
                  </p:pic>
                </p:oleObj>
              </mc:Fallback>
            </mc:AlternateContent>
          </a:graphicData>
        </a:graphic>
      </p:graphicFrame>
      <p:graphicFrame>
        <p:nvGraphicFramePr>
          <p:cNvPr id="48136" name="对象 48135"/>
          <p:cNvGraphicFramePr/>
          <p:nvPr>
            <p:extLst>
              <p:ext uri="{D42A27DB-BD31-4B8C-83A1-F6EECF244321}">
                <p14:modId xmlns:p14="http://schemas.microsoft.com/office/powerpoint/2010/main" val="1810801415"/>
              </p:ext>
            </p:extLst>
          </p:nvPr>
        </p:nvGraphicFramePr>
        <p:xfrm>
          <a:off x="3962400" y="4133850"/>
          <a:ext cx="1042035" cy="738505"/>
        </p:xfrm>
        <a:graphic>
          <a:graphicData uri="http://schemas.openxmlformats.org/presentationml/2006/ole">
            <mc:AlternateContent xmlns:mc="http://schemas.openxmlformats.org/markup-compatibility/2006">
              <mc:Choice xmlns:v="urn:schemas-microsoft-com:vml" Requires="v">
                <p:oleObj r:id="rId10" imgW="545465" imgH="393700" progId="Equation.3">
                  <p:embed/>
                </p:oleObj>
              </mc:Choice>
              <mc:Fallback>
                <p:oleObj r:id="rId10" imgW="545465" imgH="393700" progId="Equation.3">
                  <p:embed/>
                  <p:pic>
                    <p:nvPicPr>
                      <p:cNvPr id="0" name="图片 3081"/>
                      <p:cNvPicPr/>
                      <p:nvPr/>
                    </p:nvPicPr>
                    <p:blipFill>
                      <a:blip r:embed="rId11"/>
                      <a:stretch>
                        <a:fillRect/>
                      </a:stretch>
                    </p:blipFill>
                    <p:spPr>
                      <a:xfrm>
                        <a:off x="3962400" y="4133850"/>
                        <a:ext cx="1042035" cy="738505"/>
                      </a:xfrm>
                      <a:prstGeom prst="rect">
                        <a:avLst/>
                      </a:prstGeom>
                      <a:noFill/>
                      <a:ln w="38100">
                        <a:noFill/>
                        <a:miter/>
                      </a:ln>
                    </p:spPr>
                  </p:pic>
                </p:oleObj>
              </mc:Fallback>
            </mc:AlternateContent>
          </a:graphicData>
        </a:graphic>
      </p:graphicFrame>
      <p:graphicFrame>
        <p:nvGraphicFramePr>
          <p:cNvPr id="48138" name="对象 48137"/>
          <p:cNvGraphicFramePr/>
          <p:nvPr>
            <p:extLst>
              <p:ext uri="{D42A27DB-BD31-4B8C-83A1-F6EECF244321}">
                <p14:modId xmlns:p14="http://schemas.microsoft.com/office/powerpoint/2010/main" val="1239388734"/>
              </p:ext>
            </p:extLst>
          </p:nvPr>
        </p:nvGraphicFramePr>
        <p:xfrm>
          <a:off x="881380" y="5024755"/>
          <a:ext cx="4123055" cy="784860"/>
        </p:xfrm>
        <a:graphic>
          <a:graphicData uri="http://schemas.openxmlformats.org/presentationml/2006/ole">
            <mc:AlternateContent xmlns:mc="http://schemas.openxmlformats.org/markup-compatibility/2006">
              <mc:Choice xmlns:v="urn:schemas-microsoft-com:vml" Requires="v">
                <p:oleObj r:id="rId12" imgW="1930400" imgH="419100" progId="Equation.3">
                  <p:embed/>
                </p:oleObj>
              </mc:Choice>
              <mc:Fallback>
                <p:oleObj r:id="rId12" imgW="1930400" imgH="419100" progId="Equation.3">
                  <p:embed/>
                  <p:pic>
                    <p:nvPicPr>
                      <p:cNvPr id="0" name="图片 3089"/>
                      <p:cNvPicPr/>
                      <p:nvPr/>
                    </p:nvPicPr>
                    <p:blipFill>
                      <a:blip r:embed="rId13"/>
                      <a:stretch>
                        <a:fillRect/>
                      </a:stretch>
                    </p:blipFill>
                    <p:spPr>
                      <a:xfrm>
                        <a:off x="881380" y="5024755"/>
                        <a:ext cx="4123055" cy="784860"/>
                      </a:xfrm>
                      <a:prstGeom prst="rect">
                        <a:avLst/>
                      </a:prstGeom>
                      <a:solidFill>
                        <a:schemeClr val="accent6">
                          <a:lumMod val="20000"/>
                          <a:lumOff val="80000"/>
                        </a:schemeClr>
                      </a:solidFill>
                      <a:ln w="38100">
                        <a:noFill/>
                        <a:miter/>
                      </a:ln>
                    </p:spPr>
                  </p:pic>
                </p:oleObj>
              </mc:Fallback>
            </mc:AlternateContent>
          </a:graphicData>
        </a:graphic>
      </p:graphicFrame>
      <p:sp>
        <p:nvSpPr>
          <p:cNvPr id="3" name="文本框 2"/>
          <p:cNvSpPr txBox="1"/>
          <p:nvPr/>
        </p:nvSpPr>
        <p:spPr>
          <a:xfrm>
            <a:off x="5586095" y="5008245"/>
            <a:ext cx="767080" cy="368300"/>
          </a:xfrm>
          <a:prstGeom prst="rect">
            <a:avLst/>
          </a:prstGeom>
          <a:noFill/>
        </p:spPr>
        <p:txBody>
          <a:bodyPr wrap="none" rtlCol="0" anchor="t">
            <a:spAutoFit/>
          </a:bodyPr>
          <a:lstStyle/>
          <a:p>
            <a:r>
              <a:rPr lang="zh-CN" altLang="en-US" dirty="0">
                <a:solidFill>
                  <a:srgbClr val="000000"/>
                </a:solidFill>
                <a:sym typeface="+mn-ea"/>
              </a:rPr>
              <a:t>（</a:t>
            </a:r>
            <a:r>
              <a:rPr lang="en-US" altLang="zh-CN" dirty="0">
                <a:solidFill>
                  <a:srgbClr val="000000"/>
                </a:solidFill>
                <a:sym typeface="+mn-ea"/>
              </a:rPr>
              <a:t>2</a:t>
            </a:r>
            <a:r>
              <a:rPr lang="zh-CN" altLang="en-US" dirty="0">
                <a:solidFill>
                  <a:srgbClr val="000000"/>
                </a:solidFill>
                <a:sym typeface="+mn-ea"/>
              </a:rPr>
              <a:t>）</a:t>
            </a:r>
            <a:endParaRPr lang="zh-CN" altLang="en-US"/>
          </a:p>
        </p:txBody>
      </p:sp>
      <p:sp>
        <p:nvSpPr>
          <p:cNvPr id="410646" name="圆角矩形标注 410645"/>
          <p:cNvSpPr/>
          <p:nvPr/>
        </p:nvSpPr>
        <p:spPr>
          <a:xfrm>
            <a:off x="-116522" y="3013710"/>
            <a:ext cx="1368425" cy="720725"/>
          </a:xfrm>
          <a:prstGeom prst="wedgeRoundRectCallout">
            <a:avLst>
              <a:gd name="adj1" fmla="val 49537"/>
              <a:gd name="adj2" fmla="val -88769"/>
              <a:gd name="adj3" fmla="val 16667"/>
            </a:avLst>
          </a:prstGeom>
          <a:solidFill>
            <a:srgbClr val="FFFF00"/>
          </a:solidFill>
          <a:ln w="9525" cap="flat" cmpd="sng">
            <a:solidFill>
              <a:schemeClr val="tx1"/>
            </a:solidFill>
            <a:prstDash val="solid"/>
            <a:miter/>
            <a:headEnd type="none" w="med" len="med"/>
            <a:tailEnd type="none" w="med" len="med"/>
          </a:ln>
        </p:spPr>
        <p:txBody>
          <a:bodyPr lIns="0" tIns="0" rIns="0" bIns="0"/>
          <a:lstStyle/>
          <a:p>
            <a:pPr algn="ctr"/>
            <a:r>
              <a:rPr lang="zh-CN" altLang="en-US" b="0" dirty="0">
                <a:solidFill>
                  <a:srgbClr val="A50021"/>
                </a:solidFill>
                <a:latin typeface="华文新魏" panose="02010800040101010101" pitchFamily="2" charset="-122"/>
                <a:ea typeface="华文新魏" panose="02010800040101010101" pitchFamily="2" charset="-122"/>
              </a:rPr>
              <a:t>摆轮</a:t>
            </a:r>
          </a:p>
          <a:p>
            <a:pPr algn="ctr"/>
            <a:r>
              <a:rPr lang="zh-CN" altLang="en-US" b="0" dirty="0">
                <a:solidFill>
                  <a:srgbClr val="A50021"/>
                </a:solidFill>
                <a:latin typeface="华文新魏" panose="02010800040101010101" pitchFamily="2" charset="-122"/>
                <a:ea typeface="华文新魏" panose="02010800040101010101" pitchFamily="2" charset="-122"/>
              </a:rPr>
              <a:t>转动惯量</a:t>
            </a:r>
          </a:p>
        </p:txBody>
      </p:sp>
      <p:sp>
        <p:nvSpPr>
          <p:cNvPr id="410647" name="圆角矩形标注 410646"/>
          <p:cNvSpPr/>
          <p:nvPr/>
        </p:nvSpPr>
        <p:spPr>
          <a:xfrm>
            <a:off x="1335405" y="3133408"/>
            <a:ext cx="1439863" cy="433387"/>
          </a:xfrm>
          <a:prstGeom prst="wedgeRoundRectCallout">
            <a:avLst>
              <a:gd name="adj1" fmla="val 28833"/>
              <a:gd name="adj2" fmla="val -145236"/>
              <a:gd name="adj3" fmla="val 16667"/>
            </a:avLst>
          </a:prstGeom>
          <a:solidFill>
            <a:srgbClr val="FFFF00"/>
          </a:solidFill>
          <a:ln w="9525" cap="flat" cmpd="sng">
            <a:solidFill>
              <a:schemeClr val="tx1"/>
            </a:solidFill>
            <a:prstDash val="solid"/>
            <a:miter/>
            <a:headEnd type="none" w="med" len="med"/>
            <a:tailEnd type="none" w="med" len="med"/>
          </a:ln>
        </p:spPr>
        <p:txBody>
          <a:bodyPr lIns="0" tIns="0" rIns="0" bIns="0"/>
          <a:lstStyle/>
          <a:p>
            <a:pPr algn="ctr"/>
            <a:r>
              <a:rPr lang="zh-CN" altLang="en-US" b="0" dirty="0">
                <a:solidFill>
                  <a:srgbClr val="A50021"/>
                </a:solidFill>
                <a:latin typeface="华文新魏" panose="02010800040101010101" pitchFamily="2" charset="-122"/>
                <a:ea typeface="华文新魏" panose="02010800040101010101" pitchFamily="2" charset="-122"/>
              </a:rPr>
              <a:t>弹性力矩</a:t>
            </a:r>
          </a:p>
        </p:txBody>
      </p:sp>
      <p:sp>
        <p:nvSpPr>
          <p:cNvPr id="410648" name="圆角矩形标注 410647"/>
          <p:cNvSpPr/>
          <p:nvPr/>
        </p:nvSpPr>
        <p:spPr>
          <a:xfrm>
            <a:off x="2775585" y="3157855"/>
            <a:ext cx="1440180" cy="432435"/>
          </a:xfrm>
          <a:prstGeom prst="wedgeRoundRectCallout">
            <a:avLst>
              <a:gd name="adj1" fmla="val -23544"/>
              <a:gd name="adj2" fmla="val -120631"/>
              <a:gd name="adj3" fmla="val 16667"/>
            </a:avLst>
          </a:prstGeom>
          <a:solidFill>
            <a:srgbClr val="FFFF00"/>
          </a:solidFill>
          <a:ln w="9525" cap="flat" cmpd="sng">
            <a:solidFill>
              <a:schemeClr val="tx1"/>
            </a:solidFill>
            <a:prstDash val="solid"/>
            <a:miter/>
            <a:headEnd type="none" w="med" len="med"/>
            <a:tailEnd type="none" w="med" len="med"/>
          </a:ln>
        </p:spPr>
        <p:txBody>
          <a:bodyPr lIns="0" tIns="0" rIns="0" bIns="0"/>
          <a:lstStyle/>
          <a:p>
            <a:pPr algn="ctr"/>
            <a:r>
              <a:rPr lang="zh-CN" altLang="en-US" b="0" dirty="0">
                <a:solidFill>
                  <a:srgbClr val="A50021"/>
                </a:solidFill>
                <a:latin typeface="华文新魏" panose="02010800040101010101" pitchFamily="2" charset="-122"/>
                <a:ea typeface="华文新魏" panose="02010800040101010101" pitchFamily="2" charset="-122"/>
              </a:rPr>
              <a:t>阻尼力矩</a:t>
            </a:r>
          </a:p>
        </p:txBody>
      </p:sp>
      <p:sp>
        <p:nvSpPr>
          <p:cNvPr id="410649" name="圆角矩形标注 410648"/>
          <p:cNvSpPr/>
          <p:nvPr/>
        </p:nvSpPr>
        <p:spPr>
          <a:xfrm>
            <a:off x="4363085" y="3069590"/>
            <a:ext cx="1368425" cy="719138"/>
          </a:xfrm>
          <a:prstGeom prst="wedgeRoundRectCallout">
            <a:avLst>
              <a:gd name="adj1" fmla="val -53109"/>
              <a:gd name="adj2" fmla="val -103951"/>
              <a:gd name="adj3" fmla="val 16667"/>
            </a:avLst>
          </a:prstGeom>
          <a:solidFill>
            <a:srgbClr val="FFFF00"/>
          </a:solidFill>
          <a:ln w="9525" cap="flat" cmpd="sng">
            <a:solidFill>
              <a:schemeClr val="tx1"/>
            </a:solidFill>
            <a:prstDash val="solid"/>
            <a:miter/>
            <a:headEnd type="none" w="med" len="med"/>
            <a:tailEnd type="none" w="med" len="med"/>
          </a:ln>
        </p:spPr>
        <p:txBody>
          <a:bodyPr lIns="0" tIns="0" rIns="0" bIns="0"/>
          <a:lstStyle/>
          <a:p>
            <a:pPr algn="ctr"/>
            <a:r>
              <a:rPr lang="zh-CN" altLang="en-US" b="0" dirty="0">
                <a:solidFill>
                  <a:srgbClr val="A50021"/>
                </a:solidFill>
                <a:latin typeface="华文新魏" panose="02010800040101010101" pitchFamily="2" charset="-122"/>
                <a:ea typeface="华文新魏" panose="02010800040101010101" pitchFamily="2" charset="-122"/>
              </a:rPr>
              <a:t>周期性强迫</a:t>
            </a:r>
          </a:p>
          <a:p>
            <a:pPr algn="ctr"/>
            <a:r>
              <a:rPr lang="zh-CN" altLang="en-US" b="0" dirty="0">
                <a:solidFill>
                  <a:srgbClr val="A50021"/>
                </a:solidFill>
                <a:latin typeface="华文新魏" panose="02010800040101010101" pitchFamily="2" charset="-122"/>
                <a:ea typeface="华文新魏" panose="02010800040101010101" pitchFamily="2" charset="-122"/>
              </a:rPr>
              <a:t>外力矩</a:t>
            </a:r>
          </a:p>
        </p:txBody>
      </p:sp>
      <p:graphicFrame>
        <p:nvGraphicFramePr>
          <p:cNvPr id="2" name="对象 1"/>
          <p:cNvGraphicFramePr/>
          <p:nvPr/>
        </p:nvGraphicFramePr>
        <p:xfrm>
          <a:off x="6648609" y="4430078"/>
          <a:ext cx="2018030" cy="1809750"/>
        </p:xfrm>
        <a:graphic>
          <a:graphicData uri="http://schemas.openxmlformats.org/presentationml/2006/ole">
            <mc:AlternateContent xmlns:mc="http://schemas.openxmlformats.org/markup-compatibility/2006">
              <mc:Choice xmlns:v="urn:schemas-microsoft-com:vml" Requires="v">
                <p:oleObj r:id="rId14" imgW="1346200" imgH="1206500" progId="Equation.3">
                  <p:embed/>
                </p:oleObj>
              </mc:Choice>
              <mc:Fallback>
                <p:oleObj r:id="rId14" imgW="1346200" imgH="1206500" progId="Equation.3">
                  <p:embed/>
                  <p:pic>
                    <p:nvPicPr>
                      <p:cNvPr id="0" name="图片 3077"/>
                      <p:cNvPicPr/>
                      <p:nvPr/>
                    </p:nvPicPr>
                    <p:blipFill>
                      <a:blip r:embed="rId15"/>
                      <a:stretch>
                        <a:fillRect/>
                      </a:stretch>
                    </p:blipFill>
                    <p:spPr>
                      <a:xfrm>
                        <a:off x="6648609" y="4430078"/>
                        <a:ext cx="2018030" cy="1809750"/>
                      </a:xfrm>
                      <a:prstGeom prst="rect">
                        <a:avLst/>
                      </a:prstGeom>
                      <a:solidFill>
                        <a:schemeClr val="accent4">
                          <a:lumMod val="20000"/>
                          <a:lumOff val="80000"/>
                        </a:schemeClr>
                      </a:solidFill>
                      <a:ln w="38100">
                        <a:noFill/>
                        <a:miter/>
                      </a:ln>
                    </p:spPr>
                  </p:pic>
                </p:oleObj>
              </mc:Fallback>
            </mc:AlternateContent>
          </a:graphicData>
        </a:graphic>
      </p:graphicFrame>
      <p:graphicFrame>
        <p:nvGraphicFramePr>
          <p:cNvPr id="5" name="对象 4"/>
          <p:cNvGraphicFramePr/>
          <p:nvPr/>
        </p:nvGraphicFramePr>
        <p:xfrm>
          <a:off x="3399473" y="1203325"/>
          <a:ext cx="344805" cy="291465"/>
        </p:xfrm>
        <a:graphic>
          <a:graphicData uri="http://schemas.openxmlformats.org/presentationml/2006/ole">
            <mc:AlternateContent xmlns:mc="http://schemas.openxmlformats.org/markup-compatibility/2006">
              <mc:Choice xmlns:v="urn:schemas-microsoft-com:vml" Requires="v">
                <p:oleObj r:id="rId16" imgW="152400" imgH="139700" progId="Equation.3">
                  <p:embed/>
                </p:oleObj>
              </mc:Choice>
              <mc:Fallback>
                <p:oleObj r:id="rId16" imgW="152400" imgH="139700" progId="Equation.3">
                  <p:embed/>
                  <p:pic>
                    <p:nvPicPr>
                      <p:cNvPr id="0" name="图片 3079"/>
                      <p:cNvPicPr/>
                      <p:nvPr/>
                    </p:nvPicPr>
                    <p:blipFill>
                      <a:blip r:embed="rId17"/>
                      <a:stretch>
                        <a:fillRect/>
                      </a:stretch>
                    </p:blipFill>
                    <p:spPr>
                      <a:xfrm>
                        <a:off x="3399473" y="1203325"/>
                        <a:ext cx="344805" cy="291465"/>
                      </a:xfrm>
                      <a:prstGeom prst="rect">
                        <a:avLst/>
                      </a:prstGeom>
                      <a:noFill/>
                      <a:ln w="38100">
                        <a:noFill/>
                        <a:miter/>
                      </a:ln>
                    </p:spPr>
                  </p:pic>
                </p:oleObj>
              </mc:Fallback>
            </mc:AlternateContent>
          </a:graphicData>
        </a:graphic>
      </p:graphicFrame>
      <p:graphicFrame>
        <p:nvGraphicFramePr>
          <p:cNvPr id="8" name="对象 7">
            <a:hlinkClick r:id="" action="ppaction://ole?verb=0"/>
          </p:cNvPr>
          <p:cNvGraphicFramePr>
            <a:graphicFrameLocks noChangeAspect="1"/>
          </p:cNvGraphicFramePr>
          <p:nvPr/>
        </p:nvGraphicFramePr>
        <p:xfrm>
          <a:off x="5752783" y="1103313"/>
          <a:ext cx="282575" cy="391160"/>
        </p:xfrm>
        <a:graphic>
          <a:graphicData uri="http://schemas.openxmlformats.org/presentationml/2006/ole">
            <mc:AlternateContent xmlns:mc="http://schemas.openxmlformats.org/markup-compatibility/2006">
              <mc:Choice xmlns:v="urn:schemas-microsoft-com:vml" Requires="v">
                <p:oleObj r:id="rId18" imgW="165100" imgH="228600" progId="Equation.KSEE3">
                  <p:embed/>
                </p:oleObj>
              </mc:Choice>
              <mc:Fallback>
                <p:oleObj r:id="rId18" imgW="165100" imgH="228600" progId="Equation.KSEE3">
                  <p:embed/>
                  <p:pic>
                    <p:nvPicPr>
                      <p:cNvPr id="0" name="图片 1024"/>
                      <p:cNvPicPr/>
                      <p:nvPr/>
                    </p:nvPicPr>
                    <p:blipFill>
                      <a:blip r:embed="rId19"/>
                      <a:stretch>
                        <a:fillRect/>
                      </a:stretch>
                    </p:blipFill>
                    <p:spPr>
                      <a:xfrm>
                        <a:off x="5752783" y="1103313"/>
                        <a:ext cx="282575" cy="391160"/>
                      </a:xfrm>
                      <a:prstGeom prst="rect">
                        <a:avLst/>
                      </a:prstGeom>
                    </p:spPr>
                  </p:pic>
                </p:oleObj>
              </mc:Fallback>
            </mc:AlternateContent>
          </a:graphicData>
        </a:graphic>
      </p:graphicFrame>
      <p:graphicFrame>
        <p:nvGraphicFramePr>
          <p:cNvPr id="4" name="对象 -2147482434"/>
          <p:cNvGraphicFramePr>
            <a:graphicFrameLocks noChangeAspect="1"/>
          </p:cNvGraphicFramePr>
          <p:nvPr/>
        </p:nvGraphicFramePr>
        <p:xfrm>
          <a:off x="8070850" y="1174750"/>
          <a:ext cx="927735" cy="347980"/>
        </p:xfrm>
        <a:graphic>
          <a:graphicData uri="http://schemas.openxmlformats.org/presentationml/2006/ole">
            <mc:AlternateContent xmlns:mc="http://schemas.openxmlformats.org/markup-compatibility/2006">
              <mc:Choice xmlns:v="urn:schemas-microsoft-com:vml" Requires="v">
                <p:oleObj r:id="rId20" imgW="609600" imgH="228600" progId="Equation.KSEE3">
                  <p:embed/>
                </p:oleObj>
              </mc:Choice>
              <mc:Fallback>
                <p:oleObj r:id="rId20" imgW="609600" imgH="228600" progId="Equation.KSEE3">
                  <p:embed/>
                  <p:pic>
                    <p:nvPicPr>
                      <p:cNvPr id="0" name="图片 3075"/>
                      <p:cNvPicPr/>
                      <p:nvPr/>
                    </p:nvPicPr>
                    <p:blipFill>
                      <a:blip r:embed="rId21"/>
                      <a:stretch>
                        <a:fillRect/>
                      </a:stretch>
                    </p:blipFill>
                    <p:spPr>
                      <a:xfrm>
                        <a:off x="8070850" y="1174750"/>
                        <a:ext cx="927735" cy="347980"/>
                      </a:xfrm>
                      <a:prstGeom prst="rect">
                        <a:avLst/>
                      </a:prstGeom>
                      <a:noFill/>
                      <a:ln w="38100">
                        <a:noFill/>
                        <a:miter/>
                      </a:ln>
                    </p:spPr>
                  </p:pic>
                </p:oleObj>
              </mc:Fallback>
            </mc:AlternateContent>
          </a:graphicData>
        </a:graphic>
      </p:graphicFrame>
      <p:sp>
        <p:nvSpPr>
          <p:cNvPr id="9" name="文本框 8"/>
          <p:cNvSpPr txBox="1"/>
          <p:nvPr/>
        </p:nvSpPr>
        <p:spPr>
          <a:xfrm>
            <a:off x="100330" y="526415"/>
            <a:ext cx="4262755" cy="521970"/>
          </a:xfrm>
          <a:prstGeom prst="rect">
            <a:avLst/>
          </a:prstGeom>
          <a:noFill/>
          <a:ln w="9525">
            <a:noFill/>
          </a:ln>
        </p:spPr>
        <p:txBody>
          <a:bodyPr wrap="square">
            <a:spAutoFit/>
          </a:bodyPr>
          <a:lstStyle/>
          <a:p>
            <a:r>
              <a:rPr lang="zh-CN" sz="2800" b="1">
                <a:solidFill>
                  <a:schemeClr val="accent2"/>
                </a:solidFill>
                <a:ea typeface="宋体" panose="02010600030101010101" pitchFamily="2" charset="-122"/>
              </a:rPr>
              <a:t>二、扭摆的受迫振动</a:t>
            </a:r>
            <a:endParaRPr lang="zh-CN" altLang="en-US" sz="2800" b="1">
              <a:solidFill>
                <a:schemeClr val="accent2"/>
              </a:solidFill>
              <a:ea typeface="宋体" panose="02010600030101010101" pitchFamily="2" charset="-122"/>
            </a:endParaRPr>
          </a:p>
        </p:txBody>
      </p:sp>
      <p:sp>
        <p:nvSpPr>
          <p:cNvPr id="10" name="文本框 9"/>
          <p:cNvSpPr txBox="1"/>
          <p:nvPr/>
        </p:nvSpPr>
        <p:spPr>
          <a:xfrm>
            <a:off x="5182870" y="2310765"/>
            <a:ext cx="767080" cy="368300"/>
          </a:xfrm>
          <a:prstGeom prst="rect">
            <a:avLst/>
          </a:prstGeom>
          <a:noFill/>
        </p:spPr>
        <p:txBody>
          <a:bodyPr wrap="none" rtlCol="0" anchor="t">
            <a:spAutoFit/>
          </a:bodyPr>
          <a:lstStyle/>
          <a:p>
            <a:r>
              <a:rPr lang="zh-CN" altLang="en-US" dirty="0">
                <a:solidFill>
                  <a:srgbClr val="000000"/>
                </a:solidFill>
                <a:sym typeface="+mn-ea"/>
              </a:rPr>
              <a:t>（</a:t>
            </a:r>
            <a:r>
              <a:rPr lang="en-US" altLang="zh-CN" dirty="0">
                <a:solidFill>
                  <a:srgbClr val="000000"/>
                </a:solidFill>
                <a:sym typeface="+mn-ea"/>
              </a:rPr>
              <a:t>1</a:t>
            </a:r>
            <a:r>
              <a:rPr lang="zh-CN" altLang="en-US" dirty="0">
                <a:solidFill>
                  <a:srgbClr val="000000"/>
                </a:solidFill>
                <a:sym typeface="+mn-ea"/>
              </a:rPr>
              <a:t>）</a:t>
            </a:r>
            <a:endParaRPr lang="zh-CN" altLang="en-US"/>
          </a:p>
        </p:txBody>
      </p:sp>
      <p:pic>
        <p:nvPicPr>
          <p:cNvPr id="11" name="图片 352"/>
          <p:cNvPicPr>
            <a:picLocks noChangeAspect="1"/>
          </p:cNvPicPr>
          <p:nvPr/>
        </p:nvPicPr>
        <p:blipFill>
          <a:blip r:embed="rId22"/>
          <a:stretch>
            <a:fillRect/>
          </a:stretch>
        </p:blipFill>
        <p:spPr>
          <a:xfrm>
            <a:off x="5868670" y="2045970"/>
            <a:ext cx="3129915" cy="2078355"/>
          </a:xfrm>
          <a:prstGeom prst="rect">
            <a:avLst/>
          </a:prstGeom>
          <a:noFill/>
          <a:ln w="9525">
            <a:noFill/>
          </a:ln>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文本占位符 49154"/>
          <p:cNvSpPr>
            <a:spLocks noGrp="1" noRot="1"/>
          </p:cNvSpPr>
          <p:nvPr>
            <p:ph type="body" idx="1"/>
          </p:nvPr>
        </p:nvSpPr>
        <p:spPr>
          <a:xfrm>
            <a:off x="457200" y="1752600"/>
            <a:ext cx="8229600" cy="1434465"/>
          </a:xfrm>
        </p:spPr>
        <p:txBody>
          <a:bodyPr/>
          <a:lstStyle/>
          <a:p>
            <a:pPr>
              <a:buClr>
                <a:schemeClr val="tx1"/>
              </a:buClr>
              <a:buNone/>
            </a:pPr>
            <a:r>
              <a:rPr lang="zh-CN" altLang="en-US" sz="2000" b="1" dirty="0">
                <a:solidFill>
                  <a:srgbClr val="000000"/>
                </a:solidFill>
              </a:rPr>
              <a:t>由式（</a:t>
            </a:r>
            <a:r>
              <a:rPr lang="en-US" altLang="zh-CN" sz="2000" b="1" dirty="0">
                <a:solidFill>
                  <a:srgbClr val="000000"/>
                </a:solidFill>
              </a:rPr>
              <a:t>3</a:t>
            </a:r>
            <a:r>
              <a:rPr lang="zh-CN" altLang="en-US" sz="2000" b="1" dirty="0">
                <a:solidFill>
                  <a:srgbClr val="000000"/>
                </a:solidFill>
              </a:rPr>
              <a:t>）可见，受迫振动可分成两部分：</a:t>
            </a:r>
          </a:p>
          <a:p>
            <a:pPr>
              <a:buClr>
                <a:schemeClr val="tx1"/>
              </a:buClr>
              <a:buNone/>
            </a:pPr>
            <a:r>
              <a:rPr lang="zh-CN" altLang="en-US" sz="2000" b="1" dirty="0">
                <a:solidFill>
                  <a:srgbClr val="000000"/>
                </a:solidFill>
              </a:rPr>
              <a:t>第一部分，</a:t>
            </a:r>
            <a:r>
              <a:rPr lang="zh-CN" altLang="en-US" sz="2000" b="1" dirty="0">
                <a:solidFill>
                  <a:srgbClr val="FF0000"/>
                </a:solidFill>
              </a:rPr>
              <a:t>和初始条件（阻尼项）有关，经过一定时间后衰减消失</a:t>
            </a:r>
            <a:r>
              <a:rPr lang="zh-CN" altLang="en-US" sz="2000" b="1" dirty="0">
                <a:solidFill>
                  <a:srgbClr val="000000"/>
                </a:solidFill>
              </a:rPr>
              <a:t>。</a:t>
            </a:r>
          </a:p>
          <a:p>
            <a:pPr>
              <a:buClr>
                <a:schemeClr val="tx1"/>
              </a:buClr>
              <a:buNone/>
            </a:pPr>
            <a:r>
              <a:rPr lang="zh-CN" altLang="en-US" sz="2000" b="1" dirty="0">
                <a:solidFill>
                  <a:srgbClr val="000000"/>
                </a:solidFill>
              </a:rPr>
              <a:t>第二部分，说明强迫力矩对摆轮作功，向振动体传送能量，最后达到一个稳定的振动状态。</a:t>
            </a:r>
          </a:p>
        </p:txBody>
      </p:sp>
      <p:sp>
        <p:nvSpPr>
          <p:cNvPr id="49161" name="矩形 49160"/>
          <p:cNvSpPr/>
          <p:nvPr/>
        </p:nvSpPr>
        <p:spPr>
          <a:xfrm>
            <a:off x="2582863" y="5283200"/>
            <a:ext cx="9144000" cy="0"/>
          </a:xfrm>
          <a:prstGeom prst="rect">
            <a:avLst/>
          </a:prstGeom>
          <a:noFill/>
          <a:ln w="9525">
            <a:noFill/>
          </a:ln>
        </p:spPr>
        <p:txBody>
          <a:bodyPr/>
          <a:lstStyle/>
          <a:p>
            <a:endParaRPr lang="zh-CN" altLang="en-US"/>
          </a:p>
        </p:txBody>
      </p:sp>
      <p:graphicFrame>
        <p:nvGraphicFramePr>
          <p:cNvPr id="48148" name="对象 48147"/>
          <p:cNvGraphicFramePr/>
          <p:nvPr/>
        </p:nvGraphicFramePr>
        <p:xfrm>
          <a:off x="762000" y="838200"/>
          <a:ext cx="5916930" cy="565150"/>
        </p:xfrm>
        <a:graphic>
          <a:graphicData uri="http://schemas.openxmlformats.org/presentationml/2006/ole">
            <mc:AlternateContent xmlns:mc="http://schemas.openxmlformats.org/markup-compatibility/2006">
              <mc:Choice xmlns:v="urn:schemas-microsoft-com:vml" Requires="v">
                <p:oleObj r:id="rId2" imgW="2436495" imgH="254000" progId="Equation.3">
                  <p:embed/>
                </p:oleObj>
              </mc:Choice>
              <mc:Fallback>
                <p:oleObj r:id="rId2" imgW="2436495" imgH="254000" progId="Equation.3">
                  <p:embed/>
                  <p:pic>
                    <p:nvPicPr>
                      <p:cNvPr id="0" name="图片 3084"/>
                      <p:cNvPicPr/>
                      <p:nvPr/>
                    </p:nvPicPr>
                    <p:blipFill>
                      <a:blip r:embed="rId3"/>
                      <a:stretch>
                        <a:fillRect/>
                      </a:stretch>
                    </p:blipFill>
                    <p:spPr>
                      <a:xfrm>
                        <a:off x="762000" y="838200"/>
                        <a:ext cx="5916930" cy="565150"/>
                      </a:xfrm>
                      <a:prstGeom prst="rect">
                        <a:avLst/>
                      </a:prstGeom>
                      <a:solidFill>
                        <a:schemeClr val="accent6">
                          <a:lumMod val="20000"/>
                          <a:lumOff val="80000"/>
                        </a:schemeClr>
                      </a:solidFill>
                      <a:ln w="38100">
                        <a:noFill/>
                        <a:miter/>
                      </a:ln>
                    </p:spPr>
                  </p:pic>
                </p:oleObj>
              </mc:Fallback>
            </mc:AlternateContent>
          </a:graphicData>
        </a:graphic>
      </p:graphicFrame>
      <p:sp>
        <p:nvSpPr>
          <p:cNvPr id="2" name="文本框 1"/>
          <p:cNvSpPr txBox="1"/>
          <p:nvPr/>
        </p:nvSpPr>
        <p:spPr>
          <a:xfrm>
            <a:off x="7334250" y="921385"/>
            <a:ext cx="492760" cy="398780"/>
          </a:xfrm>
          <a:prstGeom prst="rect">
            <a:avLst/>
          </a:prstGeom>
          <a:noFill/>
          <a:ln w="9525">
            <a:noFill/>
          </a:ln>
        </p:spPr>
        <p:txBody>
          <a:bodyPr wrap="none" anchor="t">
            <a:spAutoFit/>
          </a:bodyPr>
          <a:lstStyle/>
          <a:p>
            <a:r>
              <a:rPr lang="en-US" altLang="zh-CN" sz="2000">
                <a:solidFill>
                  <a:srgbClr val="000000"/>
                </a:solidFill>
                <a:latin typeface="Arial" panose="020B0604020202020204" pitchFamily="34" charset="0"/>
              </a:rPr>
              <a:t>(3)</a:t>
            </a:r>
          </a:p>
        </p:txBody>
      </p:sp>
      <p:sp>
        <p:nvSpPr>
          <p:cNvPr id="4" name="文本框 3"/>
          <p:cNvSpPr txBox="1"/>
          <p:nvPr/>
        </p:nvSpPr>
        <p:spPr>
          <a:xfrm>
            <a:off x="338455" y="466725"/>
            <a:ext cx="2694940" cy="368300"/>
          </a:xfrm>
          <a:prstGeom prst="rect">
            <a:avLst/>
          </a:prstGeom>
          <a:noFill/>
        </p:spPr>
        <p:txBody>
          <a:bodyPr wrap="square" rtlCol="0" anchor="t">
            <a:spAutoFit/>
          </a:bodyPr>
          <a:lstStyle/>
          <a:p>
            <a:pPr>
              <a:lnSpc>
                <a:spcPct val="90000"/>
              </a:lnSpc>
              <a:buNone/>
            </a:pPr>
            <a:r>
              <a:rPr lang="zh-CN" altLang="en-US" sz="2000" b="1" dirty="0">
                <a:solidFill>
                  <a:srgbClr val="000000"/>
                </a:solidFill>
                <a:sym typeface="+mn-ea"/>
              </a:rPr>
              <a:t>方程（</a:t>
            </a:r>
            <a:r>
              <a:rPr lang="en-US" altLang="zh-CN" sz="2000" b="1" dirty="0">
                <a:solidFill>
                  <a:srgbClr val="000000"/>
                </a:solidFill>
                <a:sym typeface="+mn-ea"/>
              </a:rPr>
              <a:t>2</a:t>
            </a:r>
            <a:r>
              <a:rPr lang="zh-CN" altLang="en-US" sz="2000" b="1" dirty="0">
                <a:solidFill>
                  <a:srgbClr val="000000"/>
                </a:solidFill>
                <a:sym typeface="+mn-ea"/>
              </a:rPr>
              <a:t>）的通解为</a:t>
            </a:r>
          </a:p>
        </p:txBody>
      </p:sp>
      <p:sp>
        <p:nvSpPr>
          <p:cNvPr id="411653" name="圆角矩形标注 411652"/>
          <p:cNvSpPr/>
          <p:nvPr/>
        </p:nvSpPr>
        <p:spPr>
          <a:xfrm>
            <a:off x="4441825" y="1403350"/>
            <a:ext cx="2153285" cy="285115"/>
          </a:xfrm>
          <a:prstGeom prst="wedgeRoundRectCallout">
            <a:avLst>
              <a:gd name="adj1" fmla="val 14825"/>
              <a:gd name="adj2" fmla="val -48897"/>
              <a:gd name="adj3" fmla="val 16667"/>
            </a:avLst>
          </a:prstGeom>
          <a:solidFill>
            <a:srgbClr val="FFFF00"/>
          </a:solidFill>
          <a:ln w="9525" cap="flat" cmpd="sng">
            <a:solidFill>
              <a:schemeClr val="tx1"/>
            </a:solidFill>
            <a:prstDash val="solid"/>
            <a:miter/>
            <a:headEnd type="none" w="med" len="med"/>
            <a:tailEnd type="none" w="med" len="med"/>
          </a:ln>
        </p:spPr>
        <p:txBody>
          <a:bodyPr lIns="0" tIns="0" rIns="0" bIns="0"/>
          <a:lstStyle/>
          <a:p>
            <a:pPr algn="ctr"/>
            <a:r>
              <a:rPr lang="zh-CN" altLang="en-US" b="0" dirty="0">
                <a:solidFill>
                  <a:srgbClr val="A50021"/>
                </a:solidFill>
                <a:latin typeface="华文新魏" panose="02010800040101010101" pitchFamily="2" charset="-122"/>
                <a:ea typeface="华文新魏" panose="02010800040101010101" pitchFamily="2" charset="-122"/>
              </a:rPr>
              <a:t>第二部分</a:t>
            </a:r>
          </a:p>
        </p:txBody>
      </p:sp>
      <p:sp>
        <p:nvSpPr>
          <p:cNvPr id="3" name="圆角矩形标注 2"/>
          <p:cNvSpPr/>
          <p:nvPr/>
        </p:nvSpPr>
        <p:spPr>
          <a:xfrm>
            <a:off x="1360805" y="1403350"/>
            <a:ext cx="2793365" cy="285115"/>
          </a:xfrm>
          <a:prstGeom prst="wedgeRoundRectCallout">
            <a:avLst>
              <a:gd name="adj1" fmla="val 14825"/>
              <a:gd name="adj2" fmla="val -48897"/>
              <a:gd name="adj3" fmla="val 16667"/>
            </a:avLst>
          </a:prstGeom>
          <a:solidFill>
            <a:srgbClr val="FFFF00"/>
          </a:solidFill>
          <a:ln w="9525" cap="flat" cmpd="sng">
            <a:solidFill>
              <a:schemeClr val="tx1"/>
            </a:solidFill>
            <a:prstDash val="solid"/>
            <a:miter/>
            <a:headEnd type="none" w="med" len="med"/>
            <a:tailEnd type="none" w="med" len="med"/>
          </a:ln>
        </p:spPr>
        <p:txBody>
          <a:bodyPr lIns="0" tIns="0" rIns="0" bIns="0"/>
          <a:lstStyle/>
          <a:p>
            <a:pPr algn="ctr"/>
            <a:r>
              <a:rPr lang="zh-CN" altLang="en-US" b="0" dirty="0">
                <a:solidFill>
                  <a:srgbClr val="A50021"/>
                </a:solidFill>
                <a:latin typeface="华文新魏" panose="02010800040101010101" pitchFamily="2" charset="-122"/>
                <a:ea typeface="华文新魏" panose="02010800040101010101" pitchFamily="2" charset="-122"/>
              </a:rPr>
              <a:t>第一部分</a:t>
            </a:r>
          </a:p>
        </p:txBody>
      </p:sp>
      <p:sp>
        <p:nvSpPr>
          <p:cNvPr id="5" name="文本框 4"/>
          <p:cNvSpPr txBox="1"/>
          <p:nvPr/>
        </p:nvSpPr>
        <p:spPr>
          <a:xfrm>
            <a:off x="121285" y="3948430"/>
            <a:ext cx="4320540" cy="368300"/>
          </a:xfrm>
          <a:prstGeom prst="rect">
            <a:avLst/>
          </a:prstGeom>
          <a:noFill/>
        </p:spPr>
        <p:txBody>
          <a:bodyPr wrap="none" rtlCol="0" anchor="t">
            <a:spAutoFit/>
          </a:bodyPr>
          <a:lstStyle/>
          <a:p>
            <a:r>
              <a:rPr lang="zh-CN" altLang="en-US" b="1" dirty="0">
                <a:solidFill>
                  <a:srgbClr val="0000FF"/>
                </a:solidFill>
                <a:sym typeface="+mn-ea"/>
              </a:rPr>
              <a:t>自由振动：振幅不变、无阻尼、理想情况</a:t>
            </a:r>
          </a:p>
        </p:txBody>
      </p:sp>
      <p:graphicFrame>
        <p:nvGraphicFramePr>
          <p:cNvPr id="412677" name="对象 412676"/>
          <p:cNvGraphicFramePr/>
          <p:nvPr/>
        </p:nvGraphicFramePr>
        <p:xfrm>
          <a:off x="4650105" y="3948430"/>
          <a:ext cx="3176905" cy="368300"/>
        </p:xfrm>
        <a:graphic>
          <a:graphicData uri="http://schemas.openxmlformats.org/presentationml/2006/ole">
            <mc:AlternateContent xmlns:mc="http://schemas.openxmlformats.org/markup-compatibility/2006">
              <mc:Choice xmlns:v="urn:schemas-microsoft-com:vml" Requires="v">
                <p:oleObj r:id="rId4" imgW="1854200" imgH="228600" progId="Equation.3">
                  <p:embed/>
                </p:oleObj>
              </mc:Choice>
              <mc:Fallback>
                <p:oleObj r:id="rId4" imgW="1854200" imgH="228600" progId="Equation.3">
                  <p:embed/>
                  <p:pic>
                    <p:nvPicPr>
                      <p:cNvPr id="0" name="图片 3088"/>
                      <p:cNvPicPr/>
                      <p:nvPr/>
                    </p:nvPicPr>
                    <p:blipFill>
                      <a:blip r:embed="rId5"/>
                      <a:stretch>
                        <a:fillRect/>
                      </a:stretch>
                    </p:blipFill>
                    <p:spPr>
                      <a:xfrm>
                        <a:off x="4650105" y="3948430"/>
                        <a:ext cx="3176905" cy="368300"/>
                      </a:xfrm>
                      <a:prstGeom prst="rect">
                        <a:avLst/>
                      </a:prstGeom>
                      <a:solidFill>
                        <a:schemeClr val="accent6">
                          <a:lumMod val="20000"/>
                          <a:lumOff val="80000"/>
                        </a:schemeClr>
                      </a:solidFill>
                      <a:ln w="38100">
                        <a:noFill/>
                        <a:miter/>
                      </a:ln>
                    </p:spPr>
                  </p:pic>
                </p:oleObj>
              </mc:Fallback>
            </mc:AlternateContent>
          </a:graphicData>
        </a:graphic>
      </p:graphicFrame>
      <p:sp>
        <p:nvSpPr>
          <p:cNvPr id="7" name="文本框 6"/>
          <p:cNvSpPr txBox="1"/>
          <p:nvPr/>
        </p:nvSpPr>
        <p:spPr>
          <a:xfrm>
            <a:off x="137160" y="4489450"/>
            <a:ext cx="3860800" cy="368300"/>
          </a:xfrm>
          <a:prstGeom prst="rect">
            <a:avLst/>
          </a:prstGeom>
          <a:noFill/>
        </p:spPr>
        <p:txBody>
          <a:bodyPr wrap="none" rtlCol="0" anchor="t">
            <a:spAutoFit/>
          </a:bodyPr>
          <a:lstStyle/>
          <a:p>
            <a:r>
              <a:rPr lang="zh-CN" altLang="en-US" b="1" dirty="0">
                <a:solidFill>
                  <a:srgbClr val="0000FF"/>
                </a:solidFill>
                <a:sym typeface="+mn-ea"/>
              </a:rPr>
              <a:t>阻尼振动：振幅随时间而减小的振动</a:t>
            </a:r>
          </a:p>
        </p:txBody>
      </p:sp>
      <p:graphicFrame>
        <p:nvGraphicFramePr>
          <p:cNvPr id="412678" name="对象 412677"/>
          <p:cNvGraphicFramePr/>
          <p:nvPr/>
        </p:nvGraphicFramePr>
        <p:xfrm>
          <a:off x="4273550" y="4491355"/>
          <a:ext cx="4341495" cy="364490"/>
        </p:xfrm>
        <a:graphic>
          <a:graphicData uri="http://schemas.openxmlformats.org/presentationml/2006/ole">
            <mc:AlternateContent xmlns:mc="http://schemas.openxmlformats.org/markup-compatibility/2006">
              <mc:Choice xmlns:v="urn:schemas-microsoft-com:vml" Requires="v">
                <p:oleObj r:id="rId6" imgW="2578100" imgH="254000" progId="Equation.3">
                  <p:embed/>
                </p:oleObj>
              </mc:Choice>
              <mc:Fallback>
                <p:oleObj r:id="rId6" imgW="2578100" imgH="254000" progId="Equation.3">
                  <p:embed/>
                  <p:pic>
                    <p:nvPicPr>
                      <p:cNvPr id="0" name="图片 3091"/>
                      <p:cNvPicPr/>
                      <p:nvPr/>
                    </p:nvPicPr>
                    <p:blipFill>
                      <a:blip r:embed="rId7"/>
                      <a:stretch>
                        <a:fillRect/>
                      </a:stretch>
                    </p:blipFill>
                    <p:spPr>
                      <a:xfrm>
                        <a:off x="4273550" y="4491355"/>
                        <a:ext cx="4341495" cy="364490"/>
                      </a:xfrm>
                      <a:prstGeom prst="rect">
                        <a:avLst/>
                      </a:prstGeom>
                      <a:solidFill>
                        <a:schemeClr val="accent6">
                          <a:lumMod val="20000"/>
                          <a:lumOff val="80000"/>
                        </a:schemeClr>
                      </a:solidFill>
                      <a:ln w="38100">
                        <a:noFill/>
                        <a:miter/>
                      </a:ln>
                    </p:spPr>
                  </p:pic>
                </p:oleObj>
              </mc:Fallback>
            </mc:AlternateContent>
          </a:graphicData>
        </a:graphic>
      </p:graphicFrame>
      <p:sp>
        <p:nvSpPr>
          <p:cNvPr id="8" name="文本框 7"/>
          <p:cNvSpPr txBox="1"/>
          <p:nvPr/>
        </p:nvSpPr>
        <p:spPr>
          <a:xfrm>
            <a:off x="137160" y="5006975"/>
            <a:ext cx="8623300" cy="368300"/>
          </a:xfrm>
          <a:prstGeom prst="rect">
            <a:avLst/>
          </a:prstGeom>
          <a:noFill/>
        </p:spPr>
        <p:txBody>
          <a:bodyPr wrap="none" rtlCol="0" anchor="t">
            <a:spAutoFit/>
          </a:bodyPr>
          <a:lstStyle/>
          <a:p>
            <a:pPr algn="l"/>
            <a:r>
              <a:rPr lang="zh-CN" altLang="en-US" b="1" dirty="0">
                <a:solidFill>
                  <a:srgbClr val="0000FF"/>
                </a:solidFill>
                <a:sym typeface="+mn-ea"/>
              </a:rPr>
              <a:t>受迫振动：在简谐外力矩作用下，扭摆的</a:t>
            </a:r>
            <a:r>
              <a:rPr lang="zh-CN" altLang="en-US" sz="1800" b="1" dirty="0">
                <a:solidFill>
                  <a:srgbClr val="0000FF"/>
                </a:solidFill>
                <a:sym typeface="+mn-ea"/>
              </a:rPr>
              <a:t>受迫</a:t>
            </a:r>
            <a:r>
              <a:rPr lang="zh-CN" altLang="en-US" b="1" dirty="0">
                <a:solidFill>
                  <a:srgbClr val="0000FF"/>
                </a:solidFill>
                <a:sym typeface="+mn-ea"/>
              </a:rPr>
              <a:t>振动都会逐渐趋于简谐振动，振幅为</a:t>
            </a:r>
            <a:r>
              <a:rPr lang="en-US" altLang="zh-CN" b="1" dirty="0">
                <a:solidFill>
                  <a:srgbClr val="0000FF"/>
                </a:solidFill>
                <a:sym typeface="+mn-ea"/>
              </a:rPr>
              <a:t>A</a:t>
            </a:r>
          </a:p>
        </p:txBody>
      </p:sp>
      <p:graphicFrame>
        <p:nvGraphicFramePr>
          <p:cNvPr id="412680" name="对象 412679"/>
          <p:cNvGraphicFramePr/>
          <p:nvPr/>
        </p:nvGraphicFramePr>
        <p:xfrm>
          <a:off x="1823085" y="5421630"/>
          <a:ext cx="4374515" cy="405130"/>
        </p:xfrm>
        <a:graphic>
          <a:graphicData uri="http://schemas.openxmlformats.org/presentationml/2006/ole">
            <mc:AlternateContent xmlns:mc="http://schemas.openxmlformats.org/markup-compatibility/2006">
              <mc:Choice xmlns:v="urn:schemas-microsoft-com:vml" Requires="v">
                <p:oleObj r:id="rId8" imgW="2438400" imgH="254000" progId="Equation.3">
                  <p:embed/>
                </p:oleObj>
              </mc:Choice>
              <mc:Fallback>
                <p:oleObj r:id="rId8" imgW="2438400" imgH="254000" progId="Equation.3">
                  <p:embed/>
                  <p:pic>
                    <p:nvPicPr>
                      <p:cNvPr id="0" name="图片 3076"/>
                      <p:cNvPicPr/>
                      <p:nvPr/>
                    </p:nvPicPr>
                    <p:blipFill>
                      <a:blip r:embed="rId9"/>
                      <a:stretch>
                        <a:fillRect/>
                      </a:stretch>
                    </p:blipFill>
                    <p:spPr>
                      <a:xfrm>
                        <a:off x="1823085" y="5421630"/>
                        <a:ext cx="4374515" cy="405130"/>
                      </a:xfrm>
                      <a:prstGeom prst="rect">
                        <a:avLst/>
                      </a:prstGeom>
                      <a:solidFill>
                        <a:schemeClr val="accent6">
                          <a:lumMod val="20000"/>
                          <a:lumOff val="80000"/>
                        </a:schemeClr>
                      </a:solidFill>
                      <a:ln w="38100">
                        <a:noFill/>
                        <a:miter/>
                      </a:ln>
                    </p:spPr>
                  </p:pic>
                </p:oleObj>
              </mc:Fallback>
            </mc:AlternateContent>
          </a:graphicData>
        </a:graphic>
      </p:graphicFrame>
      <p:sp>
        <p:nvSpPr>
          <p:cNvPr id="34823" name="文本框 34822"/>
          <p:cNvSpPr txBox="1"/>
          <p:nvPr/>
        </p:nvSpPr>
        <p:spPr>
          <a:xfrm>
            <a:off x="611188" y="3335338"/>
            <a:ext cx="1969770" cy="398780"/>
          </a:xfrm>
          <a:prstGeom prst="rect">
            <a:avLst/>
          </a:prstGeom>
          <a:noFill/>
          <a:ln w="9525">
            <a:noFill/>
          </a:ln>
        </p:spPr>
        <p:txBody>
          <a:bodyPr wrap="none" anchor="t">
            <a:spAutoFit/>
          </a:bodyPr>
          <a:lstStyle/>
          <a:p>
            <a:r>
              <a:rPr lang="zh-CN" altLang="en-US" sz="2000" b="1" dirty="0">
                <a:solidFill>
                  <a:srgbClr val="000000"/>
                </a:solidFill>
                <a:latin typeface="Arial" panose="020B0604020202020204" pitchFamily="34" charset="0"/>
              </a:rPr>
              <a:t>达到稳态以后：</a:t>
            </a:r>
          </a:p>
        </p:txBody>
      </p:sp>
      <p:graphicFrame>
        <p:nvGraphicFramePr>
          <p:cNvPr id="34826" name="对象 34825"/>
          <p:cNvGraphicFramePr/>
          <p:nvPr/>
        </p:nvGraphicFramePr>
        <p:xfrm>
          <a:off x="2814638" y="3335655"/>
          <a:ext cx="2649855" cy="480060"/>
        </p:xfrm>
        <a:graphic>
          <a:graphicData uri="http://schemas.openxmlformats.org/presentationml/2006/ole">
            <mc:AlternateContent xmlns:mc="http://schemas.openxmlformats.org/markup-compatibility/2006">
              <mc:Choice xmlns:v="urn:schemas-microsoft-com:vml" Requires="v">
                <p:oleObj r:id="rId10" imgW="1143000" imgH="228600" progId="Equation.3">
                  <p:embed/>
                </p:oleObj>
              </mc:Choice>
              <mc:Fallback>
                <p:oleObj r:id="rId10" imgW="1143000" imgH="228600" progId="Equation.3">
                  <p:embed/>
                  <p:pic>
                    <p:nvPicPr>
                      <p:cNvPr id="0" name="图片 3086"/>
                      <p:cNvPicPr/>
                      <p:nvPr/>
                    </p:nvPicPr>
                    <p:blipFill>
                      <a:blip r:embed="rId11"/>
                      <a:stretch>
                        <a:fillRect/>
                      </a:stretch>
                    </p:blipFill>
                    <p:spPr>
                      <a:xfrm>
                        <a:off x="2814638" y="3335655"/>
                        <a:ext cx="2649855" cy="480060"/>
                      </a:xfrm>
                      <a:prstGeom prst="rect">
                        <a:avLst/>
                      </a:prstGeom>
                      <a:solidFill>
                        <a:schemeClr val="accent6">
                          <a:lumMod val="20000"/>
                          <a:lumOff val="80000"/>
                        </a:schemeClr>
                      </a:solidFill>
                      <a:ln w="25400" cap="flat" cmpd="sng">
                        <a:noFill/>
                        <a:prstDash val="solid"/>
                        <a:miter/>
                        <a:headEnd type="none" w="med" len="med"/>
                        <a:tailEnd type="none" w="med" len="med"/>
                      </a:ln>
                    </p:spPr>
                  </p:pic>
                </p:oleObj>
              </mc:Fallback>
            </mc:AlternateContent>
          </a:graphicData>
        </a:graphic>
      </p:graphicFrame>
      <p:cxnSp>
        <p:nvCxnSpPr>
          <p:cNvPr id="9" name="直接连接符 8"/>
          <p:cNvCxnSpPr/>
          <p:nvPr/>
        </p:nvCxnSpPr>
        <p:spPr>
          <a:xfrm>
            <a:off x="2438400" y="5867400"/>
            <a:ext cx="1752600" cy="0"/>
          </a:xfrm>
          <a:prstGeom prst="lin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H="1">
            <a:off x="3033395" y="5826760"/>
            <a:ext cx="341630" cy="283845"/>
          </a:xfrm>
          <a:prstGeom prst="straightConnector1">
            <a:avLst/>
          </a:prstGeom>
          <a:ln w="28575">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2808605" y="6111875"/>
            <a:ext cx="315595" cy="368300"/>
          </a:xfrm>
          <a:prstGeom prst="rect">
            <a:avLst/>
          </a:prstGeom>
          <a:solidFill>
            <a:schemeClr val="accent6">
              <a:lumMod val="20000"/>
              <a:lumOff val="80000"/>
            </a:schemeClr>
          </a:solidFill>
        </p:spPr>
        <p:txBody>
          <a:bodyPr wrap="square" rtlCol="0">
            <a:spAutoFit/>
          </a:bodyPr>
          <a:lstStyle/>
          <a:p>
            <a:r>
              <a:rPr lang="en-US" altLang="zh-CN" b="1">
                <a:solidFill>
                  <a:srgbClr val="000000"/>
                </a:solidFill>
              </a:rPr>
              <a:t>0</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文本占位符 50178"/>
          <p:cNvSpPr>
            <a:spLocks noGrp="1" noRot="1"/>
          </p:cNvSpPr>
          <p:nvPr>
            <p:ph type="body" idx="1"/>
          </p:nvPr>
        </p:nvSpPr>
        <p:spPr>
          <a:xfrm>
            <a:off x="70485" y="2667635"/>
            <a:ext cx="9003665" cy="1136650"/>
          </a:xfrm>
          <a:solidFill>
            <a:schemeClr val="accent1"/>
          </a:solidFill>
        </p:spPr>
        <p:txBody>
          <a:bodyPr/>
          <a:lstStyle/>
          <a:p>
            <a:pPr marL="0" indent="0" algn="l">
              <a:spcBef>
                <a:spcPts val="0"/>
              </a:spcBef>
              <a:buNone/>
            </a:pPr>
            <a:r>
              <a:rPr lang="en-US" altLang="zh-CN" sz="1800" b="1" dirty="0">
                <a:solidFill>
                  <a:srgbClr val="000000"/>
                </a:solidFill>
              </a:rPr>
              <a:t>     </a:t>
            </a:r>
            <a:r>
              <a:rPr lang="zh-CN" altLang="en-US" sz="1800" b="1" dirty="0">
                <a:solidFill>
                  <a:srgbClr val="000000"/>
                </a:solidFill>
              </a:rPr>
              <a:t>由式（</a:t>
            </a:r>
            <a:r>
              <a:rPr lang="en-US" altLang="zh-CN" sz="1800" b="1" dirty="0">
                <a:solidFill>
                  <a:srgbClr val="000000"/>
                </a:solidFill>
              </a:rPr>
              <a:t>4</a:t>
            </a:r>
            <a:r>
              <a:rPr lang="zh-CN" altLang="en-US" sz="1800" b="1" dirty="0">
                <a:solidFill>
                  <a:srgbClr val="000000"/>
                </a:solidFill>
              </a:rPr>
              <a:t>）和式（</a:t>
            </a:r>
            <a:r>
              <a:rPr lang="en-US" altLang="zh-CN" sz="1800" b="1" dirty="0">
                <a:solidFill>
                  <a:srgbClr val="000000"/>
                </a:solidFill>
              </a:rPr>
              <a:t>5</a:t>
            </a:r>
            <a:r>
              <a:rPr lang="zh-CN" altLang="en-US" sz="1800" b="1" dirty="0">
                <a:solidFill>
                  <a:srgbClr val="000000"/>
                </a:solidFill>
              </a:rPr>
              <a:t>）可知，振幅与相位差的数值取决于</a:t>
            </a:r>
            <a:r>
              <a:rPr lang="zh-CN" altLang="en-US" sz="1800" b="1" dirty="0">
                <a:solidFill>
                  <a:srgbClr val="FF0000"/>
                </a:solidFill>
              </a:rPr>
              <a:t>强迫力矩</a:t>
            </a:r>
            <a:r>
              <a:rPr lang="en-US" altLang="zh-CN" sz="1800" b="1" dirty="0">
                <a:solidFill>
                  <a:srgbClr val="FF0000"/>
                </a:solidFill>
              </a:rPr>
              <a:t>M</a:t>
            </a:r>
            <a:r>
              <a:rPr lang="en-US" altLang="zh-CN" sz="1800" b="1" baseline="-25000" dirty="0">
                <a:solidFill>
                  <a:srgbClr val="FF0000"/>
                </a:solidFill>
              </a:rPr>
              <a:t>0</a:t>
            </a:r>
            <a:r>
              <a:rPr lang="zh-CN" altLang="en-US" sz="1800" b="1" dirty="0">
                <a:solidFill>
                  <a:srgbClr val="FF0000"/>
                </a:solidFill>
              </a:rPr>
              <a:t>、频率   、系统的固有频率和阻尼系数</a:t>
            </a:r>
            <a:r>
              <a:rPr lang="zh-CN" altLang="en-US" sz="1800" b="1" dirty="0">
                <a:solidFill>
                  <a:srgbClr val="000000"/>
                </a:solidFill>
              </a:rPr>
              <a:t>四个因素，而与</a:t>
            </a:r>
            <a:r>
              <a:rPr lang="zh-CN" altLang="en-US" sz="1800" b="1" dirty="0">
                <a:solidFill>
                  <a:srgbClr val="FF0000"/>
                </a:solidFill>
              </a:rPr>
              <a:t>振动初始状态无关</a:t>
            </a:r>
            <a:r>
              <a:rPr lang="zh-CN" altLang="en-US" sz="1800" b="1" dirty="0">
                <a:solidFill>
                  <a:srgbClr val="000000"/>
                </a:solidFill>
              </a:rPr>
              <a:t>。</a:t>
            </a:r>
          </a:p>
          <a:p>
            <a:pPr marL="0" indent="0" algn="l">
              <a:spcBef>
                <a:spcPts val="0"/>
              </a:spcBef>
              <a:buNone/>
            </a:pPr>
            <a:r>
              <a:rPr lang="zh-CN" altLang="en-US" sz="1800" b="1" dirty="0">
                <a:solidFill>
                  <a:srgbClr val="000000"/>
                </a:solidFill>
              </a:rPr>
              <a:t>     由极值条件可得出，</a:t>
            </a:r>
            <a:r>
              <a:rPr lang="zh-CN" altLang="en-US" sz="1800" b="1" dirty="0">
                <a:solidFill>
                  <a:schemeClr val="accent2"/>
                </a:solidFill>
              </a:rPr>
              <a:t>当强迫力的频率与系统固有频率相同时，产生共振，有极大值</a:t>
            </a:r>
            <a:r>
              <a:rPr lang="zh-CN" altLang="en-US" sz="1800" b="1" dirty="0">
                <a:solidFill>
                  <a:srgbClr val="000000"/>
                </a:solidFill>
              </a:rPr>
              <a:t>。若共振时圆频率和振幅分别表示为：</a:t>
            </a:r>
          </a:p>
          <a:p>
            <a:pPr algn="l">
              <a:buNone/>
            </a:pPr>
            <a:endParaRPr lang="zh-CN" altLang="en-US" sz="1800" b="1" dirty="0">
              <a:solidFill>
                <a:srgbClr val="000000"/>
              </a:solidFill>
            </a:endParaRPr>
          </a:p>
        </p:txBody>
      </p:sp>
      <p:graphicFrame>
        <p:nvGraphicFramePr>
          <p:cNvPr id="50180" name="对象 50179"/>
          <p:cNvGraphicFramePr/>
          <p:nvPr/>
        </p:nvGraphicFramePr>
        <p:xfrm>
          <a:off x="3443923" y="4058762"/>
          <a:ext cx="3832225" cy="636905"/>
        </p:xfrm>
        <a:graphic>
          <a:graphicData uri="http://schemas.openxmlformats.org/presentationml/2006/ole">
            <mc:AlternateContent xmlns:mc="http://schemas.openxmlformats.org/markup-compatibility/2006">
              <mc:Choice xmlns:v="urn:schemas-microsoft-com:vml" Requires="v">
                <p:oleObj r:id="rId2" imgW="1828800" imgH="304800" progId="Equation.3">
                  <p:embed/>
                </p:oleObj>
              </mc:Choice>
              <mc:Fallback>
                <p:oleObj r:id="rId2" imgW="1828800" imgH="304800" progId="Equation.3">
                  <p:embed/>
                  <p:pic>
                    <p:nvPicPr>
                      <p:cNvPr id="0" name="图片 3076"/>
                      <p:cNvPicPr/>
                      <p:nvPr/>
                    </p:nvPicPr>
                    <p:blipFill>
                      <a:blip r:embed="rId3"/>
                      <a:stretch>
                        <a:fillRect/>
                      </a:stretch>
                    </p:blipFill>
                    <p:spPr>
                      <a:xfrm>
                        <a:off x="3443923" y="4058762"/>
                        <a:ext cx="3832225" cy="636905"/>
                      </a:xfrm>
                      <a:prstGeom prst="rect">
                        <a:avLst/>
                      </a:prstGeom>
                      <a:noFill/>
                      <a:ln w="38100">
                        <a:noFill/>
                        <a:miter/>
                      </a:ln>
                    </p:spPr>
                  </p:pic>
                </p:oleObj>
              </mc:Fallback>
            </mc:AlternateContent>
          </a:graphicData>
        </a:graphic>
      </p:graphicFrame>
      <p:graphicFrame>
        <p:nvGraphicFramePr>
          <p:cNvPr id="50182" name="对象 50181"/>
          <p:cNvGraphicFramePr/>
          <p:nvPr>
            <p:extLst>
              <p:ext uri="{D42A27DB-BD31-4B8C-83A1-F6EECF244321}">
                <p14:modId xmlns:p14="http://schemas.microsoft.com/office/powerpoint/2010/main" val="4247051139"/>
              </p:ext>
            </p:extLst>
          </p:nvPr>
        </p:nvGraphicFramePr>
        <p:xfrm>
          <a:off x="3523615" y="4627576"/>
          <a:ext cx="3734435" cy="808990"/>
        </p:xfrm>
        <a:graphic>
          <a:graphicData uri="http://schemas.openxmlformats.org/presentationml/2006/ole">
            <mc:AlternateContent xmlns:mc="http://schemas.openxmlformats.org/markup-compatibility/2006">
              <mc:Choice xmlns:v="urn:schemas-microsoft-com:vml" Requires="v">
                <p:oleObj r:id="rId4" imgW="2095500" imgH="482600" progId="Equation.3">
                  <p:embed/>
                </p:oleObj>
              </mc:Choice>
              <mc:Fallback>
                <p:oleObj r:id="rId4" imgW="2095500" imgH="482600" progId="Equation.3">
                  <p:embed/>
                  <p:pic>
                    <p:nvPicPr>
                      <p:cNvPr id="0" name="图片 3077"/>
                      <p:cNvPicPr/>
                      <p:nvPr/>
                    </p:nvPicPr>
                    <p:blipFill>
                      <a:blip r:embed="rId5"/>
                      <a:stretch>
                        <a:fillRect/>
                      </a:stretch>
                    </p:blipFill>
                    <p:spPr>
                      <a:xfrm>
                        <a:off x="3523615" y="4627576"/>
                        <a:ext cx="3734435" cy="808990"/>
                      </a:xfrm>
                      <a:prstGeom prst="rect">
                        <a:avLst/>
                      </a:prstGeom>
                      <a:noFill/>
                      <a:ln w="38100">
                        <a:noFill/>
                        <a:miter/>
                      </a:ln>
                    </p:spPr>
                  </p:pic>
                </p:oleObj>
              </mc:Fallback>
            </mc:AlternateContent>
          </a:graphicData>
        </a:graphic>
      </p:graphicFrame>
      <p:sp>
        <p:nvSpPr>
          <p:cNvPr id="50184" name="文本框 50183"/>
          <p:cNvSpPr txBox="1"/>
          <p:nvPr/>
        </p:nvSpPr>
        <p:spPr>
          <a:xfrm>
            <a:off x="7767666" y="4068156"/>
            <a:ext cx="1235075" cy="398780"/>
          </a:xfrm>
          <a:prstGeom prst="rect">
            <a:avLst/>
          </a:prstGeom>
          <a:noFill/>
          <a:ln w="9525">
            <a:noFill/>
          </a:ln>
        </p:spPr>
        <p:txBody>
          <a:bodyPr>
            <a:spAutoFit/>
          </a:bodyPr>
          <a:lstStyle/>
          <a:p>
            <a:r>
              <a:rPr lang="en-US" altLang="zh-CN" sz="2000">
                <a:solidFill>
                  <a:srgbClr val="000000"/>
                </a:solidFill>
                <a:latin typeface="Arial" panose="020B0604020202020204" pitchFamily="34" charset="0"/>
              </a:rPr>
              <a:t>(6)</a:t>
            </a:r>
          </a:p>
        </p:txBody>
      </p:sp>
      <p:sp>
        <p:nvSpPr>
          <p:cNvPr id="50186" name="文本框 50185"/>
          <p:cNvSpPr txBox="1"/>
          <p:nvPr/>
        </p:nvSpPr>
        <p:spPr>
          <a:xfrm>
            <a:off x="7758430" y="4853940"/>
            <a:ext cx="492760" cy="398780"/>
          </a:xfrm>
          <a:prstGeom prst="rect">
            <a:avLst/>
          </a:prstGeom>
          <a:noFill/>
          <a:ln w="9525">
            <a:noFill/>
          </a:ln>
        </p:spPr>
        <p:txBody>
          <a:bodyPr wrap="square" anchor="t">
            <a:spAutoFit/>
          </a:bodyPr>
          <a:lstStyle/>
          <a:p>
            <a:r>
              <a:rPr lang="en-US" altLang="zh-CN" sz="2000">
                <a:solidFill>
                  <a:srgbClr val="000000"/>
                </a:solidFill>
                <a:latin typeface="Arial" panose="020B0604020202020204" pitchFamily="34" charset="0"/>
              </a:rPr>
              <a:t>(7)</a:t>
            </a:r>
          </a:p>
        </p:txBody>
      </p:sp>
      <p:sp>
        <p:nvSpPr>
          <p:cNvPr id="49159" name="矩形 49158"/>
          <p:cNvSpPr/>
          <p:nvPr/>
        </p:nvSpPr>
        <p:spPr>
          <a:xfrm>
            <a:off x="201295" y="1175862"/>
            <a:ext cx="4293870" cy="398780"/>
          </a:xfrm>
          <a:prstGeom prst="rect">
            <a:avLst/>
          </a:prstGeom>
          <a:solidFill>
            <a:schemeClr val="accent4">
              <a:lumMod val="40000"/>
              <a:lumOff val="60000"/>
            </a:schemeClr>
          </a:solidFill>
          <a:ln w="9525">
            <a:noFill/>
          </a:ln>
        </p:spPr>
        <p:txBody>
          <a:bodyPr wrap="none" anchor="ctr">
            <a:spAutoFit/>
          </a:bodyPr>
          <a:lstStyle/>
          <a:p>
            <a:r>
              <a:rPr lang="zh-CN" altLang="en-US" sz="2000" b="1" dirty="0">
                <a:solidFill>
                  <a:srgbClr val="000000"/>
                </a:solidFill>
                <a:latin typeface="Arial" panose="020B0604020202020204" pitchFamily="34" charset="0"/>
              </a:rPr>
              <a:t>角位移    与强迫力矩之间的相位差为</a:t>
            </a:r>
          </a:p>
        </p:txBody>
      </p:sp>
      <p:graphicFrame>
        <p:nvGraphicFramePr>
          <p:cNvPr id="49160" name="对象 49159"/>
          <p:cNvGraphicFramePr/>
          <p:nvPr/>
        </p:nvGraphicFramePr>
        <p:xfrm>
          <a:off x="1572260" y="1575435"/>
          <a:ext cx="4349750" cy="1002030"/>
        </p:xfrm>
        <a:graphic>
          <a:graphicData uri="http://schemas.openxmlformats.org/presentationml/2006/ole">
            <mc:AlternateContent xmlns:mc="http://schemas.openxmlformats.org/markup-compatibility/2006">
              <mc:Choice xmlns:v="urn:schemas-microsoft-com:vml" Requires="v">
                <p:oleObj r:id="rId6" imgW="2197100" imgH="482600" progId="Equation.3">
                  <p:embed/>
                </p:oleObj>
              </mc:Choice>
              <mc:Fallback>
                <p:oleObj r:id="rId6" imgW="2197100" imgH="482600" progId="Equation.3">
                  <p:embed/>
                  <p:pic>
                    <p:nvPicPr>
                      <p:cNvPr id="0" name="图片 3075"/>
                      <p:cNvPicPr/>
                      <p:nvPr/>
                    </p:nvPicPr>
                    <p:blipFill>
                      <a:blip r:embed="rId7"/>
                      <a:stretch>
                        <a:fillRect/>
                      </a:stretch>
                    </p:blipFill>
                    <p:spPr>
                      <a:xfrm>
                        <a:off x="1572260" y="1575435"/>
                        <a:ext cx="4349750" cy="1002030"/>
                      </a:xfrm>
                      <a:prstGeom prst="rect">
                        <a:avLst/>
                      </a:prstGeom>
                      <a:solidFill>
                        <a:schemeClr val="accent6">
                          <a:lumMod val="20000"/>
                          <a:lumOff val="80000"/>
                        </a:schemeClr>
                      </a:solidFill>
                      <a:ln w="38100">
                        <a:noFill/>
                        <a:miter/>
                      </a:ln>
                    </p:spPr>
                  </p:pic>
                </p:oleObj>
              </mc:Fallback>
            </mc:AlternateContent>
          </a:graphicData>
        </a:graphic>
      </p:graphicFrame>
      <p:sp>
        <p:nvSpPr>
          <p:cNvPr id="49162" name="文本框 49161"/>
          <p:cNvSpPr txBox="1"/>
          <p:nvPr/>
        </p:nvSpPr>
        <p:spPr>
          <a:xfrm>
            <a:off x="6838950" y="2044700"/>
            <a:ext cx="462280" cy="368300"/>
          </a:xfrm>
          <a:prstGeom prst="rect">
            <a:avLst/>
          </a:prstGeom>
          <a:noFill/>
          <a:ln w="9525">
            <a:noFill/>
          </a:ln>
        </p:spPr>
        <p:txBody>
          <a:bodyPr wrap="none" anchor="t">
            <a:spAutoFit/>
          </a:bodyPr>
          <a:lstStyle/>
          <a:p>
            <a:r>
              <a:rPr lang="en-US" altLang="zh-CN" sz="1800" b="1">
                <a:solidFill>
                  <a:srgbClr val="000000"/>
                </a:solidFill>
                <a:latin typeface="Arial" panose="020B0604020202020204" pitchFamily="34" charset="0"/>
              </a:rPr>
              <a:t>(5)</a:t>
            </a:r>
          </a:p>
        </p:txBody>
      </p:sp>
      <p:graphicFrame>
        <p:nvGraphicFramePr>
          <p:cNvPr id="49156" name="对象 49155"/>
          <p:cNvGraphicFramePr/>
          <p:nvPr>
            <p:extLst>
              <p:ext uri="{D42A27DB-BD31-4B8C-83A1-F6EECF244321}">
                <p14:modId xmlns:p14="http://schemas.microsoft.com/office/powerpoint/2010/main" val="801114006"/>
              </p:ext>
            </p:extLst>
          </p:nvPr>
        </p:nvGraphicFramePr>
        <p:xfrm>
          <a:off x="1635501" y="249397"/>
          <a:ext cx="4399280" cy="846455"/>
        </p:xfrm>
        <a:graphic>
          <a:graphicData uri="http://schemas.openxmlformats.org/presentationml/2006/ole">
            <mc:AlternateContent xmlns:mc="http://schemas.openxmlformats.org/markup-compatibility/2006">
              <mc:Choice xmlns:v="urn:schemas-microsoft-com:vml" Requires="v">
                <p:oleObj r:id="rId8" imgW="2501900" imgH="482600" progId="Equation.3">
                  <p:embed/>
                </p:oleObj>
              </mc:Choice>
              <mc:Fallback>
                <p:oleObj r:id="rId8" imgW="2501900" imgH="482600" progId="Equation.3">
                  <p:embed/>
                  <p:pic>
                    <p:nvPicPr>
                      <p:cNvPr id="0" name="图片 3078"/>
                      <p:cNvPicPr/>
                      <p:nvPr/>
                    </p:nvPicPr>
                    <p:blipFill>
                      <a:blip r:embed="rId9"/>
                      <a:stretch>
                        <a:fillRect/>
                      </a:stretch>
                    </p:blipFill>
                    <p:spPr>
                      <a:xfrm>
                        <a:off x="1635501" y="249397"/>
                        <a:ext cx="4399280" cy="846455"/>
                      </a:xfrm>
                      <a:prstGeom prst="rect">
                        <a:avLst/>
                      </a:prstGeom>
                      <a:solidFill>
                        <a:schemeClr val="accent6">
                          <a:lumMod val="20000"/>
                          <a:lumOff val="80000"/>
                        </a:schemeClr>
                      </a:solidFill>
                      <a:ln w="38100">
                        <a:noFill/>
                        <a:miter/>
                      </a:ln>
                    </p:spPr>
                  </p:pic>
                </p:oleObj>
              </mc:Fallback>
            </mc:AlternateContent>
          </a:graphicData>
        </a:graphic>
      </p:graphicFrame>
      <p:sp>
        <p:nvSpPr>
          <p:cNvPr id="49158" name="文本框 49157"/>
          <p:cNvSpPr txBox="1"/>
          <p:nvPr/>
        </p:nvSpPr>
        <p:spPr>
          <a:xfrm>
            <a:off x="6802120" y="622300"/>
            <a:ext cx="492760" cy="398780"/>
          </a:xfrm>
          <a:prstGeom prst="rect">
            <a:avLst/>
          </a:prstGeom>
          <a:noFill/>
          <a:ln w="9525">
            <a:noFill/>
          </a:ln>
        </p:spPr>
        <p:txBody>
          <a:bodyPr wrap="none" anchor="t">
            <a:spAutoFit/>
          </a:bodyPr>
          <a:lstStyle/>
          <a:p>
            <a:r>
              <a:rPr lang="en-US" altLang="zh-CN" sz="2000">
                <a:solidFill>
                  <a:srgbClr val="000000"/>
                </a:solidFill>
                <a:latin typeface="Arial" panose="020B0604020202020204" pitchFamily="34" charset="0"/>
              </a:rPr>
              <a:t>(4)</a:t>
            </a:r>
          </a:p>
        </p:txBody>
      </p:sp>
      <p:graphicFrame>
        <p:nvGraphicFramePr>
          <p:cNvPr id="2" name="对象 1"/>
          <p:cNvGraphicFramePr/>
          <p:nvPr/>
        </p:nvGraphicFramePr>
        <p:xfrm>
          <a:off x="201295" y="3964305"/>
          <a:ext cx="2821940" cy="1288415"/>
        </p:xfrm>
        <a:graphic>
          <a:graphicData uri="http://schemas.openxmlformats.org/presentationml/2006/ole">
            <mc:AlternateContent xmlns:mc="http://schemas.openxmlformats.org/markup-compatibility/2006">
              <mc:Choice xmlns:v="urn:schemas-microsoft-com:vml" Requires="v">
                <p:oleObj r:id="rId10" imgW="1739900" imgH="850900" progId="Equation.KSEE3">
                  <p:embed/>
                </p:oleObj>
              </mc:Choice>
              <mc:Fallback>
                <p:oleObj r:id="rId10" imgW="1739900" imgH="850900" progId="Equation.KSEE3">
                  <p:embed/>
                  <p:pic>
                    <p:nvPicPr>
                      <p:cNvPr id="0" name="图片 2"/>
                      <p:cNvPicPr/>
                      <p:nvPr/>
                    </p:nvPicPr>
                    <p:blipFill>
                      <a:blip r:embed="rId11"/>
                      <a:stretch>
                        <a:fillRect/>
                      </a:stretch>
                    </p:blipFill>
                    <p:spPr>
                      <a:xfrm>
                        <a:off x="201295" y="3964305"/>
                        <a:ext cx="2821940" cy="1288415"/>
                      </a:xfrm>
                      <a:prstGeom prst="rect">
                        <a:avLst/>
                      </a:prstGeom>
                      <a:solidFill>
                        <a:schemeClr val="accent6">
                          <a:lumMod val="20000"/>
                          <a:lumOff val="80000"/>
                        </a:schemeClr>
                      </a:solidFill>
                    </p:spPr>
                  </p:pic>
                </p:oleObj>
              </mc:Fallback>
            </mc:AlternateContent>
          </a:graphicData>
        </a:graphic>
      </p:graphicFrame>
      <p:graphicFrame>
        <p:nvGraphicFramePr>
          <p:cNvPr id="4" name="对象 3"/>
          <p:cNvGraphicFramePr/>
          <p:nvPr>
            <p:extLst>
              <p:ext uri="{D42A27DB-BD31-4B8C-83A1-F6EECF244321}">
                <p14:modId xmlns:p14="http://schemas.microsoft.com/office/powerpoint/2010/main" val="3509624151"/>
              </p:ext>
            </p:extLst>
          </p:nvPr>
        </p:nvGraphicFramePr>
        <p:xfrm>
          <a:off x="3511608" y="5462270"/>
          <a:ext cx="4083050" cy="869950"/>
        </p:xfrm>
        <a:graphic>
          <a:graphicData uri="http://schemas.openxmlformats.org/presentationml/2006/ole">
            <mc:AlternateContent xmlns:mc="http://schemas.openxmlformats.org/markup-compatibility/2006">
              <mc:Choice xmlns:v="urn:schemas-microsoft-com:vml" Requires="v">
                <p:oleObj r:id="rId12" imgW="2286000" imgH="482600" progId="Equation.3">
                  <p:embed/>
                </p:oleObj>
              </mc:Choice>
              <mc:Fallback>
                <p:oleObj r:id="rId12" imgW="2286000" imgH="482600" progId="Equation.3">
                  <p:embed/>
                  <p:pic>
                    <p:nvPicPr>
                      <p:cNvPr id="0" name="图片 3075"/>
                      <p:cNvPicPr/>
                      <p:nvPr/>
                    </p:nvPicPr>
                    <p:blipFill>
                      <a:blip r:embed="rId13"/>
                      <a:stretch>
                        <a:fillRect/>
                      </a:stretch>
                    </p:blipFill>
                    <p:spPr>
                      <a:xfrm>
                        <a:off x="3511608" y="5462270"/>
                        <a:ext cx="4083050" cy="869950"/>
                      </a:xfrm>
                      <a:prstGeom prst="rect">
                        <a:avLst/>
                      </a:prstGeom>
                      <a:noFill/>
                      <a:ln w="38100">
                        <a:noFill/>
                        <a:miter/>
                      </a:ln>
                    </p:spPr>
                  </p:pic>
                </p:oleObj>
              </mc:Fallback>
            </mc:AlternateContent>
          </a:graphicData>
        </a:graphic>
      </p:graphicFrame>
      <p:sp>
        <p:nvSpPr>
          <p:cNvPr id="6" name="文本框 5"/>
          <p:cNvSpPr txBox="1"/>
          <p:nvPr/>
        </p:nvSpPr>
        <p:spPr>
          <a:xfrm>
            <a:off x="7879715" y="5659120"/>
            <a:ext cx="492760" cy="398780"/>
          </a:xfrm>
          <a:prstGeom prst="rect">
            <a:avLst/>
          </a:prstGeom>
          <a:noFill/>
          <a:ln w="9525">
            <a:noFill/>
          </a:ln>
        </p:spPr>
        <p:txBody>
          <a:bodyPr wrap="square" anchor="t">
            <a:spAutoFit/>
          </a:bodyPr>
          <a:lstStyle/>
          <a:p>
            <a:r>
              <a:rPr lang="en-US" altLang="zh-CN" sz="2000">
                <a:solidFill>
                  <a:srgbClr val="000000"/>
                </a:solidFill>
                <a:latin typeface="Arial" panose="020B0604020202020204" pitchFamily="34" charset="0"/>
              </a:rPr>
              <a:t>(8)</a:t>
            </a:r>
          </a:p>
        </p:txBody>
      </p:sp>
      <p:sp>
        <p:nvSpPr>
          <p:cNvPr id="7" name="文本框 6"/>
          <p:cNvSpPr txBox="1"/>
          <p:nvPr/>
        </p:nvSpPr>
        <p:spPr>
          <a:xfrm>
            <a:off x="135890" y="5410200"/>
            <a:ext cx="2952115" cy="922020"/>
          </a:xfrm>
          <a:prstGeom prst="rect">
            <a:avLst/>
          </a:prstGeom>
          <a:solidFill>
            <a:schemeClr val="accent4">
              <a:lumMod val="40000"/>
              <a:lumOff val="60000"/>
            </a:schemeClr>
          </a:solidFill>
        </p:spPr>
        <p:txBody>
          <a:bodyPr wrap="square" rtlCol="0">
            <a:spAutoFit/>
          </a:bodyPr>
          <a:lstStyle/>
          <a:p>
            <a:r>
              <a:rPr lang="zh-CN" altLang="en-US" b="1">
                <a:solidFill>
                  <a:srgbClr val="000000"/>
                </a:solidFill>
              </a:rPr>
              <a:t>在共振时，</a:t>
            </a:r>
            <a:r>
              <a:rPr lang="zh-CN" altLang="en-US" b="1">
                <a:solidFill>
                  <a:srgbClr val="000000"/>
                </a:solidFill>
                <a:cs typeface="Arial" panose="020B0604020202020204" pitchFamily="34" charset="0"/>
              </a:rPr>
              <a:t>β越小，频率越接近系统固有频率，幅度也越大。</a:t>
            </a:r>
          </a:p>
        </p:txBody>
      </p:sp>
      <p:graphicFrame>
        <p:nvGraphicFramePr>
          <p:cNvPr id="8" name="对象 7">
            <a:hlinkClick r:id="" action="ppaction://ole?verb=0"/>
          </p:cNvPr>
          <p:cNvGraphicFramePr>
            <a:graphicFrameLocks noChangeAspect="1"/>
          </p:cNvGraphicFramePr>
          <p:nvPr/>
        </p:nvGraphicFramePr>
        <p:xfrm>
          <a:off x="1090295" y="1229360"/>
          <a:ext cx="346075" cy="292735"/>
        </p:xfrm>
        <a:graphic>
          <a:graphicData uri="http://schemas.openxmlformats.org/presentationml/2006/ole">
            <mc:AlternateContent xmlns:mc="http://schemas.openxmlformats.org/markup-compatibility/2006">
              <mc:Choice xmlns:v="urn:schemas-microsoft-com:vml" Requires="v">
                <p:oleObj r:id="rId14" imgW="127000" imgH="177165" progId="Equation.KSEE3">
                  <p:embed/>
                </p:oleObj>
              </mc:Choice>
              <mc:Fallback>
                <p:oleObj r:id="rId14" imgW="127000" imgH="177165" progId="Equation.KSEE3">
                  <p:embed/>
                  <p:pic>
                    <p:nvPicPr>
                      <p:cNvPr id="0" name="图片 1024"/>
                      <p:cNvPicPr/>
                      <p:nvPr/>
                    </p:nvPicPr>
                    <p:blipFill>
                      <a:blip r:embed="rId15"/>
                      <a:stretch>
                        <a:fillRect/>
                      </a:stretch>
                    </p:blipFill>
                    <p:spPr>
                      <a:xfrm>
                        <a:off x="1090295" y="1229360"/>
                        <a:ext cx="346075" cy="292735"/>
                      </a:xfrm>
                      <a:prstGeom prst="rect">
                        <a:avLst/>
                      </a:prstGeom>
                    </p:spPr>
                  </p:pic>
                </p:oleObj>
              </mc:Fallback>
            </mc:AlternateContent>
          </a:graphicData>
        </a:graphic>
      </p:graphicFrame>
      <p:graphicFrame>
        <p:nvGraphicFramePr>
          <p:cNvPr id="9" name="对象 8">
            <a:hlinkClick r:id="" action="ppaction://ole?verb=0"/>
          </p:cNvPr>
          <p:cNvGraphicFramePr>
            <a:graphicFrameLocks noChangeAspect="1"/>
          </p:cNvGraphicFramePr>
          <p:nvPr/>
        </p:nvGraphicFramePr>
        <p:xfrm>
          <a:off x="8716010" y="2746375"/>
          <a:ext cx="217170" cy="199390"/>
        </p:xfrm>
        <a:graphic>
          <a:graphicData uri="http://schemas.openxmlformats.org/presentationml/2006/ole">
            <mc:AlternateContent xmlns:mc="http://schemas.openxmlformats.org/markup-compatibility/2006">
              <mc:Choice xmlns:v="urn:schemas-microsoft-com:vml" Requires="v">
                <p:oleObj r:id="rId16" imgW="152400" imgH="139700" progId="Equation.KSEE3">
                  <p:embed/>
                </p:oleObj>
              </mc:Choice>
              <mc:Fallback>
                <p:oleObj r:id="rId16" imgW="152400" imgH="139700" progId="Equation.KSEE3">
                  <p:embed/>
                  <p:pic>
                    <p:nvPicPr>
                      <p:cNvPr id="0" name="图片 1025"/>
                      <p:cNvPicPr/>
                      <p:nvPr/>
                    </p:nvPicPr>
                    <p:blipFill>
                      <a:blip r:embed="rId17"/>
                      <a:stretch>
                        <a:fillRect/>
                      </a:stretch>
                    </p:blipFill>
                    <p:spPr>
                      <a:xfrm>
                        <a:off x="8716010" y="2746375"/>
                        <a:ext cx="217170" cy="199390"/>
                      </a:xfrm>
                      <a:prstGeom prst="rect">
                        <a:avLst/>
                      </a:prstGeom>
                    </p:spPr>
                  </p:pic>
                </p:oleObj>
              </mc:Fallback>
            </mc:AlternateContent>
          </a:graphicData>
        </a:graphic>
      </p:graphicFrame>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85" name="图片 113684"/>
          <p:cNvPicPr>
            <a:picLocks noChangeAspect="1"/>
          </p:cNvPicPr>
          <p:nvPr/>
        </p:nvPicPr>
        <p:blipFill>
          <a:blip r:embed="rId3"/>
          <a:stretch>
            <a:fillRect/>
          </a:stretch>
        </p:blipFill>
        <p:spPr>
          <a:xfrm>
            <a:off x="286254" y="3321050"/>
            <a:ext cx="2554605" cy="2571750"/>
          </a:xfrm>
          <a:prstGeom prst="rect">
            <a:avLst/>
          </a:prstGeom>
          <a:noFill/>
          <a:ln w="9525">
            <a:noFill/>
          </a:ln>
        </p:spPr>
      </p:pic>
      <p:graphicFrame>
        <p:nvGraphicFramePr>
          <p:cNvPr id="413733" name="对象 413732"/>
          <p:cNvGraphicFramePr/>
          <p:nvPr/>
        </p:nvGraphicFramePr>
        <p:xfrm>
          <a:off x="3241675" y="3957003"/>
          <a:ext cx="873125" cy="1028700"/>
        </p:xfrm>
        <a:graphic>
          <a:graphicData uri="http://schemas.openxmlformats.org/presentationml/2006/ole">
            <mc:AlternateContent xmlns:mc="http://schemas.openxmlformats.org/markup-compatibility/2006">
              <mc:Choice xmlns:v="urn:schemas-microsoft-com:vml" Requires="v">
                <p:oleObj r:id="rId4" imgW="584200" imgH="685800" progId="Equation.3">
                  <p:embed/>
                </p:oleObj>
              </mc:Choice>
              <mc:Fallback>
                <p:oleObj r:id="rId4" imgW="584200" imgH="685800" progId="Equation.3">
                  <p:embed/>
                  <p:pic>
                    <p:nvPicPr>
                      <p:cNvPr id="0" name="图片 3082"/>
                      <p:cNvPicPr/>
                      <p:nvPr/>
                    </p:nvPicPr>
                    <p:blipFill>
                      <a:blip r:embed="rId5"/>
                      <a:stretch>
                        <a:fillRect/>
                      </a:stretch>
                    </p:blipFill>
                    <p:spPr>
                      <a:xfrm>
                        <a:off x="3241675" y="3957003"/>
                        <a:ext cx="873125" cy="1028700"/>
                      </a:xfrm>
                      <a:prstGeom prst="rect">
                        <a:avLst/>
                      </a:prstGeom>
                      <a:noFill/>
                      <a:ln w="38100">
                        <a:noFill/>
                        <a:miter/>
                      </a:ln>
                    </p:spPr>
                  </p:pic>
                </p:oleObj>
              </mc:Fallback>
            </mc:AlternateContent>
          </a:graphicData>
        </a:graphic>
      </p:graphicFrame>
      <p:graphicFrame>
        <p:nvGraphicFramePr>
          <p:cNvPr id="49156" name="对象 49155"/>
          <p:cNvGraphicFramePr/>
          <p:nvPr/>
        </p:nvGraphicFramePr>
        <p:xfrm>
          <a:off x="-60007" y="355124"/>
          <a:ext cx="3772535" cy="846455"/>
        </p:xfrm>
        <a:graphic>
          <a:graphicData uri="http://schemas.openxmlformats.org/presentationml/2006/ole">
            <mc:AlternateContent xmlns:mc="http://schemas.openxmlformats.org/markup-compatibility/2006">
              <mc:Choice xmlns:v="urn:schemas-microsoft-com:vml" Requires="v">
                <p:oleObj r:id="rId6" imgW="2145665" imgH="482600" progId="Equation.3">
                  <p:embed/>
                </p:oleObj>
              </mc:Choice>
              <mc:Fallback>
                <p:oleObj r:id="rId6" imgW="2145665" imgH="482600" progId="Equation.3">
                  <p:embed/>
                  <p:pic>
                    <p:nvPicPr>
                      <p:cNvPr id="0" name="图片 3078"/>
                      <p:cNvPicPr/>
                      <p:nvPr/>
                    </p:nvPicPr>
                    <p:blipFill>
                      <a:blip r:embed="rId7"/>
                      <a:stretch>
                        <a:fillRect/>
                      </a:stretch>
                    </p:blipFill>
                    <p:spPr>
                      <a:xfrm>
                        <a:off x="-60007" y="355124"/>
                        <a:ext cx="3772535" cy="846455"/>
                      </a:xfrm>
                      <a:prstGeom prst="rect">
                        <a:avLst/>
                      </a:prstGeom>
                      <a:noFill/>
                      <a:ln w="38100">
                        <a:noFill/>
                        <a:miter/>
                      </a:ln>
                    </p:spPr>
                  </p:pic>
                </p:oleObj>
              </mc:Fallback>
            </mc:AlternateContent>
          </a:graphicData>
        </a:graphic>
      </p:graphicFrame>
      <p:graphicFrame>
        <p:nvGraphicFramePr>
          <p:cNvPr id="49160" name="对象 49159"/>
          <p:cNvGraphicFramePr/>
          <p:nvPr/>
        </p:nvGraphicFramePr>
        <p:xfrm>
          <a:off x="5377498" y="388303"/>
          <a:ext cx="2684145" cy="779780"/>
        </p:xfrm>
        <a:graphic>
          <a:graphicData uri="http://schemas.openxmlformats.org/presentationml/2006/ole">
            <mc:AlternateContent xmlns:mc="http://schemas.openxmlformats.org/markup-compatibility/2006">
              <mc:Choice xmlns:v="urn:schemas-microsoft-com:vml" Requires="v">
                <p:oleObj r:id="rId8" imgW="1701800" imgH="444500" progId="Equation.3">
                  <p:embed/>
                </p:oleObj>
              </mc:Choice>
              <mc:Fallback>
                <p:oleObj r:id="rId8" imgW="1701800" imgH="444500" progId="Equation.3">
                  <p:embed/>
                  <p:pic>
                    <p:nvPicPr>
                      <p:cNvPr id="0" name="图片 3075"/>
                      <p:cNvPicPr/>
                      <p:nvPr/>
                    </p:nvPicPr>
                    <p:blipFill>
                      <a:blip r:embed="rId9"/>
                      <a:stretch>
                        <a:fillRect/>
                      </a:stretch>
                    </p:blipFill>
                    <p:spPr>
                      <a:xfrm>
                        <a:off x="5377498" y="388303"/>
                        <a:ext cx="2684145" cy="779780"/>
                      </a:xfrm>
                      <a:prstGeom prst="rect">
                        <a:avLst/>
                      </a:prstGeom>
                      <a:noFill/>
                      <a:ln w="38100">
                        <a:noFill/>
                        <a:miter/>
                      </a:ln>
                    </p:spPr>
                  </p:pic>
                </p:oleObj>
              </mc:Fallback>
            </mc:AlternateContent>
          </a:graphicData>
        </a:graphic>
      </p:graphicFrame>
      <p:grpSp>
        <p:nvGrpSpPr>
          <p:cNvPr id="114715" name="组合 114714"/>
          <p:cNvGrpSpPr/>
          <p:nvPr/>
        </p:nvGrpSpPr>
        <p:grpSpPr>
          <a:xfrm>
            <a:off x="4591892" y="3536950"/>
            <a:ext cx="2962275" cy="2242820"/>
            <a:chOff x="2154" y="936"/>
            <a:chExt cx="3448" cy="2935"/>
          </a:xfrm>
        </p:grpSpPr>
        <p:pic>
          <p:nvPicPr>
            <p:cNvPr id="114716" name="图片 114715">
              <a:hlinkClick r:id="rId10" action="ppaction://program"/>
            </p:cNvPr>
            <p:cNvPicPr>
              <a:picLocks noChangeAspect="1"/>
            </p:cNvPicPr>
            <p:nvPr/>
          </p:nvPicPr>
          <p:blipFill>
            <a:blip r:embed="rId11"/>
            <a:stretch>
              <a:fillRect/>
            </a:stretch>
          </p:blipFill>
          <p:spPr>
            <a:xfrm>
              <a:off x="2154" y="936"/>
              <a:ext cx="3448" cy="2935"/>
            </a:xfrm>
            <a:prstGeom prst="rect">
              <a:avLst/>
            </a:prstGeom>
            <a:noFill/>
            <a:ln w="9525">
              <a:noFill/>
            </a:ln>
          </p:spPr>
        </p:pic>
        <p:sp>
          <p:nvSpPr>
            <p:cNvPr id="114717" name="直接连接符 114716"/>
            <p:cNvSpPr/>
            <p:nvPr/>
          </p:nvSpPr>
          <p:spPr>
            <a:xfrm>
              <a:off x="2381" y="2460"/>
              <a:ext cx="2767" cy="0"/>
            </a:xfrm>
            <a:prstGeom prst="line">
              <a:avLst/>
            </a:prstGeom>
            <a:ln w="19050" cap="flat" cmpd="sng">
              <a:solidFill>
                <a:schemeClr val="tx1"/>
              </a:solidFill>
              <a:prstDash val="dash"/>
              <a:headEnd type="none" w="med" len="med"/>
              <a:tailEnd type="none" w="med" len="med"/>
            </a:ln>
          </p:spPr>
        </p:sp>
        <p:sp>
          <p:nvSpPr>
            <p:cNvPr id="114718" name="直接连接符 114717"/>
            <p:cNvSpPr/>
            <p:nvPr/>
          </p:nvSpPr>
          <p:spPr>
            <a:xfrm>
              <a:off x="2381" y="1380"/>
              <a:ext cx="2767" cy="0"/>
            </a:xfrm>
            <a:prstGeom prst="line">
              <a:avLst/>
            </a:prstGeom>
            <a:ln w="19050" cap="flat" cmpd="sng">
              <a:solidFill>
                <a:schemeClr val="tx1"/>
              </a:solidFill>
              <a:prstDash val="dash"/>
              <a:headEnd type="none" w="med" len="med"/>
              <a:tailEnd type="none" w="med" len="med"/>
            </a:ln>
          </p:spPr>
        </p:sp>
        <p:sp>
          <p:nvSpPr>
            <p:cNvPr id="114719" name="直接连接符 114718"/>
            <p:cNvSpPr/>
            <p:nvPr/>
          </p:nvSpPr>
          <p:spPr>
            <a:xfrm>
              <a:off x="3851" y="1117"/>
              <a:ext cx="0" cy="2458"/>
            </a:xfrm>
            <a:prstGeom prst="line">
              <a:avLst/>
            </a:prstGeom>
            <a:ln w="19050" cap="flat" cmpd="sng">
              <a:solidFill>
                <a:schemeClr val="tx1"/>
              </a:solidFill>
              <a:prstDash val="dash"/>
              <a:headEnd type="none" w="med" len="med"/>
              <a:tailEnd type="none" w="med" len="med"/>
            </a:ln>
          </p:spPr>
        </p:sp>
      </p:grpSp>
      <p:sp>
        <p:nvSpPr>
          <p:cNvPr id="3" name="文本框 2"/>
          <p:cNvSpPr txBox="1"/>
          <p:nvPr/>
        </p:nvSpPr>
        <p:spPr>
          <a:xfrm>
            <a:off x="4645183" y="5991251"/>
            <a:ext cx="3865880" cy="368300"/>
          </a:xfrm>
          <a:prstGeom prst="rect">
            <a:avLst/>
          </a:prstGeom>
          <a:solidFill>
            <a:schemeClr val="accent4">
              <a:lumMod val="40000"/>
              <a:lumOff val="60000"/>
            </a:schemeClr>
          </a:solidFill>
        </p:spPr>
        <p:txBody>
          <a:bodyPr wrap="none" rtlCol="0" anchor="t">
            <a:spAutoFit/>
          </a:bodyPr>
          <a:lstStyle/>
          <a:p>
            <a:r>
              <a:rPr lang="zh-CN" altLang="en-US">
                <a:solidFill>
                  <a:srgbClr val="000000"/>
                </a:solidFill>
                <a:sym typeface="+mn-ea"/>
              </a:rPr>
              <a:t>图 2 不同阻尼状态下的相频特性曲线</a:t>
            </a:r>
          </a:p>
        </p:txBody>
      </p:sp>
      <p:graphicFrame>
        <p:nvGraphicFramePr>
          <p:cNvPr id="413734" name="对象 413733"/>
          <p:cNvGraphicFramePr/>
          <p:nvPr>
            <p:extLst>
              <p:ext uri="{D42A27DB-BD31-4B8C-83A1-F6EECF244321}">
                <p14:modId xmlns:p14="http://schemas.microsoft.com/office/powerpoint/2010/main" val="3848856291"/>
              </p:ext>
            </p:extLst>
          </p:nvPr>
        </p:nvGraphicFramePr>
        <p:xfrm>
          <a:off x="8068570" y="3622675"/>
          <a:ext cx="1004570" cy="1047750"/>
        </p:xfrm>
        <a:graphic>
          <a:graphicData uri="http://schemas.openxmlformats.org/presentationml/2006/ole">
            <mc:AlternateContent xmlns:mc="http://schemas.openxmlformats.org/markup-compatibility/2006">
              <mc:Choice xmlns:v="urn:schemas-microsoft-com:vml" Requires="v">
                <p:oleObj r:id="rId12" imgW="673100" imgH="698500" progId="Equation.3">
                  <p:embed/>
                </p:oleObj>
              </mc:Choice>
              <mc:Fallback>
                <p:oleObj r:id="rId12" imgW="673100" imgH="698500" progId="Equation.3">
                  <p:embed/>
                  <p:pic>
                    <p:nvPicPr>
                      <p:cNvPr id="0" name="图片 3090"/>
                      <p:cNvPicPr/>
                      <p:nvPr/>
                    </p:nvPicPr>
                    <p:blipFill>
                      <a:blip r:embed="rId13"/>
                      <a:stretch>
                        <a:fillRect/>
                      </a:stretch>
                    </p:blipFill>
                    <p:spPr>
                      <a:xfrm>
                        <a:off x="8068570" y="3622675"/>
                        <a:ext cx="1004570" cy="1047750"/>
                      </a:xfrm>
                      <a:prstGeom prst="rect">
                        <a:avLst/>
                      </a:prstGeom>
                      <a:noFill/>
                      <a:ln w="38100">
                        <a:noFill/>
                        <a:miter/>
                      </a:ln>
                    </p:spPr>
                  </p:pic>
                </p:oleObj>
              </mc:Fallback>
            </mc:AlternateContent>
          </a:graphicData>
        </a:graphic>
      </p:graphicFrame>
      <p:sp>
        <p:nvSpPr>
          <p:cNvPr id="5" name="文本框 4"/>
          <p:cNvSpPr txBox="1"/>
          <p:nvPr/>
        </p:nvSpPr>
        <p:spPr>
          <a:xfrm>
            <a:off x="-26670" y="6049645"/>
            <a:ext cx="3865880" cy="368300"/>
          </a:xfrm>
          <a:prstGeom prst="rect">
            <a:avLst/>
          </a:prstGeom>
          <a:solidFill>
            <a:schemeClr val="accent4">
              <a:lumMod val="40000"/>
              <a:lumOff val="60000"/>
            </a:schemeClr>
          </a:solidFill>
        </p:spPr>
        <p:txBody>
          <a:bodyPr wrap="none" rtlCol="0" anchor="t">
            <a:spAutoFit/>
          </a:bodyPr>
          <a:lstStyle/>
          <a:p>
            <a:r>
              <a:rPr lang="zh-CN" altLang="en-US">
                <a:solidFill>
                  <a:srgbClr val="000000"/>
                </a:solidFill>
                <a:sym typeface="+mn-ea"/>
              </a:rPr>
              <a:t>图 1 不同阻尼状态下的幅频特性曲线</a:t>
            </a:r>
          </a:p>
        </p:txBody>
      </p:sp>
      <p:graphicFrame>
        <p:nvGraphicFramePr>
          <p:cNvPr id="4" name="对象 3">
            <a:hlinkClick r:id="" action="ppaction://ole?verb=0"/>
          </p:cNvPr>
          <p:cNvGraphicFramePr>
            <a:graphicFrameLocks noChangeAspect="1"/>
          </p:cNvGraphicFramePr>
          <p:nvPr/>
        </p:nvGraphicFramePr>
        <p:xfrm>
          <a:off x="-26670" y="1201420"/>
          <a:ext cx="946785" cy="546100"/>
        </p:xfrm>
        <a:graphic>
          <a:graphicData uri="http://schemas.openxmlformats.org/presentationml/2006/ole">
            <mc:AlternateContent xmlns:mc="http://schemas.openxmlformats.org/markup-compatibility/2006">
              <mc:Choice xmlns:v="urn:schemas-microsoft-com:vml" Requires="v">
                <p:oleObj r:id="rId14" imgW="749300" imgH="431800" progId="Equation.KSEE3">
                  <p:embed/>
                </p:oleObj>
              </mc:Choice>
              <mc:Fallback>
                <p:oleObj r:id="rId14" imgW="749300" imgH="431800" progId="Equation.KSEE3">
                  <p:embed/>
                  <p:pic>
                    <p:nvPicPr>
                      <p:cNvPr id="0" name="图片 1024"/>
                      <p:cNvPicPr/>
                      <p:nvPr/>
                    </p:nvPicPr>
                    <p:blipFill>
                      <a:blip r:embed="rId15"/>
                      <a:stretch>
                        <a:fillRect/>
                      </a:stretch>
                    </p:blipFill>
                    <p:spPr>
                      <a:xfrm>
                        <a:off x="-26670" y="1201420"/>
                        <a:ext cx="946785" cy="546100"/>
                      </a:xfrm>
                      <a:prstGeom prst="rect">
                        <a:avLst/>
                      </a:prstGeom>
                    </p:spPr>
                  </p:pic>
                </p:oleObj>
              </mc:Fallback>
            </mc:AlternateContent>
          </a:graphicData>
        </a:graphic>
      </p:graphicFrame>
      <p:graphicFrame>
        <p:nvGraphicFramePr>
          <p:cNvPr id="6" name="对象 5">
            <a:hlinkClick r:id="" action="ppaction://ole?verb=0"/>
          </p:cNvPr>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r:id="rId16" imgW="914400" imgH="215900" progId="Equation.KSEE3">
                  <p:embed/>
                </p:oleObj>
              </mc:Choice>
              <mc:Fallback>
                <p:oleObj r:id="rId16" imgW="914400" imgH="215900" progId="Equation.KSEE3">
                  <p:embed/>
                  <p:pic>
                    <p:nvPicPr>
                      <p:cNvPr id="0" name="图片 1025"/>
                      <p:cNvPicPr/>
                      <p:nvPr/>
                    </p:nvPicPr>
                    <p:blipFill>
                      <a:blip r:embed="rId17"/>
                      <a:stretch>
                        <a:fillRect/>
                      </a:stretch>
                    </p:blipFill>
                    <p:spPr>
                      <a:xfrm>
                        <a:off x="4114800" y="3321050"/>
                        <a:ext cx="914400" cy="215900"/>
                      </a:xfrm>
                      <a:prstGeom prst="rect">
                        <a:avLst/>
                      </a:prstGeom>
                    </p:spPr>
                  </p:pic>
                </p:oleObj>
              </mc:Fallback>
            </mc:AlternateContent>
          </a:graphicData>
        </a:graphic>
      </p:graphicFrame>
      <p:graphicFrame>
        <p:nvGraphicFramePr>
          <p:cNvPr id="7" name="对象 6"/>
          <p:cNvGraphicFramePr/>
          <p:nvPr/>
        </p:nvGraphicFramePr>
        <p:xfrm>
          <a:off x="886143" y="1525905"/>
          <a:ext cx="3127375" cy="1181735"/>
        </p:xfrm>
        <a:graphic>
          <a:graphicData uri="http://schemas.openxmlformats.org/presentationml/2006/ole">
            <mc:AlternateContent xmlns:mc="http://schemas.openxmlformats.org/markup-compatibility/2006">
              <mc:Choice xmlns:v="urn:schemas-microsoft-com:vml" Requires="v">
                <p:oleObj r:id="rId18" imgW="1765300" imgH="685800" progId="Equation.3">
                  <p:embed/>
                </p:oleObj>
              </mc:Choice>
              <mc:Fallback>
                <p:oleObj r:id="rId18" imgW="1765300" imgH="685800" progId="Equation.3">
                  <p:embed/>
                  <p:pic>
                    <p:nvPicPr>
                      <p:cNvPr id="0" name="图片 3078"/>
                      <p:cNvPicPr/>
                      <p:nvPr/>
                    </p:nvPicPr>
                    <p:blipFill>
                      <a:blip r:embed="rId19"/>
                      <a:stretch>
                        <a:fillRect/>
                      </a:stretch>
                    </p:blipFill>
                    <p:spPr>
                      <a:xfrm>
                        <a:off x="886143" y="1525905"/>
                        <a:ext cx="3127375" cy="1181735"/>
                      </a:xfrm>
                      <a:prstGeom prst="rect">
                        <a:avLst/>
                      </a:prstGeom>
                      <a:noFill/>
                      <a:ln w="38100">
                        <a:noFill/>
                        <a:miter/>
                      </a:ln>
                    </p:spPr>
                  </p:pic>
                </p:oleObj>
              </mc:Fallback>
            </mc:AlternateContent>
          </a:graphicData>
        </a:graphic>
      </p:graphicFrame>
      <p:graphicFrame>
        <p:nvGraphicFramePr>
          <p:cNvPr id="9" name="对象 8">
            <a:hlinkClick r:id="" action="ppaction://ole?verb=0"/>
          </p:cNvPr>
          <p:cNvGraphicFramePr>
            <a:graphicFrameLocks noChangeAspect="1"/>
          </p:cNvGraphicFramePr>
          <p:nvPr/>
        </p:nvGraphicFramePr>
        <p:xfrm>
          <a:off x="5391150" y="1201420"/>
          <a:ext cx="946785" cy="546100"/>
        </p:xfrm>
        <a:graphic>
          <a:graphicData uri="http://schemas.openxmlformats.org/presentationml/2006/ole">
            <mc:AlternateContent xmlns:mc="http://schemas.openxmlformats.org/markup-compatibility/2006">
              <mc:Choice xmlns:v="urn:schemas-microsoft-com:vml" Requires="v">
                <p:oleObj r:id="rId14" imgW="749300" imgH="431800" progId="Equation.KSEE3">
                  <p:embed/>
                </p:oleObj>
              </mc:Choice>
              <mc:Fallback>
                <p:oleObj r:id="rId14" imgW="749300" imgH="431800" progId="Equation.KSEE3">
                  <p:embed/>
                  <p:pic>
                    <p:nvPicPr>
                      <p:cNvPr id="0" name="图片 1024"/>
                      <p:cNvPicPr/>
                      <p:nvPr/>
                    </p:nvPicPr>
                    <p:blipFill>
                      <a:blip r:embed="rId15"/>
                      <a:stretch>
                        <a:fillRect/>
                      </a:stretch>
                    </p:blipFill>
                    <p:spPr>
                      <a:xfrm>
                        <a:off x="5391150" y="1201420"/>
                        <a:ext cx="946785" cy="546100"/>
                      </a:xfrm>
                      <a:prstGeom prst="rect">
                        <a:avLst/>
                      </a:prstGeom>
                    </p:spPr>
                  </p:pic>
                </p:oleObj>
              </mc:Fallback>
            </mc:AlternateContent>
          </a:graphicData>
        </a:graphic>
      </p:graphicFrame>
      <p:graphicFrame>
        <p:nvGraphicFramePr>
          <p:cNvPr id="10" name="对象 9"/>
          <p:cNvGraphicFramePr/>
          <p:nvPr/>
        </p:nvGraphicFramePr>
        <p:xfrm>
          <a:off x="5928043" y="1747520"/>
          <a:ext cx="1583055" cy="1025525"/>
        </p:xfrm>
        <a:graphic>
          <a:graphicData uri="http://schemas.openxmlformats.org/presentationml/2006/ole">
            <mc:AlternateContent xmlns:mc="http://schemas.openxmlformats.org/markup-compatibility/2006">
              <mc:Choice xmlns:v="urn:schemas-microsoft-com:vml" Requires="v">
                <p:oleObj r:id="rId20" imgW="1002665" imgH="584200" progId="Equation.3">
                  <p:embed/>
                </p:oleObj>
              </mc:Choice>
              <mc:Fallback>
                <p:oleObj r:id="rId20" imgW="1002665" imgH="584200" progId="Equation.3">
                  <p:embed/>
                  <p:pic>
                    <p:nvPicPr>
                      <p:cNvPr id="0" name="图片 3075"/>
                      <p:cNvPicPr/>
                      <p:nvPr/>
                    </p:nvPicPr>
                    <p:blipFill>
                      <a:blip r:embed="rId21"/>
                      <a:stretch>
                        <a:fillRect/>
                      </a:stretch>
                    </p:blipFill>
                    <p:spPr>
                      <a:xfrm>
                        <a:off x="5928043" y="1747520"/>
                        <a:ext cx="1583055" cy="1025525"/>
                      </a:xfrm>
                      <a:prstGeom prst="rect">
                        <a:avLst/>
                      </a:prstGeom>
                      <a:noFill/>
                      <a:ln w="38100">
                        <a:noFill/>
                        <a:miter/>
                      </a:ln>
                    </p:spPr>
                  </p:pic>
                </p:oleObj>
              </mc:Fallback>
            </mc:AlternateContent>
          </a:graphicData>
        </a:graphic>
      </p:graphicFrame>
      <p:graphicFrame>
        <p:nvGraphicFramePr>
          <p:cNvPr id="12" name="对象 11">
            <a:hlinkClick r:id="" action="ppaction://ole?verb=0"/>
          </p:cNvPr>
          <p:cNvGraphicFramePr>
            <a:graphicFrameLocks noChangeAspect="1"/>
          </p:cNvGraphicFramePr>
          <p:nvPr/>
        </p:nvGraphicFramePr>
        <p:xfrm>
          <a:off x="59690" y="2707005"/>
          <a:ext cx="4202430" cy="614045"/>
        </p:xfrm>
        <a:graphic>
          <a:graphicData uri="http://schemas.openxmlformats.org/presentationml/2006/ole">
            <mc:AlternateContent xmlns:mc="http://schemas.openxmlformats.org/markup-compatibility/2006">
              <mc:Choice xmlns:v="urn:schemas-microsoft-com:vml" Requires="v">
                <p:oleObj r:id="rId22" imgW="2857500" imgH="431800" progId="Equation.KSEE3">
                  <p:embed/>
                </p:oleObj>
              </mc:Choice>
              <mc:Fallback>
                <p:oleObj r:id="rId22" imgW="2857500" imgH="431800" progId="Equation.KSEE3">
                  <p:embed/>
                  <p:pic>
                    <p:nvPicPr>
                      <p:cNvPr id="0" name="图片 1026"/>
                      <p:cNvPicPr/>
                      <p:nvPr/>
                    </p:nvPicPr>
                    <p:blipFill>
                      <a:blip r:embed="rId23"/>
                      <a:stretch>
                        <a:fillRect/>
                      </a:stretch>
                    </p:blipFill>
                    <p:spPr>
                      <a:xfrm>
                        <a:off x="59690" y="2707005"/>
                        <a:ext cx="4202430" cy="614045"/>
                      </a:xfrm>
                      <a:prstGeom prst="rect">
                        <a:avLst/>
                      </a:prstGeom>
                    </p:spPr>
                  </p:pic>
                </p:oleObj>
              </mc:Fallback>
            </mc:AlternateContent>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2" name="Rectangle 6"/>
          <p:cNvSpPr>
            <a:spLocks noChangeArrowheads="1"/>
          </p:cNvSpPr>
          <p:nvPr>
            <p:custDataLst>
              <p:tags r:id="rId1"/>
            </p:custDataLst>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9224" name="Rectangle 8"/>
          <p:cNvSpPr>
            <a:spLocks noChangeArrowheads="1"/>
          </p:cNvSpPr>
          <p:nvPr>
            <p:custDataLst>
              <p:tags r:id="rId2"/>
            </p:custDataLst>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9226" name="Rectangle 10"/>
          <p:cNvSpPr>
            <a:spLocks noChangeArrowheads="1"/>
          </p:cNvSpPr>
          <p:nvPr>
            <p:custDataLst>
              <p:tags r:id="rId3"/>
            </p:custDataLst>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9231" name="Rectangle 15"/>
          <p:cNvSpPr>
            <a:spLocks noChangeArrowheads="1"/>
          </p:cNvSpPr>
          <p:nvPr>
            <p:custDataLst>
              <p:tags r:id="rId4"/>
            </p:custDataLst>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9233" name="Rectangle 17"/>
          <p:cNvSpPr>
            <a:spLocks noChangeArrowheads="1"/>
          </p:cNvSpPr>
          <p:nvPr>
            <p:custDataLst>
              <p:tags r:id="rId5"/>
            </p:custDataLst>
          </p:nvPr>
        </p:nvSpPr>
        <p:spPr bwMode="auto">
          <a:xfrm>
            <a:off x="0" y="3492183"/>
            <a:ext cx="9144000" cy="0"/>
          </a:xfrm>
          <a:prstGeom prst="rect">
            <a:avLst/>
          </a:prstGeom>
          <a:noFill/>
          <a:ln w="9525">
            <a:noFill/>
            <a:miter lim="800000"/>
          </a:ln>
          <a:effectLst/>
        </p:spPr>
        <p:txBody>
          <a:bodyPr wrap="none" anchor="ctr">
            <a:spAutoFit/>
          </a:bodyPr>
          <a:lstStyle/>
          <a:p>
            <a:endParaRPr lang="zh-CN" altLang="en-US"/>
          </a:p>
        </p:txBody>
      </p:sp>
      <p:sp>
        <p:nvSpPr>
          <p:cNvPr id="13" name="Rectangle 10"/>
          <p:cNvSpPr>
            <a:spLocks noChangeArrowheads="1"/>
          </p:cNvSpPr>
          <p:nvPr>
            <p:custDataLst>
              <p:tags r:id="rId6"/>
            </p:custDataLst>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14" name="Rectangle 5"/>
          <p:cNvSpPr>
            <a:spLocks noChangeArrowheads="1"/>
          </p:cNvSpPr>
          <p:nvPr>
            <p:custDataLst>
              <p:tags r:id="rId7"/>
            </p:custDataLst>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5" name="Rectangle 3"/>
          <p:cNvSpPr>
            <a:spLocks noChangeArrowheads="1"/>
          </p:cNvSpPr>
          <p:nvPr>
            <p:custDataLst>
              <p:tags r:id="rId8"/>
            </p:custDataLst>
          </p:nvPr>
        </p:nvSpPr>
        <p:spPr bwMode="auto">
          <a:xfrm>
            <a:off x="362585" y="647700"/>
            <a:ext cx="4277360" cy="521970"/>
          </a:xfrm>
          <a:prstGeom prst="rect">
            <a:avLst/>
          </a:prstGeom>
          <a:noFill/>
          <a:ln w="9525">
            <a:noFill/>
            <a:miter lim="800000"/>
          </a:ln>
          <a:effectLst/>
        </p:spPr>
        <p:txBody>
          <a:bodyPr wrap="square">
            <a:spAutoFit/>
          </a:bodyPr>
          <a:lstStyle/>
          <a:p>
            <a:pPr algn="just"/>
            <a:r>
              <a:rPr lang="zh-CN" altLang="en-US" sz="2800" b="1" dirty="0">
                <a:solidFill>
                  <a:srgbClr val="002060"/>
                </a:solidFill>
                <a:latin typeface="楷体" panose="02010609060101010101" pitchFamily="49" charset="-122"/>
                <a:ea typeface="楷体" panose="02010609060101010101" pitchFamily="49" charset="-122"/>
                <a:sym typeface="+mn-ea"/>
              </a:rPr>
              <a:t>振动频谱</a:t>
            </a:r>
          </a:p>
        </p:txBody>
      </p:sp>
      <p:grpSp>
        <p:nvGrpSpPr>
          <p:cNvPr id="1073742861" name="组合 1073742860"/>
          <p:cNvGrpSpPr>
            <a:grpSpLocks noRot="1"/>
          </p:cNvGrpSpPr>
          <p:nvPr/>
        </p:nvGrpSpPr>
        <p:grpSpPr>
          <a:xfrm>
            <a:off x="362585" y="1545332"/>
            <a:ext cx="3531235" cy="3318559"/>
            <a:chOff x="0" y="0"/>
            <a:chExt cx="2286000" cy="1977838"/>
          </a:xfrm>
        </p:grpSpPr>
        <p:pic>
          <p:nvPicPr>
            <p:cNvPr id="1073742863" name="图片 1073742862"/>
            <p:cNvPicPr>
              <a:picLocks noChangeAspect="1"/>
            </p:cNvPicPr>
            <p:nvPr>
              <p:custDataLst>
                <p:tags r:id="rId11"/>
              </p:custDataLst>
            </p:nvPr>
          </p:nvPicPr>
          <p:blipFill>
            <a:blip r:embed="rId14"/>
            <a:stretch>
              <a:fillRect/>
            </a:stretch>
          </p:blipFill>
          <p:spPr>
            <a:xfrm>
              <a:off x="2996" y="0"/>
              <a:ext cx="2280007" cy="1590675"/>
            </a:xfrm>
            <a:prstGeom prst="rect">
              <a:avLst/>
            </a:prstGeom>
            <a:noFill/>
            <a:ln w="9525">
              <a:noFill/>
            </a:ln>
          </p:spPr>
        </p:pic>
        <p:sp>
          <p:nvSpPr>
            <p:cNvPr id="1073742862" name="文本框 1073742861"/>
            <p:cNvSpPr txBox="1"/>
            <p:nvPr>
              <p:custDataLst>
                <p:tags r:id="rId12"/>
              </p:custDataLst>
            </p:nvPr>
          </p:nvSpPr>
          <p:spPr>
            <a:xfrm>
              <a:off x="0" y="1647825"/>
              <a:ext cx="2286000" cy="330013"/>
            </a:xfrm>
            <a:prstGeom prst="rect">
              <a:avLst/>
            </a:prstGeom>
            <a:solidFill>
              <a:srgbClr val="FFFFFF"/>
            </a:solidFill>
            <a:ln w="9525">
              <a:noFill/>
            </a:ln>
          </p:spPr>
          <p:txBody>
            <a:bodyPr wrap="square" lIns="0" tIns="0" rIns="0" bIns="0">
              <a:spAutoFit/>
            </a:bodyPr>
            <a:lstStyle/>
            <a:p>
              <a:pPr algn="ctr"/>
              <a:r>
                <a:rPr lang="zh-CN" altLang="en-US"/>
                <a:t>图 3 角度随时间变化关系</a:t>
              </a:r>
            </a:p>
            <a:p>
              <a:endParaRPr lang="zh-CN" altLang="en-US"/>
            </a:p>
          </p:txBody>
        </p:sp>
      </p:grpSp>
      <p:grpSp>
        <p:nvGrpSpPr>
          <p:cNvPr id="1073742858" name="组合 1073742857"/>
          <p:cNvGrpSpPr>
            <a:grpSpLocks noRot="1"/>
          </p:cNvGrpSpPr>
          <p:nvPr/>
        </p:nvGrpSpPr>
        <p:grpSpPr>
          <a:xfrm>
            <a:off x="4531177" y="1568423"/>
            <a:ext cx="4245610" cy="3594788"/>
            <a:chOff x="0" y="11877"/>
            <a:chExt cx="1952625" cy="1888786"/>
          </a:xfrm>
        </p:grpSpPr>
        <p:pic>
          <p:nvPicPr>
            <p:cNvPr id="1073742860" name="图片 1073742859"/>
            <p:cNvPicPr>
              <a:picLocks noChangeAspect="1"/>
            </p:cNvPicPr>
            <p:nvPr>
              <p:custDataLst>
                <p:tags r:id="rId9"/>
              </p:custDataLst>
            </p:nvPr>
          </p:nvPicPr>
          <p:blipFill>
            <a:blip r:embed="rId15"/>
            <a:stretch>
              <a:fillRect/>
            </a:stretch>
          </p:blipFill>
          <p:spPr>
            <a:xfrm>
              <a:off x="0" y="11877"/>
              <a:ext cx="1952625" cy="1528820"/>
            </a:xfrm>
            <a:prstGeom prst="rect">
              <a:avLst/>
            </a:prstGeom>
            <a:noFill/>
            <a:ln w="9525">
              <a:noFill/>
            </a:ln>
          </p:spPr>
        </p:pic>
        <p:sp>
          <p:nvSpPr>
            <p:cNvPr id="1073742859" name="文本框 1073742858"/>
            <p:cNvSpPr txBox="1"/>
            <p:nvPr>
              <p:custDataLst>
                <p:tags r:id="rId10"/>
              </p:custDataLst>
            </p:nvPr>
          </p:nvSpPr>
          <p:spPr>
            <a:xfrm>
              <a:off x="0" y="1609725"/>
              <a:ext cx="1952625" cy="290938"/>
            </a:xfrm>
            <a:prstGeom prst="rect">
              <a:avLst/>
            </a:prstGeom>
            <a:solidFill>
              <a:srgbClr val="FFFFFF"/>
            </a:solidFill>
            <a:ln w="9525">
              <a:noFill/>
            </a:ln>
          </p:spPr>
          <p:txBody>
            <a:bodyPr wrap="square" lIns="0" tIns="0" rIns="0" bIns="0">
              <a:spAutoFit/>
            </a:bodyPr>
            <a:lstStyle/>
            <a:p>
              <a:pPr algn="ctr"/>
              <a:r>
                <a:rPr lang="zh-CN" altLang="en-US"/>
                <a:t>图 4 振动的频谱</a:t>
              </a:r>
            </a:p>
            <a:p>
              <a:endParaRPr lang="zh-CN" altLang="en-US"/>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2" name="Rectangle 6"/>
          <p:cNvSpPr>
            <a:spLocks noChangeArrowheads="1"/>
          </p:cNvSpPr>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9224" name="Rectangle 8"/>
          <p:cNvSpPr>
            <a:spLocks noChangeArrowheads="1"/>
          </p:cNvSpPr>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9226" name="Rectangle 10"/>
          <p:cNvSpPr>
            <a:spLocks noChangeArrowheads="1"/>
          </p:cNvSpPr>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9231" name="Rectangle 15"/>
          <p:cNvSpPr>
            <a:spLocks noChangeArrowheads="1"/>
          </p:cNvSpPr>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9233" name="Rectangle 17"/>
          <p:cNvSpPr>
            <a:spLocks noChangeArrowheads="1"/>
          </p:cNvSpPr>
          <p:nvPr/>
        </p:nvSpPr>
        <p:spPr bwMode="auto">
          <a:xfrm>
            <a:off x="0" y="3492183"/>
            <a:ext cx="9144000" cy="0"/>
          </a:xfrm>
          <a:prstGeom prst="rect">
            <a:avLst/>
          </a:prstGeom>
          <a:noFill/>
          <a:ln w="9525">
            <a:noFill/>
            <a:miter lim="800000"/>
          </a:ln>
          <a:effectLst/>
        </p:spPr>
        <p:txBody>
          <a:bodyPr wrap="none" anchor="ctr">
            <a:spAutoFit/>
          </a:bodyPr>
          <a:lstStyle/>
          <a:p>
            <a:endParaRPr lang="zh-CN" altLang="en-US"/>
          </a:p>
        </p:txBody>
      </p:sp>
      <p:sp>
        <p:nvSpPr>
          <p:cNvPr id="13" name="Rectangle 10"/>
          <p:cNvSpPr>
            <a:spLocks noChangeArrowheads="1"/>
          </p:cNvSpPr>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14" name="Rectangle 5"/>
          <p:cNvSpPr>
            <a:spLocks noChangeArrowheads="1"/>
          </p:cNvSpPr>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16" name="Rectangle 5"/>
          <p:cNvSpPr>
            <a:spLocks noChangeArrowheads="1"/>
          </p:cNvSpPr>
          <p:nvPr/>
        </p:nvSpPr>
        <p:spPr bwMode="ltGray">
          <a:xfrm>
            <a:off x="0" y="541318"/>
            <a:ext cx="9144000" cy="25400"/>
          </a:xfrm>
          <a:prstGeom prst="rect">
            <a:avLst/>
          </a:prstGeom>
          <a:gradFill rotWithShape="1">
            <a:gsLst>
              <a:gs pos="0">
                <a:srgbClr val="530C13"/>
              </a:gs>
              <a:gs pos="50000">
                <a:srgbClr val="B31928"/>
              </a:gs>
              <a:gs pos="100000">
                <a:srgbClr val="530C13"/>
              </a:gs>
            </a:gsLst>
            <a:lin ang="5400000" scaled="1"/>
          </a:gradFill>
          <a:ln w="9525" algn="ctr">
            <a:noFill/>
            <a:miter lim="800000"/>
          </a:ln>
        </p:spPr>
        <p:txBody>
          <a:bodyPr wrap="none" anchor="ctr"/>
          <a:lstStyle/>
          <a:p>
            <a:pPr algn="ctr"/>
            <a:endParaRPr lang="zh-CN" altLang="zh-CN" sz="2000" b="0">
              <a:latin typeface="Verdana" panose="020B0604030504040204" pitchFamily="34" charset="0"/>
            </a:endParaRPr>
          </a:p>
        </p:txBody>
      </p:sp>
      <p:sp>
        <p:nvSpPr>
          <p:cNvPr id="5" name="Rectangle 3"/>
          <p:cNvSpPr>
            <a:spLocks noChangeArrowheads="1"/>
          </p:cNvSpPr>
          <p:nvPr/>
        </p:nvSpPr>
        <p:spPr bwMode="auto">
          <a:xfrm>
            <a:off x="137795" y="690245"/>
            <a:ext cx="4277360" cy="521970"/>
          </a:xfrm>
          <a:prstGeom prst="rect">
            <a:avLst/>
          </a:prstGeom>
          <a:noFill/>
          <a:ln w="9525">
            <a:noFill/>
            <a:miter lim="800000"/>
          </a:ln>
          <a:effectLst/>
        </p:spPr>
        <p:txBody>
          <a:bodyPr wrap="square">
            <a:spAutoFit/>
          </a:bodyPr>
          <a:lstStyle/>
          <a:p>
            <a:pPr algn="just"/>
            <a:r>
              <a:rPr lang="zh-CN" altLang="en-US" sz="2800" b="1" dirty="0">
                <a:solidFill>
                  <a:srgbClr val="002060"/>
                </a:solidFill>
                <a:latin typeface="楷体" panose="02010609060101010101" pitchFamily="49" charset="-122"/>
                <a:ea typeface="楷体" panose="02010609060101010101" pitchFamily="49" charset="-122"/>
                <a:sym typeface="+mn-ea"/>
              </a:rPr>
              <a:t>相图和机械能</a:t>
            </a:r>
          </a:p>
        </p:txBody>
      </p:sp>
      <p:pic>
        <p:nvPicPr>
          <p:cNvPr id="2" name="图片 -2147482434"/>
          <p:cNvPicPr>
            <a:picLocks noChangeAspect="1"/>
          </p:cNvPicPr>
          <p:nvPr/>
        </p:nvPicPr>
        <p:blipFill>
          <a:blip r:embed="rId2">
            <a:clrChange>
              <a:clrFrom>
                <a:srgbClr val="FFFFFF"/>
              </a:clrFrom>
              <a:clrTo>
                <a:srgbClr val="FFFFFF">
                  <a:alpha val="0"/>
                </a:srgbClr>
              </a:clrTo>
            </a:clrChange>
          </a:blip>
          <a:stretch>
            <a:fillRect/>
          </a:stretch>
        </p:blipFill>
        <p:spPr>
          <a:xfrm>
            <a:off x="3057525" y="784225"/>
            <a:ext cx="2906395" cy="1355090"/>
          </a:xfrm>
          <a:prstGeom prst="rect">
            <a:avLst/>
          </a:prstGeom>
          <a:noFill/>
          <a:ln w="9525">
            <a:noFill/>
          </a:ln>
        </p:spPr>
      </p:pic>
      <p:grpSp>
        <p:nvGrpSpPr>
          <p:cNvPr id="1073742855" name="组合 1073742854"/>
          <p:cNvGrpSpPr>
            <a:grpSpLocks noRot="1"/>
          </p:cNvGrpSpPr>
          <p:nvPr/>
        </p:nvGrpSpPr>
        <p:grpSpPr>
          <a:xfrm>
            <a:off x="397510" y="2375422"/>
            <a:ext cx="3757930" cy="3016369"/>
            <a:chOff x="0" y="3139"/>
            <a:chExt cx="2270125" cy="2154489"/>
          </a:xfrm>
        </p:grpSpPr>
        <p:pic>
          <p:nvPicPr>
            <p:cNvPr id="1073742857" name="图片 1073742856"/>
            <p:cNvPicPr>
              <a:picLocks noChangeAspect="1"/>
            </p:cNvPicPr>
            <p:nvPr/>
          </p:nvPicPr>
          <p:blipFill>
            <a:blip r:embed="rId3"/>
            <a:stretch>
              <a:fillRect/>
            </a:stretch>
          </p:blipFill>
          <p:spPr>
            <a:xfrm>
              <a:off x="0" y="3139"/>
              <a:ext cx="2266950" cy="1698697"/>
            </a:xfrm>
            <a:prstGeom prst="rect">
              <a:avLst/>
            </a:prstGeom>
            <a:noFill/>
            <a:ln w="9525">
              <a:noFill/>
            </a:ln>
          </p:spPr>
        </p:pic>
        <p:sp>
          <p:nvSpPr>
            <p:cNvPr id="1073742856" name="文本框 1073742855"/>
            <p:cNvSpPr txBox="1"/>
            <p:nvPr/>
          </p:nvSpPr>
          <p:spPr>
            <a:xfrm>
              <a:off x="0" y="1762125"/>
              <a:ext cx="2270125" cy="395503"/>
            </a:xfrm>
            <a:prstGeom prst="rect">
              <a:avLst/>
            </a:prstGeom>
            <a:solidFill>
              <a:srgbClr val="FFFFFF"/>
            </a:solidFill>
            <a:ln w="9525">
              <a:noFill/>
            </a:ln>
          </p:spPr>
          <p:txBody>
            <a:bodyPr wrap="square" lIns="0" tIns="0" rIns="0" bIns="0">
              <a:spAutoFit/>
            </a:bodyPr>
            <a:lstStyle/>
            <a:p>
              <a:pPr algn="ctr"/>
              <a:r>
                <a:rPr lang="zh-CN" altLang="en-US"/>
                <a:t>图 5 阻尼振动的相图</a:t>
              </a:r>
            </a:p>
            <a:p>
              <a:endParaRPr lang="zh-CN" altLang="en-US"/>
            </a:p>
          </p:txBody>
        </p:sp>
      </p:grpSp>
      <p:grpSp>
        <p:nvGrpSpPr>
          <p:cNvPr id="1073742852" name="组合 1073742851"/>
          <p:cNvGrpSpPr>
            <a:grpSpLocks noRot="1"/>
          </p:cNvGrpSpPr>
          <p:nvPr/>
        </p:nvGrpSpPr>
        <p:grpSpPr>
          <a:xfrm>
            <a:off x="4798060" y="2418080"/>
            <a:ext cx="3312160" cy="2994649"/>
            <a:chOff x="0" y="14805"/>
            <a:chExt cx="2324100" cy="2237182"/>
          </a:xfrm>
        </p:grpSpPr>
        <p:pic>
          <p:nvPicPr>
            <p:cNvPr id="1073742854" name="图片 1073742853"/>
            <p:cNvPicPr>
              <a:picLocks noChangeAspect="1"/>
            </p:cNvPicPr>
            <p:nvPr/>
          </p:nvPicPr>
          <p:blipFill>
            <a:blip r:embed="rId4"/>
            <a:stretch>
              <a:fillRect/>
            </a:stretch>
          </p:blipFill>
          <p:spPr>
            <a:xfrm>
              <a:off x="0" y="14805"/>
              <a:ext cx="2324100" cy="1751564"/>
            </a:xfrm>
            <a:prstGeom prst="rect">
              <a:avLst/>
            </a:prstGeom>
            <a:noFill/>
            <a:ln w="9525">
              <a:noFill/>
            </a:ln>
          </p:spPr>
        </p:pic>
        <p:sp>
          <p:nvSpPr>
            <p:cNvPr id="1073742853" name="文本框 1073742852"/>
            <p:cNvSpPr txBox="1"/>
            <p:nvPr/>
          </p:nvSpPr>
          <p:spPr>
            <a:xfrm>
              <a:off x="0" y="1838325"/>
              <a:ext cx="2324100" cy="413662"/>
            </a:xfrm>
            <a:prstGeom prst="rect">
              <a:avLst/>
            </a:prstGeom>
            <a:solidFill>
              <a:srgbClr val="FFFFFF"/>
            </a:solidFill>
            <a:ln w="9525">
              <a:noFill/>
            </a:ln>
          </p:spPr>
          <p:txBody>
            <a:bodyPr wrap="square" lIns="0" tIns="0" rIns="0" bIns="0">
              <a:spAutoFit/>
            </a:bodyPr>
            <a:lstStyle/>
            <a:p>
              <a:pPr algn="ctr"/>
              <a:r>
                <a:rPr lang="zh-CN" altLang="en-US"/>
                <a:t>图 6 自由振动的相图</a:t>
              </a:r>
            </a:p>
            <a:p>
              <a:endParaRPr lang="zh-CN" altLang="en-US"/>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43009"/>
          <p:cNvSpPr>
            <a:spLocks noGrp="1" noRot="1"/>
          </p:cNvSpPr>
          <p:nvPr>
            <p:ph type="title"/>
          </p:nvPr>
        </p:nvSpPr>
        <p:spPr>
          <a:xfrm>
            <a:off x="81915" y="254000"/>
            <a:ext cx="4361815" cy="876300"/>
          </a:xfrm>
        </p:spPr>
        <p:txBody>
          <a:bodyPr anchor="ctr"/>
          <a:lstStyle/>
          <a:p>
            <a:pPr algn="l"/>
            <a:r>
              <a:rPr lang="zh-CN" altLang="en-US" dirty="0">
                <a:solidFill>
                  <a:schemeClr val="accent2"/>
                </a:solidFill>
              </a:rPr>
              <a:t>实验仪器</a:t>
            </a:r>
          </a:p>
        </p:txBody>
      </p:sp>
      <p:pic>
        <p:nvPicPr>
          <p:cNvPr id="2" name="图片 352"/>
          <p:cNvPicPr>
            <a:picLocks noChangeAspect="1"/>
          </p:cNvPicPr>
          <p:nvPr/>
        </p:nvPicPr>
        <p:blipFill>
          <a:blip r:embed="rId2"/>
          <a:stretch>
            <a:fillRect/>
          </a:stretch>
        </p:blipFill>
        <p:spPr>
          <a:xfrm>
            <a:off x="1703070" y="1737360"/>
            <a:ext cx="5347970" cy="3550285"/>
          </a:xfrm>
          <a:prstGeom prst="rect">
            <a:avLst/>
          </a:prstGeom>
          <a:noFill/>
          <a:ln w="9525">
            <a:noFill/>
          </a:ln>
        </p:spPr>
      </p:pic>
      <p:sp>
        <p:nvSpPr>
          <p:cNvPr id="101" name="文本框 100"/>
          <p:cNvSpPr txBox="1"/>
          <p:nvPr/>
        </p:nvSpPr>
        <p:spPr>
          <a:xfrm>
            <a:off x="419735" y="5441315"/>
            <a:ext cx="8050530" cy="829945"/>
          </a:xfrm>
          <a:prstGeom prst="rect">
            <a:avLst/>
          </a:prstGeom>
          <a:noFill/>
          <a:ln w="9525">
            <a:noFill/>
          </a:ln>
        </p:spPr>
        <p:txBody>
          <a:bodyPr wrap="square">
            <a:spAutoFit/>
          </a:bodyPr>
          <a:lstStyle/>
          <a:p>
            <a:r>
              <a:rPr lang="zh-CN" sz="1200">
                <a:solidFill>
                  <a:srgbClr val="000000"/>
                </a:solidFill>
                <a:ea typeface="宋体" panose="02010600030101010101" pitchFamily="2" charset="-122"/>
              </a:rPr>
              <a:t>1.底座，2.阻尼线圈，3.支撑架，4.摆轮保护圈，5.蜗卷弹簧，6.摆轮指拨孔，7.圆形摆轮，8.弹簧夹持螺钉，9.摆轮转轴，10.棉线，11.传感器支撑柱，12.有机玻璃转盘，13.转动传感器，14.传感器转盘，15.砝码，16.驱动电机（在转盘后面），17.驱动电机电流输入（后部），18.驱动电机转速调节旋钮（后部），19.阻尼线圈电流输入（后部），20.连杆，21.摇杆松紧调节螺丝，22.摇杆</a:t>
            </a:r>
            <a:endParaRPr lang="zh-CN" altLang="en-US" sz="1200">
              <a:solidFill>
                <a:srgbClr val="000000"/>
              </a:solidFill>
              <a:ea typeface="宋体" panose="02010600030101010101" pitchFamily="2" charset="-122"/>
            </a:endParaRPr>
          </a:p>
        </p:txBody>
      </p:sp>
      <p:sp>
        <p:nvSpPr>
          <p:cNvPr id="4" name="文本框 3"/>
          <p:cNvSpPr txBox="1"/>
          <p:nvPr/>
        </p:nvSpPr>
        <p:spPr>
          <a:xfrm>
            <a:off x="99695" y="1070610"/>
            <a:ext cx="8690610" cy="583565"/>
          </a:xfrm>
          <a:prstGeom prst="rect">
            <a:avLst/>
          </a:prstGeom>
          <a:noFill/>
          <a:ln w="9525">
            <a:noFill/>
          </a:ln>
        </p:spPr>
        <p:txBody>
          <a:bodyPr wrap="square">
            <a:spAutoFit/>
          </a:bodyPr>
          <a:lstStyle/>
          <a:p>
            <a:r>
              <a:rPr lang="en-US" altLang="zh-CN" sz="1600" b="1">
                <a:solidFill>
                  <a:srgbClr val="000000"/>
                </a:solidFill>
                <a:ea typeface="宋体" panose="02010600030101010101" pitchFamily="2" charset="-122"/>
              </a:rPr>
              <a:t>      </a:t>
            </a:r>
            <a:r>
              <a:rPr lang="zh-CN" sz="1600" b="1">
                <a:solidFill>
                  <a:srgbClr val="000000"/>
                </a:solidFill>
                <a:ea typeface="宋体" panose="02010600030101010101" pitchFamily="2" charset="-122"/>
              </a:rPr>
              <a:t>本实验的装置包括：（1）波尔振动仪，（2）直流稳压稳流电源，（3）数字万用表，（4）秒表，（</a:t>
            </a:r>
            <a:r>
              <a:rPr lang="en-US" sz="1600" b="1">
                <a:solidFill>
                  <a:srgbClr val="000000"/>
                </a:solidFill>
                <a:latin typeface="宋体" panose="02010600030101010101" pitchFamily="2" charset="-122"/>
              </a:rPr>
              <a:t>5</a:t>
            </a:r>
            <a:r>
              <a:rPr lang="zh-CN" sz="1600" b="1">
                <a:solidFill>
                  <a:srgbClr val="000000"/>
                </a:solidFill>
                <a:ea typeface="宋体" panose="02010600030101010101" pitchFamily="2" charset="-122"/>
              </a:rPr>
              <a:t>）转动传感器和数据采集器，（6）安装了用LabVIEW编写的测控程序的计算机</a:t>
            </a:r>
            <a:endParaRPr lang="zh-CN" altLang="en-US" sz="1600" b="1">
              <a:solidFill>
                <a:srgbClr val="000000"/>
              </a:solidFill>
              <a:ea typeface="宋体" panose="02010600030101010101" pitchFamily="2"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22" name="矩形 115721"/>
          <p:cNvSpPr/>
          <p:nvPr/>
        </p:nvSpPr>
        <p:spPr>
          <a:xfrm>
            <a:off x="64453" y="365760"/>
            <a:ext cx="3016250" cy="863600"/>
          </a:xfrm>
          <a:prstGeom prst="rect">
            <a:avLst/>
          </a:prstGeom>
          <a:noFill/>
          <a:ln w="9525">
            <a:noFill/>
          </a:ln>
        </p:spPr>
        <p:txBody>
          <a:bodyPr anchor="ctr"/>
          <a:lstStyle>
            <a:lvl1pPr marL="0" lvl="0" indent="0" algn="l" defTabSz="914400" rtl="0" eaLnBrk="1" fontAlgn="base" latinLnBrk="0" hangingPunct="1">
              <a:lnSpc>
                <a:spcPct val="100000"/>
              </a:lnSpc>
              <a:spcBef>
                <a:spcPct val="0"/>
              </a:spcBef>
              <a:spcAft>
                <a:spcPct val="0"/>
              </a:spcAft>
              <a:buNone/>
              <a:defRPr sz="4000" b="1" u="none" kern="1200" baseline="0">
                <a:solidFill>
                  <a:schemeClr val="bg1"/>
                </a:solidFill>
                <a:latin typeface="Arial" panose="020B0604020202020204" pitchFamily="34" charset="0"/>
                <a:ea typeface="幼圆" panose="02010509060101010101" pitchFamily="49" charset="-122"/>
              </a:defRPr>
            </a:lvl1pPr>
          </a:lstStyle>
          <a:p>
            <a:pPr lvl="0"/>
            <a:r>
              <a:rPr lang="zh-CN" altLang="en-US" dirty="0">
                <a:solidFill>
                  <a:schemeClr val="accent2"/>
                </a:solidFill>
                <a:latin typeface="幼圆" panose="02010509060101010101" pitchFamily="49" charset="-122"/>
              </a:rPr>
              <a:t>实验内容</a:t>
            </a:r>
          </a:p>
        </p:txBody>
      </p:sp>
      <p:sp>
        <p:nvSpPr>
          <p:cNvPr id="115727" name="矩形 115726"/>
          <p:cNvSpPr/>
          <p:nvPr/>
        </p:nvSpPr>
        <p:spPr>
          <a:xfrm>
            <a:off x="1135063" y="1617663"/>
            <a:ext cx="1514475" cy="0"/>
          </a:xfrm>
          <a:prstGeom prst="rect">
            <a:avLst/>
          </a:prstGeom>
          <a:noFill/>
          <a:ln w="9525">
            <a:noFill/>
          </a:ln>
        </p:spPr>
        <p:txBody>
          <a:bodyPr/>
          <a:lstStyle/>
          <a:p>
            <a:endParaRPr lang="zh-CN" altLang="en-US">
              <a:solidFill>
                <a:srgbClr val="000000"/>
              </a:solidFill>
            </a:endParaRPr>
          </a:p>
        </p:txBody>
      </p:sp>
      <p:sp>
        <p:nvSpPr>
          <p:cNvPr id="100" name="文本框 99"/>
          <p:cNvSpPr txBox="1"/>
          <p:nvPr/>
        </p:nvSpPr>
        <p:spPr>
          <a:xfrm>
            <a:off x="132080" y="1144270"/>
            <a:ext cx="8879840" cy="398780"/>
          </a:xfrm>
          <a:prstGeom prst="rect">
            <a:avLst/>
          </a:prstGeom>
          <a:solidFill>
            <a:schemeClr val="accent6">
              <a:lumMod val="20000"/>
              <a:lumOff val="80000"/>
            </a:schemeClr>
          </a:solidFill>
          <a:ln w="9525">
            <a:noFill/>
          </a:ln>
        </p:spPr>
        <p:txBody>
          <a:bodyPr wrap="square">
            <a:spAutoFit/>
          </a:bodyPr>
          <a:lstStyle/>
          <a:p>
            <a:pPr marL="228600" indent="-228600"/>
            <a:r>
              <a:rPr lang="zh-CN" sz="2000" b="1">
                <a:solidFill>
                  <a:srgbClr val="000000"/>
                </a:solidFill>
                <a:cs typeface="Times New Roman" panose="02020603050405020304" pitchFamily="18" charset="0"/>
              </a:rPr>
              <a:t>1．</a:t>
            </a:r>
            <a:r>
              <a:rPr lang="en-US" sz="2000" b="1">
                <a:solidFill>
                  <a:srgbClr val="000000"/>
                </a:solidFill>
                <a:latin typeface="Times New Roman" panose="02020603050405020304" pitchFamily="18" charset="0"/>
              </a:rPr>
              <a:t> </a:t>
            </a:r>
            <a:r>
              <a:rPr lang="zh-CN" sz="2000" b="1">
                <a:solidFill>
                  <a:srgbClr val="000000"/>
                </a:solidFill>
                <a:ea typeface="宋体" panose="02010600030101010101" pitchFamily="2" charset="-122"/>
              </a:rPr>
              <a:t>测量扭摆在</a:t>
            </a:r>
            <a:r>
              <a:rPr lang="zh-CN" sz="2000" b="1">
                <a:solidFill>
                  <a:srgbClr val="FF0000"/>
                </a:solidFill>
                <a:ea typeface="宋体" panose="02010600030101010101" pitchFamily="2" charset="-122"/>
              </a:rPr>
              <a:t>自由状态下</a:t>
            </a:r>
            <a:r>
              <a:rPr lang="zh-CN" sz="2000" b="1">
                <a:solidFill>
                  <a:srgbClr val="000000"/>
                </a:solidFill>
                <a:ea typeface="宋体" panose="02010600030101010101" pitchFamily="2" charset="-122"/>
              </a:rPr>
              <a:t>的固有振动频率</a:t>
            </a:r>
            <a:r>
              <a:rPr lang="zh-CN" sz="2000" b="1">
                <a:solidFill>
                  <a:srgbClr val="000000"/>
                </a:solidFill>
                <a:ea typeface="宋体" panose="02010600030101010101" pitchFamily="2" charset="-122"/>
                <a:cs typeface="Arial" panose="020B0604020202020204" pitchFamily="34" charset="0"/>
              </a:rPr>
              <a:t>（</a:t>
            </a:r>
            <a:r>
              <a:rPr lang="zh-CN" sz="2000" b="1">
                <a:solidFill>
                  <a:srgbClr val="FF0000"/>
                </a:solidFill>
                <a:ea typeface="宋体" panose="02010600030101010101" pitchFamily="2" charset="-122"/>
                <a:cs typeface="Arial" panose="020B0604020202020204" pitchFamily="34" charset="0"/>
              </a:rPr>
              <a:t>电脑软件测量</a:t>
            </a:r>
            <a:r>
              <a:rPr lang="zh-CN" sz="2000" b="1">
                <a:solidFill>
                  <a:srgbClr val="000000"/>
                </a:solidFill>
                <a:ea typeface="宋体" panose="02010600030101010101" pitchFamily="2" charset="-122"/>
                <a:cs typeface="Arial" panose="020B0604020202020204" pitchFamily="34" charset="0"/>
              </a:rPr>
              <a:t>）</a:t>
            </a:r>
            <a:endParaRPr lang="zh-CN" altLang="en-US" sz="2000" b="1">
              <a:solidFill>
                <a:srgbClr val="000000"/>
              </a:solidFill>
              <a:ea typeface="宋体" panose="02010600030101010101" pitchFamily="2" charset="-122"/>
              <a:cs typeface="Arial" panose="020B0604020202020204" pitchFamily="34" charset="0"/>
            </a:endParaRPr>
          </a:p>
        </p:txBody>
      </p:sp>
      <p:sp>
        <p:nvSpPr>
          <p:cNvPr id="101" name="文本框 100"/>
          <p:cNvSpPr txBox="1"/>
          <p:nvPr/>
        </p:nvSpPr>
        <p:spPr>
          <a:xfrm>
            <a:off x="593090" y="1617980"/>
            <a:ext cx="8199120" cy="1198880"/>
          </a:xfrm>
          <a:prstGeom prst="rect">
            <a:avLst/>
          </a:prstGeom>
          <a:noFill/>
          <a:ln w="9525">
            <a:noFill/>
          </a:ln>
        </p:spPr>
        <p:txBody>
          <a:bodyPr wrap="square">
            <a:spAutoFit/>
          </a:bodyPr>
          <a:lstStyle/>
          <a:p>
            <a:pPr marL="228600" indent="-228600"/>
            <a:r>
              <a:rPr lang="zh-CN" sz="1800" b="1">
                <a:solidFill>
                  <a:srgbClr val="000000"/>
                </a:solidFill>
                <a:ea typeface="宋体" panose="02010600030101010101" pitchFamily="2" charset="-122"/>
              </a:rPr>
              <a:t>（</a:t>
            </a:r>
            <a:r>
              <a:rPr lang="en-US" sz="1800" b="1">
                <a:solidFill>
                  <a:srgbClr val="000000"/>
                </a:solidFill>
                <a:latin typeface="宋体" panose="02010600030101010101" pitchFamily="2" charset="-122"/>
              </a:rPr>
              <a:t>1</a:t>
            </a:r>
            <a:r>
              <a:rPr lang="zh-CN" sz="1800" b="1">
                <a:solidFill>
                  <a:srgbClr val="000000"/>
                </a:solidFill>
                <a:ea typeface="宋体" panose="02010600030101010101" pitchFamily="2" charset="-122"/>
              </a:rPr>
              <a:t>）阻尼线圈不加电流。用手将扭摆的摆轮转动到某一不太大的初始角度使其偏离平衡位置，记录初始偏转角度。</a:t>
            </a:r>
          </a:p>
          <a:p>
            <a:pPr marL="228600" indent="-228600"/>
            <a:r>
              <a:rPr lang="zh-CN" sz="1800" b="1">
                <a:solidFill>
                  <a:srgbClr val="000000"/>
                </a:solidFill>
                <a:ea typeface="宋体" panose="02010600030101010101" pitchFamily="2" charset="-122"/>
              </a:rPr>
              <a:t>（</a:t>
            </a:r>
            <a:r>
              <a:rPr lang="en-US" sz="1800" b="1">
                <a:solidFill>
                  <a:srgbClr val="000000"/>
                </a:solidFill>
                <a:latin typeface="宋体" panose="02010600030101010101" pitchFamily="2" charset="-122"/>
              </a:rPr>
              <a:t>2</a:t>
            </a:r>
            <a:r>
              <a:rPr lang="zh-CN" sz="1800" b="1">
                <a:solidFill>
                  <a:srgbClr val="000000"/>
                </a:solidFill>
                <a:ea typeface="宋体" panose="02010600030101010101" pitchFamily="2" charset="-122"/>
              </a:rPr>
              <a:t>）</a:t>
            </a:r>
            <a:r>
              <a:rPr lang="zh-CN" sz="1800" b="1">
                <a:solidFill>
                  <a:srgbClr val="000000"/>
                </a:solidFill>
                <a:sym typeface="+mn-ea"/>
              </a:rPr>
              <a:t>选取两种初始角度（小于</a:t>
            </a:r>
            <a:r>
              <a:rPr lang="en-US" sz="1800" b="1">
                <a:solidFill>
                  <a:srgbClr val="000000"/>
                </a:solidFill>
                <a:latin typeface="Times New Roman" panose="02020603050405020304" pitchFamily="18" charset="0"/>
                <a:sym typeface="+mn-ea"/>
              </a:rPr>
              <a:t>50</a:t>
            </a:r>
            <a:r>
              <a:rPr lang="zh-CN" sz="1800" b="1">
                <a:solidFill>
                  <a:srgbClr val="000000"/>
                </a:solidFill>
                <a:sym typeface="+mn-ea"/>
              </a:rPr>
              <a:t>°和大于</a:t>
            </a:r>
            <a:r>
              <a:rPr lang="en-US" sz="1800" b="1">
                <a:solidFill>
                  <a:srgbClr val="000000"/>
                </a:solidFill>
                <a:latin typeface="Times New Roman" panose="02020603050405020304" pitchFamily="18" charset="0"/>
                <a:sym typeface="+mn-ea"/>
              </a:rPr>
              <a:t>50</a:t>
            </a:r>
            <a:r>
              <a:rPr lang="zh-CN" sz="1800" b="1">
                <a:solidFill>
                  <a:srgbClr val="000000"/>
                </a:solidFill>
                <a:sym typeface="+mn-ea"/>
              </a:rPr>
              <a:t>°）</a:t>
            </a:r>
            <a:r>
              <a:rPr lang="zh-CN" sz="1800" b="1">
                <a:solidFill>
                  <a:srgbClr val="000000"/>
                </a:solidFill>
                <a:ea typeface="宋体" panose="02010600030101010101" pitchFamily="2" charset="-122"/>
              </a:rPr>
              <a:t>释放摆轮，让其自由摆动，观察摆动现象，用秒表记录摆轮来回摆动</a:t>
            </a:r>
            <a:r>
              <a:rPr lang="en-US" altLang="zh-CN" sz="1800" b="1">
                <a:solidFill>
                  <a:srgbClr val="000000"/>
                </a:solidFill>
                <a:ea typeface="宋体" panose="02010600030101010101" pitchFamily="2" charset="-122"/>
              </a:rPr>
              <a:t>10</a:t>
            </a:r>
            <a:r>
              <a:rPr lang="zh-CN" sz="1800" b="1">
                <a:solidFill>
                  <a:srgbClr val="000000"/>
                </a:solidFill>
                <a:ea typeface="宋体" panose="02010600030101010101" pitchFamily="2" charset="-122"/>
              </a:rPr>
              <a:t>次后的时间和振幅。</a:t>
            </a:r>
            <a:endParaRPr lang="zh-CN" altLang="en-US" sz="1800" b="1">
              <a:solidFill>
                <a:srgbClr val="000000"/>
              </a:solidFill>
              <a:ea typeface="宋体" panose="02010600030101010101" pitchFamily="2" charset="-122"/>
            </a:endParaRPr>
          </a:p>
        </p:txBody>
      </p:sp>
      <p:graphicFrame>
        <p:nvGraphicFramePr>
          <p:cNvPr id="2" name="表格 1"/>
          <p:cNvGraphicFramePr/>
          <p:nvPr>
            <p:custDataLst>
              <p:tags r:id="rId1"/>
            </p:custDataLst>
          </p:nvPr>
        </p:nvGraphicFramePr>
        <p:xfrm>
          <a:off x="553720" y="2857500"/>
          <a:ext cx="8037195" cy="2285365"/>
        </p:xfrm>
        <a:graphic>
          <a:graphicData uri="http://schemas.openxmlformats.org/drawingml/2006/table">
            <a:tbl>
              <a:tblPr firstRow="1" bandRow="1">
                <a:tableStyleId>{5940675A-B579-460E-94D1-54222C63F5DA}</a:tableStyleId>
              </a:tblPr>
              <a:tblGrid>
                <a:gridCol w="2008505">
                  <a:extLst>
                    <a:ext uri="{9D8B030D-6E8A-4147-A177-3AD203B41FA5}">
                      <a16:colId xmlns:a16="http://schemas.microsoft.com/office/drawing/2014/main" val="20000"/>
                    </a:ext>
                  </a:extLst>
                </a:gridCol>
                <a:gridCol w="2011045">
                  <a:extLst>
                    <a:ext uri="{9D8B030D-6E8A-4147-A177-3AD203B41FA5}">
                      <a16:colId xmlns:a16="http://schemas.microsoft.com/office/drawing/2014/main" val="20001"/>
                    </a:ext>
                  </a:extLst>
                </a:gridCol>
                <a:gridCol w="2007870">
                  <a:extLst>
                    <a:ext uri="{9D8B030D-6E8A-4147-A177-3AD203B41FA5}">
                      <a16:colId xmlns:a16="http://schemas.microsoft.com/office/drawing/2014/main" val="20002"/>
                    </a:ext>
                  </a:extLst>
                </a:gridCol>
                <a:gridCol w="2009775">
                  <a:extLst>
                    <a:ext uri="{9D8B030D-6E8A-4147-A177-3AD203B41FA5}">
                      <a16:colId xmlns:a16="http://schemas.microsoft.com/office/drawing/2014/main" val="20003"/>
                    </a:ext>
                  </a:extLst>
                </a:gridCol>
              </a:tblGrid>
              <a:tr h="387985">
                <a:tc gridSpan="4">
                  <a:txBody>
                    <a:bodyPr/>
                    <a:lstStyle/>
                    <a:p>
                      <a:pPr indent="0">
                        <a:buNone/>
                      </a:pPr>
                      <a:r>
                        <a:rPr lang="en-US" alt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零点角度：</a:t>
                      </a: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387985">
                <a:tc>
                  <a:txBody>
                    <a:bodyPr/>
                    <a:lstStyle/>
                    <a:p>
                      <a:pPr indent="0" algn="ctr">
                        <a:buNone/>
                      </a:pPr>
                      <a:r>
                        <a:rPr 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初始偏转角A0/</a:t>
                      </a:r>
                      <a:r>
                        <a:rPr lang="en-US" sz="1800" b="1" baseline="30000">
                          <a:solidFill>
                            <a:srgbClr val="000000"/>
                          </a:solidFill>
                          <a:latin typeface="宋体" panose="02010600030101010101" pitchFamily="2" charset="-122"/>
                          <a:ea typeface="宋体" panose="02010600030101010101" pitchFamily="2" charset="-122"/>
                          <a:cs typeface="宋体" panose="02010600030101010101" pitchFamily="2" charset="-122"/>
                        </a:rPr>
                        <a:t>o</a:t>
                      </a:r>
                      <a:endParaRPr lang="en-US" altLang="en-US" sz="1800" b="1" baseline="3000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振动时间t/s</a:t>
                      </a:r>
                      <a:endParaRPr lang="en-US" altLang="en-US" sz="18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周期数n</a:t>
                      </a:r>
                      <a:endParaRPr lang="en-US" altLang="en-US" sz="18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结束时振幅An/</a:t>
                      </a:r>
                      <a:r>
                        <a:rPr lang="en-US" sz="1800" b="1" baseline="30000">
                          <a:solidFill>
                            <a:srgbClr val="000000"/>
                          </a:solidFill>
                          <a:latin typeface="宋体" panose="02010600030101010101" pitchFamily="2" charset="-122"/>
                          <a:ea typeface="宋体" panose="02010600030101010101" pitchFamily="2" charset="-122"/>
                          <a:cs typeface="宋体" panose="02010600030101010101" pitchFamily="2" charset="-122"/>
                        </a:rPr>
                        <a:t>o</a:t>
                      </a:r>
                      <a:endParaRPr lang="en-US" altLang="en-US" sz="1800" b="1" baseline="3000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5440">
                <a:tc>
                  <a:txBody>
                    <a:bodyPr/>
                    <a:lstStyle/>
                    <a:p>
                      <a:pPr indent="0" algn="ctr">
                        <a:buNone/>
                      </a:pPr>
                      <a:r>
                        <a:rPr 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45</a:t>
                      </a:r>
                      <a:endParaRPr lang="en-US" altLang="en-US" sz="18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10</a:t>
                      </a:r>
                      <a:endParaRPr lang="en-US" altLang="en-US" sz="18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7985">
                <a:tc>
                  <a:txBody>
                    <a:bodyPr/>
                    <a:lstStyle/>
                    <a:p>
                      <a:pPr indent="0" algn="ctr">
                        <a:buNone/>
                      </a:pPr>
                      <a:r>
                        <a:rPr lang="en-US" alt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60</a:t>
                      </a: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10</a:t>
                      </a:r>
                      <a:endParaRPr lang="en-US" altLang="en-US" sz="18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7985">
                <a:tc>
                  <a:txBody>
                    <a:bodyPr/>
                    <a:lstStyle/>
                    <a:p>
                      <a:pPr indent="0" algn="ctr">
                        <a:buNone/>
                      </a:pPr>
                      <a:r>
                        <a:rPr lang="en-US" alt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75</a:t>
                      </a: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10</a:t>
                      </a: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7985">
                <a:tc>
                  <a:txBody>
                    <a:bodyPr/>
                    <a:lstStyle/>
                    <a:p>
                      <a:pPr indent="0" algn="ctr">
                        <a:buNone/>
                      </a:pPr>
                      <a:r>
                        <a:rPr lang="en-US" alt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90</a:t>
                      </a: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en-US" sz="1800" b="1">
                          <a:solidFill>
                            <a:srgbClr val="000000"/>
                          </a:solidFill>
                          <a:latin typeface="宋体" panose="02010600030101010101" pitchFamily="2" charset="-122"/>
                          <a:ea typeface="宋体" panose="02010600030101010101" pitchFamily="2" charset="-122"/>
                          <a:cs typeface="宋体" panose="02010600030101010101" pitchFamily="2" charset="-122"/>
                        </a:rPr>
                        <a:t>10</a:t>
                      </a: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 name="Rectangle 2"/>
          <p:cNvSpPr>
            <a:spLocks noChangeArrowheads="1"/>
          </p:cNvSpPr>
          <p:nvPr/>
        </p:nvSpPr>
        <p:spPr bwMode="auto">
          <a:xfrm>
            <a:off x="64770" y="5293995"/>
            <a:ext cx="8727440" cy="953135"/>
          </a:xfrm>
          <a:prstGeom prst="rect">
            <a:avLst/>
          </a:prstGeom>
          <a:solidFill>
            <a:schemeClr val="accent6">
              <a:lumMod val="20000"/>
              <a:lumOff val="80000"/>
            </a:schemeClr>
          </a:solidFill>
          <a:ln w="9525">
            <a:noFill/>
            <a:miter lim="800000"/>
          </a:ln>
          <a:effectLst/>
        </p:spPr>
        <p:txBody>
          <a:bodyPr wrap="square" anchor="ctr">
            <a:spAutoFit/>
          </a:bodyPr>
          <a:lstStyle/>
          <a:p>
            <a:pPr algn="l"/>
            <a:r>
              <a:rPr lang="zh-CN" altLang="en-US" sz="2800" b="1" dirty="0">
                <a:solidFill>
                  <a:srgbClr val="000000"/>
                </a:solidFill>
                <a:latin typeface="+mj-ea"/>
                <a:ea typeface="+mj-ea"/>
              </a:rPr>
              <a:t>实验报告：</a:t>
            </a:r>
            <a:r>
              <a:rPr lang="zh-CN" altLang="en-US" sz="2800" b="1" dirty="0">
                <a:solidFill>
                  <a:srgbClr val="FF0000"/>
                </a:solidFill>
                <a:latin typeface="+mj-ea"/>
                <a:ea typeface="+mj-ea"/>
              </a:rPr>
              <a:t>由此表算出振动频率</a:t>
            </a:r>
            <a:r>
              <a:rPr lang="zh-CN" altLang="en-US" sz="2800" b="1" dirty="0">
                <a:solidFill>
                  <a:srgbClr val="FF0000"/>
                </a:solidFill>
                <a:latin typeface="+mj-ea"/>
                <a:ea typeface="+mj-ea"/>
                <a:sym typeface="+mn-ea"/>
              </a:rPr>
              <a:t>讨论振动频率与初始释放角度之间的关系。</a:t>
            </a:r>
            <a:endParaRPr lang="zh-CN" altLang="en-US" sz="2800" b="1" dirty="0">
              <a:solidFill>
                <a:srgbClr val="FF0000"/>
              </a:solidFill>
              <a:latin typeface="+mj-ea"/>
              <a:ea typeface="+mj-ea"/>
            </a:endParaRPr>
          </a:p>
        </p:txBody>
      </p:sp>
      <p:pic>
        <p:nvPicPr>
          <p:cNvPr id="3" name="图片 2" descr="J)F8V_5`EW0}~CS5~]UM3HM"/>
          <p:cNvPicPr>
            <a:picLocks noChangeAspect="1"/>
          </p:cNvPicPr>
          <p:nvPr/>
        </p:nvPicPr>
        <p:blipFill>
          <a:blip r:embed="rId3"/>
          <a:stretch>
            <a:fillRect/>
          </a:stretch>
        </p:blipFill>
        <p:spPr>
          <a:xfrm>
            <a:off x="7086600" y="-99695"/>
            <a:ext cx="2306955" cy="169735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文本框 101"/>
          <p:cNvSpPr txBox="1"/>
          <p:nvPr/>
        </p:nvSpPr>
        <p:spPr>
          <a:xfrm>
            <a:off x="392430" y="997585"/>
            <a:ext cx="8615045" cy="922020"/>
          </a:xfrm>
          <a:prstGeom prst="rect">
            <a:avLst/>
          </a:prstGeom>
          <a:noFill/>
          <a:ln w="9525">
            <a:noFill/>
          </a:ln>
        </p:spPr>
        <p:txBody>
          <a:bodyPr wrap="square">
            <a:spAutoFit/>
          </a:bodyPr>
          <a:lstStyle/>
          <a:p>
            <a:pPr defTabSz="0" eaLnBrk="0" fontAlgn="t" hangingPunct="0"/>
            <a:r>
              <a:rPr lang="en-US" sz="1800" b="1">
                <a:solidFill>
                  <a:srgbClr val="000000"/>
                </a:solidFill>
                <a:latin typeface="宋体" panose="02010600030101010101" pitchFamily="2" charset="-122"/>
              </a:rPr>
              <a:t> </a:t>
            </a:r>
            <a:r>
              <a:rPr lang="zh-CN" sz="1800" b="1">
                <a:solidFill>
                  <a:srgbClr val="000000"/>
                </a:solidFill>
                <a:ea typeface="宋体" panose="02010600030101010101" pitchFamily="2" charset="-122"/>
              </a:rPr>
              <a:t>（电流最大不超过</a:t>
            </a:r>
            <a:r>
              <a:rPr lang="en-US" altLang="zh-CN" sz="1800" b="1">
                <a:solidFill>
                  <a:srgbClr val="000000"/>
                </a:solidFill>
                <a:ea typeface="宋体" panose="02010600030101010101" pitchFamily="2" charset="-122"/>
              </a:rPr>
              <a:t>0.5</a:t>
            </a:r>
            <a:r>
              <a:rPr lang="en-US" sz="1800" b="1">
                <a:solidFill>
                  <a:srgbClr val="000000"/>
                </a:solidFill>
                <a:latin typeface="Times New Roman" panose="02020603050405020304" pitchFamily="18" charset="0"/>
              </a:rPr>
              <a:t>A</a:t>
            </a:r>
            <a:r>
              <a:rPr lang="zh-CN" altLang="en-US" sz="1800" b="1">
                <a:solidFill>
                  <a:srgbClr val="000000"/>
                </a:solidFill>
                <a:latin typeface="Times New Roman" panose="02020603050405020304" pitchFamily="18" charset="0"/>
              </a:rPr>
              <a:t>）</a:t>
            </a:r>
            <a:endParaRPr lang="zh-CN" sz="1800" b="1">
              <a:solidFill>
                <a:srgbClr val="000000"/>
              </a:solidFill>
              <a:ea typeface="宋体" panose="02010600030101010101" pitchFamily="2" charset="-122"/>
            </a:endParaRPr>
          </a:p>
          <a:p>
            <a:pPr defTabSz="0" eaLnBrk="0" fontAlgn="t" hangingPunct="0"/>
            <a:r>
              <a:rPr lang="en-US" sz="1800" b="1">
                <a:solidFill>
                  <a:srgbClr val="000000"/>
                </a:solidFill>
                <a:latin typeface="宋体" panose="02010600030101010101" pitchFamily="2" charset="-122"/>
              </a:rPr>
              <a:t>1</a:t>
            </a:r>
            <a:r>
              <a:rPr lang="zh-CN" sz="1800" b="1">
                <a:solidFill>
                  <a:srgbClr val="000000"/>
                </a:solidFill>
                <a:ea typeface="宋体" panose="02010600030101010101" pitchFamily="2" charset="-122"/>
              </a:rPr>
              <a:t>）转动摆轮使其偏离平衡位置并释放，观察摆动现象，测量并计算阻尼系数。</a:t>
            </a:r>
          </a:p>
          <a:p>
            <a:pPr defTabSz="0" eaLnBrk="0" fontAlgn="t" hangingPunct="0"/>
            <a:r>
              <a:rPr lang="en-US" sz="1800" b="1">
                <a:solidFill>
                  <a:srgbClr val="000000"/>
                </a:solidFill>
                <a:latin typeface="宋体" panose="02010600030101010101" pitchFamily="2" charset="-122"/>
              </a:rPr>
              <a:t> 2</a:t>
            </a:r>
            <a:r>
              <a:rPr lang="zh-CN" sz="1800" b="1">
                <a:solidFill>
                  <a:srgbClr val="000000"/>
                </a:solidFill>
                <a:ea typeface="宋体" panose="02010600030101010101" pitchFamily="2" charset="-122"/>
              </a:rPr>
              <a:t>）在</a:t>
            </a:r>
            <a:r>
              <a:rPr lang="en-US" sz="1800" b="1">
                <a:solidFill>
                  <a:srgbClr val="000000"/>
                </a:solidFill>
                <a:latin typeface="Times New Roman" panose="02020603050405020304" pitchFamily="18" charset="0"/>
              </a:rPr>
              <a:t>0-10V</a:t>
            </a:r>
            <a:r>
              <a:rPr lang="zh-CN" sz="1800" b="1">
                <a:solidFill>
                  <a:srgbClr val="000000"/>
                </a:solidFill>
                <a:ea typeface="宋体" panose="02010600030101010101" pitchFamily="2" charset="-122"/>
              </a:rPr>
              <a:t>间每隔</a:t>
            </a:r>
            <a:r>
              <a:rPr lang="en-US" sz="1800" b="1">
                <a:solidFill>
                  <a:srgbClr val="000000"/>
                </a:solidFill>
                <a:latin typeface="Times New Roman" panose="02020603050405020304" pitchFamily="18" charset="0"/>
              </a:rPr>
              <a:t>1V</a:t>
            </a:r>
            <a:r>
              <a:rPr lang="zh-CN" sz="1800" b="1">
                <a:solidFill>
                  <a:srgbClr val="000000"/>
                </a:solidFill>
                <a:ea typeface="宋体" panose="02010600030101010101" pitchFamily="2" charset="-122"/>
              </a:rPr>
              <a:t>测量不同电压下的阻尼系数，同时记录阻尼电流。</a:t>
            </a:r>
            <a:endParaRPr lang="zh-CN" altLang="en-US" sz="1800" b="1">
              <a:solidFill>
                <a:srgbClr val="000000"/>
              </a:solidFill>
              <a:ea typeface="宋体" panose="02010600030101010101" pitchFamily="2" charset="-122"/>
            </a:endParaRPr>
          </a:p>
        </p:txBody>
      </p:sp>
      <p:sp>
        <p:nvSpPr>
          <p:cNvPr id="2" name="文本框 1"/>
          <p:cNvSpPr txBox="1"/>
          <p:nvPr/>
        </p:nvSpPr>
        <p:spPr>
          <a:xfrm>
            <a:off x="274320" y="561340"/>
            <a:ext cx="6416040" cy="368300"/>
          </a:xfrm>
          <a:prstGeom prst="rect">
            <a:avLst/>
          </a:prstGeom>
          <a:solidFill>
            <a:schemeClr val="accent6">
              <a:lumMod val="20000"/>
              <a:lumOff val="80000"/>
            </a:schemeClr>
          </a:solidFill>
        </p:spPr>
        <p:txBody>
          <a:bodyPr wrap="none" rtlCol="0" anchor="t">
            <a:spAutoFit/>
          </a:bodyPr>
          <a:lstStyle/>
          <a:p>
            <a:r>
              <a:rPr lang="en-US" b="1">
                <a:solidFill>
                  <a:srgbClr val="000000"/>
                </a:solidFill>
                <a:latin typeface="宋体" panose="02010600030101010101" pitchFamily="2" charset="-122"/>
                <a:sym typeface="+mn-ea"/>
              </a:rPr>
              <a:t>2. </a:t>
            </a:r>
            <a:r>
              <a:rPr lang="zh-CN" b="1">
                <a:solidFill>
                  <a:srgbClr val="000000"/>
                </a:solidFill>
                <a:sym typeface="+mn-ea"/>
              </a:rPr>
              <a:t>观察</a:t>
            </a:r>
            <a:r>
              <a:rPr lang="zh-CN" b="1">
                <a:solidFill>
                  <a:srgbClr val="FF0000"/>
                </a:solidFill>
                <a:sym typeface="+mn-ea"/>
              </a:rPr>
              <a:t>阻尼振动</a:t>
            </a:r>
            <a:r>
              <a:rPr lang="zh-CN" b="1">
                <a:solidFill>
                  <a:srgbClr val="000000"/>
                </a:solidFill>
                <a:sym typeface="+mn-ea"/>
              </a:rPr>
              <a:t>现象，测量</a:t>
            </a:r>
            <a:r>
              <a:rPr lang="zh-CN" b="1">
                <a:solidFill>
                  <a:srgbClr val="FF0000"/>
                </a:solidFill>
                <a:sym typeface="+mn-ea"/>
              </a:rPr>
              <a:t>阻尼系数</a:t>
            </a:r>
            <a:r>
              <a:rPr lang="zh-CN" b="1">
                <a:solidFill>
                  <a:srgbClr val="FF0000"/>
                </a:solidFill>
                <a:cs typeface="Arial" panose="020B0604020202020204" pitchFamily="34" charset="0"/>
                <a:sym typeface="+mn-ea"/>
              </a:rPr>
              <a:t>β</a:t>
            </a:r>
            <a:r>
              <a:rPr lang="zh-CN" b="1">
                <a:solidFill>
                  <a:srgbClr val="FF0000"/>
                </a:solidFill>
                <a:sym typeface="+mn-ea"/>
              </a:rPr>
              <a:t>与阻尼电压</a:t>
            </a:r>
            <a:r>
              <a:rPr lang="zh-CN" b="1">
                <a:solidFill>
                  <a:srgbClr val="000000"/>
                </a:solidFill>
                <a:sym typeface="+mn-ea"/>
              </a:rPr>
              <a:t>的变化关系</a:t>
            </a:r>
            <a:endParaRPr lang="zh-CN" altLang="en-US" b="1">
              <a:solidFill>
                <a:srgbClr val="000000"/>
              </a:solidFill>
              <a:sym typeface="+mn-ea"/>
            </a:endParaRPr>
          </a:p>
        </p:txBody>
      </p:sp>
      <p:graphicFrame>
        <p:nvGraphicFramePr>
          <p:cNvPr id="3" name="表格 2"/>
          <p:cNvGraphicFramePr/>
          <p:nvPr>
            <p:custDataLst>
              <p:tags r:id="rId1"/>
            </p:custDataLst>
          </p:nvPr>
        </p:nvGraphicFramePr>
        <p:xfrm>
          <a:off x="709930" y="2180590"/>
          <a:ext cx="7503795" cy="2926080"/>
        </p:xfrm>
        <a:graphic>
          <a:graphicData uri="http://schemas.openxmlformats.org/drawingml/2006/table">
            <a:tbl>
              <a:tblPr firstRow="1" bandRow="1">
                <a:tableStyleId>{5940675A-B579-460E-94D1-54222C63F5DA}</a:tableStyleId>
              </a:tblPr>
              <a:tblGrid>
                <a:gridCol w="1043305">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gridCol w="1442085">
                  <a:extLst>
                    <a:ext uri="{9D8B030D-6E8A-4147-A177-3AD203B41FA5}">
                      <a16:colId xmlns:a16="http://schemas.microsoft.com/office/drawing/2014/main" val="20002"/>
                    </a:ext>
                  </a:extLst>
                </a:gridCol>
                <a:gridCol w="1196340">
                  <a:extLst>
                    <a:ext uri="{9D8B030D-6E8A-4147-A177-3AD203B41FA5}">
                      <a16:colId xmlns:a16="http://schemas.microsoft.com/office/drawing/2014/main" val="20003"/>
                    </a:ext>
                  </a:extLst>
                </a:gridCol>
                <a:gridCol w="1193800">
                  <a:extLst>
                    <a:ext uri="{9D8B030D-6E8A-4147-A177-3AD203B41FA5}">
                      <a16:colId xmlns:a16="http://schemas.microsoft.com/office/drawing/2014/main" val="20004"/>
                    </a:ext>
                  </a:extLst>
                </a:gridCol>
                <a:gridCol w="1523365">
                  <a:extLst>
                    <a:ext uri="{9D8B030D-6E8A-4147-A177-3AD203B41FA5}">
                      <a16:colId xmlns:a16="http://schemas.microsoft.com/office/drawing/2014/main" val="20005"/>
                    </a:ext>
                  </a:extLst>
                </a:gridCol>
              </a:tblGrid>
              <a:tr h="247650">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电压U</a:t>
                      </a:r>
                      <a:r>
                        <a:rPr lang="en-US" sz="2400" b="1">
                          <a:solidFill>
                            <a:srgbClr val="000000"/>
                          </a:solidFill>
                          <a:latin typeface="Times New Roman" panose="02020603050405020304" pitchFamily="18" charset="0"/>
                        </a:rPr>
                        <a:t>/V</a:t>
                      </a:r>
                      <a:endParaRPr lang="en-US" altLang="en-US" sz="2400" b="1">
                        <a:solidFill>
                          <a:srgbClr val="000000"/>
                        </a:solidFill>
                        <a:latin typeface="Times New Roman" panose="02020603050405020304" pitchFamily="18" charset="0"/>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电</a:t>
                      </a:r>
                      <a:r>
                        <a:rPr lang="zh-CN" altLang="en-US" sz="2400" b="1">
                          <a:solidFill>
                            <a:srgbClr val="000000"/>
                          </a:solidFill>
                          <a:latin typeface="仿宋" panose="02010609060101010101" charset="-122"/>
                          <a:ea typeface="仿宋" panose="02010609060101010101" charset="-122"/>
                          <a:cs typeface="仿宋" panose="02010609060101010101" charset="-122"/>
                        </a:rPr>
                        <a:t>流</a:t>
                      </a:r>
                      <a:r>
                        <a:rPr lang="en-US" sz="2400" b="1">
                          <a:solidFill>
                            <a:srgbClr val="000000"/>
                          </a:solidFill>
                          <a:latin typeface="仿宋" panose="02010609060101010101" charset="-122"/>
                          <a:ea typeface="仿宋" panose="02010609060101010101" charset="-122"/>
                          <a:cs typeface="仿宋" panose="02010609060101010101" charset="-122"/>
                        </a:rPr>
                        <a:t>I</a:t>
                      </a:r>
                      <a:r>
                        <a:rPr lang="en-US" sz="2400" b="1">
                          <a:solidFill>
                            <a:srgbClr val="000000"/>
                          </a:solidFill>
                          <a:latin typeface="Times New Roman" panose="02020603050405020304" pitchFamily="18" charset="0"/>
                        </a:rPr>
                        <a:t>/V</a:t>
                      </a:r>
                      <a:endParaRPr lang="en-US" altLang="en-US" sz="2400" b="1">
                        <a:solidFill>
                          <a:srgbClr val="000000"/>
                        </a:solidFill>
                        <a:latin typeface="Times New Roman" panose="02020603050405020304" pitchFamily="18" charset="0"/>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初始偏转角A0/</a:t>
                      </a:r>
                      <a:r>
                        <a:rPr lang="en-US" sz="2400" b="1" baseline="30000">
                          <a:solidFill>
                            <a:srgbClr val="000000"/>
                          </a:solidFill>
                          <a:latin typeface="仿宋" panose="02010609060101010101" charset="-122"/>
                          <a:ea typeface="仿宋" panose="02010609060101010101" charset="-122"/>
                          <a:cs typeface="仿宋" panose="02010609060101010101" charset="-122"/>
                        </a:rPr>
                        <a:t>o</a:t>
                      </a:r>
                      <a:endParaRPr lang="en-US" altLang="en-US" sz="2400" b="1" baseline="30000">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振动时间t/s</a:t>
                      </a: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周期数n</a:t>
                      </a: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结束时振幅An/</a:t>
                      </a:r>
                      <a:r>
                        <a:rPr lang="en-US" sz="2400" b="1" baseline="30000">
                          <a:solidFill>
                            <a:srgbClr val="000000"/>
                          </a:solidFill>
                          <a:latin typeface="仿宋" panose="02010609060101010101" charset="-122"/>
                          <a:ea typeface="仿宋" panose="02010609060101010101" charset="-122"/>
                          <a:cs typeface="仿宋" panose="02010609060101010101" charset="-122"/>
                        </a:rPr>
                        <a:t>o</a:t>
                      </a:r>
                      <a:endParaRPr lang="en-US" altLang="en-US" sz="2400" b="1" baseline="30000">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0670">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0</a:t>
                      </a: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60.0</a:t>
                      </a: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10</a:t>
                      </a: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6700">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1</a:t>
                      </a: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60.0</a:t>
                      </a: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10</a:t>
                      </a: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60">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3</a:t>
                      </a: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60.0</a:t>
                      </a: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10</a:t>
                      </a: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7335">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5</a:t>
                      </a: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60.0</a:t>
                      </a: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10</a:t>
                      </a: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6700">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7</a:t>
                      </a: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60.0</a:t>
                      </a: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10</a:t>
                      </a: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66700">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9</a:t>
                      </a: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60.0</a:t>
                      </a: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400" b="1">
                          <a:solidFill>
                            <a:srgbClr val="000000"/>
                          </a:solidFill>
                          <a:latin typeface="仿宋" panose="02010609060101010101" charset="-122"/>
                          <a:ea typeface="仿宋" panose="02010609060101010101" charset="-122"/>
                          <a:cs typeface="仿宋" panose="02010609060101010101" charset="-122"/>
                        </a:rPr>
                        <a:t>10</a:t>
                      </a: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1">
                        <a:solidFill>
                          <a:srgbClr val="000000"/>
                        </a:solidFill>
                        <a:latin typeface="仿宋" panose="02010609060101010101" charset="-122"/>
                        <a:ea typeface="仿宋" panose="02010609060101010101" charset="-122"/>
                        <a:cs typeface="仿宋" panose="0201060906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4" name="Rectangle 2"/>
          <p:cNvSpPr>
            <a:spLocks noChangeArrowheads="1"/>
          </p:cNvSpPr>
          <p:nvPr/>
        </p:nvSpPr>
        <p:spPr bwMode="auto">
          <a:xfrm>
            <a:off x="189865" y="5368925"/>
            <a:ext cx="8441690" cy="953135"/>
          </a:xfrm>
          <a:prstGeom prst="rect">
            <a:avLst/>
          </a:prstGeom>
          <a:noFill/>
          <a:ln w="9525">
            <a:noFill/>
            <a:miter lim="800000"/>
          </a:ln>
          <a:effectLst/>
        </p:spPr>
        <p:txBody>
          <a:bodyPr wrap="square" anchor="ctr">
            <a:spAutoFit/>
          </a:bodyPr>
          <a:lstStyle/>
          <a:p>
            <a:pPr algn="l"/>
            <a:r>
              <a:rPr lang="zh-CN" altLang="en-US" sz="2800" b="1" dirty="0">
                <a:solidFill>
                  <a:srgbClr val="000000"/>
                </a:solidFill>
                <a:latin typeface="+mj-ea"/>
                <a:ea typeface="+mj-ea"/>
              </a:rPr>
              <a:t>实验报告：</a:t>
            </a:r>
            <a:r>
              <a:rPr lang="zh-CN" altLang="en-US" sz="2800" b="1" dirty="0">
                <a:solidFill>
                  <a:srgbClr val="FF0000"/>
                </a:solidFill>
                <a:latin typeface="+mj-ea"/>
                <a:ea typeface="+mj-ea"/>
              </a:rPr>
              <a:t>由此表算出振动频率和阻尼系数，并得出阻尼系数与阻尼电压的关系曲线</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文本框 101"/>
          <p:cNvSpPr txBox="1"/>
          <p:nvPr/>
        </p:nvSpPr>
        <p:spPr>
          <a:xfrm>
            <a:off x="233045" y="819785"/>
            <a:ext cx="8998585" cy="1476375"/>
          </a:xfrm>
          <a:prstGeom prst="rect">
            <a:avLst/>
          </a:prstGeom>
          <a:noFill/>
          <a:ln w="9525">
            <a:noFill/>
          </a:ln>
        </p:spPr>
        <p:txBody>
          <a:bodyPr wrap="square">
            <a:spAutoFit/>
          </a:bodyPr>
          <a:lstStyle/>
          <a:p>
            <a:pPr marL="228600" indent="-228600"/>
            <a:r>
              <a:rPr lang="en-US" sz="1800" b="1">
                <a:solidFill>
                  <a:srgbClr val="000000"/>
                </a:solidFill>
                <a:latin typeface="宋体" panose="02010600030101010101" pitchFamily="2" charset="-122"/>
              </a:rPr>
              <a:t>  1</a:t>
            </a:r>
            <a:r>
              <a:rPr lang="zh-CN" sz="1800" b="1">
                <a:solidFill>
                  <a:srgbClr val="000000"/>
                </a:solidFill>
                <a:ea typeface="宋体" panose="02010600030101010101" pitchFamily="2" charset="-122"/>
              </a:rPr>
              <a:t>）调速旋钮为一个十圈精密可调电位器。先将旋钮逆时针调到底，用秒表记录驱动电机转动若干周期的时间，计算驱动电机转动频率，即为驱动力矩的频率。</a:t>
            </a:r>
          </a:p>
          <a:p>
            <a:pPr marL="228600" indent="-228600"/>
            <a:r>
              <a:rPr lang="en-US" sz="1800" b="1">
                <a:solidFill>
                  <a:srgbClr val="000000"/>
                </a:solidFill>
                <a:latin typeface="宋体" panose="02010600030101010101" pitchFamily="2" charset="-122"/>
              </a:rPr>
              <a:t>2</a:t>
            </a:r>
            <a:r>
              <a:rPr lang="zh-CN" sz="1800" b="1">
                <a:solidFill>
                  <a:srgbClr val="000000"/>
                </a:solidFill>
                <a:ea typeface="宋体" panose="02010600030101010101" pitchFamily="2" charset="-122"/>
              </a:rPr>
              <a:t>）顺时针转动驱动力矩调速旋钮，每隔半圈测量一次驱动力矩的频率，共需测量</a:t>
            </a:r>
            <a:r>
              <a:rPr lang="en-US" sz="1800" b="1">
                <a:solidFill>
                  <a:srgbClr val="000000"/>
                </a:solidFill>
                <a:latin typeface="Times New Roman" panose="02020603050405020304" pitchFamily="18" charset="0"/>
              </a:rPr>
              <a:t>10</a:t>
            </a:r>
            <a:r>
              <a:rPr lang="zh-CN" sz="1800" b="1">
                <a:solidFill>
                  <a:srgbClr val="000000"/>
                </a:solidFill>
                <a:ea typeface="宋体" panose="02010600030101010101" pitchFamily="2" charset="-122"/>
              </a:rPr>
              <a:t>个位置。作驱动力频率与调速旋钮位置的关系曲线。频率应覆盖扭摆的固有振动频率</a:t>
            </a:r>
            <a:r>
              <a:rPr lang="zh-CN" sz="1800" b="1">
                <a:solidFill>
                  <a:srgbClr val="FF0000"/>
                </a:solidFill>
                <a:sym typeface="+mn-ea"/>
              </a:rPr>
              <a:t>（实验时注意棉线的位置，保持传感器转盘和摆轮共面，否则数据有误）</a:t>
            </a:r>
            <a:r>
              <a:rPr lang="zh-CN" sz="1800" b="1">
                <a:solidFill>
                  <a:srgbClr val="000000"/>
                </a:solidFill>
                <a:ea typeface="宋体" panose="02010600030101010101" pitchFamily="2" charset="-122"/>
              </a:rPr>
              <a:t>。</a:t>
            </a:r>
            <a:endParaRPr lang="zh-CN" altLang="en-US" sz="1800" b="1">
              <a:solidFill>
                <a:srgbClr val="000000"/>
              </a:solidFill>
              <a:ea typeface="宋体" panose="02010600030101010101" pitchFamily="2" charset="-122"/>
            </a:endParaRPr>
          </a:p>
        </p:txBody>
      </p:sp>
      <p:sp>
        <p:nvSpPr>
          <p:cNvPr id="2" name="文本框 1"/>
          <p:cNvSpPr txBox="1"/>
          <p:nvPr/>
        </p:nvSpPr>
        <p:spPr>
          <a:xfrm>
            <a:off x="24130" y="400050"/>
            <a:ext cx="7838440" cy="368300"/>
          </a:xfrm>
          <a:prstGeom prst="rect">
            <a:avLst/>
          </a:prstGeom>
          <a:solidFill>
            <a:schemeClr val="accent6">
              <a:lumMod val="20000"/>
              <a:lumOff val="80000"/>
            </a:schemeClr>
          </a:solidFill>
        </p:spPr>
        <p:txBody>
          <a:bodyPr wrap="none" rtlCol="0" anchor="t">
            <a:spAutoFit/>
          </a:bodyPr>
          <a:lstStyle/>
          <a:p>
            <a:pPr algn="l"/>
            <a:r>
              <a:rPr lang="en-US" altLang="zh-CN" b="1">
                <a:solidFill>
                  <a:srgbClr val="000000"/>
                </a:solidFill>
                <a:cs typeface="Times New Roman" panose="02020603050405020304" pitchFamily="18" charset="0"/>
                <a:sym typeface="+mn-ea"/>
              </a:rPr>
              <a:t>3</a:t>
            </a:r>
            <a:r>
              <a:rPr lang="zh-CN" b="1">
                <a:solidFill>
                  <a:srgbClr val="000000"/>
                </a:solidFill>
                <a:cs typeface="Times New Roman" panose="02020603050405020304" pitchFamily="18" charset="0"/>
                <a:sym typeface="+mn-ea"/>
              </a:rPr>
              <a:t>．</a:t>
            </a:r>
            <a:r>
              <a:rPr lang="en-US" b="1">
                <a:solidFill>
                  <a:srgbClr val="000000"/>
                </a:solidFill>
                <a:latin typeface="Times New Roman" panose="02020603050405020304" pitchFamily="18" charset="0"/>
                <a:sym typeface="+mn-ea"/>
              </a:rPr>
              <a:t> </a:t>
            </a:r>
            <a:r>
              <a:rPr lang="en-US" b="1">
                <a:solidFill>
                  <a:srgbClr val="000000"/>
                </a:solidFill>
                <a:latin typeface="宋体" panose="02010600030101010101" pitchFamily="2" charset="-122"/>
                <a:sym typeface="+mn-ea"/>
              </a:rPr>
              <a:t> </a:t>
            </a:r>
            <a:r>
              <a:rPr lang="zh-CN" b="1">
                <a:solidFill>
                  <a:srgbClr val="000000"/>
                </a:solidFill>
                <a:sym typeface="+mn-ea"/>
              </a:rPr>
              <a:t>观测共振现象，测量调速旋钮位置与简谐驱动力矩频率之间的变化关系</a:t>
            </a:r>
            <a:endParaRPr lang="zh-CN" altLang="en-US"/>
          </a:p>
        </p:txBody>
      </p:sp>
      <p:graphicFrame>
        <p:nvGraphicFramePr>
          <p:cNvPr id="3" name="表格 2"/>
          <p:cNvGraphicFramePr/>
          <p:nvPr>
            <p:custDataLst>
              <p:tags r:id="rId1"/>
            </p:custDataLst>
          </p:nvPr>
        </p:nvGraphicFramePr>
        <p:xfrm>
          <a:off x="1103630" y="2298065"/>
          <a:ext cx="6382385" cy="3169920"/>
        </p:xfrm>
        <a:graphic>
          <a:graphicData uri="http://schemas.openxmlformats.org/drawingml/2006/table">
            <a:tbl>
              <a:tblPr firstRow="1" bandRow="1">
                <a:tableStyleId>{5940675A-B579-460E-94D1-54222C63F5DA}</a:tableStyleId>
              </a:tblPr>
              <a:tblGrid>
                <a:gridCol w="1594485">
                  <a:extLst>
                    <a:ext uri="{9D8B030D-6E8A-4147-A177-3AD203B41FA5}">
                      <a16:colId xmlns:a16="http://schemas.microsoft.com/office/drawing/2014/main" val="20000"/>
                    </a:ext>
                  </a:extLst>
                </a:gridCol>
                <a:gridCol w="1597025">
                  <a:extLst>
                    <a:ext uri="{9D8B030D-6E8A-4147-A177-3AD203B41FA5}">
                      <a16:colId xmlns:a16="http://schemas.microsoft.com/office/drawing/2014/main" val="20001"/>
                    </a:ext>
                  </a:extLst>
                </a:gridCol>
                <a:gridCol w="1594485">
                  <a:extLst>
                    <a:ext uri="{9D8B030D-6E8A-4147-A177-3AD203B41FA5}">
                      <a16:colId xmlns:a16="http://schemas.microsoft.com/office/drawing/2014/main" val="20002"/>
                    </a:ext>
                  </a:extLst>
                </a:gridCol>
                <a:gridCol w="1596390">
                  <a:extLst>
                    <a:ext uri="{9D8B030D-6E8A-4147-A177-3AD203B41FA5}">
                      <a16:colId xmlns:a16="http://schemas.microsoft.com/office/drawing/2014/main" val="20003"/>
                    </a:ext>
                  </a:extLst>
                </a:gridCol>
              </a:tblGrid>
              <a:tr h="153035">
                <a:tc gridSpan="4">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阻尼电压：10V 驱动电压：15.00V</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182880">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旋转位置</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时间t/s</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周期数n</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振幅An/</a:t>
                      </a:r>
                      <a:r>
                        <a:rPr lang="en-US" sz="1600" b="1" baseline="30000">
                          <a:solidFill>
                            <a:srgbClr val="000000"/>
                          </a:solidFill>
                          <a:latin typeface="宋体" panose="02010600030101010101" pitchFamily="2" charset="-122"/>
                          <a:ea typeface="宋体" panose="02010600030101010101" pitchFamily="2" charset="-122"/>
                          <a:cs typeface="宋体" panose="02010600030101010101" pitchFamily="2" charset="-122"/>
                        </a:rPr>
                        <a:t>o</a:t>
                      </a:r>
                      <a:endParaRPr lang="en-US" altLang="en-US" sz="1600" b="1" baseline="3000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3840">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0.0</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10</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2880">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1.0</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10</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2880">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2.0</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10</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2880">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3.0</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10</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2880">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4.0</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10</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82880">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5.0</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10</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82880">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6.0</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10</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82880">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7.0</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10</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82880">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8.0</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10</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182880">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10</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182880">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10</a:t>
                      </a: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4" name="Rectangle 2"/>
          <p:cNvSpPr>
            <a:spLocks noChangeArrowheads="1"/>
          </p:cNvSpPr>
          <p:nvPr/>
        </p:nvSpPr>
        <p:spPr bwMode="auto">
          <a:xfrm>
            <a:off x="182245" y="5561965"/>
            <a:ext cx="8886825" cy="953135"/>
          </a:xfrm>
          <a:prstGeom prst="rect">
            <a:avLst/>
          </a:prstGeom>
          <a:noFill/>
          <a:ln w="9525">
            <a:noFill/>
            <a:miter lim="800000"/>
          </a:ln>
          <a:effectLst/>
        </p:spPr>
        <p:txBody>
          <a:bodyPr wrap="square" anchor="ctr">
            <a:spAutoFit/>
          </a:bodyPr>
          <a:lstStyle/>
          <a:p>
            <a:pPr algn="l"/>
            <a:r>
              <a:rPr lang="zh-CN" altLang="en-US" sz="2800" b="1" dirty="0">
                <a:solidFill>
                  <a:srgbClr val="000000"/>
                </a:solidFill>
                <a:latin typeface="+mj-ea"/>
                <a:ea typeface="+mj-ea"/>
              </a:rPr>
              <a:t>实验报告：</a:t>
            </a:r>
            <a:r>
              <a:rPr lang="zh-CN" altLang="en-US" sz="2800" b="1" dirty="0">
                <a:solidFill>
                  <a:srgbClr val="FF0000"/>
                </a:solidFill>
                <a:latin typeface="+mj-ea"/>
                <a:ea typeface="+mj-ea"/>
              </a:rPr>
              <a:t>由此表算出振动频率及共振频率，并得出频率与旋转位置的关系曲线。</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文本框 101"/>
          <p:cNvSpPr txBox="1"/>
          <p:nvPr/>
        </p:nvSpPr>
        <p:spPr>
          <a:xfrm>
            <a:off x="-59690" y="550545"/>
            <a:ext cx="9161780" cy="1198880"/>
          </a:xfrm>
          <a:prstGeom prst="rect">
            <a:avLst/>
          </a:prstGeom>
          <a:noFill/>
          <a:ln w="9525">
            <a:noFill/>
          </a:ln>
        </p:spPr>
        <p:txBody>
          <a:bodyPr wrap="square">
            <a:spAutoFit/>
          </a:bodyPr>
          <a:lstStyle/>
          <a:p>
            <a:pPr indent="269240" algn="l">
              <a:buClrTx/>
              <a:buSzTx/>
              <a:buFontTx/>
            </a:pPr>
            <a:endParaRPr lang="zh-CN" sz="1800" b="1">
              <a:solidFill>
                <a:srgbClr val="000000"/>
              </a:solidFill>
              <a:ea typeface="宋体" panose="02010600030101010101" pitchFamily="2" charset="-122"/>
            </a:endParaRPr>
          </a:p>
          <a:p>
            <a:pPr indent="269240" algn="l">
              <a:buClrTx/>
              <a:buSzTx/>
              <a:buFontTx/>
            </a:pPr>
            <a:r>
              <a:rPr lang="en-US" sz="1800" b="1">
                <a:solidFill>
                  <a:srgbClr val="000000"/>
                </a:solidFill>
                <a:latin typeface="宋体" panose="02010600030101010101" pitchFamily="2" charset="-122"/>
              </a:rPr>
              <a:t>   3</a:t>
            </a:r>
            <a:r>
              <a:rPr lang="zh-CN" sz="1800" b="1">
                <a:solidFill>
                  <a:srgbClr val="000000"/>
                </a:solidFill>
                <a:ea typeface="宋体" panose="02010600030101010101" pitchFamily="2" charset="-122"/>
              </a:rPr>
              <a:t>）根据式（</a:t>
            </a:r>
            <a:r>
              <a:rPr lang="en-US" sz="1800" b="1">
                <a:solidFill>
                  <a:srgbClr val="000000"/>
                </a:solidFill>
                <a:latin typeface="Times New Roman" panose="02020603050405020304" pitchFamily="18" charset="0"/>
              </a:rPr>
              <a:t>5</a:t>
            </a:r>
            <a:r>
              <a:rPr lang="zh-CN" sz="1800" b="1">
                <a:solidFill>
                  <a:srgbClr val="000000"/>
                </a:solidFill>
                <a:ea typeface="宋体" panose="02010600030101010101" pitchFamily="2" charset="-122"/>
              </a:rPr>
              <a:t>）计算不同频率下的相位差，并以</a:t>
            </a:r>
            <a:r>
              <a:rPr lang="zh-CN" sz="1800" b="1">
                <a:solidFill>
                  <a:srgbClr val="000000"/>
                </a:solidFill>
                <a:sym typeface="+mn-ea"/>
              </a:rPr>
              <a:t>为</a:t>
            </a:r>
            <a:r>
              <a:rPr lang="zh-CN" sz="1800" b="1">
                <a:solidFill>
                  <a:srgbClr val="000000"/>
                </a:solidFill>
                <a:cs typeface="Arial" panose="020B0604020202020204" pitchFamily="34" charset="0"/>
                <a:sym typeface="+mn-ea"/>
              </a:rPr>
              <a:t>ω</a:t>
            </a:r>
            <a:r>
              <a:rPr lang="en-US" altLang="zh-CN" sz="1800" b="1">
                <a:solidFill>
                  <a:srgbClr val="000000"/>
                </a:solidFill>
                <a:cs typeface="Arial" panose="020B0604020202020204" pitchFamily="34" charset="0"/>
                <a:sym typeface="+mn-ea"/>
              </a:rPr>
              <a:t>/ω</a:t>
            </a:r>
            <a:r>
              <a:rPr lang="en-US" altLang="zh-CN" sz="1200" b="1">
                <a:solidFill>
                  <a:srgbClr val="000000"/>
                </a:solidFill>
                <a:cs typeface="Arial" panose="020B0604020202020204" pitchFamily="34" charset="0"/>
                <a:sym typeface="+mn-ea"/>
              </a:rPr>
              <a:t>0</a:t>
            </a:r>
            <a:r>
              <a:rPr lang="zh-CN" sz="1800" b="1">
                <a:solidFill>
                  <a:srgbClr val="000000"/>
                </a:solidFill>
                <a:sym typeface="+mn-ea"/>
              </a:rPr>
              <a:t>横坐标，振幅和相位差为纵坐标，分别画出受迫振动的幅频特性曲线和相频特性曲线。由曲线找出共振频率，并与由内容1测得的固有振动频率对比。</a:t>
            </a:r>
          </a:p>
        </p:txBody>
      </p:sp>
      <p:grpSp>
        <p:nvGrpSpPr>
          <p:cNvPr id="124040" name="组合 124039"/>
          <p:cNvGrpSpPr/>
          <p:nvPr/>
        </p:nvGrpSpPr>
        <p:grpSpPr>
          <a:xfrm>
            <a:off x="1522095" y="2179955"/>
            <a:ext cx="6110605" cy="2863215"/>
            <a:chOff x="2171" y="2642"/>
            <a:chExt cx="3185" cy="1491"/>
          </a:xfrm>
        </p:grpSpPr>
        <p:pic>
          <p:nvPicPr>
            <p:cNvPr id="124037" name="图片 124036"/>
            <p:cNvPicPr>
              <a:picLocks noChangeAspect="1"/>
            </p:cNvPicPr>
            <p:nvPr/>
          </p:nvPicPr>
          <p:blipFill>
            <a:blip r:embed="rId2"/>
            <a:srcRect l="5536" t="19243" r="32776" b="17815"/>
            <a:stretch>
              <a:fillRect/>
            </a:stretch>
          </p:blipFill>
          <p:spPr>
            <a:xfrm>
              <a:off x="3759" y="2642"/>
              <a:ext cx="1597" cy="1489"/>
            </a:xfrm>
            <a:prstGeom prst="rect">
              <a:avLst/>
            </a:prstGeom>
            <a:noFill/>
            <a:ln w="9525" cap="flat" cmpd="sng">
              <a:solidFill>
                <a:srgbClr val="FF3300"/>
              </a:solidFill>
              <a:prstDash val="solid"/>
              <a:miter/>
              <a:headEnd type="none" w="med" len="med"/>
              <a:tailEnd type="none" w="med" len="med"/>
            </a:ln>
          </p:spPr>
        </p:pic>
        <p:pic>
          <p:nvPicPr>
            <p:cNvPr id="7" name="图片 6"/>
            <p:cNvPicPr>
              <a:picLocks noChangeAspect="1"/>
            </p:cNvPicPr>
            <p:nvPr/>
          </p:nvPicPr>
          <p:blipFill>
            <a:blip r:embed="rId3"/>
            <a:srcRect l="5020" t="19046" r="32259" b="16142"/>
            <a:stretch>
              <a:fillRect/>
            </a:stretch>
          </p:blipFill>
          <p:spPr>
            <a:xfrm>
              <a:off x="2171" y="2642"/>
              <a:ext cx="1597" cy="1491"/>
            </a:xfrm>
            <a:prstGeom prst="rect">
              <a:avLst/>
            </a:prstGeom>
            <a:noFill/>
            <a:ln w="9525" cap="flat" cmpd="sng">
              <a:solidFill>
                <a:srgbClr val="FF3300"/>
              </a:solidFill>
              <a:prstDash val="solid"/>
              <a:miter/>
              <a:headEnd type="none" w="med" len="med"/>
              <a:tailEnd type="none" w="med" len="me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24040"/>
                                        </p:tgtEl>
                                        <p:attrNameLst>
                                          <p:attrName>style.visibility</p:attrName>
                                        </p:attrNameLst>
                                      </p:cBhvr>
                                      <p:to>
                                        <p:strVal val="visible"/>
                                      </p:to>
                                    </p:set>
                                    <p:animEffect transition="in" filter="box(in)">
                                      <p:cBhvr>
                                        <p:cTn id="7" dur="500"/>
                                        <p:tgtEl>
                                          <p:spTgt spid="1240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5"/>
          <p:cNvSpPr>
            <a:spLocks noChangeArrowheads="1"/>
          </p:cNvSpPr>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20487" name="Rectangle 7"/>
          <p:cNvSpPr>
            <a:spLocks noChangeArrowheads="1"/>
          </p:cNvSpPr>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20489" name="Rectangle 9"/>
          <p:cNvSpPr>
            <a:spLocks noChangeArrowheads="1"/>
          </p:cNvSpPr>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9" name="Rectangle 10"/>
          <p:cNvSpPr>
            <a:spLocks noChangeArrowheads="1"/>
          </p:cNvSpPr>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10" name="Rectangle 5"/>
          <p:cNvSpPr>
            <a:spLocks noChangeArrowheads="1"/>
          </p:cNvSpPr>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11" name="Rectangle 4"/>
          <p:cNvSpPr>
            <a:spLocks noChangeArrowheads="1"/>
          </p:cNvSpPr>
          <p:nvPr/>
        </p:nvSpPr>
        <p:spPr bwMode="ltGray">
          <a:xfrm>
            <a:off x="0" y="617518"/>
            <a:ext cx="9144000" cy="25400"/>
          </a:xfrm>
          <a:prstGeom prst="rect">
            <a:avLst/>
          </a:prstGeom>
          <a:gradFill rotWithShape="1">
            <a:gsLst>
              <a:gs pos="0">
                <a:srgbClr val="530C13"/>
              </a:gs>
              <a:gs pos="50000">
                <a:srgbClr val="B31928"/>
              </a:gs>
              <a:gs pos="100000">
                <a:srgbClr val="530C13"/>
              </a:gs>
            </a:gsLst>
            <a:lin ang="5400000" scaled="1"/>
          </a:gradFill>
          <a:ln w="9525" algn="ctr">
            <a:noFill/>
            <a:miter lim="800000"/>
          </a:ln>
        </p:spPr>
        <p:txBody>
          <a:bodyPr wrap="none" anchor="ctr"/>
          <a:lstStyle/>
          <a:p>
            <a:pPr algn="ctr"/>
            <a:endParaRPr lang="zh-CN" altLang="zh-CN" sz="2000" b="0">
              <a:latin typeface="Verdana" panose="020B0604030504040204" pitchFamily="34" charset="0"/>
            </a:endParaRPr>
          </a:p>
        </p:txBody>
      </p:sp>
      <p:sp>
        <p:nvSpPr>
          <p:cNvPr id="12" name="Rectangle 5"/>
          <p:cNvSpPr>
            <a:spLocks noChangeArrowheads="1"/>
          </p:cNvSpPr>
          <p:nvPr/>
        </p:nvSpPr>
        <p:spPr bwMode="ltGray">
          <a:xfrm>
            <a:off x="0" y="541318"/>
            <a:ext cx="9144000" cy="25400"/>
          </a:xfrm>
          <a:prstGeom prst="rect">
            <a:avLst/>
          </a:prstGeom>
          <a:gradFill rotWithShape="1">
            <a:gsLst>
              <a:gs pos="0">
                <a:srgbClr val="530C13"/>
              </a:gs>
              <a:gs pos="50000">
                <a:srgbClr val="B31928"/>
              </a:gs>
              <a:gs pos="100000">
                <a:srgbClr val="530C13"/>
              </a:gs>
            </a:gsLst>
            <a:lin ang="5400000" scaled="1"/>
          </a:gradFill>
          <a:ln w="9525" algn="ctr">
            <a:noFill/>
            <a:miter lim="800000"/>
          </a:ln>
        </p:spPr>
        <p:txBody>
          <a:bodyPr wrap="none" anchor="ctr"/>
          <a:lstStyle/>
          <a:p>
            <a:pPr algn="ctr"/>
            <a:endParaRPr lang="zh-CN" altLang="zh-CN" sz="2000" b="0">
              <a:latin typeface="Verdana" panose="020B0604030504040204" pitchFamily="34" charset="0"/>
            </a:endParaRPr>
          </a:p>
        </p:txBody>
      </p:sp>
      <p:sp>
        <p:nvSpPr>
          <p:cNvPr id="13" name="Rectangle 34"/>
          <p:cNvSpPr>
            <a:spLocks noChangeArrowheads="1"/>
          </p:cNvSpPr>
          <p:nvPr/>
        </p:nvSpPr>
        <p:spPr bwMode="ltGray">
          <a:xfrm>
            <a:off x="0" y="0"/>
            <a:ext cx="9144000" cy="571480"/>
          </a:xfrm>
          <a:prstGeom prst="rect">
            <a:avLst/>
          </a:prstGeom>
          <a:solidFill>
            <a:srgbClr val="000080">
              <a:alpha val="79999"/>
            </a:srgbClr>
          </a:solidFill>
          <a:ln w="9525">
            <a:noFill/>
            <a:miter lim="800000"/>
          </a:ln>
        </p:spPr>
        <p:txBody>
          <a:bodyPr wrap="none" anchor="ctr"/>
          <a:lstStyle/>
          <a:p>
            <a:endParaRPr lang="zh-CN" altLang="en-US" b="0">
              <a:latin typeface="Verdana" panose="020B0604030504040204" pitchFamily="34" charset="0"/>
            </a:endParaRPr>
          </a:p>
        </p:txBody>
      </p:sp>
      <p:sp>
        <p:nvSpPr>
          <p:cNvPr id="14" name="Rectangle 9"/>
          <p:cNvSpPr>
            <a:spLocks noChangeArrowheads="1"/>
          </p:cNvSpPr>
          <p:nvPr/>
        </p:nvSpPr>
        <p:spPr bwMode="ltGray">
          <a:xfrm>
            <a:off x="0" y="549256"/>
            <a:ext cx="9144000" cy="25400"/>
          </a:xfrm>
          <a:prstGeom prst="rect">
            <a:avLst/>
          </a:prstGeom>
          <a:gradFill rotWithShape="1">
            <a:gsLst>
              <a:gs pos="0">
                <a:srgbClr val="530C13"/>
              </a:gs>
              <a:gs pos="50000">
                <a:srgbClr val="B31928"/>
              </a:gs>
              <a:gs pos="100000">
                <a:srgbClr val="530C13"/>
              </a:gs>
            </a:gsLst>
            <a:lin ang="5400000" scaled="1"/>
          </a:gradFill>
          <a:ln w="9525" algn="ctr">
            <a:noFill/>
            <a:miter lim="800000"/>
          </a:ln>
        </p:spPr>
        <p:txBody>
          <a:bodyPr wrap="none" anchor="ctr"/>
          <a:lstStyle/>
          <a:p>
            <a:pPr algn="ctr"/>
            <a:endParaRPr lang="zh-CN" altLang="zh-CN" sz="1400" b="0">
              <a:latin typeface="Verdana" panose="020B0604030504040204" pitchFamily="34" charset="0"/>
            </a:endParaRPr>
          </a:p>
        </p:txBody>
      </p:sp>
      <p:sp>
        <p:nvSpPr>
          <p:cNvPr id="15" name="Rectangle 10"/>
          <p:cNvSpPr>
            <a:spLocks noChangeArrowheads="1"/>
          </p:cNvSpPr>
          <p:nvPr/>
        </p:nvSpPr>
        <p:spPr bwMode="ltGray">
          <a:xfrm>
            <a:off x="0" y="592118"/>
            <a:ext cx="9144000" cy="25400"/>
          </a:xfrm>
          <a:prstGeom prst="rect">
            <a:avLst/>
          </a:prstGeom>
          <a:gradFill rotWithShape="1">
            <a:gsLst>
              <a:gs pos="0">
                <a:srgbClr val="530C13"/>
              </a:gs>
              <a:gs pos="50000">
                <a:srgbClr val="B31928"/>
              </a:gs>
              <a:gs pos="100000">
                <a:srgbClr val="530C13"/>
              </a:gs>
            </a:gsLst>
            <a:lin ang="5400000" scaled="1"/>
          </a:gradFill>
          <a:ln w="9525" algn="ctr">
            <a:noFill/>
            <a:miter lim="800000"/>
          </a:ln>
        </p:spPr>
        <p:txBody>
          <a:bodyPr wrap="none" anchor="ctr"/>
          <a:lstStyle/>
          <a:p>
            <a:pPr algn="ctr"/>
            <a:endParaRPr lang="zh-CN" altLang="zh-CN" sz="1400" b="0">
              <a:latin typeface="Verdana" panose="020B0604030504040204" pitchFamily="34" charset="0"/>
            </a:endParaRPr>
          </a:p>
        </p:txBody>
      </p:sp>
      <p:pic>
        <p:nvPicPr>
          <p:cNvPr id="16" name="Picture 3"/>
          <p:cNvPicPr>
            <a:picLocks noChangeAspect="1" noChangeArrowheads="1"/>
          </p:cNvPicPr>
          <p:nvPr/>
        </p:nvPicPr>
        <p:blipFill>
          <a:blip r:embed="rId2" cstate="print">
            <a:duotone>
              <a:prstClr val="black"/>
              <a:srgbClr val="170696">
                <a:tint val="45000"/>
                <a:satMod val="400000"/>
              </a:srgbClr>
            </a:duotone>
          </a:blip>
          <a:srcRect/>
          <a:stretch>
            <a:fillRect/>
          </a:stretch>
        </p:blipFill>
        <p:spPr bwMode="auto">
          <a:xfrm>
            <a:off x="-4990" y="6415199"/>
            <a:ext cx="9163504" cy="495300"/>
          </a:xfrm>
          <a:prstGeom prst="rect">
            <a:avLst/>
          </a:prstGeom>
          <a:noFill/>
          <a:ln w="9525">
            <a:noFill/>
            <a:miter lim="800000"/>
            <a:headEnd/>
            <a:tailEnd/>
          </a:ln>
          <a:effectLst>
            <a:innerShdw blurRad="63500" dist="50800" dir="18900000">
              <a:prstClr val="black">
                <a:alpha val="50000"/>
              </a:prstClr>
            </a:innerShdw>
          </a:effectLst>
        </p:spPr>
      </p:pic>
      <p:sp>
        <p:nvSpPr>
          <p:cNvPr id="19" name="Rectangle 2"/>
          <p:cNvSpPr>
            <a:spLocks noChangeArrowheads="1"/>
          </p:cNvSpPr>
          <p:nvPr/>
        </p:nvSpPr>
        <p:spPr bwMode="auto">
          <a:xfrm>
            <a:off x="0" y="603568"/>
            <a:ext cx="9484360" cy="829945"/>
          </a:xfrm>
          <a:prstGeom prst="rect">
            <a:avLst/>
          </a:prstGeom>
          <a:solidFill>
            <a:schemeClr val="accent6">
              <a:lumMod val="20000"/>
              <a:lumOff val="80000"/>
            </a:schemeClr>
          </a:solidFill>
          <a:ln w="9525">
            <a:noFill/>
            <a:miter lim="800000"/>
          </a:ln>
          <a:effectLst/>
        </p:spPr>
        <p:txBody>
          <a:bodyPr wrap="square" anchor="ctr">
            <a:spAutoFit/>
          </a:bodyPr>
          <a:lstStyle/>
          <a:p>
            <a:pPr algn="l"/>
            <a:r>
              <a:rPr lang="en-US" sz="2400" b="1" dirty="0">
                <a:solidFill>
                  <a:srgbClr val="000000"/>
                </a:solidFill>
                <a:latin typeface="+mj-ea"/>
                <a:ea typeface="+mj-ea"/>
              </a:rPr>
              <a:t>5</a:t>
            </a:r>
            <a:r>
              <a:rPr sz="2400" b="1" dirty="0">
                <a:solidFill>
                  <a:srgbClr val="000000"/>
                </a:solidFill>
                <a:latin typeface="+mj-ea"/>
                <a:ea typeface="+mj-ea"/>
              </a:rPr>
              <a:t>. 学习数据采集器和转动传感器的使用方法</a:t>
            </a:r>
            <a:r>
              <a:rPr lang="zh-CN" sz="2400" b="1" dirty="0">
                <a:solidFill>
                  <a:srgbClr val="000000"/>
                </a:solidFill>
                <a:latin typeface="+mj-ea"/>
                <a:ea typeface="+mj-ea"/>
              </a:rPr>
              <a:t>。</a:t>
            </a:r>
          </a:p>
          <a:p>
            <a:pPr algn="l"/>
            <a:r>
              <a:rPr lang="zh-CN" sz="2400" b="1" dirty="0">
                <a:solidFill>
                  <a:srgbClr val="000000"/>
                </a:solidFill>
                <a:latin typeface="+mj-ea"/>
                <a:ea typeface="+mj-ea"/>
              </a:rPr>
              <a:t>       （只做观察要求，拍摄图片，不作记录数据要求）</a:t>
            </a:r>
          </a:p>
        </p:txBody>
      </p:sp>
      <p:sp>
        <p:nvSpPr>
          <p:cNvPr id="3" name="文本框 2"/>
          <p:cNvSpPr txBox="1"/>
          <p:nvPr/>
        </p:nvSpPr>
        <p:spPr>
          <a:xfrm>
            <a:off x="204470" y="1840230"/>
            <a:ext cx="8097520" cy="1814830"/>
          </a:xfrm>
          <a:prstGeom prst="rect">
            <a:avLst/>
          </a:prstGeom>
          <a:noFill/>
          <a:ln w="9525">
            <a:noFill/>
          </a:ln>
        </p:spPr>
        <p:txBody>
          <a:bodyPr wrap="square">
            <a:spAutoFit/>
          </a:bodyPr>
          <a:lstStyle/>
          <a:p>
            <a:pPr indent="269240"/>
            <a:r>
              <a:rPr lang="en-US" altLang="zh-CN" sz="2800" b="1">
                <a:solidFill>
                  <a:srgbClr val="000000"/>
                </a:solidFill>
              </a:rPr>
              <a:t>1</a:t>
            </a:r>
            <a:r>
              <a:rPr lang="zh-CN" altLang="en-US" sz="2800" b="1">
                <a:solidFill>
                  <a:srgbClr val="000000"/>
                </a:solidFill>
              </a:rPr>
              <a:t>）调用</a:t>
            </a:r>
            <a:r>
              <a:rPr lang="en-US" altLang="zh-CN" sz="2800" b="1">
                <a:solidFill>
                  <a:srgbClr val="000000"/>
                </a:solidFill>
              </a:rPr>
              <a:t>labview</a:t>
            </a:r>
            <a:r>
              <a:rPr lang="zh-CN" altLang="en-US" sz="2800" b="1">
                <a:solidFill>
                  <a:srgbClr val="000000"/>
                </a:solidFill>
              </a:rPr>
              <a:t>软件。</a:t>
            </a:r>
          </a:p>
          <a:p>
            <a:pPr indent="269240"/>
            <a:r>
              <a:rPr lang="en-US" altLang="zh-CN" sz="2800" b="1">
                <a:solidFill>
                  <a:srgbClr val="000000"/>
                </a:solidFill>
              </a:rPr>
              <a:t>2</a:t>
            </a:r>
            <a:r>
              <a:rPr lang="zh-CN" altLang="en-US" sz="2800" b="1">
                <a:solidFill>
                  <a:srgbClr val="000000"/>
                </a:solidFill>
              </a:rPr>
              <a:t>）观察自由振动、阻尼振动和受迫振动时的波形图。</a:t>
            </a:r>
          </a:p>
          <a:p>
            <a:pPr indent="269240"/>
            <a:endParaRPr lang="zh-CN" altLang="en-US" sz="2800" b="1">
              <a:solidFill>
                <a:srgbClr val="0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5"/>
          <p:cNvSpPr>
            <a:spLocks noChangeArrowheads="1"/>
          </p:cNvSpPr>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20487" name="Rectangle 7"/>
          <p:cNvSpPr>
            <a:spLocks noChangeArrowheads="1"/>
          </p:cNvSpPr>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20489" name="Rectangle 9"/>
          <p:cNvSpPr>
            <a:spLocks noChangeArrowheads="1"/>
          </p:cNvSpPr>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9" name="Rectangle 10"/>
          <p:cNvSpPr>
            <a:spLocks noChangeArrowheads="1"/>
          </p:cNvSpPr>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10" name="Rectangle 5"/>
          <p:cNvSpPr>
            <a:spLocks noChangeArrowheads="1"/>
          </p:cNvSpPr>
          <p:nvPr/>
        </p:nvSpPr>
        <p:spPr bwMode="auto">
          <a:xfrm>
            <a:off x="0" y="0"/>
            <a:ext cx="9144000" cy="0"/>
          </a:xfrm>
          <a:prstGeom prst="rect">
            <a:avLst/>
          </a:prstGeom>
          <a:noFill/>
          <a:ln w="9525">
            <a:noFill/>
            <a:miter lim="800000"/>
          </a:ln>
          <a:effectLst/>
        </p:spPr>
        <p:txBody>
          <a:bodyPr wrap="none" anchor="ctr">
            <a:spAutoFit/>
          </a:bodyPr>
          <a:lstStyle/>
          <a:p>
            <a:endParaRPr lang="zh-CN" altLang="en-US"/>
          </a:p>
        </p:txBody>
      </p:sp>
      <p:sp>
        <p:nvSpPr>
          <p:cNvPr id="11" name="Rectangle 4"/>
          <p:cNvSpPr>
            <a:spLocks noChangeArrowheads="1"/>
          </p:cNvSpPr>
          <p:nvPr/>
        </p:nvSpPr>
        <p:spPr bwMode="ltGray">
          <a:xfrm>
            <a:off x="0" y="617518"/>
            <a:ext cx="9144000" cy="25400"/>
          </a:xfrm>
          <a:prstGeom prst="rect">
            <a:avLst/>
          </a:prstGeom>
          <a:gradFill rotWithShape="1">
            <a:gsLst>
              <a:gs pos="0">
                <a:srgbClr val="530C13"/>
              </a:gs>
              <a:gs pos="50000">
                <a:srgbClr val="B31928"/>
              </a:gs>
              <a:gs pos="100000">
                <a:srgbClr val="530C13"/>
              </a:gs>
            </a:gsLst>
            <a:lin ang="5400000" scaled="1"/>
          </a:gradFill>
          <a:ln w="9525" algn="ctr">
            <a:noFill/>
            <a:miter lim="800000"/>
          </a:ln>
        </p:spPr>
        <p:txBody>
          <a:bodyPr wrap="none" anchor="ctr"/>
          <a:lstStyle/>
          <a:p>
            <a:pPr algn="ctr"/>
            <a:endParaRPr lang="zh-CN" altLang="zh-CN" sz="2000" b="0">
              <a:latin typeface="Verdana" panose="020B0604030504040204" pitchFamily="34" charset="0"/>
            </a:endParaRPr>
          </a:p>
        </p:txBody>
      </p:sp>
      <p:sp>
        <p:nvSpPr>
          <p:cNvPr id="12" name="Rectangle 5"/>
          <p:cNvSpPr>
            <a:spLocks noChangeArrowheads="1"/>
          </p:cNvSpPr>
          <p:nvPr/>
        </p:nvSpPr>
        <p:spPr bwMode="ltGray">
          <a:xfrm>
            <a:off x="0" y="541318"/>
            <a:ext cx="9144000" cy="25400"/>
          </a:xfrm>
          <a:prstGeom prst="rect">
            <a:avLst/>
          </a:prstGeom>
          <a:gradFill rotWithShape="1">
            <a:gsLst>
              <a:gs pos="0">
                <a:srgbClr val="530C13"/>
              </a:gs>
              <a:gs pos="50000">
                <a:srgbClr val="B31928"/>
              </a:gs>
              <a:gs pos="100000">
                <a:srgbClr val="530C13"/>
              </a:gs>
            </a:gsLst>
            <a:lin ang="5400000" scaled="1"/>
          </a:gradFill>
          <a:ln w="9525" algn="ctr">
            <a:noFill/>
            <a:miter lim="800000"/>
          </a:ln>
        </p:spPr>
        <p:txBody>
          <a:bodyPr wrap="none" anchor="ctr"/>
          <a:lstStyle/>
          <a:p>
            <a:pPr algn="ctr"/>
            <a:endParaRPr lang="zh-CN" altLang="zh-CN" sz="2000" b="0">
              <a:latin typeface="Verdana" panose="020B0604030504040204" pitchFamily="34" charset="0"/>
            </a:endParaRPr>
          </a:p>
        </p:txBody>
      </p:sp>
      <p:sp>
        <p:nvSpPr>
          <p:cNvPr id="13" name="Rectangle 34"/>
          <p:cNvSpPr>
            <a:spLocks noChangeArrowheads="1"/>
          </p:cNvSpPr>
          <p:nvPr/>
        </p:nvSpPr>
        <p:spPr bwMode="ltGray">
          <a:xfrm>
            <a:off x="0" y="0"/>
            <a:ext cx="9144000" cy="571480"/>
          </a:xfrm>
          <a:prstGeom prst="rect">
            <a:avLst/>
          </a:prstGeom>
          <a:solidFill>
            <a:srgbClr val="000080">
              <a:alpha val="79999"/>
            </a:srgbClr>
          </a:solidFill>
          <a:ln w="9525">
            <a:noFill/>
            <a:miter lim="800000"/>
          </a:ln>
        </p:spPr>
        <p:txBody>
          <a:bodyPr wrap="none" anchor="ctr"/>
          <a:lstStyle/>
          <a:p>
            <a:endParaRPr lang="zh-CN" altLang="en-US" b="0">
              <a:latin typeface="Verdana" panose="020B0604030504040204" pitchFamily="34" charset="0"/>
            </a:endParaRPr>
          </a:p>
        </p:txBody>
      </p:sp>
      <p:sp>
        <p:nvSpPr>
          <p:cNvPr id="14" name="Rectangle 9"/>
          <p:cNvSpPr>
            <a:spLocks noChangeArrowheads="1"/>
          </p:cNvSpPr>
          <p:nvPr/>
        </p:nvSpPr>
        <p:spPr bwMode="ltGray">
          <a:xfrm>
            <a:off x="0" y="549256"/>
            <a:ext cx="9144000" cy="25400"/>
          </a:xfrm>
          <a:prstGeom prst="rect">
            <a:avLst/>
          </a:prstGeom>
          <a:gradFill rotWithShape="1">
            <a:gsLst>
              <a:gs pos="0">
                <a:srgbClr val="530C13"/>
              </a:gs>
              <a:gs pos="50000">
                <a:srgbClr val="B31928"/>
              </a:gs>
              <a:gs pos="100000">
                <a:srgbClr val="530C13"/>
              </a:gs>
            </a:gsLst>
            <a:lin ang="5400000" scaled="1"/>
          </a:gradFill>
          <a:ln w="9525" algn="ctr">
            <a:noFill/>
            <a:miter lim="800000"/>
          </a:ln>
        </p:spPr>
        <p:txBody>
          <a:bodyPr wrap="none" anchor="ctr"/>
          <a:lstStyle/>
          <a:p>
            <a:pPr algn="ctr"/>
            <a:endParaRPr lang="zh-CN" altLang="zh-CN" sz="1400" b="0">
              <a:latin typeface="Verdana" panose="020B0604030504040204" pitchFamily="34" charset="0"/>
            </a:endParaRPr>
          </a:p>
        </p:txBody>
      </p:sp>
      <p:sp>
        <p:nvSpPr>
          <p:cNvPr id="15" name="Rectangle 10"/>
          <p:cNvSpPr>
            <a:spLocks noChangeArrowheads="1"/>
          </p:cNvSpPr>
          <p:nvPr/>
        </p:nvSpPr>
        <p:spPr bwMode="ltGray">
          <a:xfrm>
            <a:off x="0" y="592118"/>
            <a:ext cx="9144000" cy="25400"/>
          </a:xfrm>
          <a:prstGeom prst="rect">
            <a:avLst/>
          </a:prstGeom>
          <a:gradFill rotWithShape="1">
            <a:gsLst>
              <a:gs pos="0">
                <a:srgbClr val="530C13"/>
              </a:gs>
              <a:gs pos="50000">
                <a:srgbClr val="B31928"/>
              </a:gs>
              <a:gs pos="100000">
                <a:srgbClr val="530C13"/>
              </a:gs>
            </a:gsLst>
            <a:lin ang="5400000" scaled="1"/>
          </a:gradFill>
          <a:ln w="9525" algn="ctr">
            <a:noFill/>
            <a:miter lim="800000"/>
          </a:ln>
        </p:spPr>
        <p:txBody>
          <a:bodyPr wrap="none" anchor="ctr"/>
          <a:lstStyle/>
          <a:p>
            <a:pPr algn="ctr"/>
            <a:endParaRPr lang="zh-CN" altLang="zh-CN" sz="1400" b="0">
              <a:latin typeface="Verdana" panose="020B0604030504040204" pitchFamily="34" charset="0"/>
            </a:endParaRPr>
          </a:p>
        </p:txBody>
      </p:sp>
      <p:pic>
        <p:nvPicPr>
          <p:cNvPr id="16" name="Picture 3"/>
          <p:cNvPicPr>
            <a:picLocks noChangeAspect="1" noChangeArrowheads="1"/>
          </p:cNvPicPr>
          <p:nvPr/>
        </p:nvPicPr>
        <p:blipFill>
          <a:blip r:embed="rId2" cstate="print">
            <a:duotone>
              <a:prstClr val="black"/>
              <a:srgbClr val="170696">
                <a:tint val="45000"/>
                <a:satMod val="400000"/>
              </a:srgbClr>
            </a:duotone>
          </a:blip>
          <a:srcRect/>
          <a:stretch>
            <a:fillRect/>
          </a:stretch>
        </p:blipFill>
        <p:spPr bwMode="auto">
          <a:xfrm>
            <a:off x="-4990" y="6415199"/>
            <a:ext cx="9163504" cy="495300"/>
          </a:xfrm>
          <a:prstGeom prst="rect">
            <a:avLst/>
          </a:prstGeom>
          <a:noFill/>
          <a:ln w="9525">
            <a:noFill/>
            <a:miter lim="800000"/>
            <a:headEnd/>
            <a:tailEnd/>
          </a:ln>
          <a:effectLst>
            <a:innerShdw blurRad="63500" dist="50800" dir="18900000">
              <a:prstClr val="black">
                <a:alpha val="50000"/>
              </a:prstClr>
            </a:innerShdw>
          </a:effectLst>
        </p:spPr>
      </p:pic>
      <p:sp>
        <p:nvSpPr>
          <p:cNvPr id="19" name="Rectangle 2"/>
          <p:cNvSpPr>
            <a:spLocks noChangeArrowheads="1"/>
          </p:cNvSpPr>
          <p:nvPr/>
        </p:nvSpPr>
        <p:spPr bwMode="auto">
          <a:xfrm>
            <a:off x="-5080" y="728980"/>
            <a:ext cx="4262120" cy="460375"/>
          </a:xfrm>
          <a:prstGeom prst="rect">
            <a:avLst/>
          </a:prstGeom>
          <a:noFill/>
          <a:ln w="9525">
            <a:noFill/>
            <a:miter lim="800000"/>
          </a:ln>
          <a:effectLst/>
        </p:spPr>
        <p:txBody>
          <a:bodyPr wrap="square" anchor="ctr">
            <a:spAutoFit/>
          </a:bodyPr>
          <a:lstStyle/>
          <a:p>
            <a:pPr marL="571500" indent="-571500" algn="l">
              <a:buClr>
                <a:srgbClr val="FF0000"/>
              </a:buClr>
              <a:buFont typeface="Wingdings" panose="05000000000000000000" charset="0"/>
              <a:buChar char="u"/>
            </a:pPr>
            <a:r>
              <a:rPr sz="2400" b="1" dirty="0">
                <a:solidFill>
                  <a:srgbClr val="000000"/>
                </a:solidFill>
                <a:latin typeface="+mj-ea"/>
                <a:ea typeface="+mj-ea"/>
              </a:rPr>
              <a:t>观测波尔振动的频谱</a:t>
            </a:r>
            <a:r>
              <a:rPr lang="zh-CN" sz="2400" b="1" dirty="0">
                <a:solidFill>
                  <a:srgbClr val="000000"/>
                </a:solidFill>
                <a:latin typeface="+mj-ea"/>
                <a:ea typeface="+mj-ea"/>
              </a:rPr>
              <a:t>。</a:t>
            </a:r>
          </a:p>
        </p:txBody>
      </p:sp>
      <p:sp>
        <p:nvSpPr>
          <p:cNvPr id="3" name="文本框 2"/>
          <p:cNvSpPr txBox="1"/>
          <p:nvPr/>
        </p:nvSpPr>
        <p:spPr>
          <a:xfrm>
            <a:off x="260985" y="1189355"/>
            <a:ext cx="8459470" cy="2245360"/>
          </a:xfrm>
          <a:prstGeom prst="rect">
            <a:avLst/>
          </a:prstGeom>
          <a:noFill/>
          <a:ln w="9525">
            <a:noFill/>
          </a:ln>
        </p:spPr>
        <p:txBody>
          <a:bodyPr wrap="square">
            <a:spAutoFit/>
          </a:bodyPr>
          <a:lstStyle/>
          <a:p>
            <a:pPr indent="269240"/>
            <a:r>
              <a:rPr sz="2000" b="1">
                <a:solidFill>
                  <a:srgbClr val="000000"/>
                </a:solidFill>
              </a:rPr>
              <a:t>（1）记录一组波尔摆在7V阻尼、无驱动力状态下摆动角度随时间的变化关系曲线。将该曲线作傅里叶变换，就可以得到振动的频谱，由频谱图确定波尔振动仪的固有振动频率。</a:t>
            </a:r>
          </a:p>
          <a:p>
            <a:pPr indent="269240"/>
            <a:r>
              <a:rPr sz="2000" b="1">
                <a:solidFill>
                  <a:srgbClr val="000000"/>
                </a:solidFill>
              </a:rPr>
              <a:t>（2）用计算机分别记录和观测波尔振动仪自由振动、阻尼振动、受迫振动三种振动状态的频谱并分析异同。</a:t>
            </a:r>
          </a:p>
          <a:p>
            <a:pPr indent="269240"/>
            <a:r>
              <a:rPr sz="2000" b="1">
                <a:solidFill>
                  <a:srgbClr val="000000"/>
                </a:solidFill>
              </a:rPr>
              <a:t>（3）测量不同驱动力矩频率下受迫振动的频谱，讨论其异同。调速旋钮每调节半圈测一组数据，不需等到振幅稳定。</a:t>
            </a:r>
          </a:p>
        </p:txBody>
      </p:sp>
      <p:sp>
        <p:nvSpPr>
          <p:cNvPr id="2" name="文本框 1"/>
          <p:cNvSpPr txBox="1"/>
          <p:nvPr/>
        </p:nvSpPr>
        <p:spPr>
          <a:xfrm>
            <a:off x="260985" y="3923665"/>
            <a:ext cx="8459470" cy="2245360"/>
          </a:xfrm>
          <a:prstGeom prst="rect">
            <a:avLst/>
          </a:prstGeom>
          <a:noFill/>
          <a:ln w="9525">
            <a:noFill/>
          </a:ln>
        </p:spPr>
        <p:txBody>
          <a:bodyPr wrap="square">
            <a:spAutoFit/>
          </a:bodyPr>
          <a:lstStyle/>
          <a:p>
            <a:pPr indent="269240"/>
            <a:r>
              <a:rPr sz="2000" b="1">
                <a:solidFill>
                  <a:srgbClr val="000000"/>
                </a:solidFill>
              </a:rPr>
              <a:t>（1）取一组角度和角速度随时间变化的数据，以角度为横坐标，角速度为纵坐标，画出角速度随角度变化的关系曲线，即相图。讨论相图的物理意义。</a:t>
            </a:r>
          </a:p>
          <a:p>
            <a:pPr indent="269240"/>
            <a:r>
              <a:rPr sz="2000" b="1">
                <a:solidFill>
                  <a:srgbClr val="000000"/>
                </a:solidFill>
              </a:rPr>
              <a:t>（2）</a:t>
            </a:r>
            <a:r>
              <a:rPr lang="zh-CN" sz="2000" b="1">
                <a:solidFill>
                  <a:srgbClr val="000000"/>
                </a:solidFill>
              </a:rPr>
              <a:t>观察</a:t>
            </a:r>
            <a:r>
              <a:rPr sz="2000" b="1">
                <a:solidFill>
                  <a:srgbClr val="000000"/>
                </a:solidFill>
              </a:rPr>
              <a:t>自由振动、阻尼振动、受迫振动三种振动状态下的相图，讨论其异同。</a:t>
            </a:r>
          </a:p>
          <a:p>
            <a:pPr indent="269240"/>
            <a:r>
              <a:rPr sz="2000" b="1">
                <a:solidFill>
                  <a:srgbClr val="000000"/>
                </a:solidFill>
              </a:rPr>
              <a:t>（3）</a:t>
            </a:r>
            <a:r>
              <a:rPr lang="zh-CN" sz="2000" b="1">
                <a:solidFill>
                  <a:srgbClr val="000000"/>
                </a:solidFill>
                <a:sym typeface="+mn-ea"/>
              </a:rPr>
              <a:t>观察</a:t>
            </a:r>
            <a:r>
              <a:rPr sz="2000" b="1">
                <a:solidFill>
                  <a:srgbClr val="000000"/>
                </a:solidFill>
              </a:rPr>
              <a:t>不同驱动力矩频率下受迫振动的相图，讨论其异同。调速旋钮每调节一圈测一组数。</a:t>
            </a:r>
          </a:p>
        </p:txBody>
      </p:sp>
      <p:sp>
        <p:nvSpPr>
          <p:cNvPr id="4" name="Rectangle 2"/>
          <p:cNvSpPr>
            <a:spLocks noChangeArrowheads="1"/>
          </p:cNvSpPr>
          <p:nvPr/>
        </p:nvSpPr>
        <p:spPr bwMode="auto">
          <a:xfrm>
            <a:off x="113665" y="3463290"/>
            <a:ext cx="4262120" cy="460375"/>
          </a:xfrm>
          <a:prstGeom prst="rect">
            <a:avLst/>
          </a:prstGeom>
          <a:noFill/>
          <a:ln w="9525">
            <a:noFill/>
            <a:miter lim="800000"/>
          </a:ln>
          <a:effectLst/>
        </p:spPr>
        <p:txBody>
          <a:bodyPr wrap="square" anchor="ctr">
            <a:spAutoFit/>
          </a:bodyPr>
          <a:lstStyle/>
          <a:p>
            <a:pPr marL="571500" indent="-571500" algn="l">
              <a:buClr>
                <a:srgbClr val="FF0000"/>
              </a:buClr>
              <a:buFont typeface="Wingdings" panose="05000000000000000000" charset="0"/>
              <a:buChar char="u"/>
            </a:pPr>
            <a:r>
              <a:rPr sz="2400" b="1" dirty="0">
                <a:solidFill>
                  <a:srgbClr val="000000"/>
                </a:solidFill>
                <a:latin typeface="+mj-ea"/>
                <a:ea typeface="+mj-ea"/>
              </a:rPr>
              <a:t>观测波尔振动的</a:t>
            </a:r>
            <a:r>
              <a:rPr lang="zh-CN" sz="2400" b="1" dirty="0">
                <a:solidFill>
                  <a:srgbClr val="000000"/>
                </a:solidFill>
                <a:latin typeface="+mj-ea"/>
                <a:ea typeface="+mj-ea"/>
              </a:rPr>
              <a:t>相图。</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633095"/>
          </a:xfrm>
          <a:solidFill>
            <a:schemeClr val="accent6">
              <a:lumMod val="20000"/>
              <a:lumOff val="80000"/>
            </a:schemeClr>
          </a:solidFill>
        </p:spPr>
        <p:txBody>
          <a:bodyPr/>
          <a:lstStyle/>
          <a:p>
            <a:pPr marL="571500" indent="-571500" algn="l">
              <a:buClr>
                <a:srgbClr val="FF0000"/>
              </a:buClr>
              <a:buFont typeface="Wingdings" panose="05000000000000000000" charset="0"/>
              <a:buChar char="u"/>
            </a:pPr>
            <a:r>
              <a:rPr lang="zh-CN" altLang="en-US" sz="2400">
                <a:solidFill>
                  <a:srgbClr val="000000"/>
                </a:solidFill>
                <a:sym typeface="+mn-ea"/>
              </a:rPr>
              <a:t>观察并记录振动的“拍”</a:t>
            </a:r>
          </a:p>
        </p:txBody>
      </p:sp>
      <p:sp>
        <p:nvSpPr>
          <p:cNvPr id="3" name="内容占位符 2"/>
          <p:cNvSpPr>
            <a:spLocks noGrp="1"/>
          </p:cNvSpPr>
          <p:nvPr>
            <p:ph idx="1"/>
          </p:nvPr>
        </p:nvSpPr>
        <p:spPr>
          <a:xfrm>
            <a:off x="301625" y="1487805"/>
            <a:ext cx="8540750" cy="1919605"/>
          </a:xfrm>
        </p:spPr>
        <p:txBody>
          <a:bodyPr/>
          <a:lstStyle/>
          <a:p>
            <a:pPr marL="0" indent="0">
              <a:buNone/>
            </a:pPr>
            <a:r>
              <a:rPr lang="en-US" altLang="zh-CN" sz="2000" b="1">
                <a:solidFill>
                  <a:srgbClr val="000000"/>
                </a:solidFill>
              </a:rPr>
              <a:t>      </a:t>
            </a:r>
            <a:r>
              <a:rPr lang="zh-CN" altLang="en-US" sz="2000" b="1">
                <a:solidFill>
                  <a:srgbClr val="000000"/>
                </a:solidFill>
              </a:rPr>
              <a:t>加上外力矩和阻尼（7V），转动摆轮并释放，在阻尼振动趋向受迫振动稳定状态的过程中记录摆轮的摆动角度随时间的变化关系，可由该曲线的包络线观察到“拍”的现象。自行确定若干组阻尼和驱动的组合，在不同组合下观察“拍”的现象并讨论。（参考：驱动力矩的频率取最快、最慢、中间值三个点）</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标题 399361"/>
          <p:cNvSpPr>
            <a:spLocks noGrp="1"/>
          </p:cNvSpPr>
          <p:nvPr>
            <p:ph type="title"/>
          </p:nvPr>
        </p:nvSpPr>
        <p:spPr/>
        <p:txBody>
          <a:bodyPr anchor="ctr"/>
          <a:lstStyle/>
          <a:p>
            <a:pPr algn="l"/>
            <a:r>
              <a:rPr lang="zh-CN" altLang="en-US" b="1" dirty="0">
                <a:solidFill>
                  <a:srgbClr val="000000"/>
                </a:solidFill>
              </a:rPr>
              <a:t>实验注意事项</a:t>
            </a:r>
          </a:p>
        </p:txBody>
      </p:sp>
      <p:sp>
        <p:nvSpPr>
          <p:cNvPr id="399363" name="文本占位符 399362"/>
          <p:cNvSpPr>
            <a:spLocks noGrp="1"/>
          </p:cNvSpPr>
          <p:nvPr>
            <p:ph type="body" idx="1"/>
          </p:nvPr>
        </p:nvSpPr>
        <p:spPr>
          <a:xfrm>
            <a:off x="744855" y="1331595"/>
            <a:ext cx="8034655" cy="4194175"/>
          </a:xfrm>
        </p:spPr>
        <p:txBody>
          <a:bodyPr/>
          <a:lstStyle/>
          <a:p>
            <a:pPr marL="0" indent="0">
              <a:spcBef>
                <a:spcPct val="100000"/>
              </a:spcBef>
              <a:buFont typeface="Wingdings" panose="05000000000000000000" pitchFamily="2" charset="2"/>
              <a:buNone/>
            </a:pPr>
            <a:endParaRPr lang="zh-CN" altLang="en-US" sz="2400" b="1" dirty="0">
              <a:solidFill>
                <a:srgbClr val="000000"/>
              </a:solidFill>
              <a:latin typeface="Times New Roman" panose="02020603050405020304" pitchFamily="18" charset="0"/>
            </a:endParaRPr>
          </a:p>
          <a:p>
            <a:pPr marL="533400" indent="-533400">
              <a:spcBef>
                <a:spcPct val="100000"/>
              </a:spcBef>
              <a:buFont typeface="Wingdings" panose="05000000000000000000" pitchFamily="2" charset="2"/>
              <a:buAutoNum type="arabicPeriod"/>
            </a:pPr>
            <a:r>
              <a:rPr lang="zh-CN" altLang="en-US" sz="2400" b="1" dirty="0">
                <a:solidFill>
                  <a:srgbClr val="000000"/>
                </a:solidFill>
                <a:latin typeface="Times New Roman" panose="02020603050405020304" pitchFamily="18" charset="0"/>
              </a:rPr>
              <a:t>摆轮振幅不易太大，以免损坏蜗卷弹簧；</a:t>
            </a:r>
          </a:p>
          <a:p>
            <a:pPr marL="533400" indent="-533400">
              <a:spcBef>
                <a:spcPct val="100000"/>
              </a:spcBef>
              <a:buFont typeface="Wingdings" panose="05000000000000000000" pitchFamily="2" charset="2"/>
              <a:buAutoNum type="arabicPeriod"/>
            </a:pPr>
            <a:r>
              <a:rPr lang="zh-CN" altLang="en-US" sz="2400" b="1" dirty="0">
                <a:solidFill>
                  <a:srgbClr val="FF0000"/>
                </a:solidFill>
                <a:latin typeface="Times New Roman" panose="02020603050405020304" pitchFamily="18" charset="0"/>
              </a:rPr>
              <a:t>切记未加磁力阻尼不可启动电机</a:t>
            </a:r>
            <a:r>
              <a:rPr lang="zh-CN" altLang="en-US" sz="2400" b="1" dirty="0">
                <a:solidFill>
                  <a:srgbClr val="000000"/>
                </a:solidFill>
                <a:latin typeface="Times New Roman" panose="02020603050405020304" pitchFamily="18" charset="0"/>
              </a:rPr>
              <a:t>，否则共振时振幅会越来越大了，损坏摆轮。</a:t>
            </a:r>
          </a:p>
          <a:p>
            <a:pPr marL="533400" indent="-533400">
              <a:spcBef>
                <a:spcPct val="100000"/>
              </a:spcBef>
              <a:buFont typeface="Wingdings" panose="05000000000000000000" pitchFamily="2" charset="2"/>
              <a:buAutoNum type="arabicPeriod"/>
            </a:pPr>
            <a:r>
              <a:rPr lang="zh-CN" altLang="en-US" sz="2400" b="1" dirty="0">
                <a:solidFill>
                  <a:srgbClr val="000000"/>
                </a:solidFill>
                <a:latin typeface="Times New Roman" panose="02020603050405020304" pitchFamily="18" charset="0"/>
              </a:rPr>
              <a:t>测量幅频和相频曲线时，一定要等振幅稳定后才能记录数据；</a:t>
            </a:r>
          </a:p>
          <a:p>
            <a:pPr marL="533400" indent="-533400">
              <a:spcBef>
                <a:spcPct val="100000"/>
              </a:spcBef>
              <a:buFont typeface="Wingdings" panose="05000000000000000000" pitchFamily="2" charset="2"/>
              <a:buAutoNum type="arabicPeriod"/>
            </a:pPr>
            <a:r>
              <a:rPr lang="zh-CN" altLang="en-US" sz="2400" b="1" dirty="0">
                <a:solidFill>
                  <a:srgbClr val="000000"/>
                </a:solidFill>
                <a:latin typeface="Times New Roman" panose="02020603050405020304" pitchFamily="18" charset="0"/>
              </a:rPr>
              <a:t>传感器位置固定，请不要随意移动</a:t>
            </a:r>
          </a:p>
        </p:txBody>
      </p:sp>
    </p:spTree>
  </p:cSld>
  <p:clrMapOvr>
    <a:masterClrMapping/>
  </p:clrMapOvr>
  <p:transition>
    <p:blinds dir="vert"/>
  </p:transition>
</p:sld>
</file>

<file path=ppt/tags/tag1.xml><?xml version="1.0" encoding="utf-8"?>
<p:tagLst xmlns:a="http://schemas.openxmlformats.org/drawingml/2006/main" xmlns:r="http://schemas.openxmlformats.org/officeDocument/2006/relationships" xmlns:p="http://schemas.openxmlformats.org/presentationml/2006/main">
  <p:tag name="KSO_WM_DOC_GUID" val="{8614a074-c889-4ce8-81af-dc000795e53d}"/>
</p:tagLst>
</file>

<file path=ppt/tags/tag2.xml><?xml version="1.0" encoding="utf-8"?>
<p:tagLst xmlns:a="http://schemas.openxmlformats.org/drawingml/2006/main" xmlns:r="http://schemas.openxmlformats.org/officeDocument/2006/relationships" xmlns:p="http://schemas.openxmlformats.org/presentationml/2006/main">
  <p:tag name="REFSHAPE" val="509869100"/>
</p:tagLst>
</file>

<file path=ppt/tags/tag3.xml><?xml version="1.0" encoding="utf-8"?>
<p:tagLst xmlns:a="http://schemas.openxmlformats.org/drawingml/2006/main" xmlns:r="http://schemas.openxmlformats.org/officeDocument/2006/relationships" xmlns:p="http://schemas.openxmlformats.org/presentationml/2006/main">
  <p:tag name="REFSHAPE" val="509866108"/>
</p:tagLst>
</file>

<file path=ppt/tags/tag4.xml><?xml version="1.0" encoding="utf-8"?>
<p:tagLst xmlns:a="http://schemas.openxmlformats.org/drawingml/2006/main" xmlns:r="http://schemas.openxmlformats.org/officeDocument/2006/relationships" xmlns:p="http://schemas.openxmlformats.org/presentationml/2006/main">
  <p:tag name="REFSHAPE" val="509869236"/>
</p:tagLst>
</file>

<file path=ppt/tags/tag5.xml><?xml version="1.0" encoding="utf-8"?>
<p:tagLst xmlns:a="http://schemas.openxmlformats.org/drawingml/2006/main" xmlns:r="http://schemas.openxmlformats.org/officeDocument/2006/relationships" xmlns:p="http://schemas.openxmlformats.org/presentationml/2006/main">
  <p:tag name="REFSHAPE" val="509869372"/>
</p:tagLst>
</file>

<file path=ppt/tags/tag6.xml><?xml version="1.0" encoding="utf-8"?>
<p:tagLst xmlns:a="http://schemas.openxmlformats.org/drawingml/2006/main" xmlns:r="http://schemas.openxmlformats.org/officeDocument/2006/relationships" xmlns:p="http://schemas.openxmlformats.org/presentationml/2006/main">
  <p:tag name="REFSHAPE" val="509867332"/>
</p:tagLst>
</file>

<file path=ppt/tags/tag7.xml><?xml version="1.0" encoding="utf-8"?>
<p:tagLst xmlns:a="http://schemas.openxmlformats.org/drawingml/2006/main" xmlns:r="http://schemas.openxmlformats.org/officeDocument/2006/relationships" xmlns:p="http://schemas.openxmlformats.org/presentationml/2006/main">
  <p:tag name="REFSHAPE" val="509869508"/>
</p:tagLst>
</file>

<file path=ppt/tags/tag8.xml><?xml version="1.0" encoding="utf-8"?>
<p:tagLst xmlns:a="http://schemas.openxmlformats.org/drawingml/2006/main" xmlns:r="http://schemas.openxmlformats.org/officeDocument/2006/relationships" xmlns:p="http://schemas.openxmlformats.org/presentationml/2006/main">
  <p:tag name="REFSHAPE" val="509866244"/>
</p:tagLst>
</file>

<file path=ppt/tags/tag9.xml><?xml version="1.0" encoding="utf-8"?>
<p:tagLst xmlns:a="http://schemas.openxmlformats.org/drawingml/2006/main" xmlns:r="http://schemas.openxmlformats.org/officeDocument/2006/relationships" xmlns:p="http://schemas.openxmlformats.org/presentationml/2006/main">
  <p:tag name="REFSHAPE" val="509867604"/>
</p:tagLst>
</file>

<file path=ppt/tags/tag10.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582.1906887806308,&quot;width&quot;:6686}"/>
  <p:tag name="REFSHAPE" val="509865564"/>
</p:tagLst>
</file>

<file path=ppt/tags/tag11.xml><?xml version="1.0" encoding="utf-8"?>
<p:tagLst xmlns:a="http://schemas.openxmlformats.org/drawingml/2006/main" xmlns:r="http://schemas.openxmlformats.org/officeDocument/2006/relationships" xmlns:p="http://schemas.openxmlformats.org/presentationml/2006/main">
  <p:tag name="REFSHAPE" val="509869780"/>
</p:tagLst>
</file>

<file path=ppt/tags/tag1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203.0693590678311,&quot;width&quot;:5546.4212279090116}"/>
  <p:tag name="REFSHAPE" val="509867740"/>
</p:tagLst>
</file>

<file path=ppt/tags/tag13.xml><?xml version="1.0" encoding="utf-8"?>
<p:tagLst xmlns:a="http://schemas.openxmlformats.org/drawingml/2006/main" xmlns:r="http://schemas.openxmlformats.org/officeDocument/2006/relationships" xmlns:p="http://schemas.openxmlformats.org/presentationml/2006/main">
  <p:tag name="REFSHAPE" val="509866516"/>
</p:tagLst>
</file>

<file path=ppt/tags/tag14.xml><?xml version="1.0" encoding="utf-8"?>
<p:tagLst xmlns:a="http://schemas.openxmlformats.org/drawingml/2006/main" xmlns:r="http://schemas.openxmlformats.org/officeDocument/2006/relationships" xmlns:p="http://schemas.openxmlformats.org/presentationml/2006/main">
  <p:tag name="KSO_WM_UNIT_TABLE_BEAUTIFY" val="smartTable{03b547f7-b8d8-4a0b-8f8a-8e1152c62b15}"/>
</p:tagLst>
</file>

<file path=ppt/tags/tag15.xml><?xml version="1.0" encoding="utf-8"?>
<p:tagLst xmlns:a="http://schemas.openxmlformats.org/drawingml/2006/main" xmlns:r="http://schemas.openxmlformats.org/officeDocument/2006/relationships" xmlns:p="http://schemas.openxmlformats.org/presentationml/2006/main">
  <p:tag name="KSO_WM_UNIT_TABLE_BEAUTIFY" val="smartTable{f2ec2644-0f58-4c8e-aceb-ecd653f8b65d}"/>
</p:tagLst>
</file>

<file path=ppt/tags/tag16.xml><?xml version="1.0" encoding="utf-8"?>
<p:tagLst xmlns:a="http://schemas.openxmlformats.org/drawingml/2006/main" xmlns:r="http://schemas.openxmlformats.org/officeDocument/2006/relationships" xmlns:p="http://schemas.openxmlformats.org/presentationml/2006/main">
  <p:tag name="KSO_WM_UNIT_TABLE_BEAUTIFY" val="smartTable{e3bd4813-d2d0-47bc-b16a-2d5c59ab6542}"/>
</p:tagLst>
</file>

<file path=ppt/theme/theme1.xml><?xml version="1.0" encoding="utf-8"?>
<a:theme xmlns:a="http://schemas.openxmlformats.org/drawingml/2006/main" name="诗情画意">
  <a:themeElements>
    <a:clrScheme name="">
      <a:dk1>
        <a:srgbClr val="007A77"/>
      </a:dk1>
      <a:lt1>
        <a:srgbClr val="FFFFFF"/>
      </a:lt1>
      <a:dk2>
        <a:srgbClr val="003399"/>
      </a:dk2>
      <a:lt2>
        <a:srgbClr val="C0C0C0"/>
      </a:lt2>
      <a:accent1>
        <a:srgbClr val="EBF7FF"/>
      </a:accent1>
      <a:accent2>
        <a:srgbClr val="3366FF"/>
      </a:accent2>
      <a:accent3>
        <a:srgbClr val="FFFFFF"/>
      </a:accent3>
      <a:accent4>
        <a:srgbClr val="006866"/>
      </a:accent4>
      <a:accent5>
        <a:srgbClr val="F3FAFF"/>
      </a:accent5>
      <a:accent6>
        <a:srgbClr val="2D5BE5"/>
      </a:accent6>
      <a:hlink>
        <a:srgbClr val="DC5900"/>
      </a:hlink>
      <a:folHlink>
        <a:srgbClr val="7979A5"/>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7A77"/>
        </a:dk1>
        <a:lt1>
          <a:srgbClr val="FFFFFF"/>
        </a:lt1>
        <a:dk2>
          <a:srgbClr val="003399"/>
        </a:dk2>
        <a:lt2>
          <a:srgbClr val="C0C0C0"/>
        </a:lt2>
        <a:accent1>
          <a:srgbClr val="EBF7FF"/>
        </a:accent1>
        <a:accent2>
          <a:srgbClr val="3366FF"/>
        </a:accent2>
        <a:accent3>
          <a:srgbClr val="FFFFFF"/>
        </a:accent3>
        <a:accent4>
          <a:srgbClr val="006866"/>
        </a:accent4>
        <a:accent5>
          <a:srgbClr val="F3FAFF"/>
        </a:accent5>
        <a:accent6>
          <a:srgbClr val="2D5BE5"/>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
        <a:dk1>
          <a:srgbClr val="005FBE"/>
        </a:dk1>
        <a:lt1>
          <a:srgbClr val="FFFFDD"/>
        </a:lt1>
        <a:dk2>
          <a:srgbClr val="2C5884"/>
        </a:dk2>
        <a:lt2>
          <a:srgbClr val="C0C0C0"/>
        </a:lt2>
        <a:accent1>
          <a:srgbClr val="E9F7FF"/>
        </a:accent1>
        <a:accent2>
          <a:srgbClr val="F89400"/>
        </a:accent2>
        <a:accent3>
          <a:srgbClr val="FFFFEB"/>
        </a:accent3>
        <a:accent4>
          <a:srgbClr val="0051A3"/>
        </a:accent4>
        <a:accent5>
          <a:srgbClr val="F2FAFF"/>
        </a:accent5>
        <a:accent6>
          <a:srgbClr val="DE84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
        <a:dk1>
          <a:srgbClr val="5D5D8B"/>
        </a:dk1>
        <a:lt1>
          <a:srgbClr val="DAEADE"/>
        </a:lt1>
        <a:dk2>
          <a:srgbClr val="A25269"/>
        </a:dk2>
        <a:lt2>
          <a:srgbClr val="C0C0C0"/>
        </a:lt2>
        <a:accent1>
          <a:srgbClr val="FFFFDD"/>
        </a:accent1>
        <a:accent2>
          <a:srgbClr val="3399FF"/>
        </a:accent2>
        <a:accent3>
          <a:srgbClr val="E9F2EB"/>
        </a:accent3>
        <a:accent4>
          <a:srgbClr val="4F4F77"/>
        </a:accent4>
        <a:accent5>
          <a:srgbClr val="FFFFEB"/>
        </a:accent5>
        <a:accent6>
          <a:srgbClr val="2D89E5"/>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
        <a:dk1>
          <a:srgbClr val="006666"/>
        </a:dk1>
        <a:lt1>
          <a:srgbClr val="CCECFF"/>
        </a:lt1>
        <a:dk2>
          <a:srgbClr val="336699"/>
        </a:dk2>
        <a:lt2>
          <a:srgbClr val="C0C0C0"/>
        </a:lt2>
        <a:accent1>
          <a:srgbClr val="FFFFCC"/>
        </a:accent1>
        <a:accent2>
          <a:srgbClr val="FF6600"/>
        </a:accent2>
        <a:accent3>
          <a:srgbClr val="E2F4FF"/>
        </a:accent3>
        <a:accent4>
          <a:srgbClr val="005757"/>
        </a:accent4>
        <a:accent5>
          <a:srgbClr val="FFFFE2"/>
        </a:accent5>
        <a:accent6>
          <a:srgbClr val="E55B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
        <a:dk1>
          <a:srgbClr val="0033CC"/>
        </a:dk1>
        <a:lt1>
          <a:srgbClr val="FFE9E9"/>
        </a:lt1>
        <a:dk2>
          <a:srgbClr val="000000"/>
        </a:dk2>
        <a:lt2>
          <a:srgbClr val="C0C0C0"/>
        </a:lt2>
        <a:accent1>
          <a:srgbClr val="D5E5DB"/>
        </a:accent1>
        <a:accent2>
          <a:srgbClr val="3366FF"/>
        </a:accent2>
        <a:accent3>
          <a:srgbClr val="FFF2F2"/>
        </a:accent3>
        <a:accent4>
          <a:srgbClr val="002AAF"/>
        </a:accent4>
        <a:accent5>
          <a:srgbClr val="E6EFEA"/>
        </a:accent5>
        <a:accent6>
          <a:srgbClr val="2D5BE5"/>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
        <a:dk1>
          <a:srgbClr val="336699"/>
        </a:dk1>
        <a:lt1>
          <a:srgbClr val="F4E9E0"/>
        </a:lt1>
        <a:dk2>
          <a:srgbClr val="DC5900"/>
        </a:dk2>
        <a:lt2>
          <a:srgbClr val="C0C0C0"/>
        </a:lt2>
        <a:accent1>
          <a:srgbClr val="E4E4E4"/>
        </a:accent1>
        <a:accent2>
          <a:srgbClr val="3399FF"/>
        </a:accent2>
        <a:accent3>
          <a:srgbClr val="F8F2ED"/>
        </a:accent3>
        <a:accent4>
          <a:srgbClr val="2A5783"/>
        </a:accent4>
        <a:accent5>
          <a:srgbClr val="EFEFEF"/>
        </a:accent5>
        <a:accent6>
          <a:srgbClr val="2D89E5"/>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
        <a:dk1>
          <a:srgbClr val="CC3300"/>
        </a:dk1>
        <a:lt1>
          <a:srgbClr val="E5E5FF"/>
        </a:lt1>
        <a:dk2>
          <a:srgbClr val="565680"/>
        </a:dk2>
        <a:lt2>
          <a:srgbClr val="C0C0C0"/>
        </a:lt2>
        <a:accent1>
          <a:srgbClr val="E6E4EC"/>
        </a:accent1>
        <a:accent2>
          <a:srgbClr val="0066CC"/>
        </a:accent2>
        <a:accent3>
          <a:srgbClr val="EFEFFF"/>
        </a:accent3>
        <a:accent4>
          <a:srgbClr val="AF2A00"/>
        </a:accent4>
        <a:accent5>
          <a:srgbClr val="F0EFF4"/>
        </a:accent5>
        <a:accent6>
          <a:srgbClr val="005BB7"/>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
        <a:dk1>
          <a:srgbClr val="000099"/>
        </a:dk1>
        <a:lt1>
          <a:srgbClr val="FFE2C5"/>
        </a:lt1>
        <a:dk2>
          <a:srgbClr val="007D7A"/>
        </a:dk2>
        <a:lt2>
          <a:srgbClr val="C0C0C0"/>
        </a:lt2>
        <a:accent1>
          <a:srgbClr val="EAEAEA"/>
        </a:accent1>
        <a:accent2>
          <a:srgbClr val="B26EB4"/>
        </a:accent2>
        <a:accent3>
          <a:srgbClr val="FFEEDE"/>
        </a:accent3>
        <a:accent4>
          <a:srgbClr val="000083"/>
        </a:accent4>
        <a:accent5>
          <a:srgbClr val="F2F2F2"/>
        </a:accent5>
        <a:accent6>
          <a:srgbClr val="9F62A1"/>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CDESIGNL</Template>
  <TotalTime>112</TotalTime>
  <Words>1834</Words>
  <Application>Microsoft Office PowerPoint</Application>
  <PresentationFormat>全屏显示(4:3)</PresentationFormat>
  <Paragraphs>167</Paragraphs>
  <Slides>23</Slides>
  <Notes>1</Notes>
  <HiddenSlides>1</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23</vt:i4>
      </vt:variant>
    </vt:vector>
  </HeadingPairs>
  <TitlesOfParts>
    <vt:vector size="37" baseType="lpstr">
      <vt:lpstr>等线</vt:lpstr>
      <vt:lpstr>仿宋</vt:lpstr>
      <vt:lpstr>华文细黑</vt:lpstr>
      <vt:lpstr>华文新魏</vt:lpstr>
      <vt:lpstr>楷体</vt:lpstr>
      <vt:lpstr>宋体</vt:lpstr>
      <vt:lpstr>幼圆</vt:lpstr>
      <vt:lpstr>Arial</vt:lpstr>
      <vt:lpstr>Times New Roman</vt:lpstr>
      <vt:lpstr>Verdana</vt:lpstr>
      <vt:lpstr>Wingdings</vt:lpstr>
      <vt:lpstr>诗情画意</vt:lpstr>
      <vt:lpstr>Equation.3</vt:lpstr>
      <vt:lpstr>WPS Equation 3.0</vt:lpstr>
      <vt:lpstr>PowerPoint 演示文稿</vt:lpstr>
      <vt:lpstr>实验目的：</vt:lpstr>
      <vt:lpstr>实验原理 </vt:lpstr>
      <vt:lpstr>实验原理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实验仪器</vt:lpstr>
      <vt:lpstr>PowerPoint 演示文稿</vt:lpstr>
      <vt:lpstr>PowerPoint 演示文稿</vt:lpstr>
      <vt:lpstr>PowerPoint 演示文稿</vt:lpstr>
      <vt:lpstr>PowerPoint 演示文稿</vt:lpstr>
      <vt:lpstr>PowerPoint 演示文稿</vt:lpstr>
      <vt:lpstr>PowerPoint 演示文稿</vt:lpstr>
      <vt:lpstr>观察并记录振动的“拍”</vt:lpstr>
      <vt:lpstr>实验注意事项</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星 绝迹的</cp:lastModifiedBy>
  <cp:revision>109</cp:revision>
  <dcterms:created xsi:type="dcterms:W3CDTF">2019-07-31T03:31:00Z</dcterms:created>
  <dcterms:modified xsi:type="dcterms:W3CDTF">2025-04-22T14:07:37Z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KSOProductBuildVer">
    <vt:lpwstr>2052-11.1.0.10314</vt:lpwstr>
  </property>
</Properties>
</file>