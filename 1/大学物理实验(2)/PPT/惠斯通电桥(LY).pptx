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623" r:id="rId3"/>
    <p:sldId id="541" r:id="rId4"/>
    <p:sldId id="558" r:id="rId5"/>
    <p:sldId id="616" r:id="rId6"/>
    <p:sldId id="544" r:id="rId7"/>
    <p:sldId id="546" r:id="rId8"/>
    <p:sldId id="571" r:id="rId9"/>
    <p:sldId id="626" r:id="rId10"/>
    <p:sldId id="627" r:id="rId12"/>
    <p:sldId id="628" r:id="rId13"/>
    <p:sldId id="629" r:id="rId14"/>
    <p:sldId id="614" r:id="rId15"/>
    <p:sldId id="547" r:id="rId16"/>
    <p:sldId id="598" r:id="rId17"/>
    <p:sldId id="612" r:id="rId18"/>
  </p:sldIdLst>
  <p:sldSz cx="9144000" cy="6858000" type="screen4x3"/>
  <p:notesSz cx="6858000" cy="9144000"/>
  <p:custDataLst>
    <p:tags r:id="rId22"/>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rgbClr val="FF33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3300"/>
    </p:penClr>
    <p:extLst>
      <p:ext uri="{2FDB2607-1784-4EEB-B798-7EB5836EED8A}">
        <p14:showMediaCtrls xmlns:p14="http://schemas.microsoft.com/office/powerpoint/2010/main" val="1"/>
      </p:ext>
    </p:extLst>
  </p:showPr>
  <p:clrMru>
    <a:srgbClr val="CC0000"/>
    <a:srgbClr val="003399"/>
    <a:srgbClr val="FF0000"/>
    <a:srgbClr val="000066"/>
    <a:srgbClr val="FF33CC"/>
    <a:srgbClr val="660033"/>
    <a:srgbClr val="CC3300"/>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717"/>
    <p:restoredTop sz="94065"/>
  </p:normalViewPr>
  <p:slideViewPr>
    <p:cSldViewPr showGuides="1">
      <p:cViewPr varScale="1">
        <p:scale>
          <a:sx n="70" d="100"/>
          <a:sy n="70" d="100"/>
        </p:scale>
        <p:origin x="13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3.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spcBef>
                <a:spcPct val="20000"/>
              </a:spcBef>
              <a:defRPr sz="1200" noProof="1"/>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spcBef>
                <a:spcPct val="20000"/>
              </a:spcBef>
              <a:defRPr sz="1200" noProof="1">
                <a:cs typeface="+mn-ea"/>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5A2BEBE5-2345-4614-AACA-758213A49EEC}" type="datetimeFigureOut">
              <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1229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spcBef>
                <a:spcPct val="20000"/>
              </a:spcBef>
              <a:defRPr sz="1200" noProof="1"/>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spcBef>
                <a:spcPct val="20000"/>
              </a:spcBef>
              <a:defRPr sz="1200" noProof="1">
                <a:cs typeface="+mn-ea"/>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8C7724D5-8D24-499D-A905-2C2C2F094196}" type="slidenum">
              <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幻灯片图像占位符 1"/>
          <p:cNvSpPr>
            <a:spLocks noGrp="1" noRot="1" noTextEdit="1"/>
          </p:cNvSpPr>
          <p:nvPr>
            <p:ph type="sldImg"/>
          </p:nvPr>
        </p:nvSpPr>
        <p:spPr>
          <a:xfrm>
            <a:off x="1165225" y="1241425"/>
            <a:ext cx="4468813" cy="3351213"/>
          </a:xfrm>
          <a:ln/>
        </p:spPr>
      </p:sp>
      <p:sp>
        <p:nvSpPr>
          <p:cNvPr id="24578" name="文本占位符 2"/>
          <p:cNvSpPr/>
          <p:nvPr>
            <p:ph type="body"/>
          </p:nvPr>
        </p:nvSpPr>
        <p:spPr>
          <a:xfrm>
            <a:off x="679450" y="4778375"/>
            <a:ext cx="5438775" cy="3910013"/>
          </a:xfrm>
          <a:ln/>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E591CCBB-4513-459D-9773-9C296D4F5B00}"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33B9BE2E-8A6F-4444-BB31-BFB51ABD8164}"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4E0D85E9-0420-4CFD-916C-FAC970DDBA3A}"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4"/>
          <p:cNvSpPr>
            <a:spLocks noGrp="1"/>
          </p:cNvSpPr>
          <p:nvPr>
            <p:ph type="dt" sz="half" idx="1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5"/>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10FCE7D0-6510-48CB-B10D-63ACC3E0418D}"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7"/>
          <p:cNvSpPr>
            <a:spLocks noGrp="1"/>
          </p:cNvSpPr>
          <p:nvPr>
            <p:ph type="ftr" sz="quarter" idx="1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104F9341-C707-4376-9874-B16E2CFF733A}"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7" name="日期占位符 2"/>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3"/>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4"/>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561AC920-8E06-46E1-9A22-5FB6930CC353}"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fld id="{1E40714A-5290-4428-9984-9F1E6A9F15C5}" type="datetime1">
              <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F5743454-3E4D-4618-9610-27B5C79BBABF}"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7" name="日期占位符 4"/>
          <p:cNvSpPr>
            <a:spLocks noGrp="1"/>
          </p:cNvSpPr>
          <p:nvPr>
            <p:ph type="dt" sz="half" idx="1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5"/>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5F7CBB62-6210-4D1D-865E-71D19F0D3200}"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7" name="日期占位符 4"/>
          <p:cNvSpPr>
            <a:spLocks noGrp="1"/>
          </p:cNvSpPr>
          <p:nvPr>
            <p:ph type="dt" sz="half" idx="1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5"/>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6"/>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48E269FC-6A4D-430B-A4F8-5C321823451C}"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BCB20FAE-758E-47AE-8507-9E8C9F06B4D7}"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E2BF9F38-CE31-4374-9F95-6F16CCB24B12}"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1027"/>
          <p:cNvSpPr>
            <a:spLocks noGrp="1"/>
          </p:cNvSpPr>
          <p:nvPr>
            <p:ph type="dt" sz="half" idx="1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fld id="{C559827C-347E-44B1-AA05-1524C946F751}" type="datetime1">
              <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1028"/>
          <p:cNvSpPr>
            <a:spLocks noGrp="1"/>
          </p:cNvSpPr>
          <p:nvPr>
            <p:ph type="ftr" sz="quarter" idx="1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1E4D0AA8-C1A9-462D-A65E-28E70441224F}"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685800" y="1981200"/>
            <a:ext cx="77724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3"/>
          <p:cNvSpPr>
            <a:spLocks noGrp="1"/>
          </p:cNvSpPr>
          <p:nvPr>
            <p:ph type="dt" sz="half" idx="2"/>
          </p:nvPr>
        </p:nvSpPr>
        <p:spPr>
          <a:xfrm>
            <a:off x="685800" y="6248400"/>
            <a:ext cx="1905000" cy="457200"/>
          </a:xfrm>
          <a:prstGeom prst="rect">
            <a:avLst/>
          </a:prstGeom>
          <a:noFill/>
          <a:ln w="9525">
            <a:noFill/>
          </a:ln>
        </p:spPr>
        <p:txBody>
          <a:bodyPr/>
          <a:lstStyle>
            <a:lvl1pPr>
              <a:defRPr/>
            </a:lvl1pPr>
          </a:lstStyle>
          <a:p>
            <a:pPr marL="0" marR="0" lvl="0" indent="0" algn="l" defTabSz="914400" rtl="0" eaLnBrk="1" fontAlgn="base" latinLnBrk="0" hangingPunct="1">
              <a:lnSpc>
                <a:spcPct val="100000"/>
              </a:lnSpc>
              <a:spcBef>
                <a:spcPct val="20000"/>
              </a:spcBef>
              <a:spcAft>
                <a:spcPct val="0"/>
              </a:spcAft>
              <a:buClrTx/>
              <a:buSzTx/>
              <a:buFontTx/>
              <a:buNone/>
              <a:defRPr/>
            </a:pPr>
            <a:fld id="{E2B5D66A-4B94-4463-98BE-72770A4D33D0}" type="datetime1">
              <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
        <p:nvSpPr>
          <p:cNvPr id="8" name="页脚占位符 4"/>
          <p:cNvSpPr>
            <a:spLocks noGrp="1"/>
          </p:cNvSpPr>
          <p:nvPr>
            <p:ph type="ftr" sz="quarter" idx="3"/>
          </p:nvPr>
        </p:nvSpPr>
        <p:spPr>
          <a:xfrm>
            <a:off x="3124200" y="6248400"/>
            <a:ext cx="2895600" cy="457200"/>
          </a:xfrm>
          <a:prstGeom prst="rect">
            <a:avLst/>
          </a:prstGeom>
          <a:noFill/>
          <a:ln w="9525">
            <a:noFill/>
          </a:ln>
        </p:spPr>
        <p:txBody>
          <a:bodyPr/>
          <a:lstStyle>
            <a:lvl1pPr>
              <a:defRPr/>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248400"/>
            <a:ext cx="1905000" cy="457200"/>
          </a:xfrm>
          <a:prstGeom prst="rect">
            <a:avLst/>
          </a:prstGeom>
          <a:noFill/>
          <a:ln w="9525">
            <a:noFill/>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E2C030EA-33CD-48A8-A1FE-E360B1456806}"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eaLnBrk="1" hangingPunct="1">
              <a:spcBef>
                <a:spcPct val="20000"/>
              </a:spcBef>
              <a:defRPr sz="1400" noProof="1">
                <a:cs typeface="+mn-ea"/>
              </a:defRPr>
            </a:lvl1pPr>
          </a:lstStyle>
          <a:p>
            <a:pPr marL="0" marR="0" lvl="0" indent="0" algn="l" defTabSz="914400" rtl="0" eaLnBrk="1" fontAlgn="base" latinLnBrk="0" hangingPunct="1">
              <a:lnSpc>
                <a:spcPct val="100000"/>
              </a:lnSpc>
              <a:spcBef>
                <a:spcPct val="20000"/>
              </a:spcBef>
              <a:spcAft>
                <a:spcPct val="0"/>
              </a:spcAft>
              <a:buClrTx/>
              <a:buSzTx/>
              <a:buFontTx/>
              <a:buNone/>
              <a:defRPr/>
            </a:pPr>
            <a:fld id="{A847A55D-057D-449B-B2BE-ACB95CF62993}" type="datetime1">
              <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altLang="en-US"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eaLnBrk="1" hangingPunct="1">
              <a:spcBef>
                <a:spcPct val="20000"/>
              </a:spcBef>
              <a:defRPr sz="1400" noProof="1"/>
            </a:lvl1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eaLnBrk="1" hangingPunct="1">
              <a:spcBef>
                <a:spcPct val="20000"/>
              </a:spcBef>
              <a:defRPr sz="1400" noProof="1">
                <a:cs typeface="+mn-ea"/>
              </a:defRPr>
            </a:lvl1pPr>
          </a:lstStyle>
          <a:p>
            <a:pPr marL="0" marR="0" lvl="0" indent="0" algn="r" defTabSz="914400" rtl="0" eaLnBrk="1" fontAlgn="base" latinLnBrk="0" hangingPunct="1">
              <a:lnSpc>
                <a:spcPct val="100000"/>
              </a:lnSpc>
              <a:spcBef>
                <a:spcPct val="20000"/>
              </a:spcBef>
              <a:spcAft>
                <a:spcPct val="0"/>
              </a:spcAft>
              <a:buClrTx/>
              <a:buSzTx/>
              <a:buFontTx/>
              <a:buNone/>
              <a:defRPr/>
            </a:pPr>
            <a:fld id="{AA980549-3DB2-4899-A449-975A2097BAF1}" type="slidenum">
              <a:rPr kumimoji="0" lang="en-US" alt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ea"/>
              </a:rPr>
            </a:fld>
            <a:endParaRPr kumimoji="0" lang="zh-CN" sz="1400" b="0"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2pPr>
      <a:lvl3pPr marL="914400" lvl="2"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3pPr>
      <a:lvl4pPr marL="1371600" lvl="3"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4pPr>
      <a:lvl5pPr marL="1828800" lvl="4"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5pPr>
      <a:lvl6pPr marL="2286000" lvl="5"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6pPr>
      <a:lvl7pPr marL="2743200" lvl="6"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7pPr>
      <a:lvl8pPr marL="3200400" lvl="7"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8pPr>
      <a:lvl9pPr marL="3657600" lvl="8" indent="0" algn="l" defTabSz="914400" eaLnBrk="1" fontAlgn="base" latinLnBrk="0" hangingPunct="1">
        <a:lnSpc>
          <a:spcPct val="100000"/>
        </a:lnSpc>
        <a:spcBef>
          <a:spcPct val="20000"/>
        </a:spcBef>
        <a:spcAft>
          <a:spcPct val="0"/>
        </a:spcAft>
        <a:buNone/>
        <a:defRPr sz="3600" b="0" i="0" u="none" kern="1200" baseline="0">
          <a:solidFill>
            <a:srgbClr val="FF330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GIF"/></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3.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GIF"/></Relationships>
</file>

<file path=ppt/slides/_rels/slide6.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jpe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4.wmf"/><Relationship Id="rId3" Type="http://schemas.openxmlformats.org/officeDocument/2006/relationships/oleObject" Target="../embeddings/oleObject4.bin"/><Relationship Id="rId2" Type="http://schemas.openxmlformats.org/officeDocument/2006/relationships/image" Target="../media/image13.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5"/>
          <p:cNvSpPr/>
          <p:nvPr/>
        </p:nvSpPr>
        <p:spPr>
          <a:xfrm>
            <a:off x="684213" y="112713"/>
            <a:ext cx="5040312" cy="579437"/>
          </a:xfrm>
          <a:prstGeom prst="rect">
            <a:avLst/>
          </a:prstGeom>
          <a:noFill/>
          <a:ln w="9525">
            <a:noFill/>
          </a:ln>
        </p:spPr>
        <p:txBody>
          <a:bodyPr anchor="ctr" anchorCtr="0">
            <a:spAutoFit/>
          </a:bodyPr>
          <a:p>
            <a:pPr eaLnBrk="0" hangingPunct="0"/>
            <a:r>
              <a:rPr lang="zh-CN" altLang="en-US" sz="3200" b="1" dirty="0">
                <a:solidFill>
                  <a:schemeClr val="tx1"/>
                </a:solidFill>
                <a:latin typeface="Arial" panose="020B0604020202020204" pitchFamily="34" charset="0"/>
                <a:ea typeface="黑体" panose="02010609060101010101" pitchFamily="49" charset="-122"/>
              </a:rPr>
              <a:t>引言</a:t>
            </a:r>
            <a:endParaRPr lang="zh-CN" altLang="en-US" sz="3200" b="1" dirty="0">
              <a:solidFill>
                <a:schemeClr val="tx1"/>
              </a:solidFill>
              <a:latin typeface="Arial" panose="020B0604020202020204" pitchFamily="34" charset="0"/>
              <a:ea typeface="黑体" panose="02010609060101010101" pitchFamily="49" charset="-122"/>
            </a:endParaRPr>
          </a:p>
        </p:txBody>
      </p:sp>
      <p:sp>
        <p:nvSpPr>
          <p:cNvPr id="16386" name="Rectangle 6"/>
          <p:cNvSpPr/>
          <p:nvPr/>
        </p:nvSpPr>
        <p:spPr>
          <a:xfrm>
            <a:off x="582613" y="1844675"/>
            <a:ext cx="8561387" cy="2041525"/>
          </a:xfrm>
          <a:prstGeom prst="rect">
            <a:avLst/>
          </a:prstGeom>
          <a:noFill/>
          <a:ln w="9525">
            <a:noFill/>
          </a:ln>
        </p:spPr>
        <p:txBody>
          <a:bodyPr anchor="ctr" anchorCtr="0">
            <a:spAutoFit/>
          </a:bodyPr>
          <a:p>
            <a:pPr eaLnBrk="0" hangingPunct="0"/>
            <a:r>
              <a:rPr lang="zh-CN" altLang="en-US" sz="3200" b="1" dirty="0">
                <a:solidFill>
                  <a:schemeClr val="hlink"/>
                </a:solidFill>
                <a:latin typeface="楷体" panose="02010609060101010101" pitchFamily="49" charset="-122"/>
                <a:ea typeface="楷体" panose="02010609060101010101" pitchFamily="49" charset="-122"/>
              </a:rPr>
              <a:t>*</a:t>
            </a:r>
            <a:r>
              <a:rPr lang="zh-CN" altLang="en-US" sz="3200" b="1" dirty="0">
                <a:solidFill>
                  <a:schemeClr val="tx1"/>
                </a:solidFill>
                <a:latin typeface="楷体" panose="02010609060101010101" pitchFamily="49" charset="-122"/>
                <a:ea typeface="楷体" panose="02010609060101010101" pitchFamily="49" charset="-122"/>
              </a:rPr>
              <a:t>采用伏安法测量电阻时由于原理本身不可避免地带来误差（如内测法测电阻值偏小，外测法测量值偏大）；经改进的电桥线路克服了这些缺点</a:t>
            </a:r>
            <a:r>
              <a:rPr lang="en-US" altLang="zh-CN" sz="3200" b="1" dirty="0">
                <a:solidFill>
                  <a:schemeClr val="tx1"/>
                </a:solidFill>
                <a:latin typeface="楷体" panose="02010609060101010101" pitchFamily="49" charset="-122"/>
                <a:ea typeface="楷体" panose="02010609060101010101" pitchFamily="49" charset="-122"/>
              </a:rPr>
              <a:t>.</a:t>
            </a:r>
            <a:endParaRPr lang="en-US" altLang="zh-CN" sz="3200" b="1" dirty="0">
              <a:solidFill>
                <a:schemeClr val="tx1"/>
              </a:solidFill>
              <a:latin typeface="楷体" panose="02010609060101010101" pitchFamily="49" charset="-122"/>
              <a:ea typeface="楷体" panose="02010609060101010101" pitchFamily="49" charset="-122"/>
            </a:endParaRPr>
          </a:p>
        </p:txBody>
      </p:sp>
      <p:sp>
        <p:nvSpPr>
          <p:cNvPr id="16387" name="Rectangle 7"/>
          <p:cNvSpPr/>
          <p:nvPr/>
        </p:nvSpPr>
        <p:spPr>
          <a:xfrm>
            <a:off x="582613" y="3933825"/>
            <a:ext cx="8561387" cy="1554163"/>
          </a:xfrm>
          <a:prstGeom prst="rect">
            <a:avLst/>
          </a:prstGeom>
          <a:noFill/>
          <a:ln w="9525">
            <a:noFill/>
          </a:ln>
        </p:spPr>
        <p:txBody>
          <a:bodyPr anchor="ctr" anchorCtr="0">
            <a:spAutoFit/>
          </a:bodyPr>
          <a:p>
            <a:pPr eaLnBrk="0" hangingPunct="0"/>
            <a:r>
              <a:rPr lang="zh-CN" altLang="en-US" sz="3200" b="1" dirty="0">
                <a:solidFill>
                  <a:schemeClr val="hlink"/>
                </a:solidFill>
                <a:latin typeface="楷体" panose="02010609060101010101" pitchFamily="49" charset="-122"/>
                <a:ea typeface="楷体" panose="02010609060101010101" pitchFamily="49" charset="-122"/>
              </a:rPr>
              <a:t>*</a:t>
            </a:r>
            <a:r>
              <a:rPr lang="zh-CN" altLang="en-US" sz="3200" b="1" dirty="0">
                <a:solidFill>
                  <a:schemeClr val="tx1"/>
                </a:solidFill>
                <a:latin typeface="Arial" panose="020B0604020202020204" pitchFamily="34" charset="0"/>
                <a:ea typeface="楷体" panose="02010609060101010101" pitchFamily="49" charset="-122"/>
              </a:rPr>
              <a:t>惠斯通电桥是一种常用的电学仪器，可用来测量电阻、电容、电感等电学量，还可通过参量对温度、压力等非电学量进行测量</a:t>
            </a:r>
            <a:r>
              <a:rPr lang="en-US" altLang="zh-CN" sz="3200" b="1" dirty="0">
                <a:solidFill>
                  <a:schemeClr val="tx1"/>
                </a:solidFill>
                <a:latin typeface="Arial" panose="020B0604020202020204" pitchFamily="34" charset="0"/>
                <a:ea typeface="楷体" panose="02010609060101010101" pitchFamily="49" charset="-122"/>
              </a:rPr>
              <a:t>.</a:t>
            </a:r>
            <a:endParaRPr lang="en-US" altLang="zh-CN" sz="3200" b="1" dirty="0">
              <a:solidFill>
                <a:schemeClr val="tx1"/>
              </a:solidFill>
              <a:latin typeface="Arial" panose="020B0604020202020204" pitchFamily="34" charset="0"/>
              <a:ea typeface="楷体" panose="02010609060101010101" pitchFamily="49" charset="-122"/>
            </a:endParaRPr>
          </a:p>
        </p:txBody>
      </p:sp>
      <p:sp>
        <p:nvSpPr>
          <p:cNvPr id="16388" name="Rectangle 8"/>
          <p:cNvSpPr/>
          <p:nvPr/>
        </p:nvSpPr>
        <p:spPr>
          <a:xfrm>
            <a:off x="582613" y="5589588"/>
            <a:ext cx="8561387" cy="1066800"/>
          </a:xfrm>
          <a:prstGeom prst="rect">
            <a:avLst/>
          </a:prstGeom>
          <a:solidFill>
            <a:schemeClr val="bg1"/>
          </a:solidFill>
          <a:ln w="9525">
            <a:noFill/>
          </a:ln>
        </p:spPr>
        <p:txBody>
          <a:bodyPr anchor="ctr" anchorCtr="0">
            <a:spAutoFit/>
          </a:bodyPr>
          <a:p>
            <a:pPr eaLnBrk="0" hangingPunct="0"/>
            <a:r>
              <a:rPr lang="zh-CN" altLang="en-US" sz="3200" b="1" dirty="0">
                <a:solidFill>
                  <a:schemeClr val="hlink"/>
                </a:solidFill>
                <a:latin typeface="楷体" panose="02010609060101010101" pitchFamily="49" charset="-122"/>
                <a:ea typeface="楷体" panose="02010609060101010101" pitchFamily="49" charset="-122"/>
              </a:rPr>
              <a:t>*</a:t>
            </a:r>
            <a:r>
              <a:rPr lang="zh-CN" altLang="en-US" sz="3200" b="1" dirty="0">
                <a:solidFill>
                  <a:schemeClr val="tx1"/>
                </a:solidFill>
                <a:latin typeface="Arial" panose="020B0604020202020204" pitchFamily="34" charset="0"/>
                <a:ea typeface="楷体" panose="02010609060101010101" pitchFamily="49" charset="-122"/>
              </a:rPr>
              <a:t>箱式惠斯通电桥具有操作简单、测量精确等优点，广泛应用于工业生产和自动控制系统</a:t>
            </a:r>
            <a:r>
              <a:rPr lang="en-US" altLang="zh-CN" sz="3200" b="1" dirty="0">
                <a:solidFill>
                  <a:schemeClr val="tx1"/>
                </a:solidFill>
                <a:latin typeface="Arial" panose="020B0604020202020204" pitchFamily="34" charset="0"/>
                <a:ea typeface="楷体" panose="02010609060101010101" pitchFamily="49" charset="-122"/>
              </a:rPr>
              <a:t>.</a:t>
            </a:r>
            <a:endParaRPr lang="en-US" altLang="zh-CN" sz="3200" b="1" dirty="0">
              <a:solidFill>
                <a:schemeClr val="tx1"/>
              </a:solidFill>
              <a:latin typeface="Arial" panose="020B0604020202020204" pitchFamily="34" charset="0"/>
              <a:ea typeface="楷体" panose="02010609060101010101" pitchFamily="49" charset="-122"/>
            </a:endParaRPr>
          </a:p>
        </p:txBody>
      </p:sp>
      <p:sp>
        <p:nvSpPr>
          <p:cNvPr id="16389" name="Rectangle 9"/>
          <p:cNvSpPr/>
          <p:nvPr/>
        </p:nvSpPr>
        <p:spPr>
          <a:xfrm>
            <a:off x="582613" y="777875"/>
            <a:ext cx="8561387" cy="1066800"/>
          </a:xfrm>
          <a:prstGeom prst="rect">
            <a:avLst/>
          </a:prstGeom>
          <a:noFill/>
          <a:ln w="9525">
            <a:noFill/>
          </a:ln>
        </p:spPr>
        <p:txBody>
          <a:bodyPr anchor="ctr" anchorCtr="0">
            <a:spAutoFit/>
          </a:bodyPr>
          <a:p>
            <a:pPr eaLnBrk="0" hangingPunct="0"/>
            <a:r>
              <a:rPr lang="zh-CN" altLang="en-US" sz="3200" b="1" dirty="0">
                <a:solidFill>
                  <a:schemeClr val="hlink"/>
                </a:solidFill>
                <a:latin typeface="楷体" panose="02010609060101010101" pitchFamily="49" charset="-122"/>
                <a:ea typeface="楷体" panose="02010609060101010101" pitchFamily="49" charset="-122"/>
              </a:rPr>
              <a:t>*</a:t>
            </a:r>
            <a:r>
              <a:rPr lang="zh-CN" altLang="zh-CN" sz="3200" b="1" dirty="0">
                <a:solidFill>
                  <a:schemeClr val="tx1"/>
                </a:solidFill>
                <a:latin typeface="楷体" panose="02010609060101010101" pitchFamily="49" charset="-122"/>
                <a:ea typeface="楷体" panose="02010609060101010101" pitchFamily="49" charset="-122"/>
              </a:rPr>
              <a:t>测量电阻的方法很多，不同电阻值的电阻测量方法是不相同的</a:t>
            </a:r>
            <a:r>
              <a:rPr lang="en-US" altLang="zh-CN" sz="3200" b="1" dirty="0">
                <a:solidFill>
                  <a:schemeClr val="tx1"/>
                </a:solidFill>
                <a:latin typeface="楷体" panose="02010609060101010101" pitchFamily="49" charset="-122"/>
                <a:ea typeface="楷体" panose="02010609060101010101" pitchFamily="49" charset="-122"/>
              </a:rPr>
              <a:t>.</a:t>
            </a:r>
            <a:endParaRPr lang="en-US" altLang="zh-CN" sz="3200" b="1"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431141"/>
          <p:cNvSpPr txBox="1"/>
          <p:nvPr/>
        </p:nvSpPr>
        <p:spPr>
          <a:xfrm>
            <a:off x="179388" y="173038"/>
            <a:ext cx="3455987" cy="519112"/>
          </a:xfrm>
          <a:prstGeom prst="rect">
            <a:avLst/>
          </a:prstGeom>
          <a:gradFill rotWithShape="0">
            <a:gsLst>
              <a:gs pos="0">
                <a:srgbClr val="ADB044"/>
              </a:gs>
              <a:gs pos="50000">
                <a:srgbClr val="FFFFFF"/>
              </a:gs>
              <a:gs pos="100000">
                <a:srgbClr val="ADB044"/>
              </a:gs>
            </a:gsLst>
            <a:lin ang="5400000" scaled="1"/>
            <a:tileRect/>
          </a:gradFill>
          <a:ln w="9525">
            <a:noFill/>
          </a:ln>
          <a:effectLst>
            <a:outerShdw dist="162639" dir="18519588" algn="ctr" rotWithShape="0">
              <a:srgbClr val="D9FB9D"/>
            </a:outerShdw>
          </a:effectLst>
        </p:spPr>
        <p:txBody>
          <a:bodyPr lIns="92075" tIns="46038" rIns="92075" bIns="46038" anchor="ctr" anchorCtr="0"/>
          <a:p>
            <a:pPr eaLnBrk="0" hangingPunct="0"/>
            <a:r>
              <a:rPr lang="zh-CN" altLang="en-US" sz="3200" b="1" dirty="0">
                <a:latin typeface="楷体_GB2312" panose="02010609030101010101" pitchFamily="1" charset="-122"/>
                <a:ea typeface="楷体_GB2312" panose="02010609030101010101" pitchFamily="1" charset="-122"/>
              </a:rPr>
              <a:t>一、实验简介：</a:t>
            </a:r>
            <a:endParaRPr lang="zh-CN" altLang="en-US" sz="3200" b="1" dirty="0">
              <a:latin typeface="楷体_GB2312" panose="02010609030101010101" pitchFamily="1" charset="-122"/>
              <a:ea typeface="楷体_GB2312" panose="02010609030101010101" pitchFamily="1" charset="-122"/>
            </a:endParaRPr>
          </a:p>
        </p:txBody>
      </p:sp>
      <p:sp>
        <p:nvSpPr>
          <p:cNvPr id="431143" name="矩形 431142"/>
          <p:cNvSpPr/>
          <p:nvPr/>
        </p:nvSpPr>
        <p:spPr>
          <a:xfrm>
            <a:off x="0" y="765175"/>
            <a:ext cx="8459788" cy="1008063"/>
          </a:xfrm>
          <a:prstGeom prst="rect">
            <a:avLst/>
          </a:prstGeom>
          <a:noFill/>
          <a:ln w="9525">
            <a:noFill/>
          </a:ln>
        </p:spPr>
        <p:txBody>
          <a:bodyPr anchor="t" anchorCtr="0"/>
          <a:p>
            <a:pPr indent="767080">
              <a:spcBef>
                <a:spcPct val="20000"/>
              </a:spcBef>
            </a:pPr>
            <a:r>
              <a:rPr lang="en-US" altLang="zh-CN" sz="2800" b="1" dirty="0">
                <a:solidFill>
                  <a:srgbClr val="000066"/>
                </a:solidFill>
                <a:latin typeface="楷体_GB2312" panose="02010609030101010101" pitchFamily="1" charset="-122"/>
                <a:ea typeface="楷体_GB2312" panose="02010609030101010101" pitchFamily="1" charset="-122"/>
              </a:rPr>
              <a:t>1</a:t>
            </a:r>
            <a:r>
              <a:rPr lang="zh-CN" altLang="en-US" sz="2800" b="1" dirty="0">
                <a:solidFill>
                  <a:srgbClr val="000066"/>
                </a:solidFill>
                <a:latin typeface="楷体_GB2312" panose="02010609030101010101" pitchFamily="1" charset="-122"/>
                <a:ea typeface="楷体_GB2312" panose="02010609030101010101" pitchFamily="1" charset="-122"/>
              </a:rPr>
              <a:t>．测量电阻的方法很多，不同电阻值的电阻测量方法是不相同的。</a:t>
            </a:r>
            <a:endParaRPr lang="zh-CN" altLang="en-US" sz="2800" b="1" dirty="0">
              <a:solidFill>
                <a:srgbClr val="000066"/>
              </a:solidFill>
              <a:latin typeface="楷体_GB2312" panose="02010609030101010101" pitchFamily="1" charset="-122"/>
              <a:ea typeface="楷体_GB2312" panose="02010609030101010101" pitchFamily="1" charset="-122"/>
            </a:endParaRPr>
          </a:p>
        </p:txBody>
      </p:sp>
      <p:grpSp>
        <p:nvGrpSpPr>
          <p:cNvPr id="431168" name="组合 431167"/>
          <p:cNvGrpSpPr/>
          <p:nvPr/>
        </p:nvGrpSpPr>
        <p:grpSpPr>
          <a:xfrm rot="5400000">
            <a:off x="4040188" y="-290512"/>
            <a:ext cx="409575" cy="5400675"/>
            <a:chOff x="2517" y="1661"/>
            <a:chExt cx="499" cy="771"/>
          </a:xfrm>
        </p:grpSpPr>
        <p:sp>
          <p:nvSpPr>
            <p:cNvPr id="17412" name="直接连接符 431168"/>
            <p:cNvSpPr/>
            <p:nvPr/>
          </p:nvSpPr>
          <p:spPr>
            <a:xfrm>
              <a:off x="2517" y="2046"/>
              <a:ext cx="182" cy="0"/>
            </a:xfrm>
            <a:prstGeom prst="line">
              <a:avLst/>
            </a:prstGeom>
            <a:ln w="9525" cap="flat" cmpd="sng">
              <a:solidFill>
                <a:schemeClr val="tx1"/>
              </a:solidFill>
              <a:prstDash val="solid"/>
              <a:round/>
              <a:headEnd type="none" w="med" len="med"/>
              <a:tailEnd type="none" w="med" len="med"/>
            </a:ln>
          </p:spPr>
        </p:sp>
        <p:grpSp>
          <p:nvGrpSpPr>
            <p:cNvPr id="17413" name="组合 431169"/>
            <p:cNvGrpSpPr/>
            <p:nvPr/>
          </p:nvGrpSpPr>
          <p:grpSpPr>
            <a:xfrm>
              <a:off x="2699" y="1661"/>
              <a:ext cx="317" cy="771"/>
              <a:chOff x="3289" y="1616"/>
              <a:chExt cx="317" cy="771"/>
            </a:xfrm>
          </p:grpSpPr>
          <p:sp>
            <p:nvSpPr>
              <p:cNvPr id="17414" name="直接连接符 431170"/>
              <p:cNvSpPr/>
              <p:nvPr/>
            </p:nvSpPr>
            <p:spPr>
              <a:xfrm>
                <a:off x="3289" y="1616"/>
                <a:ext cx="0" cy="771"/>
              </a:xfrm>
              <a:prstGeom prst="line">
                <a:avLst/>
              </a:prstGeom>
              <a:ln w="9525" cap="flat" cmpd="sng">
                <a:solidFill>
                  <a:schemeClr val="tx1"/>
                </a:solidFill>
                <a:prstDash val="solid"/>
                <a:round/>
                <a:headEnd type="none" w="med" len="med"/>
                <a:tailEnd type="none" w="med" len="med"/>
              </a:ln>
            </p:spPr>
          </p:sp>
          <p:sp>
            <p:nvSpPr>
              <p:cNvPr id="17415" name="直接连接符 431171"/>
              <p:cNvSpPr/>
              <p:nvPr/>
            </p:nvSpPr>
            <p:spPr>
              <a:xfrm>
                <a:off x="3289" y="1616"/>
                <a:ext cx="317" cy="0"/>
              </a:xfrm>
              <a:prstGeom prst="line">
                <a:avLst/>
              </a:prstGeom>
              <a:ln w="9525" cap="flat" cmpd="sng">
                <a:solidFill>
                  <a:schemeClr val="tx1"/>
                </a:solidFill>
                <a:prstDash val="solid"/>
                <a:round/>
                <a:headEnd type="none" w="med" len="med"/>
                <a:tailEnd type="triangle" w="med" len="med"/>
              </a:ln>
            </p:spPr>
          </p:sp>
          <p:sp>
            <p:nvSpPr>
              <p:cNvPr id="17416" name="直接连接符 431172"/>
              <p:cNvSpPr/>
              <p:nvPr/>
            </p:nvSpPr>
            <p:spPr>
              <a:xfrm>
                <a:off x="3289" y="2001"/>
                <a:ext cx="317" cy="0"/>
              </a:xfrm>
              <a:prstGeom prst="line">
                <a:avLst/>
              </a:prstGeom>
              <a:ln w="9525" cap="flat" cmpd="sng">
                <a:solidFill>
                  <a:schemeClr val="tx1"/>
                </a:solidFill>
                <a:prstDash val="solid"/>
                <a:round/>
                <a:headEnd type="none" w="med" len="med"/>
                <a:tailEnd type="triangle" w="med" len="med"/>
              </a:ln>
            </p:spPr>
          </p:sp>
          <p:sp>
            <p:nvSpPr>
              <p:cNvPr id="17417" name="直接连接符 431173"/>
              <p:cNvSpPr/>
              <p:nvPr/>
            </p:nvSpPr>
            <p:spPr>
              <a:xfrm flipV="1">
                <a:off x="3289" y="2387"/>
                <a:ext cx="317" cy="0"/>
              </a:xfrm>
              <a:prstGeom prst="line">
                <a:avLst/>
              </a:prstGeom>
              <a:ln w="9525" cap="flat" cmpd="sng">
                <a:solidFill>
                  <a:schemeClr val="tx1"/>
                </a:solidFill>
                <a:prstDash val="solid"/>
                <a:round/>
                <a:headEnd type="none" w="med" len="med"/>
                <a:tailEnd type="triangle" w="med" len="med"/>
              </a:ln>
            </p:spPr>
          </p:sp>
        </p:grpSp>
      </p:grpSp>
      <p:sp>
        <p:nvSpPr>
          <p:cNvPr id="431180" name="文本框 431179"/>
          <p:cNvSpPr txBox="1"/>
          <p:nvPr/>
        </p:nvSpPr>
        <p:spPr>
          <a:xfrm>
            <a:off x="3421063" y="1628775"/>
            <a:ext cx="1727200" cy="528638"/>
          </a:xfrm>
          <a:prstGeom prst="rect">
            <a:avLst/>
          </a:prstGeom>
          <a:noFill/>
          <a:ln w="9525" cap="flat" cmpd="sng">
            <a:solidFill>
              <a:schemeClr val="tx1"/>
            </a:solidFill>
            <a:prstDash val="solid"/>
            <a:miter/>
            <a:headEnd type="none" w="med" len="med"/>
            <a:tailEnd type="none" w="med" len="med"/>
          </a:ln>
        </p:spPr>
        <p:txBody>
          <a:bodyPr lIns="90000" tIns="46800" rIns="90000" bIns="46800" anchor="t" anchorCtr="0">
            <a:spAutoFit/>
          </a:bodyPr>
          <a:p>
            <a:pPr algn="ctr">
              <a:spcBef>
                <a:spcPct val="50000"/>
              </a:spcBef>
            </a:pPr>
            <a:r>
              <a:rPr lang="zh-CN" altLang="en-US" sz="2800" dirty="0">
                <a:solidFill>
                  <a:srgbClr val="CC3300"/>
                </a:solidFill>
                <a:latin typeface="Times New Roman" panose="02020603050405020304" pitchFamily="18" charset="0"/>
                <a:ea typeface="楷体_GB2312" panose="02010609030101010101" pitchFamily="1" charset="-122"/>
              </a:rPr>
              <a:t>电阻测量</a:t>
            </a:r>
            <a:endParaRPr lang="zh-CN" altLang="en-US" sz="2800" dirty="0">
              <a:solidFill>
                <a:srgbClr val="CC3300"/>
              </a:solidFill>
              <a:latin typeface="Times New Roman" panose="02020603050405020304" pitchFamily="18" charset="0"/>
              <a:ea typeface="楷体_GB2312" panose="02010609030101010101" pitchFamily="1" charset="-122"/>
            </a:endParaRPr>
          </a:p>
        </p:txBody>
      </p:sp>
      <p:grpSp>
        <p:nvGrpSpPr>
          <p:cNvPr id="431193" name="组合 431192"/>
          <p:cNvGrpSpPr/>
          <p:nvPr/>
        </p:nvGrpSpPr>
        <p:grpSpPr>
          <a:xfrm rot="5400000">
            <a:off x="4008438" y="2906713"/>
            <a:ext cx="476250" cy="1803400"/>
            <a:chOff x="2517" y="1661"/>
            <a:chExt cx="499" cy="771"/>
          </a:xfrm>
        </p:grpSpPr>
        <p:sp>
          <p:nvSpPr>
            <p:cNvPr id="17420" name="直接连接符 431193"/>
            <p:cNvSpPr/>
            <p:nvPr/>
          </p:nvSpPr>
          <p:spPr>
            <a:xfrm>
              <a:off x="2517" y="2046"/>
              <a:ext cx="182" cy="0"/>
            </a:xfrm>
            <a:prstGeom prst="line">
              <a:avLst/>
            </a:prstGeom>
            <a:ln w="9525" cap="flat" cmpd="sng">
              <a:solidFill>
                <a:schemeClr val="tx1"/>
              </a:solidFill>
              <a:prstDash val="solid"/>
              <a:round/>
              <a:headEnd type="none" w="med" len="med"/>
              <a:tailEnd type="none" w="med" len="med"/>
            </a:ln>
          </p:spPr>
        </p:sp>
        <p:grpSp>
          <p:nvGrpSpPr>
            <p:cNvPr id="17421" name="组合 431194"/>
            <p:cNvGrpSpPr/>
            <p:nvPr/>
          </p:nvGrpSpPr>
          <p:grpSpPr>
            <a:xfrm>
              <a:off x="2699" y="1661"/>
              <a:ext cx="317" cy="771"/>
              <a:chOff x="3289" y="1616"/>
              <a:chExt cx="317" cy="771"/>
            </a:xfrm>
          </p:grpSpPr>
          <p:sp>
            <p:nvSpPr>
              <p:cNvPr id="17422" name="直接连接符 431195"/>
              <p:cNvSpPr/>
              <p:nvPr/>
            </p:nvSpPr>
            <p:spPr>
              <a:xfrm>
                <a:off x="3289" y="1616"/>
                <a:ext cx="0" cy="771"/>
              </a:xfrm>
              <a:prstGeom prst="line">
                <a:avLst/>
              </a:prstGeom>
              <a:ln w="9525" cap="flat" cmpd="sng">
                <a:solidFill>
                  <a:schemeClr val="tx1"/>
                </a:solidFill>
                <a:prstDash val="solid"/>
                <a:round/>
                <a:headEnd type="none" w="med" len="med"/>
                <a:tailEnd type="none" w="med" len="med"/>
              </a:ln>
            </p:spPr>
          </p:sp>
          <p:sp>
            <p:nvSpPr>
              <p:cNvPr id="17423" name="直接连接符 431196"/>
              <p:cNvSpPr/>
              <p:nvPr/>
            </p:nvSpPr>
            <p:spPr>
              <a:xfrm>
                <a:off x="3289" y="1616"/>
                <a:ext cx="317" cy="0"/>
              </a:xfrm>
              <a:prstGeom prst="line">
                <a:avLst/>
              </a:prstGeom>
              <a:ln w="9525" cap="flat" cmpd="sng">
                <a:solidFill>
                  <a:schemeClr val="tx1"/>
                </a:solidFill>
                <a:prstDash val="solid"/>
                <a:round/>
                <a:headEnd type="none" w="med" len="med"/>
                <a:tailEnd type="triangle" w="med" len="med"/>
              </a:ln>
            </p:spPr>
          </p:sp>
          <p:sp>
            <p:nvSpPr>
              <p:cNvPr id="17424" name="直接连接符 431197"/>
              <p:cNvSpPr/>
              <p:nvPr/>
            </p:nvSpPr>
            <p:spPr>
              <a:xfrm>
                <a:off x="3289" y="2001"/>
                <a:ext cx="317" cy="0"/>
              </a:xfrm>
              <a:prstGeom prst="line">
                <a:avLst/>
              </a:prstGeom>
              <a:ln w="9525" cap="flat" cmpd="sng">
                <a:solidFill>
                  <a:schemeClr val="tx1"/>
                </a:solidFill>
                <a:prstDash val="solid"/>
                <a:round/>
                <a:headEnd type="none" w="med" len="med"/>
                <a:tailEnd type="triangle" w="med" len="med"/>
              </a:ln>
            </p:spPr>
          </p:sp>
          <p:sp>
            <p:nvSpPr>
              <p:cNvPr id="17425" name="直接连接符 431198"/>
              <p:cNvSpPr/>
              <p:nvPr/>
            </p:nvSpPr>
            <p:spPr>
              <a:xfrm flipV="1">
                <a:off x="3289" y="2387"/>
                <a:ext cx="317" cy="0"/>
              </a:xfrm>
              <a:prstGeom prst="line">
                <a:avLst/>
              </a:prstGeom>
              <a:ln w="9525" cap="flat" cmpd="sng">
                <a:solidFill>
                  <a:schemeClr val="tx1"/>
                </a:solidFill>
                <a:prstDash val="solid"/>
                <a:round/>
                <a:headEnd type="none" w="med" len="med"/>
                <a:tailEnd type="triangle" w="med" len="med"/>
              </a:ln>
            </p:spPr>
          </p:sp>
        </p:grpSp>
      </p:grpSp>
      <p:grpSp>
        <p:nvGrpSpPr>
          <p:cNvPr id="431208" name="组合 431207"/>
          <p:cNvGrpSpPr/>
          <p:nvPr/>
        </p:nvGrpSpPr>
        <p:grpSpPr>
          <a:xfrm>
            <a:off x="6227763" y="3571875"/>
            <a:ext cx="1801812" cy="504825"/>
            <a:chOff x="3878" y="3203"/>
            <a:chExt cx="1135" cy="499"/>
          </a:xfrm>
        </p:grpSpPr>
        <p:sp>
          <p:nvSpPr>
            <p:cNvPr id="17427" name="直接连接符 431200"/>
            <p:cNvSpPr/>
            <p:nvPr/>
          </p:nvSpPr>
          <p:spPr>
            <a:xfrm rot="5400000">
              <a:off x="4331" y="3294"/>
              <a:ext cx="182" cy="0"/>
            </a:xfrm>
            <a:prstGeom prst="line">
              <a:avLst/>
            </a:prstGeom>
            <a:ln w="9525" cap="flat" cmpd="sng">
              <a:solidFill>
                <a:schemeClr val="tx1"/>
              </a:solidFill>
              <a:prstDash val="solid"/>
              <a:round/>
              <a:headEnd type="none" w="med" len="med"/>
              <a:tailEnd type="none" w="med" len="med"/>
            </a:ln>
          </p:spPr>
        </p:sp>
        <p:sp>
          <p:nvSpPr>
            <p:cNvPr id="17428" name="直接连接符 431202"/>
            <p:cNvSpPr/>
            <p:nvPr/>
          </p:nvSpPr>
          <p:spPr>
            <a:xfrm rot="5400000">
              <a:off x="4443" y="2815"/>
              <a:ext cx="0" cy="1135"/>
            </a:xfrm>
            <a:prstGeom prst="line">
              <a:avLst/>
            </a:prstGeom>
            <a:ln w="9525" cap="flat" cmpd="sng">
              <a:solidFill>
                <a:schemeClr val="tx1"/>
              </a:solidFill>
              <a:prstDash val="solid"/>
              <a:round/>
              <a:headEnd type="none" w="med" len="med"/>
              <a:tailEnd type="none" w="med" len="med"/>
            </a:ln>
          </p:spPr>
        </p:sp>
        <p:sp>
          <p:nvSpPr>
            <p:cNvPr id="17429" name="直接连接符 431203"/>
            <p:cNvSpPr/>
            <p:nvPr/>
          </p:nvSpPr>
          <p:spPr>
            <a:xfrm rot="5400000">
              <a:off x="4478" y="3541"/>
              <a:ext cx="317" cy="0"/>
            </a:xfrm>
            <a:prstGeom prst="line">
              <a:avLst/>
            </a:prstGeom>
            <a:ln w="9525" cap="flat" cmpd="sng">
              <a:solidFill>
                <a:schemeClr val="tx1"/>
              </a:solidFill>
              <a:prstDash val="solid"/>
              <a:round/>
              <a:headEnd type="none" w="med" len="med"/>
              <a:tailEnd type="triangle" w="med" len="med"/>
            </a:ln>
          </p:spPr>
        </p:sp>
        <p:sp>
          <p:nvSpPr>
            <p:cNvPr id="17430" name="直接连接符 431204"/>
            <p:cNvSpPr/>
            <p:nvPr/>
          </p:nvSpPr>
          <p:spPr>
            <a:xfrm rot="5400000">
              <a:off x="4087" y="3541"/>
              <a:ext cx="317" cy="0"/>
            </a:xfrm>
            <a:prstGeom prst="line">
              <a:avLst/>
            </a:prstGeom>
            <a:ln w="9525" cap="flat" cmpd="sng">
              <a:solidFill>
                <a:schemeClr val="tx1"/>
              </a:solidFill>
              <a:prstDash val="solid"/>
              <a:round/>
              <a:headEnd type="none" w="med" len="med"/>
              <a:tailEnd type="triangle" w="med" len="med"/>
            </a:ln>
          </p:spPr>
        </p:sp>
        <p:sp>
          <p:nvSpPr>
            <p:cNvPr id="17431" name="直接连接符 431205"/>
            <p:cNvSpPr/>
            <p:nvPr/>
          </p:nvSpPr>
          <p:spPr>
            <a:xfrm rot="5400000" flipV="1">
              <a:off x="3718" y="3541"/>
              <a:ext cx="317" cy="0"/>
            </a:xfrm>
            <a:prstGeom prst="line">
              <a:avLst/>
            </a:prstGeom>
            <a:ln w="9525" cap="flat" cmpd="sng">
              <a:solidFill>
                <a:schemeClr val="tx1"/>
              </a:solidFill>
              <a:prstDash val="solid"/>
              <a:round/>
              <a:headEnd type="none" w="med" len="med"/>
              <a:tailEnd type="triangle" w="med" len="med"/>
            </a:ln>
          </p:spPr>
        </p:sp>
        <p:sp>
          <p:nvSpPr>
            <p:cNvPr id="17432" name="直接连接符 431206"/>
            <p:cNvSpPr/>
            <p:nvPr/>
          </p:nvSpPr>
          <p:spPr>
            <a:xfrm rot="5400000">
              <a:off x="4851" y="3541"/>
              <a:ext cx="317" cy="0"/>
            </a:xfrm>
            <a:prstGeom prst="line">
              <a:avLst/>
            </a:prstGeom>
            <a:ln w="9525" cap="flat" cmpd="sng">
              <a:solidFill>
                <a:schemeClr val="tx1"/>
              </a:solidFill>
              <a:prstDash val="solid"/>
              <a:round/>
              <a:headEnd type="none" w="med" len="med"/>
              <a:tailEnd type="triangle" w="med" len="med"/>
            </a:ln>
          </p:spPr>
        </p:sp>
      </p:grpSp>
      <p:grpSp>
        <p:nvGrpSpPr>
          <p:cNvPr id="431209" name="组合 431208"/>
          <p:cNvGrpSpPr/>
          <p:nvPr/>
        </p:nvGrpSpPr>
        <p:grpSpPr>
          <a:xfrm>
            <a:off x="611188" y="3571875"/>
            <a:ext cx="1801812" cy="504825"/>
            <a:chOff x="3878" y="3203"/>
            <a:chExt cx="1135" cy="499"/>
          </a:xfrm>
        </p:grpSpPr>
        <p:sp>
          <p:nvSpPr>
            <p:cNvPr id="17434" name="直接连接符 431209"/>
            <p:cNvSpPr/>
            <p:nvPr/>
          </p:nvSpPr>
          <p:spPr>
            <a:xfrm rot="5400000">
              <a:off x="4331" y="3294"/>
              <a:ext cx="182" cy="0"/>
            </a:xfrm>
            <a:prstGeom prst="line">
              <a:avLst/>
            </a:prstGeom>
            <a:ln w="9525" cap="flat" cmpd="sng">
              <a:solidFill>
                <a:schemeClr val="tx1"/>
              </a:solidFill>
              <a:prstDash val="solid"/>
              <a:round/>
              <a:headEnd type="none" w="med" len="med"/>
              <a:tailEnd type="none" w="med" len="med"/>
            </a:ln>
          </p:spPr>
        </p:sp>
        <p:sp>
          <p:nvSpPr>
            <p:cNvPr id="17435" name="直接连接符 431210"/>
            <p:cNvSpPr/>
            <p:nvPr/>
          </p:nvSpPr>
          <p:spPr>
            <a:xfrm rot="5400000">
              <a:off x="4443" y="2815"/>
              <a:ext cx="0" cy="1135"/>
            </a:xfrm>
            <a:prstGeom prst="line">
              <a:avLst/>
            </a:prstGeom>
            <a:ln w="9525" cap="flat" cmpd="sng">
              <a:solidFill>
                <a:schemeClr val="tx1"/>
              </a:solidFill>
              <a:prstDash val="solid"/>
              <a:round/>
              <a:headEnd type="none" w="med" len="med"/>
              <a:tailEnd type="none" w="med" len="med"/>
            </a:ln>
          </p:spPr>
        </p:sp>
        <p:sp>
          <p:nvSpPr>
            <p:cNvPr id="17436" name="直接连接符 431211"/>
            <p:cNvSpPr/>
            <p:nvPr/>
          </p:nvSpPr>
          <p:spPr>
            <a:xfrm rot="5400000">
              <a:off x="4478" y="3541"/>
              <a:ext cx="317" cy="0"/>
            </a:xfrm>
            <a:prstGeom prst="line">
              <a:avLst/>
            </a:prstGeom>
            <a:ln w="9525" cap="flat" cmpd="sng">
              <a:solidFill>
                <a:schemeClr val="tx1"/>
              </a:solidFill>
              <a:prstDash val="solid"/>
              <a:round/>
              <a:headEnd type="none" w="med" len="med"/>
              <a:tailEnd type="triangle" w="med" len="med"/>
            </a:ln>
          </p:spPr>
        </p:sp>
        <p:sp>
          <p:nvSpPr>
            <p:cNvPr id="17437" name="直接连接符 431212"/>
            <p:cNvSpPr/>
            <p:nvPr/>
          </p:nvSpPr>
          <p:spPr>
            <a:xfrm rot="5400000">
              <a:off x="4087" y="3541"/>
              <a:ext cx="317" cy="0"/>
            </a:xfrm>
            <a:prstGeom prst="line">
              <a:avLst/>
            </a:prstGeom>
            <a:ln w="9525" cap="flat" cmpd="sng">
              <a:solidFill>
                <a:schemeClr val="tx1"/>
              </a:solidFill>
              <a:prstDash val="solid"/>
              <a:round/>
              <a:headEnd type="none" w="med" len="med"/>
              <a:tailEnd type="triangle" w="med" len="med"/>
            </a:ln>
          </p:spPr>
        </p:sp>
        <p:sp>
          <p:nvSpPr>
            <p:cNvPr id="17438" name="直接连接符 431213"/>
            <p:cNvSpPr/>
            <p:nvPr/>
          </p:nvSpPr>
          <p:spPr>
            <a:xfrm rot="5400000" flipV="1">
              <a:off x="3718" y="3541"/>
              <a:ext cx="317" cy="0"/>
            </a:xfrm>
            <a:prstGeom prst="line">
              <a:avLst/>
            </a:prstGeom>
            <a:ln w="9525" cap="flat" cmpd="sng">
              <a:solidFill>
                <a:schemeClr val="tx1"/>
              </a:solidFill>
              <a:prstDash val="solid"/>
              <a:round/>
              <a:headEnd type="none" w="med" len="med"/>
              <a:tailEnd type="triangle" w="med" len="med"/>
            </a:ln>
          </p:spPr>
        </p:sp>
        <p:sp>
          <p:nvSpPr>
            <p:cNvPr id="17439" name="直接连接符 431214"/>
            <p:cNvSpPr/>
            <p:nvPr/>
          </p:nvSpPr>
          <p:spPr>
            <a:xfrm rot="5400000">
              <a:off x="4851" y="3541"/>
              <a:ext cx="317" cy="0"/>
            </a:xfrm>
            <a:prstGeom prst="line">
              <a:avLst/>
            </a:prstGeom>
            <a:ln w="9525" cap="flat" cmpd="sng">
              <a:solidFill>
                <a:schemeClr val="tx1"/>
              </a:solidFill>
              <a:prstDash val="solid"/>
              <a:round/>
              <a:headEnd type="none" w="med" len="med"/>
              <a:tailEnd type="triangle" w="med" len="med"/>
            </a:ln>
          </p:spPr>
        </p:sp>
      </p:grpSp>
      <p:sp>
        <p:nvSpPr>
          <p:cNvPr id="431216" name="文本框 431215"/>
          <p:cNvSpPr txBox="1"/>
          <p:nvPr/>
        </p:nvSpPr>
        <p:spPr>
          <a:xfrm>
            <a:off x="611188" y="2636838"/>
            <a:ext cx="1943100" cy="893762"/>
          </a:xfrm>
          <a:prstGeom prst="rect">
            <a:avLst/>
          </a:prstGeom>
          <a:noFill/>
          <a:ln w="9525" cap="flat" cmpd="sng">
            <a:solidFill>
              <a:schemeClr val="tx1"/>
            </a:solidFill>
            <a:prstDash val="solid"/>
            <a:miter/>
            <a:headEnd type="none" w="med" len="med"/>
            <a:tailEnd type="none" w="med" len="med"/>
          </a:ln>
        </p:spPr>
        <p:txBody>
          <a:bodyPr lIns="90000" tIns="46800" rIns="90000" bIns="46800" anchor="t" anchorCtr="0">
            <a:spAutoFit/>
          </a:bodyPr>
          <a:p>
            <a:pPr algn="ctr"/>
            <a:r>
              <a:rPr lang="zh-CN" altLang="en-US" sz="2800" dirty="0">
                <a:solidFill>
                  <a:srgbClr val="800000"/>
                </a:solidFill>
                <a:latin typeface="Times New Roman" panose="02020603050405020304" pitchFamily="18" charset="0"/>
                <a:ea typeface="楷体_GB2312" panose="02010609030101010101" pitchFamily="1" charset="-122"/>
              </a:rPr>
              <a:t>低值电阻</a:t>
            </a:r>
            <a:endParaRPr lang="zh-CN" altLang="en-US" sz="2800" dirty="0">
              <a:solidFill>
                <a:srgbClr val="800000"/>
              </a:solidFill>
              <a:latin typeface="Times New Roman" panose="02020603050405020304" pitchFamily="18" charset="0"/>
              <a:ea typeface="楷体_GB2312" panose="02010609030101010101" pitchFamily="1" charset="-122"/>
            </a:endParaRPr>
          </a:p>
          <a:p>
            <a:pPr algn="ctr"/>
            <a:r>
              <a:rPr lang="zh-CN" altLang="en-US" sz="2400" dirty="0">
                <a:solidFill>
                  <a:srgbClr val="800000"/>
                </a:solidFill>
                <a:latin typeface="Times New Roman" panose="02020603050405020304" pitchFamily="18" charset="0"/>
                <a:ea typeface="楷体_GB2312" panose="02010609030101010101" pitchFamily="1" charset="-122"/>
              </a:rPr>
              <a:t>（小于</a:t>
            </a:r>
            <a:r>
              <a:rPr lang="el-GR" altLang="zh-CN" sz="2400" dirty="0">
                <a:solidFill>
                  <a:srgbClr val="800000"/>
                </a:solidFill>
                <a:latin typeface="Times New Roman" panose="02020603050405020304" pitchFamily="18" charset="0"/>
                <a:ea typeface="楷体_GB2312" panose="02010609030101010101" pitchFamily="1" charset="-122"/>
              </a:rPr>
              <a:t>1Ω</a:t>
            </a:r>
            <a:r>
              <a:rPr lang="zh-CN" altLang="en-US" sz="2400" dirty="0">
                <a:solidFill>
                  <a:srgbClr val="800000"/>
                </a:solidFill>
                <a:latin typeface="Times New Roman" panose="02020603050405020304" pitchFamily="18" charset="0"/>
                <a:ea typeface="楷体_GB2312" panose="02010609030101010101" pitchFamily="1" charset="-122"/>
              </a:rPr>
              <a:t>）</a:t>
            </a:r>
            <a:endParaRPr lang="el-GR" altLang="zh-CN" sz="2400" dirty="0">
              <a:solidFill>
                <a:srgbClr val="800000"/>
              </a:solidFill>
              <a:latin typeface="Times New Roman" panose="02020603050405020304" pitchFamily="18" charset="0"/>
              <a:ea typeface="楷体_GB2312" panose="02010609030101010101" pitchFamily="1" charset="-122"/>
            </a:endParaRPr>
          </a:p>
        </p:txBody>
      </p:sp>
      <p:sp>
        <p:nvSpPr>
          <p:cNvPr id="431219" name="文本框 431218"/>
          <p:cNvSpPr txBox="1"/>
          <p:nvPr/>
        </p:nvSpPr>
        <p:spPr>
          <a:xfrm>
            <a:off x="3203575" y="2644775"/>
            <a:ext cx="2160588" cy="855663"/>
          </a:xfrm>
          <a:prstGeom prst="rect">
            <a:avLst/>
          </a:prstGeom>
          <a:noFill/>
          <a:ln w="9525" cap="flat" cmpd="sng">
            <a:solidFill>
              <a:schemeClr val="tx1"/>
            </a:solidFill>
            <a:prstDash val="solid"/>
            <a:miter/>
            <a:headEnd type="none" w="med" len="med"/>
            <a:tailEnd type="none" w="med" len="med"/>
          </a:ln>
        </p:spPr>
        <p:txBody>
          <a:bodyPr lIns="90000" tIns="46800" rIns="90000" bIns="46800" anchor="t" anchorCtr="0">
            <a:spAutoFit/>
          </a:bodyPr>
          <a:p>
            <a:pPr algn="ctr">
              <a:lnSpc>
                <a:spcPct val="95000"/>
              </a:lnSpc>
            </a:pPr>
            <a:r>
              <a:rPr lang="zh-CN" altLang="en-US" sz="2800" dirty="0">
                <a:solidFill>
                  <a:srgbClr val="800000"/>
                </a:solidFill>
                <a:latin typeface="Times New Roman" panose="02020603050405020304" pitchFamily="18" charset="0"/>
                <a:ea typeface="楷体_GB2312" panose="02010609030101010101" pitchFamily="1" charset="-122"/>
              </a:rPr>
              <a:t>中值电阻</a:t>
            </a:r>
            <a:endParaRPr lang="zh-CN" altLang="en-US" sz="2800" dirty="0">
              <a:solidFill>
                <a:srgbClr val="800000"/>
              </a:solidFill>
              <a:latin typeface="Times New Roman" panose="02020603050405020304" pitchFamily="18" charset="0"/>
              <a:ea typeface="楷体_GB2312" panose="02010609030101010101" pitchFamily="1" charset="-122"/>
            </a:endParaRPr>
          </a:p>
          <a:p>
            <a:pPr algn="ctr">
              <a:lnSpc>
                <a:spcPct val="95000"/>
              </a:lnSpc>
            </a:pPr>
            <a:r>
              <a:rPr lang="zh-CN" altLang="en-US" sz="2400" dirty="0">
                <a:solidFill>
                  <a:srgbClr val="800000"/>
                </a:solidFill>
                <a:latin typeface="Times New Roman" panose="02020603050405020304" pitchFamily="18" charset="0"/>
                <a:ea typeface="楷体_GB2312" panose="02010609030101010101" pitchFamily="1" charset="-122"/>
              </a:rPr>
              <a:t>（</a:t>
            </a:r>
            <a:r>
              <a:rPr lang="en-US" altLang="zh-CN" sz="2400" dirty="0">
                <a:solidFill>
                  <a:srgbClr val="800000"/>
                </a:solidFill>
                <a:latin typeface="Times New Roman" panose="02020603050405020304" pitchFamily="18" charset="0"/>
                <a:ea typeface="楷体_GB2312" panose="02010609030101010101" pitchFamily="1" charset="-122"/>
              </a:rPr>
              <a:t>1</a:t>
            </a:r>
            <a:r>
              <a:rPr lang="zh-CN" altLang="en-US" sz="2400" dirty="0">
                <a:solidFill>
                  <a:srgbClr val="800000"/>
                </a:solidFill>
                <a:latin typeface="Times New Roman" panose="02020603050405020304" pitchFamily="18" charset="0"/>
                <a:ea typeface="楷体_GB2312" panose="02010609030101010101" pitchFamily="1" charset="-122"/>
              </a:rPr>
              <a:t>～</a:t>
            </a:r>
            <a:r>
              <a:rPr lang="en-US" altLang="zh-CN" sz="2400" dirty="0">
                <a:solidFill>
                  <a:srgbClr val="800000"/>
                </a:solidFill>
                <a:latin typeface="Times New Roman" panose="02020603050405020304" pitchFamily="18" charset="0"/>
                <a:ea typeface="楷体_GB2312" panose="02010609030101010101" pitchFamily="1" charset="-122"/>
              </a:rPr>
              <a:t>10</a:t>
            </a:r>
            <a:r>
              <a:rPr lang="en-US" altLang="zh-CN" sz="2400" baseline="30000" dirty="0">
                <a:solidFill>
                  <a:srgbClr val="800000"/>
                </a:solidFill>
                <a:latin typeface="Times New Roman" panose="02020603050405020304" pitchFamily="18" charset="0"/>
                <a:ea typeface="楷体_GB2312" panose="02010609030101010101" pitchFamily="1" charset="-122"/>
              </a:rPr>
              <a:t>5</a:t>
            </a:r>
            <a:r>
              <a:rPr lang="el-GR" altLang="zh-CN" sz="2400" dirty="0">
                <a:solidFill>
                  <a:srgbClr val="800000"/>
                </a:solidFill>
                <a:latin typeface="Times New Roman" panose="02020603050405020304" pitchFamily="18" charset="0"/>
                <a:ea typeface="楷体_GB2312" panose="02010609030101010101" pitchFamily="1" charset="-122"/>
              </a:rPr>
              <a:t>Ω</a:t>
            </a:r>
            <a:r>
              <a:rPr lang="zh-CN" altLang="en-US" sz="2400" dirty="0">
                <a:solidFill>
                  <a:srgbClr val="800000"/>
                </a:solidFill>
                <a:latin typeface="Times New Roman" panose="02020603050405020304" pitchFamily="18" charset="0"/>
                <a:ea typeface="楷体_GB2312" panose="02010609030101010101" pitchFamily="1" charset="-122"/>
              </a:rPr>
              <a:t>）</a:t>
            </a:r>
            <a:endParaRPr lang="el-GR" altLang="zh-CN" sz="2400" dirty="0">
              <a:solidFill>
                <a:srgbClr val="800000"/>
              </a:solidFill>
              <a:latin typeface="Times New Roman" panose="02020603050405020304" pitchFamily="18" charset="0"/>
              <a:ea typeface="楷体_GB2312" panose="02010609030101010101" pitchFamily="1" charset="-122"/>
            </a:endParaRPr>
          </a:p>
        </p:txBody>
      </p:sp>
      <p:sp>
        <p:nvSpPr>
          <p:cNvPr id="431220" name="文本框 431219"/>
          <p:cNvSpPr txBox="1"/>
          <p:nvPr/>
        </p:nvSpPr>
        <p:spPr>
          <a:xfrm>
            <a:off x="6011863" y="2678113"/>
            <a:ext cx="2159000" cy="893762"/>
          </a:xfrm>
          <a:prstGeom prst="rect">
            <a:avLst/>
          </a:prstGeom>
          <a:noFill/>
          <a:ln w="9525" cap="flat" cmpd="sng">
            <a:solidFill>
              <a:schemeClr val="tx1"/>
            </a:solidFill>
            <a:prstDash val="solid"/>
            <a:miter/>
            <a:headEnd type="none" w="med" len="med"/>
            <a:tailEnd type="none" w="med" len="med"/>
          </a:ln>
        </p:spPr>
        <p:txBody>
          <a:bodyPr lIns="90000" tIns="46800" rIns="90000" bIns="46800" anchor="t" anchorCtr="0">
            <a:spAutoFit/>
          </a:bodyPr>
          <a:p>
            <a:pPr algn="ctr"/>
            <a:r>
              <a:rPr lang="zh-CN" altLang="en-US" sz="2800" dirty="0">
                <a:solidFill>
                  <a:srgbClr val="800000"/>
                </a:solidFill>
                <a:latin typeface="Times New Roman" panose="02020603050405020304" pitchFamily="18" charset="0"/>
                <a:ea typeface="楷体_GB2312" panose="02010609030101010101" pitchFamily="1" charset="-122"/>
              </a:rPr>
              <a:t>高值电阻</a:t>
            </a:r>
            <a:endParaRPr lang="zh-CN" altLang="en-US" sz="2800" dirty="0">
              <a:solidFill>
                <a:srgbClr val="800000"/>
              </a:solidFill>
              <a:latin typeface="Times New Roman" panose="02020603050405020304" pitchFamily="18" charset="0"/>
              <a:ea typeface="楷体_GB2312" panose="02010609030101010101" pitchFamily="1" charset="-122"/>
            </a:endParaRPr>
          </a:p>
          <a:p>
            <a:pPr algn="ctr"/>
            <a:r>
              <a:rPr lang="zh-CN" altLang="en-US" sz="2400" dirty="0">
                <a:solidFill>
                  <a:srgbClr val="800000"/>
                </a:solidFill>
                <a:latin typeface="Times New Roman" panose="02020603050405020304" pitchFamily="18" charset="0"/>
                <a:ea typeface="楷体_GB2312" panose="02010609030101010101" pitchFamily="1" charset="-122"/>
              </a:rPr>
              <a:t>（大于</a:t>
            </a:r>
            <a:r>
              <a:rPr lang="en-US" altLang="zh-CN" sz="2400" dirty="0">
                <a:solidFill>
                  <a:srgbClr val="800000"/>
                </a:solidFill>
                <a:latin typeface="Times New Roman" panose="02020603050405020304" pitchFamily="18" charset="0"/>
                <a:ea typeface="楷体_GB2312" panose="02010609030101010101" pitchFamily="1" charset="-122"/>
              </a:rPr>
              <a:t>10</a:t>
            </a:r>
            <a:r>
              <a:rPr lang="en-US" altLang="zh-CN" sz="2400" baseline="30000" dirty="0">
                <a:solidFill>
                  <a:srgbClr val="800000"/>
                </a:solidFill>
                <a:latin typeface="Times New Roman" panose="02020603050405020304" pitchFamily="18" charset="0"/>
                <a:ea typeface="楷体_GB2312" panose="02010609030101010101" pitchFamily="1" charset="-122"/>
              </a:rPr>
              <a:t>6</a:t>
            </a:r>
            <a:r>
              <a:rPr lang="el-GR" altLang="zh-CN" sz="2400" dirty="0">
                <a:solidFill>
                  <a:srgbClr val="800000"/>
                </a:solidFill>
                <a:latin typeface="Times New Roman" panose="02020603050405020304" pitchFamily="18" charset="0"/>
                <a:ea typeface="楷体_GB2312" panose="02010609030101010101" pitchFamily="1" charset="-122"/>
              </a:rPr>
              <a:t>Ω</a:t>
            </a:r>
            <a:r>
              <a:rPr lang="zh-CN" altLang="en-US" sz="2400" dirty="0">
                <a:solidFill>
                  <a:srgbClr val="800000"/>
                </a:solidFill>
                <a:latin typeface="Times New Roman" panose="02020603050405020304" pitchFamily="18" charset="0"/>
                <a:ea typeface="楷体_GB2312" panose="02010609030101010101" pitchFamily="1" charset="-122"/>
              </a:rPr>
              <a:t>）</a:t>
            </a:r>
            <a:endParaRPr lang="el-GR" altLang="zh-CN" sz="2400" dirty="0">
              <a:solidFill>
                <a:srgbClr val="800000"/>
              </a:solidFill>
              <a:latin typeface="Times New Roman" panose="02020603050405020304" pitchFamily="18" charset="0"/>
              <a:ea typeface="楷体_GB2312" panose="02010609030101010101" pitchFamily="1" charset="-122"/>
            </a:endParaRPr>
          </a:p>
        </p:txBody>
      </p:sp>
      <p:sp>
        <p:nvSpPr>
          <p:cNvPr id="431221" name="文本框 431220"/>
          <p:cNvSpPr txBox="1"/>
          <p:nvPr/>
        </p:nvSpPr>
        <p:spPr>
          <a:xfrm>
            <a:off x="7842250" y="4149725"/>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高阻电桥</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2" name="文本框 431221"/>
          <p:cNvSpPr txBox="1"/>
          <p:nvPr/>
        </p:nvSpPr>
        <p:spPr>
          <a:xfrm>
            <a:off x="7224713" y="4149725"/>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兆欧法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3" name="文本框 431222"/>
          <p:cNvSpPr txBox="1"/>
          <p:nvPr/>
        </p:nvSpPr>
        <p:spPr>
          <a:xfrm>
            <a:off x="6042025" y="4149725"/>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放电法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4" name="文本框 431223"/>
          <p:cNvSpPr txBox="1"/>
          <p:nvPr/>
        </p:nvSpPr>
        <p:spPr>
          <a:xfrm>
            <a:off x="6618288" y="4149725"/>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补偿法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5" name="文本框 431224"/>
          <p:cNvSpPr txBox="1"/>
          <p:nvPr/>
        </p:nvSpPr>
        <p:spPr>
          <a:xfrm>
            <a:off x="2184400" y="4076700"/>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凯氏电桥</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6" name="文本框 431225"/>
          <p:cNvSpPr txBox="1"/>
          <p:nvPr/>
        </p:nvSpPr>
        <p:spPr>
          <a:xfrm>
            <a:off x="1566863" y="4076700"/>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比较法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7" name="文本框 431226"/>
          <p:cNvSpPr txBox="1"/>
          <p:nvPr/>
        </p:nvSpPr>
        <p:spPr>
          <a:xfrm>
            <a:off x="323850" y="4078288"/>
            <a:ext cx="546100" cy="2447925"/>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薄膜电阻率测量</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8" name="文本框 431227"/>
          <p:cNvSpPr txBox="1"/>
          <p:nvPr/>
        </p:nvSpPr>
        <p:spPr>
          <a:xfrm>
            <a:off x="960438" y="4076700"/>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伏安法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29" name="文本框 431228"/>
          <p:cNvSpPr txBox="1"/>
          <p:nvPr/>
        </p:nvSpPr>
        <p:spPr>
          <a:xfrm>
            <a:off x="3119438" y="4075113"/>
            <a:ext cx="546100" cy="1366837"/>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伏安法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30" name="文本框 431229"/>
          <p:cNvSpPr txBox="1"/>
          <p:nvPr/>
        </p:nvSpPr>
        <p:spPr>
          <a:xfrm>
            <a:off x="4025900" y="4075113"/>
            <a:ext cx="546100" cy="1366837"/>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补偿法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31" name="文本框 431230"/>
          <p:cNvSpPr txBox="1"/>
          <p:nvPr/>
        </p:nvSpPr>
        <p:spPr>
          <a:xfrm>
            <a:off x="4889500" y="4005263"/>
            <a:ext cx="546100" cy="1366837"/>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比较法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grpSp>
        <p:nvGrpSpPr>
          <p:cNvPr id="431239" name="组合 431238"/>
          <p:cNvGrpSpPr/>
          <p:nvPr/>
        </p:nvGrpSpPr>
        <p:grpSpPr>
          <a:xfrm>
            <a:off x="4602163" y="5011738"/>
            <a:ext cx="1008062" cy="503237"/>
            <a:chOff x="2744" y="3566"/>
            <a:chExt cx="1136" cy="499"/>
          </a:xfrm>
        </p:grpSpPr>
        <p:sp>
          <p:nvSpPr>
            <p:cNvPr id="17455" name="直接连接符 431232"/>
            <p:cNvSpPr/>
            <p:nvPr/>
          </p:nvSpPr>
          <p:spPr>
            <a:xfrm rot="5400000">
              <a:off x="3222" y="3657"/>
              <a:ext cx="182" cy="0"/>
            </a:xfrm>
            <a:prstGeom prst="line">
              <a:avLst/>
            </a:prstGeom>
            <a:ln w="9525" cap="flat" cmpd="sng">
              <a:solidFill>
                <a:schemeClr val="tx1"/>
              </a:solidFill>
              <a:prstDash val="solid"/>
              <a:round/>
              <a:headEnd type="none" w="med" len="med"/>
              <a:tailEnd type="none" w="med" len="med"/>
            </a:ln>
          </p:spPr>
        </p:sp>
        <p:sp>
          <p:nvSpPr>
            <p:cNvPr id="17456" name="直接连接符 431234"/>
            <p:cNvSpPr/>
            <p:nvPr/>
          </p:nvSpPr>
          <p:spPr>
            <a:xfrm rot="5400000">
              <a:off x="3309" y="3178"/>
              <a:ext cx="0" cy="1135"/>
            </a:xfrm>
            <a:prstGeom prst="line">
              <a:avLst/>
            </a:prstGeom>
            <a:ln w="9525" cap="flat" cmpd="sng">
              <a:solidFill>
                <a:schemeClr val="tx1"/>
              </a:solidFill>
              <a:prstDash val="solid"/>
              <a:round/>
              <a:headEnd type="none" w="med" len="med"/>
              <a:tailEnd type="none" w="med" len="med"/>
            </a:ln>
          </p:spPr>
        </p:sp>
        <p:sp>
          <p:nvSpPr>
            <p:cNvPr id="17457" name="直接连接符 431235"/>
            <p:cNvSpPr/>
            <p:nvPr/>
          </p:nvSpPr>
          <p:spPr>
            <a:xfrm rot="5400000">
              <a:off x="3719" y="3903"/>
              <a:ext cx="317" cy="0"/>
            </a:xfrm>
            <a:prstGeom prst="line">
              <a:avLst/>
            </a:prstGeom>
            <a:ln w="9525" cap="flat" cmpd="sng">
              <a:solidFill>
                <a:schemeClr val="tx1"/>
              </a:solidFill>
              <a:prstDash val="solid"/>
              <a:round/>
              <a:headEnd type="none" w="med" len="med"/>
              <a:tailEnd type="triangle" w="med" len="med"/>
            </a:ln>
          </p:spPr>
        </p:sp>
        <p:sp>
          <p:nvSpPr>
            <p:cNvPr id="17458" name="直接连接符 431237"/>
            <p:cNvSpPr/>
            <p:nvPr/>
          </p:nvSpPr>
          <p:spPr>
            <a:xfrm rot="5400000" flipV="1">
              <a:off x="2584" y="3904"/>
              <a:ext cx="317" cy="0"/>
            </a:xfrm>
            <a:prstGeom prst="line">
              <a:avLst/>
            </a:prstGeom>
            <a:ln w="9525" cap="flat" cmpd="sng">
              <a:solidFill>
                <a:schemeClr val="tx1"/>
              </a:solidFill>
              <a:prstDash val="solid"/>
              <a:round/>
              <a:headEnd type="none" w="med" len="med"/>
              <a:tailEnd type="triangle" w="med" len="med"/>
            </a:ln>
          </p:spPr>
        </p:sp>
      </p:grpSp>
      <p:sp>
        <p:nvSpPr>
          <p:cNvPr id="431240" name="文本框 431239"/>
          <p:cNvSpPr txBox="1"/>
          <p:nvPr/>
        </p:nvSpPr>
        <p:spPr>
          <a:xfrm>
            <a:off x="4386263" y="5591175"/>
            <a:ext cx="546100" cy="1366838"/>
          </a:xfrm>
          <a:prstGeom prst="rect">
            <a:avLst/>
          </a:prstGeom>
          <a:noFill/>
          <a:ln w="9525">
            <a:noFill/>
          </a:ln>
        </p:spPr>
        <p:txBody>
          <a:bodyPr vert="eaVert" lIns="90000" tIns="46800" rIns="90000" bIns="46800" anchor="t" anchorCtr="0">
            <a:spAutoFit/>
          </a:bodyPr>
          <a:p>
            <a:pPr>
              <a:spcBef>
                <a:spcPct val="50000"/>
              </a:spcBef>
            </a:pPr>
            <a:r>
              <a:rPr lang="zh-CN" altLang="en-US" sz="2400" b="1" dirty="0">
                <a:solidFill>
                  <a:schemeClr val="tx1"/>
                </a:solidFill>
                <a:latin typeface="Times New Roman" panose="02020603050405020304" pitchFamily="18" charset="0"/>
                <a:ea typeface="楷体_GB2312" panose="02010609030101010101" pitchFamily="1" charset="-122"/>
              </a:rPr>
              <a:t>替代法</a:t>
            </a:r>
            <a:endParaRPr lang="zh-CN" altLang="en-US" sz="2400" b="1" dirty="0">
              <a:solidFill>
                <a:schemeClr val="tx1"/>
              </a:solidFill>
              <a:latin typeface="Times New Roman" panose="02020603050405020304" pitchFamily="18" charset="0"/>
              <a:ea typeface="楷体_GB2312" panose="02010609030101010101" pitchFamily="1" charset="-122"/>
            </a:endParaRPr>
          </a:p>
        </p:txBody>
      </p:sp>
      <p:sp>
        <p:nvSpPr>
          <p:cNvPr id="431241" name="文本框 431240"/>
          <p:cNvSpPr txBox="1"/>
          <p:nvPr/>
        </p:nvSpPr>
        <p:spPr>
          <a:xfrm>
            <a:off x="5321300" y="5518150"/>
            <a:ext cx="546100" cy="1366838"/>
          </a:xfrm>
          <a:prstGeom prst="rect">
            <a:avLst/>
          </a:prstGeom>
          <a:noFill/>
          <a:ln w="9525">
            <a:noFill/>
          </a:ln>
        </p:spPr>
        <p:txBody>
          <a:bodyPr vert="eaVert" lIns="90000" tIns="46800" rIns="90000" bIns="46800">
            <a:spAutoFit/>
          </a:bodyPr>
          <a:lstStyle/>
          <a:p>
            <a:pPr marR="0" defTabSz="914400">
              <a:spcBef>
                <a:spcPct val="50000"/>
              </a:spcBef>
              <a:buClrTx/>
              <a:buSzTx/>
              <a:buFontTx/>
              <a:buNone/>
              <a:defRPr/>
            </a:pPr>
            <a:r>
              <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楷体_GB2312" panose="02010609030101010101" pitchFamily="1" charset="-122"/>
                <a:cs typeface="+mn-ea"/>
              </a:rPr>
              <a:t>惠氏电桥</a:t>
            </a:r>
            <a:endPar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楷体_GB2312" panose="02010609030101010101" pitchFamily="1"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11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12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12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12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119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12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12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12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12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12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12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120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12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12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12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12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3120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312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12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312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1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43" grpId="0"/>
      <p:bldP spid="431180" grpId="0" animBg="1"/>
      <p:bldP spid="431216" grpId="0" animBg="1"/>
      <p:bldP spid="431219" grpId="0" animBg="1"/>
      <p:bldP spid="431220" grpId="0" animBg="1"/>
      <p:bldP spid="431221" grpId="0"/>
      <p:bldP spid="431222" grpId="0"/>
      <p:bldP spid="431223" grpId="0"/>
      <p:bldP spid="431224" grpId="0"/>
      <p:bldP spid="431225" grpId="0"/>
      <p:bldP spid="431226" grpId="0"/>
      <p:bldP spid="431227" grpId="0"/>
      <p:bldP spid="431228" grpId="0"/>
      <p:bldP spid="431229" grpId="0"/>
      <p:bldP spid="431230" grpId="0"/>
      <p:bldP spid="431231" grpId="0"/>
      <p:bldP spid="431240" grpId="0"/>
      <p:bldP spid="4312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矩形 449574"/>
          <p:cNvSpPr/>
          <p:nvPr/>
        </p:nvSpPr>
        <p:spPr>
          <a:xfrm>
            <a:off x="179388" y="981075"/>
            <a:ext cx="7451725" cy="576263"/>
          </a:xfrm>
          <a:prstGeom prst="rect">
            <a:avLst/>
          </a:prstGeom>
          <a:noFill/>
          <a:ln w="9525">
            <a:noFill/>
          </a:ln>
        </p:spPr>
        <p:txBody>
          <a:bodyPr anchor="t" anchorCtr="0"/>
          <a:p>
            <a:pPr indent="767080">
              <a:spcBef>
                <a:spcPct val="20000"/>
              </a:spcBef>
            </a:pPr>
            <a:r>
              <a:rPr lang="en-US" altLang="zh-CN" sz="2800" b="1" dirty="0">
                <a:solidFill>
                  <a:srgbClr val="000066"/>
                </a:solidFill>
                <a:latin typeface="楷体_GB2312" panose="02010609030101010101" pitchFamily="1" charset="-122"/>
                <a:ea typeface="楷体_GB2312" panose="02010609030101010101" pitchFamily="1" charset="-122"/>
              </a:rPr>
              <a:t>2.</a:t>
            </a:r>
            <a:r>
              <a:rPr lang="zh-CN" altLang="en-US" sz="2800" b="1" dirty="0">
                <a:solidFill>
                  <a:srgbClr val="000066"/>
                </a:solidFill>
                <a:latin typeface="楷体_GB2312" panose="02010609030101010101" pitchFamily="1" charset="-122"/>
                <a:ea typeface="楷体_GB2312" panose="02010609030101010101" pitchFamily="1" charset="-122"/>
              </a:rPr>
              <a:t>电桥法是测电阻的一种常用方法。</a:t>
            </a:r>
            <a:endParaRPr lang="zh-CN" altLang="en-US" sz="2800" dirty="0">
              <a:solidFill>
                <a:schemeClr val="tx1"/>
              </a:solidFill>
              <a:latin typeface="楷体_GB2312" panose="02010609030101010101" pitchFamily="1" charset="-122"/>
              <a:ea typeface="楷体_GB2312" panose="02010609030101010101" pitchFamily="1" charset="-122"/>
            </a:endParaRPr>
          </a:p>
        </p:txBody>
      </p:sp>
      <p:sp>
        <p:nvSpPr>
          <p:cNvPr id="18434" name="矩形 449575"/>
          <p:cNvSpPr/>
          <p:nvPr/>
        </p:nvSpPr>
        <p:spPr>
          <a:xfrm>
            <a:off x="0" y="2205038"/>
            <a:ext cx="8532813" cy="1008062"/>
          </a:xfrm>
          <a:prstGeom prst="rect">
            <a:avLst/>
          </a:prstGeom>
          <a:noFill/>
          <a:ln w="9525">
            <a:noFill/>
          </a:ln>
        </p:spPr>
        <p:txBody>
          <a:bodyPr anchor="t" anchorCtr="0"/>
          <a:p>
            <a:pPr indent="767080">
              <a:spcBef>
                <a:spcPct val="20000"/>
              </a:spcBef>
            </a:pPr>
            <a:endParaRPr lang="zh-CN" altLang="en-US" sz="2800" b="1" dirty="0">
              <a:solidFill>
                <a:srgbClr val="000066"/>
              </a:solidFill>
              <a:latin typeface="楷体_GB2312" panose="02010609030101010101" pitchFamily="1" charset="-122"/>
              <a:ea typeface="楷体_GB2312" panose="02010609030101010101" pitchFamily="1" charset="-122"/>
            </a:endParaRPr>
          </a:p>
        </p:txBody>
      </p:sp>
      <p:sp>
        <p:nvSpPr>
          <p:cNvPr id="449579" name="矩形 449578"/>
          <p:cNvSpPr/>
          <p:nvPr/>
        </p:nvSpPr>
        <p:spPr>
          <a:xfrm>
            <a:off x="395288" y="3500438"/>
            <a:ext cx="8540749" cy="197167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marR="0" lvl="0" indent="767080" algn="l" defTabSz="914400" rtl="0" eaLnBrk="1" fontAlgn="base" latinLnBrk="0" hangingPunct="1">
              <a:lnSpc>
                <a:spcPct val="100000"/>
              </a:lnSpc>
              <a:spcBef>
                <a:spcPct val="20000"/>
              </a:spcBef>
              <a:spcAft>
                <a:spcPct val="0"/>
              </a:spcAft>
              <a:buClrTx/>
              <a:buSzTx/>
              <a:buFontTx/>
              <a:buNone/>
              <a:defRPr/>
            </a:pPr>
            <a:r>
              <a:rPr kumimoji="0" lang="zh-CN" altLang="en-US" sz="2800" b="0" i="0" u="none" strike="noStrike" kern="1200" cap="none" spc="0" normalizeH="0" baseline="0" noProof="1">
                <a:ln w="22225">
                  <a:solidFill>
                    <a:schemeClr val="accent2"/>
                  </a:solidFill>
                  <a:prstDash val="solid"/>
                </a:ln>
                <a:solidFill>
                  <a:schemeClr val="accent2">
                    <a:lumMod val="40000"/>
                    <a:lumOff val="60000"/>
                  </a:schemeClr>
                </a:solidFill>
                <a:effectLst/>
                <a:uLnTx/>
                <a:uFillTx/>
                <a:latin typeface="楷体_GB2312" panose="02010609030101010101" pitchFamily="1" charset="-122"/>
                <a:ea typeface="楷体_GB2312" panose="02010609030101010101" pitchFamily="1" charset="-122"/>
                <a:cs typeface="+mn-ea"/>
              </a:rPr>
              <a:t>掌握惠斯登电桥的原理可为分析其他电桥的原理和使用方法奠定基础。</a:t>
            </a:r>
            <a:endParaRPr kumimoji="0" lang="zh-CN" altLang="en-US" sz="2800" b="0" i="0" u="none" strike="noStrike" kern="1200" cap="none" spc="0" normalizeH="0" baseline="0" noProof="1">
              <a:ln w="22225">
                <a:solidFill>
                  <a:schemeClr val="accent2"/>
                </a:solidFill>
                <a:prstDash val="solid"/>
              </a:ln>
              <a:solidFill>
                <a:schemeClr val="accent2">
                  <a:lumMod val="40000"/>
                  <a:lumOff val="60000"/>
                </a:schemeClr>
              </a:solidFill>
              <a:effectLst/>
              <a:uLnTx/>
              <a:uFillTx/>
              <a:latin typeface="楷体_GB2312" panose="02010609030101010101" pitchFamily="1" charset="-122"/>
              <a:ea typeface="楷体_GB2312" panose="02010609030101010101" pitchFamily="1" charset="-122"/>
              <a:cs typeface="+mn-cs"/>
            </a:endParaRPr>
          </a:p>
        </p:txBody>
      </p:sp>
      <p:pic>
        <p:nvPicPr>
          <p:cNvPr id="18436" name="图片 449579" descr="PL_004"/>
          <p:cNvPicPr>
            <a:picLocks noChangeAspect="1"/>
          </p:cNvPicPr>
          <p:nvPr/>
        </p:nvPicPr>
        <p:blipFill>
          <a:blip r:embed="rId1"/>
          <a:stretch>
            <a:fillRect/>
          </a:stretch>
        </p:blipFill>
        <p:spPr>
          <a:xfrm>
            <a:off x="7235825" y="5084763"/>
            <a:ext cx="1371600" cy="1371600"/>
          </a:xfrm>
          <a:prstGeom prst="rect">
            <a:avLst/>
          </a:prstGeom>
          <a:noFill/>
          <a:ln w="9525">
            <a:noFill/>
          </a:ln>
        </p:spPr>
      </p:pic>
      <p:sp>
        <p:nvSpPr>
          <p:cNvPr id="18437" name="矩形 449580"/>
          <p:cNvSpPr/>
          <p:nvPr/>
        </p:nvSpPr>
        <p:spPr>
          <a:xfrm>
            <a:off x="971550" y="2133600"/>
            <a:ext cx="7704138" cy="946150"/>
          </a:xfrm>
          <a:prstGeom prst="rect">
            <a:avLst/>
          </a:prstGeom>
          <a:noFill/>
          <a:ln w="9525">
            <a:noFill/>
          </a:ln>
        </p:spPr>
        <p:txBody>
          <a:bodyPr lIns="90000" tIns="46800" rIns="90000" bIns="46800" anchor="t" anchorCtr="0">
            <a:spAutoFit/>
          </a:bodyPr>
          <a:p>
            <a:pPr fontAlgn="ctr">
              <a:spcBef>
                <a:spcPct val="20000"/>
              </a:spcBef>
            </a:pPr>
            <a:r>
              <a:rPr lang="en-US" altLang="zh-CN" sz="2800" b="1" dirty="0">
                <a:solidFill>
                  <a:srgbClr val="000066"/>
                </a:solidFill>
                <a:latin typeface="Times New Roman" panose="02020603050405020304" pitchFamily="18" charset="0"/>
                <a:ea typeface="楷体_GB2312" panose="02010609030101010101" pitchFamily="1" charset="-122"/>
              </a:rPr>
              <a:t>3.</a:t>
            </a:r>
            <a:r>
              <a:rPr lang="zh-CN" altLang="en-US" sz="2800" b="1" dirty="0">
                <a:solidFill>
                  <a:srgbClr val="000066"/>
                </a:solidFill>
                <a:latin typeface="Times New Roman" panose="02020603050405020304" pitchFamily="18" charset="0"/>
                <a:ea typeface="楷体_GB2312" panose="02010609030101010101" pitchFamily="1" charset="-122"/>
              </a:rPr>
              <a:t>电桥的种类很多，惠斯登电桥是其中最基本的  一种。</a:t>
            </a:r>
            <a:endParaRPr lang="zh-CN" altLang="en-US" sz="2800" b="1" dirty="0">
              <a:solidFill>
                <a:srgbClr val="000066"/>
              </a:solidFill>
              <a:latin typeface="Times New Roman" panose="02020603050405020304" pitchFamily="18" charset="0"/>
              <a:ea typeface="楷体_GB2312" panose="02010609030101010101" pitchFamily="1"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框 1"/>
          <p:cNvSpPr txBox="1"/>
          <p:nvPr/>
        </p:nvSpPr>
        <p:spPr>
          <a:xfrm>
            <a:off x="3530600" y="1381125"/>
            <a:ext cx="5283200" cy="2474913"/>
          </a:xfrm>
          <a:prstGeom prst="rect">
            <a:avLst/>
          </a:prstGeom>
          <a:noFill/>
          <a:ln w="9525">
            <a:noFill/>
          </a:ln>
        </p:spPr>
        <p:txBody>
          <a:bodyPr anchor="t" anchorCtr="0">
            <a:spAutoFit/>
          </a:bodyPr>
          <a:p>
            <a:pPr>
              <a:lnSpc>
                <a:spcPct val="150000"/>
              </a:lnSpc>
              <a:spcBef>
                <a:spcPct val="20000"/>
              </a:spcBef>
            </a:pPr>
            <a:r>
              <a:rPr lang="zh-CN" altLang="en-US" sz="1800" b="1" dirty="0">
                <a:solidFill>
                  <a:schemeClr val="tx1"/>
                </a:solidFill>
                <a:latin typeface="Arial" panose="020B0604020202020204" pitchFamily="34" charset="0"/>
                <a:ea typeface="微软雅黑" panose="020B0503020204020204" pitchFamily="34" charset="-122"/>
              </a:rPr>
              <a:t>惠斯通电桥（英语：Wheatstone bridge，又称惠斯同电桥、惠斯登电桥）</a:t>
            </a:r>
            <a:r>
              <a:rPr lang="zh-CN" altLang="en-US" sz="1800" b="1" dirty="0">
                <a:solidFill>
                  <a:srgbClr val="FF0000"/>
                </a:solidFill>
                <a:latin typeface="Arial" panose="020B0604020202020204" pitchFamily="34" charset="0"/>
                <a:ea typeface="微软雅黑" panose="020B0503020204020204" pitchFamily="34" charset="-122"/>
              </a:rPr>
              <a:t>在1833年由塞缪尔·亨特·克里斯蒂发明</a:t>
            </a:r>
            <a:r>
              <a:rPr lang="zh-CN" altLang="en-US" sz="1800" b="1" dirty="0">
                <a:solidFill>
                  <a:schemeClr val="tx1"/>
                </a:solidFill>
                <a:latin typeface="Arial" panose="020B0604020202020204" pitchFamily="34" charset="0"/>
                <a:ea typeface="微软雅黑" panose="020B0503020204020204" pitchFamily="34" charset="-122"/>
              </a:rPr>
              <a:t>，1843年由</a:t>
            </a:r>
            <a:r>
              <a:rPr lang="zh-CN" altLang="en-US" sz="1800" b="1" dirty="0">
                <a:solidFill>
                  <a:srgbClr val="FF0000"/>
                </a:solidFill>
                <a:latin typeface="Arial" panose="020B0604020202020204" pitchFamily="34" charset="0"/>
                <a:ea typeface="微软雅黑" panose="020B0503020204020204" pitchFamily="34" charset="-122"/>
              </a:rPr>
              <a:t>查尔斯·惠斯通</a:t>
            </a:r>
            <a:r>
              <a:rPr lang="zh-CN" altLang="en-US" sz="1800" b="1" dirty="0">
                <a:solidFill>
                  <a:schemeClr val="tx1"/>
                </a:solidFill>
                <a:latin typeface="Arial" panose="020B0604020202020204" pitchFamily="34" charset="0"/>
                <a:ea typeface="微软雅黑" panose="020B0503020204020204" pitchFamily="34" charset="-122"/>
              </a:rPr>
              <a:t>改进及推广的一种测量工具。它用来精确测量未知电阻器的电阻，原理与原始的电势差计相近。</a:t>
            </a:r>
            <a:endParaRPr lang="zh-CN" altLang="en-US" sz="1800" b="1" dirty="0">
              <a:solidFill>
                <a:schemeClr val="tx1"/>
              </a:solidFill>
              <a:latin typeface="Arial" panose="020B0604020202020204" pitchFamily="34" charset="0"/>
              <a:ea typeface="微软雅黑" panose="020B0503020204020204" pitchFamily="34" charset="-122"/>
            </a:endParaRPr>
          </a:p>
          <a:p>
            <a:pPr>
              <a:lnSpc>
                <a:spcPct val="130000"/>
              </a:lnSpc>
              <a:spcBef>
                <a:spcPct val="20000"/>
              </a:spcBef>
            </a:pPr>
            <a:endParaRPr lang="zh-CN" altLang="en-US" sz="1400" b="1" dirty="0">
              <a:solidFill>
                <a:schemeClr val="tx1"/>
              </a:solidFill>
              <a:latin typeface="Arial" panose="020B0604020202020204" pitchFamily="34" charset="0"/>
              <a:ea typeface="微软雅黑" panose="020B0503020204020204" pitchFamily="34" charset="-122"/>
            </a:endParaRPr>
          </a:p>
        </p:txBody>
      </p:sp>
      <p:sp>
        <p:nvSpPr>
          <p:cNvPr id="19458" name="文本框 2"/>
          <p:cNvSpPr txBox="1"/>
          <p:nvPr>
            <p:custDataLst>
              <p:tags r:id="rId1"/>
            </p:custDataLst>
          </p:nvPr>
        </p:nvSpPr>
        <p:spPr>
          <a:xfrm>
            <a:off x="628650" y="525463"/>
            <a:ext cx="7886700" cy="769937"/>
          </a:xfrm>
          <a:prstGeom prst="rect">
            <a:avLst/>
          </a:prstGeom>
          <a:noFill/>
          <a:ln w="9525">
            <a:noFill/>
          </a:ln>
        </p:spPr>
        <p:txBody>
          <a:bodyPr anchor="ctr" anchorCtr="0"/>
          <a:p>
            <a:pPr algn="ctr">
              <a:lnSpc>
                <a:spcPct val="90000"/>
              </a:lnSpc>
            </a:pPr>
            <a:r>
              <a:rPr lang="zh-CN" altLang="en-US" sz="3200" b="1" dirty="0">
                <a:solidFill>
                  <a:schemeClr val="tx1"/>
                </a:solidFill>
                <a:latin typeface="Arial" panose="020B0604020202020204" pitchFamily="34" charset="0"/>
                <a:ea typeface="黑体" panose="02010609060101010101" pitchFamily="49" charset="-122"/>
                <a:sym typeface="Arial" panose="020B0604020202020204" pitchFamily="34" charset="0"/>
              </a:rPr>
              <a:t>用惠斯登电桥测电阻</a:t>
            </a:r>
            <a:endParaRPr lang="zh-CN" altLang="en-US" sz="3200" b="1" dirty="0">
              <a:solidFill>
                <a:srgbClr val="3B4455"/>
              </a:solidFill>
              <a:latin typeface="Arial" panose="020B0604020202020204" pitchFamily="34" charset="0"/>
              <a:ea typeface="黑体" panose="02010609060101010101" pitchFamily="49" charset="-122"/>
            </a:endParaRPr>
          </a:p>
        </p:txBody>
      </p:sp>
      <p:pic>
        <p:nvPicPr>
          <p:cNvPr id="19459" name="图片 5"/>
          <p:cNvPicPr>
            <a:picLocks noChangeAspect="1"/>
          </p:cNvPicPr>
          <p:nvPr/>
        </p:nvPicPr>
        <p:blipFill>
          <a:blip r:embed="rId2"/>
          <a:srcRect l="23454" t="7430" r="24673" b="18076"/>
          <a:stretch>
            <a:fillRect/>
          </a:stretch>
        </p:blipFill>
        <p:spPr>
          <a:xfrm>
            <a:off x="746125" y="1535113"/>
            <a:ext cx="2784475" cy="2251075"/>
          </a:xfrm>
          <a:prstGeom prst="rect">
            <a:avLst/>
          </a:prstGeom>
          <a:noFill/>
          <a:ln w="9525">
            <a:noFill/>
          </a:ln>
        </p:spPr>
      </p:pic>
    </p:spTree>
    <p:custDataLst>
      <p:tags r:id="rId3"/>
    </p:custData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矩形 434179"/>
          <p:cNvSpPr/>
          <p:nvPr/>
        </p:nvSpPr>
        <p:spPr>
          <a:xfrm>
            <a:off x="539750" y="1274763"/>
            <a:ext cx="8296275" cy="641350"/>
          </a:xfrm>
          <a:prstGeom prst="rect">
            <a:avLst/>
          </a:prstGeom>
          <a:noFill/>
          <a:ln w="9525">
            <a:noFill/>
          </a:ln>
        </p:spPr>
        <p:txBody>
          <a:bodyPr anchor="t" anchorCtr="0"/>
          <a:p>
            <a:pPr marL="342900" indent="-342900">
              <a:lnSpc>
                <a:spcPct val="90000"/>
              </a:lnSpc>
              <a:spcBef>
                <a:spcPct val="20000"/>
              </a:spcBef>
            </a:pPr>
            <a:r>
              <a:rPr lang="en-US" altLang="zh-CN" sz="2800" b="1" dirty="0">
                <a:solidFill>
                  <a:srgbClr val="000066"/>
                </a:solidFill>
                <a:latin typeface="Times New Roman" panose="02020603050405020304" pitchFamily="18" charset="0"/>
                <a:ea typeface="楷体_GB2312" panose="02010609030101010101" pitchFamily="1" charset="-122"/>
              </a:rPr>
              <a:t>1.</a:t>
            </a:r>
            <a:r>
              <a:rPr lang="zh-CN" altLang="en-US" sz="2800" b="1" dirty="0">
                <a:solidFill>
                  <a:srgbClr val="000066"/>
                </a:solidFill>
                <a:latin typeface="Times New Roman" panose="02020603050405020304" pitchFamily="18" charset="0"/>
                <a:ea typeface="楷体_GB2312" panose="02010609030101010101" pitchFamily="1" charset="-122"/>
              </a:rPr>
              <a:t>掌握惠斯登电桥测电阻的原理和方法；</a:t>
            </a:r>
            <a:endParaRPr lang="zh-CN" altLang="en-US" sz="2800" b="1" dirty="0">
              <a:solidFill>
                <a:srgbClr val="000066"/>
              </a:solidFill>
              <a:latin typeface="Times New Roman" panose="02020603050405020304" pitchFamily="18" charset="0"/>
              <a:ea typeface="楷体_GB2312" panose="02010609030101010101" pitchFamily="1" charset="-122"/>
            </a:endParaRPr>
          </a:p>
        </p:txBody>
      </p:sp>
      <p:sp>
        <p:nvSpPr>
          <p:cNvPr id="20482" name="文本框 434180"/>
          <p:cNvSpPr txBox="1"/>
          <p:nvPr/>
        </p:nvSpPr>
        <p:spPr>
          <a:xfrm>
            <a:off x="252413" y="404813"/>
            <a:ext cx="3455987" cy="519112"/>
          </a:xfrm>
          <a:prstGeom prst="rect">
            <a:avLst/>
          </a:prstGeom>
          <a:gradFill rotWithShape="0">
            <a:gsLst>
              <a:gs pos="0">
                <a:srgbClr val="ADB044"/>
              </a:gs>
              <a:gs pos="50000">
                <a:srgbClr val="FFFFFF"/>
              </a:gs>
              <a:gs pos="100000">
                <a:srgbClr val="ADB044"/>
              </a:gs>
            </a:gsLst>
            <a:lin ang="5400000" scaled="1"/>
            <a:tileRect/>
          </a:gradFill>
          <a:ln w="9525">
            <a:noFill/>
          </a:ln>
          <a:effectLst>
            <a:outerShdw dist="162639" dir="18519588" algn="ctr" rotWithShape="0">
              <a:srgbClr val="D9FB9D"/>
            </a:outerShdw>
          </a:effectLst>
        </p:spPr>
        <p:txBody>
          <a:bodyPr lIns="92075" tIns="46038" rIns="92075" bIns="46038" anchor="ctr" anchorCtr="0"/>
          <a:p>
            <a:pPr eaLnBrk="0" hangingPunct="0"/>
            <a:r>
              <a:rPr lang="zh-CN" altLang="en-US" sz="3200" b="1" dirty="0">
                <a:latin typeface="楷体_GB2312" panose="02010609030101010101" pitchFamily="1" charset="-122"/>
                <a:ea typeface="楷体_GB2312" panose="02010609030101010101" pitchFamily="1" charset="-122"/>
              </a:rPr>
              <a:t>二、实验目的：</a:t>
            </a:r>
            <a:endParaRPr lang="zh-CN" altLang="en-US" sz="3200" b="1" dirty="0">
              <a:latin typeface="楷体_GB2312" panose="02010609030101010101" pitchFamily="1" charset="-122"/>
              <a:ea typeface="楷体_GB2312" panose="02010609030101010101" pitchFamily="1" charset="-122"/>
            </a:endParaRPr>
          </a:p>
        </p:txBody>
      </p:sp>
      <p:sp>
        <p:nvSpPr>
          <p:cNvPr id="20483" name="矩形 434181"/>
          <p:cNvSpPr/>
          <p:nvPr/>
        </p:nvSpPr>
        <p:spPr>
          <a:xfrm>
            <a:off x="539750" y="2276475"/>
            <a:ext cx="7162800" cy="936625"/>
          </a:xfrm>
          <a:prstGeom prst="rect">
            <a:avLst/>
          </a:prstGeom>
          <a:noFill/>
          <a:ln w="9525">
            <a:noFill/>
          </a:ln>
        </p:spPr>
        <p:txBody>
          <a:bodyPr anchor="t" anchorCtr="0"/>
          <a:p>
            <a:pPr marL="342900" indent="-342900">
              <a:lnSpc>
                <a:spcPct val="90000"/>
              </a:lnSpc>
              <a:spcBef>
                <a:spcPct val="20000"/>
              </a:spcBef>
            </a:pPr>
            <a:r>
              <a:rPr lang="en-US" altLang="zh-CN" sz="2800" b="1" dirty="0">
                <a:solidFill>
                  <a:srgbClr val="000066"/>
                </a:solidFill>
                <a:latin typeface="Times New Roman" panose="02020603050405020304" pitchFamily="18" charset="0"/>
                <a:ea typeface="楷体_GB2312" panose="02010609030101010101" pitchFamily="1" charset="-122"/>
              </a:rPr>
              <a:t>2.</a:t>
            </a:r>
            <a:r>
              <a:rPr lang="zh-CN" altLang="en-US" sz="2800" b="1" dirty="0">
                <a:solidFill>
                  <a:srgbClr val="000066"/>
                </a:solidFill>
                <a:latin typeface="Times New Roman" panose="02020603050405020304" pitchFamily="18" charset="0"/>
                <a:ea typeface="楷体_GB2312" panose="02010609030101010101" pitchFamily="1" charset="-122"/>
              </a:rPr>
              <a:t>利用惠斯登电桥精确测量中高值电阻。</a:t>
            </a:r>
            <a:endParaRPr lang="zh-CN" altLang="en-US" sz="2800" b="1" dirty="0">
              <a:solidFill>
                <a:srgbClr val="000066"/>
              </a:solidFill>
              <a:latin typeface="Times New Roman" panose="02020603050405020304" pitchFamily="18" charset="0"/>
              <a:ea typeface="楷体_GB2312" panose="02010609030101010101" pitchFamily="1" charset="-122"/>
            </a:endParaRPr>
          </a:p>
        </p:txBody>
      </p:sp>
      <p:pic>
        <p:nvPicPr>
          <p:cNvPr id="20484" name="图片 434184" descr="PL_004"/>
          <p:cNvPicPr>
            <a:picLocks noChangeAspect="1"/>
          </p:cNvPicPr>
          <p:nvPr/>
        </p:nvPicPr>
        <p:blipFill>
          <a:blip r:embed="rId1"/>
          <a:stretch>
            <a:fillRect/>
          </a:stretch>
        </p:blipFill>
        <p:spPr>
          <a:xfrm>
            <a:off x="7235825" y="4724400"/>
            <a:ext cx="1371600" cy="1371600"/>
          </a:xfrm>
          <a:prstGeom prst="rect">
            <a:avLst/>
          </a:prstGeom>
          <a:noFill/>
          <a:ln w="9525">
            <a:noFill/>
          </a:ln>
        </p:spPr>
      </p:pic>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占位符 436225"/>
          <p:cNvSpPr>
            <a:spLocks noGrp="1"/>
          </p:cNvSpPr>
          <p:nvPr>
            <p:ph type="body" idx="4294967295"/>
          </p:nvPr>
        </p:nvSpPr>
        <p:spPr>
          <a:xfrm>
            <a:off x="611188" y="879475"/>
            <a:ext cx="3240087" cy="533400"/>
          </a:xfrm>
          <a:ln/>
        </p:spPr>
        <p:txBody>
          <a:bodyPr vert="horz" wrap="square" lIns="91440" tIns="45720" rIns="91440" bIns="45720" anchor="t" anchorCtr="0"/>
          <a:p>
            <a:pPr eaLnBrk="1" hangingPunct="1">
              <a:buClr>
                <a:srgbClr val="000066"/>
              </a:buClr>
              <a:buFont typeface="Wingdings" panose="05000000000000000000" pitchFamily="2" charset="2"/>
              <a:buChar char="¬"/>
            </a:pPr>
            <a:r>
              <a:rPr lang="zh-CN" altLang="en-US" sz="2800" b="1" dirty="0">
                <a:solidFill>
                  <a:srgbClr val="000066"/>
                </a:solidFill>
                <a:ea typeface="楷体_GB2312" panose="02010609030101010101" pitchFamily="1" charset="-122"/>
              </a:rPr>
              <a:t>实验电路图</a:t>
            </a:r>
            <a:endParaRPr lang="zh-CN" altLang="en-US" sz="2800" b="1" dirty="0">
              <a:solidFill>
                <a:srgbClr val="000066"/>
              </a:solidFill>
              <a:ea typeface="楷体_GB2312" panose="02010609030101010101" pitchFamily="1" charset="-122"/>
            </a:endParaRPr>
          </a:p>
          <a:p>
            <a:pPr eaLnBrk="1" hangingPunct="1">
              <a:buClr>
                <a:srgbClr val="000066"/>
              </a:buClr>
              <a:buFont typeface="Wingdings" panose="05000000000000000000" pitchFamily="2" charset="2"/>
              <a:buChar char="¬"/>
            </a:pPr>
            <a:endParaRPr lang="zh-CN" altLang="en-US" sz="2800" b="1" dirty="0">
              <a:solidFill>
                <a:srgbClr val="000066"/>
              </a:solidFill>
              <a:ea typeface="楷体_GB2312" panose="02010609030101010101" pitchFamily="1" charset="-122"/>
            </a:endParaRPr>
          </a:p>
          <a:p>
            <a:pPr eaLnBrk="1" hangingPunct="1">
              <a:buClr>
                <a:srgbClr val="000066"/>
              </a:buClr>
              <a:buFont typeface="Wingdings" panose="05000000000000000000" pitchFamily="2" charset="2"/>
              <a:buChar char="¬"/>
            </a:pPr>
            <a:endParaRPr lang="zh-CN" altLang="en-US" sz="2800" b="1" dirty="0">
              <a:solidFill>
                <a:srgbClr val="000066"/>
              </a:solidFill>
              <a:ea typeface="楷体_GB2312" panose="02010609030101010101" pitchFamily="1" charset="-122"/>
            </a:endParaRPr>
          </a:p>
        </p:txBody>
      </p:sp>
      <p:sp>
        <p:nvSpPr>
          <p:cNvPr id="21506" name="矩形 436228"/>
          <p:cNvSpPr/>
          <p:nvPr/>
        </p:nvSpPr>
        <p:spPr>
          <a:xfrm>
            <a:off x="0" y="0"/>
            <a:ext cx="9144000" cy="0"/>
          </a:xfrm>
          <a:prstGeom prst="rect">
            <a:avLst/>
          </a:prstGeom>
          <a:noFill/>
          <a:ln w="9525">
            <a:noFill/>
          </a:ln>
        </p:spPr>
        <p:txBody>
          <a:bodyPr wrap="none" anchor="ctr" anchorCtr="0">
            <a:spAutoFit/>
          </a:bodyPr>
          <a:p>
            <a:endParaRPr lang="zh-CN" altLang="en-US" sz="1800" dirty="0">
              <a:solidFill>
                <a:schemeClr val="tx1"/>
              </a:solidFill>
              <a:latin typeface="Arial" panose="020B0604020202020204" pitchFamily="34" charset="0"/>
              <a:ea typeface="宋体" panose="02010600030101010101" pitchFamily="2" charset="-122"/>
            </a:endParaRPr>
          </a:p>
        </p:txBody>
      </p:sp>
      <p:sp>
        <p:nvSpPr>
          <p:cNvPr id="21507" name="文本框 436230"/>
          <p:cNvSpPr txBox="1"/>
          <p:nvPr/>
        </p:nvSpPr>
        <p:spPr>
          <a:xfrm>
            <a:off x="250825" y="246063"/>
            <a:ext cx="3455988" cy="519112"/>
          </a:xfrm>
          <a:prstGeom prst="rect">
            <a:avLst/>
          </a:prstGeom>
          <a:gradFill rotWithShape="0">
            <a:gsLst>
              <a:gs pos="0">
                <a:srgbClr val="ADB044"/>
              </a:gs>
              <a:gs pos="50000">
                <a:srgbClr val="FFFFFF"/>
              </a:gs>
              <a:gs pos="100000">
                <a:srgbClr val="ADB044"/>
              </a:gs>
            </a:gsLst>
            <a:lin ang="5400000" scaled="1"/>
            <a:tileRect/>
          </a:gradFill>
          <a:ln w="9525">
            <a:noFill/>
          </a:ln>
          <a:effectLst>
            <a:outerShdw dist="162639" dir="18519588" algn="ctr" rotWithShape="0">
              <a:srgbClr val="D9FB9D"/>
            </a:outerShdw>
          </a:effectLst>
        </p:spPr>
        <p:txBody>
          <a:bodyPr lIns="92075" tIns="46038" rIns="92075" bIns="46038" anchor="ctr" anchorCtr="0"/>
          <a:p>
            <a:pPr eaLnBrk="0" hangingPunct="0"/>
            <a:r>
              <a:rPr lang="zh-CN" altLang="en-US" sz="3200" b="1" dirty="0">
                <a:latin typeface="楷体_GB2312" panose="02010609030101010101" pitchFamily="1" charset="-122"/>
                <a:ea typeface="楷体_GB2312" panose="02010609030101010101" pitchFamily="1" charset="-122"/>
              </a:rPr>
              <a:t>三、实验原理：</a:t>
            </a:r>
            <a:endParaRPr lang="zh-CN" altLang="en-US" sz="3200" b="1" dirty="0">
              <a:latin typeface="楷体_GB2312" panose="02010609030101010101" pitchFamily="1" charset="-122"/>
              <a:ea typeface="楷体_GB2312" panose="02010609030101010101" pitchFamily="1" charset="-122"/>
            </a:endParaRPr>
          </a:p>
        </p:txBody>
      </p:sp>
      <p:sp>
        <p:nvSpPr>
          <p:cNvPr id="436235" name="矩形 436234"/>
          <p:cNvSpPr/>
          <p:nvPr/>
        </p:nvSpPr>
        <p:spPr>
          <a:xfrm>
            <a:off x="215900" y="2852738"/>
            <a:ext cx="2843213" cy="519112"/>
          </a:xfrm>
          <a:prstGeom prst="rect">
            <a:avLst/>
          </a:prstGeom>
          <a:noFill/>
          <a:ln w="9525">
            <a:noFill/>
          </a:ln>
        </p:spPr>
        <p:txBody>
          <a:bodyPr lIns="90000" tIns="46800" rIns="90000" bIns="46800" anchor="t" anchorCtr="0">
            <a:spAutoFit/>
          </a:bodyPr>
          <a:p>
            <a:pPr>
              <a:spcBef>
                <a:spcPct val="20000"/>
              </a:spcBef>
            </a:pPr>
            <a:r>
              <a:rPr lang="zh-CN" altLang="en-US" sz="2800" b="1" dirty="0">
                <a:solidFill>
                  <a:schemeClr val="tx1"/>
                </a:solidFill>
                <a:latin typeface="Times New Roman" panose="02020603050405020304" pitchFamily="18" charset="0"/>
                <a:ea typeface="楷体_GB2312" panose="02010609030101010101" pitchFamily="1" charset="-122"/>
              </a:rPr>
              <a:t>电桥平衡时有：</a:t>
            </a:r>
            <a:endParaRPr lang="zh-CN" altLang="en-US" sz="2800" b="1" dirty="0">
              <a:solidFill>
                <a:schemeClr val="tx1"/>
              </a:solidFill>
              <a:latin typeface="Arial Black" panose="020B0A04020102020204" pitchFamily="34" charset="0"/>
              <a:ea typeface="宋体" panose="02010600030101010101" pitchFamily="2" charset="-122"/>
            </a:endParaRPr>
          </a:p>
        </p:txBody>
      </p:sp>
      <p:sp>
        <p:nvSpPr>
          <p:cNvPr id="436236" name="矩形 436235"/>
          <p:cNvSpPr/>
          <p:nvPr/>
        </p:nvSpPr>
        <p:spPr>
          <a:xfrm>
            <a:off x="611188" y="1557338"/>
            <a:ext cx="3240087" cy="533400"/>
          </a:xfrm>
          <a:prstGeom prst="rect">
            <a:avLst/>
          </a:prstGeom>
          <a:noFill/>
          <a:ln w="9525">
            <a:noFill/>
          </a:ln>
        </p:spPr>
        <p:txBody>
          <a:bodyPr anchor="t" anchorCtr="0"/>
          <a:p>
            <a:pPr marL="342900" indent="-342900">
              <a:spcBef>
                <a:spcPct val="20000"/>
              </a:spcBef>
              <a:buClr>
                <a:srgbClr val="000066"/>
              </a:buClr>
              <a:buFont typeface="Wingdings" panose="05000000000000000000" pitchFamily="2" charset="2"/>
              <a:buChar char="¬"/>
            </a:pPr>
            <a:r>
              <a:rPr lang="zh-CN" altLang="en-US" sz="2800" b="1" dirty="0">
                <a:solidFill>
                  <a:srgbClr val="000066"/>
                </a:solidFill>
                <a:latin typeface="Times New Roman" panose="02020603050405020304" pitchFamily="18" charset="0"/>
                <a:ea typeface="楷体_GB2312" panose="02010609030101010101" pitchFamily="1" charset="-122"/>
              </a:rPr>
              <a:t>电桥平衡</a:t>
            </a:r>
            <a:endParaRPr lang="zh-CN" altLang="en-US" sz="2800" b="1" dirty="0">
              <a:solidFill>
                <a:srgbClr val="000066"/>
              </a:solidFill>
              <a:latin typeface="Times New Roman" panose="02020603050405020304" pitchFamily="18" charset="0"/>
              <a:ea typeface="楷体_GB2312" panose="02010609030101010101" pitchFamily="1" charset="-122"/>
            </a:endParaRPr>
          </a:p>
          <a:p>
            <a:pPr marL="342900" indent="-342900">
              <a:spcBef>
                <a:spcPct val="20000"/>
              </a:spcBef>
              <a:buClr>
                <a:srgbClr val="000066"/>
              </a:buClr>
              <a:buFont typeface="Wingdings" panose="05000000000000000000" pitchFamily="2" charset="2"/>
              <a:buChar char="¬"/>
            </a:pPr>
            <a:endParaRPr lang="zh-CN" altLang="en-US" sz="2800" b="1" dirty="0">
              <a:solidFill>
                <a:srgbClr val="000066"/>
              </a:solidFill>
              <a:latin typeface="Times New Roman" panose="02020603050405020304" pitchFamily="18" charset="0"/>
              <a:ea typeface="楷体_GB2312" panose="02010609030101010101" pitchFamily="1" charset="-122"/>
            </a:endParaRPr>
          </a:p>
          <a:p>
            <a:pPr marL="342900" indent="-342900">
              <a:spcBef>
                <a:spcPct val="20000"/>
              </a:spcBef>
              <a:buClr>
                <a:srgbClr val="000066"/>
              </a:buClr>
              <a:buFont typeface="Wingdings" panose="05000000000000000000" pitchFamily="2" charset="2"/>
              <a:buChar char="¬"/>
            </a:pPr>
            <a:endParaRPr lang="zh-CN" altLang="en-US" sz="2800" b="1" dirty="0">
              <a:solidFill>
                <a:srgbClr val="000066"/>
              </a:solidFill>
              <a:latin typeface="Times New Roman" panose="02020603050405020304" pitchFamily="18" charset="0"/>
              <a:ea typeface="楷体_GB2312" panose="02010609030101010101" pitchFamily="1" charset="-122"/>
            </a:endParaRPr>
          </a:p>
        </p:txBody>
      </p:sp>
      <p:sp>
        <p:nvSpPr>
          <p:cNvPr id="21510" name="矩形 436238"/>
          <p:cNvSpPr/>
          <p:nvPr/>
        </p:nvSpPr>
        <p:spPr>
          <a:xfrm>
            <a:off x="4229100" y="2819400"/>
            <a:ext cx="212725" cy="244475"/>
          </a:xfrm>
          <a:prstGeom prst="rect">
            <a:avLst/>
          </a:prstGeom>
          <a:noFill/>
          <a:ln w="9525">
            <a:noFill/>
          </a:ln>
        </p:spPr>
        <p:txBody>
          <a:bodyPr wrap="none" lIns="90000" tIns="46800" rIns="90000" bIns="46800" anchor="ctr" anchorCtr="0">
            <a:spAutoFit/>
          </a:bodyPr>
          <a:p>
            <a:r>
              <a:rPr lang="en-US" altLang="zh-CN" sz="1000" dirty="0">
                <a:solidFill>
                  <a:schemeClr val="tx1"/>
                </a:solidFill>
                <a:latin typeface="Times New Roman" panose="02020603050405020304" pitchFamily="18" charset="0"/>
                <a:ea typeface="宋体" panose="02010600030101010101" pitchFamily="2" charset="-122"/>
              </a:rPr>
              <a:t> </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21511" name="矩形 436239"/>
          <p:cNvSpPr/>
          <p:nvPr/>
        </p:nvSpPr>
        <p:spPr>
          <a:xfrm>
            <a:off x="4229100" y="3311525"/>
            <a:ext cx="403225" cy="244475"/>
          </a:xfrm>
          <a:prstGeom prst="rect">
            <a:avLst/>
          </a:prstGeom>
          <a:noFill/>
          <a:ln w="9525">
            <a:noFill/>
          </a:ln>
        </p:spPr>
        <p:txBody>
          <a:bodyPr wrap="none" lIns="90000" tIns="46800" rIns="90000" bIns="46800" anchor="ctr" anchorCtr="0">
            <a:spAutoFit/>
          </a:bodyPr>
          <a:p>
            <a:r>
              <a:rPr lang="en-US" altLang="zh-CN" sz="1000" dirty="0">
                <a:solidFill>
                  <a:schemeClr val="tx1"/>
                </a:solidFill>
                <a:latin typeface="Times New Roman" panose="02020603050405020304" pitchFamily="18" charset="0"/>
                <a:ea typeface="宋体" panose="02010600030101010101" pitchFamily="2" charset="-122"/>
              </a:rPr>
              <a:t>       </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436242" name="矩形 436241"/>
          <p:cNvSpPr/>
          <p:nvPr/>
        </p:nvSpPr>
        <p:spPr>
          <a:xfrm>
            <a:off x="611188" y="2205038"/>
            <a:ext cx="2232025" cy="519112"/>
          </a:xfrm>
          <a:prstGeom prst="rect">
            <a:avLst/>
          </a:prstGeom>
          <a:noFill/>
          <a:ln w="9525">
            <a:noFill/>
          </a:ln>
        </p:spPr>
        <p:txBody>
          <a:bodyPr lIns="90000" tIns="46800" rIns="90000" bIns="46800" anchor="t" anchorCtr="0">
            <a:spAutoFit/>
          </a:bodyPr>
          <a:p>
            <a:pPr>
              <a:spcBef>
                <a:spcPct val="20000"/>
              </a:spcBef>
            </a:pPr>
            <a:r>
              <a:rPr lang="zh-CN" altLang="en-US" sz="2800" b="1" dirty="0">
                <a:solidFill>
                  <a:srgbClr val="800000"/>
                </a:solidFill>
                <a:latin typeface="Times New Roman" panose="02020603050405020304" pitchFamily="18" charset="0"/>
                <a:ea typeface="楷体_GB2312" panose="02010609030101010101" pitchFamily="1" charset="-122"/>
              </a:rPr>
              <a:t>平衡判断</a:t>
            </a:r>
            <a:r>
              <a:rPr lang="en-US" altLang="zh-CN" sz="2800" b="1" dirty="0">
                <a:solidFill>
                  <a:srgbClr val="800000"/>
                </a:solidFill>
                <a:latin typeface="Times New Roman" panose="02020603050405020304" pitchFamily="18" charset="0"/>
                <a:ea typeface="楷体_GB2312" panose="02010609030101010101" pitchFamily="1" charset="-122"/>
              </a:rPr>
              <a:t>:</a:t>
            </a:r>
            <a:endParaRPr lang="en-US" altLang="zh-CN" sz="2800" b="1" dirty="0">
              <a:solidFill>
                <a:schemeClr val="tx1"/>
              </a:solidFill>
              <a:latin typeface="Arial Black" panose="020B0A04020102020204" pitchFamily="34" charset="0"/>
              <a:ea typeface="宋体" panose="02010600030101010101" pitchFamily="2" charset="-122"/>
            </a:endParaRPr>
          </a:p>
        </p:txBody>
      </p:sp>
      <p:sp>
        <p:nvSpPr>
          <p:cNvPr id="21513" name="矩形 436243"/>
          <p:cNvSpPr/>
          <p:nvPr/>
        </p:nvSpPr>
        <p:spPr>
          <a:xfrm>
            <a:off x="-236537" y="3441700"/>
            <a:ext cx="9144000" cy="0"/>
          </a:xfrm>
          <a:prstGeom prst="rect">
            <a:avLst/>
          </a:prstGeom>
          <a:noFill/>
          <a:ln w="9525">
            <a:noFill/>
          </a:ln>
        </p:spPr>
        <p:txBody>
          <a:bodyPr anchor="t" anchorCtr="0"/>
          <a:p>
            <a:pPr>
              <a:spcBef>
                <a:spcPct val="20000"/>
              </a:spcBef>
            </a:pPr>
            <a:endParaRPr lang="zh-CN" altLang="en-US" sz="3600" dirty="0">
              <a:latin typeface="Times New Roman" panose="02020603050405020304" pitchFamily="18" charset="0"/>
              <a:ea typeface="宋体" panose="02010600030101010101" pitchFamily="2" charset="-122"/>
            </a:endParaRPr>
          </a:p>
        </p:txBody>
      </p:sp>
      <p:graphicFrame>
        <p:nvGraphicFramePr>
          <p:cNvPr id="436243" name="对象 436242"/>
          <p:cNvGraphicFramePr/>
          <p:nvPr/>
        </p:nvGraphicFramePr>
        <p:xfrm>
          <a:off x="2627313" y="2205038"/>
          <a:ext cx="1223962" cy="636587"/>
        </p:xfrm>
        <a:graphic>
          <a:graphicData uri="http://schemas.openxmlformats.org/presentationml/2006/ole">
            <mc:AlternateContent xmlns:mc="http://schemas.openxmlformats.org/markup-compatibility/2006">
              <mc:Choice xmlns:v="urn:schemas-microsoft-com:vml" Requires="v">
                <p:oleObj spid="_x0000_s3076" name="" r:id="rId1" imgW="431800" imgH="228600" progId="Equation.3">
                  <p:embed/>
                </p:oleObj>
              </mc:Choice>
              <mc:Fallback>
                <p:oleObj name="" r:id="rId1" imgW="431800" imgH="228600" progId="Equation.3">
                  <p:embed/>
                  <p:pic>
                    <p:nvPicPr>
                      <p:cNvPr id="0" name="图片 3075"/>
                      <p:cNvPicPr/>
                      <p:nvPr/>
                    </p:nvPicPr>
                    <p:blipFill>
                      <a:blip r:embed="rId2"/>
                      <a:stretch>
                        <a:fillRect/>
                      </a:stretch>
                    </p:blipFill>
                    <p:spPr>
                      <a:xfrm>
                        <a:off x="2627313" y="2205038"/>
                        <a:ext cx="1223962" cy="636587"/>
                      </a:xfrm>
                      <a:prstGeom prst="rect">
                        <a:avLst/>
                      </a:prstGeom>
                      <a:noFill/>
                      <a:ln w="38100">
                        <a:noFill/>
                        <a:miter/>
                      </a:ln>
                    </p:spPr>
                  </p:pic>
                </p:oleObj>
              </mc:Fallback>
            </mc:AlternateContent>
          </a:graphicData>
        </a:graphic>
      </p:graphicFrame>
      <p:sp>
        <p:nvSpPr>
          <p:cNvPr id="21515" name="矩形 436248"/>
          <p:cNvSpPr/>
          <p:nvPr/>
        </p:nvSpPr>
        <p:spPr>
          <a:xfrm>
            <a:off x="0" y="3640138"/>
            <a:ext cx="206375" cy="214312"/>
          </a:xfrm>
          <a:prstGeom prst="rect">
            <a:avLst/>
          </a:prstGeom>
          <a:noFill/>
          <a:ln w="9525">
            <a:noFill/>
          </a:ln>
        </p:spPr>
        <p:txBody>
          <a:bodyPr wrap="none" lIns="90000" tIns="46800" rIns="90000" bIns="46800" anchor="ctr" anchorCtr="0">
            <a:spAutoFit/>
          </a:bodyPr>
          <a:p>
            <a:r>
              <a:rPr lang="en-US" altLang="zh-CN" sz="800" dirty="0">
                <a:solidFill>
                  <a:schemeClr val="tx1"/>
                </a:solidFill>
                <a:latin typeface="Times New Roman" panose="02020603050405020304" pitchFamily="18" charset="0"/>
                <a:ea typeface="楷体_GB2312" panose="02010609030101010101" pitchFamily="1" charset="-122"/>
              </a:rPr>
              <a:t> </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436251" name="矩形 436250"/>
          <p:cNvSpPr/>
          <p:nvPr/>
        </p:nvSpPr>
        <p:spPr>
          <a:xfrm>
            <a:off x="611188" y="5516563"/>
            <a:ext cx="3671887" cy="579437"/>
          </a:xfrm>
          <a:prstGeom prst="rect">
            <a:avLst/>
          </a:prstGeom>
          <a:noFill/>
          <a:ln w="9525">
            <a:noFill/>
          </a:ln>
        </p:spPr>
        <p:txBody>
          <a:bodyPr lIns="90000" tIns="46800" rIns="90000" bIns="46800" anchor="t" anchorCtr="0">
            <a:spAutoFit/>
          </a:bodyPr>
          <a:p>
            <a:pPr>
              <a:spcBef>
                <a:spcPct val="20000"/>
              </a:spcBef>
            </a:pPr>
            <a:r>
              <a:rPr lang="zh-CN" altLang="en-US" sz="3200" b="1" dirty="0">
                <a:solidFill>
                  <a:srgbClr val="800000"/>
                </a:solidFill>
                <a:latin typeface="Times New Roman" panose="02020603050405020304" pitchFamily="18" charset="0"/>
                <a:ea typeface="楷体_GB2312" panose="02010609030101010101" pitchFamily="1" charset="-122"/>
              </a:rPr>
              <a:t>电桥平衡条件！</a:t>
            </a:r>
            <a:endParaRPr lang="zh-CN" altLang="en-US" sz="3200" b="1" dirty="0">
              <a:solidFill>
                <a:srgbClr val="800000"/>
              </a:solidFill>
              <a:latin typeface="Times New Roman" panose="02020603050405020304" pitchFamily="18" charset="0"/>
              <a:ea typeface="楷体_GB2312" panose="02010609030101010101" pitchFamily="1" charset="-122"/>
            </a:endParaRPr>
          </a:p>
        </p:txBody>
      </p:sp>
      <p:sp>
        <p:nvSpPr>
          <p:cNvPr id="436261" name="椭圆形标注 436260"/>
          <p:cNvSpPr/>
          <p:nvPr/>
        </p:nvSpPr>
        <p:spPr>
          <a:xfrm>
            <a:off x="2124075" y="4076700"/>
            <a:ext cx="576263" cy="1081088"/>
          </a:xfrm>
          <a:prstGeom prst="wedgeEllipseCallout">
            <a:avLst>
              <a:gd name="adj1" fmla="val 86366"/>
              <a:gd name="adj2" fmla="val -66593"/>
            </a:avLst>
          </a:prstGeom>
          <a:noFill/>
          <a:ln w="22225" cap="flat" cmpd="sng">
            <a:solidFill>
              <a:srgbClr val="FF00FF"/>
            </a:solidFill>
            <a:prstDash val="solid"/>
            <a:miter/>
            <a:headEnd type="none" w="med" len="med"/>
            <a:tailEnd type="none" w="med" len="med"/>
          </a:ln>
        </p:spPr>
        <p:txBody>
          <a:bodyPr lIns="90000" tIns="46800" rIns="90000" bIns="46800" anchor="t" anchorCtr="0"/>
          <a:p>
            <a:pPr algn="ctr">
              <a:spcBef>
                <a:spcPct val="20000"/>
              </a:spcBef>
            </a:pPr>
            <a:endParaRPr lang="zh-CN" altLang="en-US" sz="3600" dirty="0">
              <a:latin typeface="Times New Roman" panose="02020603050405020304" pitchFamily="18" charset="0"/>
              <a:ea typeface="楷体_GB2312" panose="02010609030101010101" pitchFamily="1" charset="-122"/>
            </a:endParaRPr>
          </a:p>
        </p:txBody>
      </p:sp>
      <p:sp>
        <p:nvSpPr>
          <p:cNvPr id="436262" name="矩形 436261"/>
          <p:cNvSpPr/>
          <p:nvPr/>
        </p:nvSpPr>
        <p:spPr>
          <a:xfrm>
            <a:off x="2844800" y="3441700"/>
            <a:ext cx="1584325" cy="519113"/>
          </a:xfrm>
          <a:prstGeom prst="rect">
            <a:avLst/>
          </a:prstGeom>
          <a:noFill/>
          <a:ln w="9525">
            <a:noFill/>
          </a:ln>
        </p:spPr>
        <p:txBody>
          <a:bodyPr lIns="90000" tIns="46800" rIns="90000" bIns="46800" anchor="t" anchorCtr="0">
            <a:spAutoFit/>
          </a:bodyPr>
          <a:p>
            <a:pPr>
              <a:spcBef>
                <a:spcPct val="20000"/>
              </a:spcBef>
            </a:pPr>
            <a:r>
              <a:rPr lang="zh-CN" altLang="en-US" sz="2800" b="1" dirty="0">
                <a:solidFill>
                  <a:srgbClr val="FF33CC"/>
                </a:solidFill>
                <a:latin typeface="Times New Roman" panose="02020603050405020304" pitchFamily="18" charset="0"/>
                <a:ea typeface="楷体_GB2312" panose="02010609030101010101" pitchFamily="1" charset="-122"/>
              </a:rPr>
              <a:t>比率臂</a:t>
            </a:r>
            <a:endParaRPr lang="zh-CN" altLang="en-US" sz="2800" b="1" dirty="0">
              <a:solidFill>
                <a:srgbClr val="FF33CC"/>
              </a:solidFill>
              <a:latin typeface="Arial Black" panose="020B0A04020102020204" pitchFamily="34" charset="0"/>
              <a:ea typeface="宋体" panose="02010600030101010101" pitchFamily="2" charset="-122"/>
            </a:endParaRPr>
          </a:p>
        </p:txBody>
      </p:sp>
      <p:sp>
        <p:nvSpPr>
          <p:cNvPr id="436263" name="矩形 436262"/>
          <p:cNvSpPr/>
          <p:nvPr/>
        </p:nvSpPr>
        <p:spPr>
          <a:xfrm>
            <a:off x="3708400" y="4292600"/>
            <a:ext cx="1584325" cy="519113"/>
          </a:xfrm>
          <a:prstGeom prst="rect">
            <a:avLst/>
          </a:prstGeom>
          <a:noFill/>
          <a:ln w="9525">
            <a:noFill/>
          </a:ln>
        </p:spPr>
        <p:txBody>
          <a:bodyPr lIns="90000" tIns="46800" rIns="90000" bIns="46800" anchor="t" anchorCtr="0">
            <a:spAutoFit/>
          </a:bodyPr>
          <a:p>
            <a:pPr>
              <a:spcBef>
                <a:spcPct val="20000"/>
              </a:spcBef>
            </a:pPr>
            <a:r>
              <a:rPr lang="zh-CN" altLang="en-US" sz="2800" b="1" dirty="0">
                <a:solidFill>
                  <a:srgbClr val="FF33CC"/>
                </a:solidFill>
                <a:latin typeface="Times New Roman" panose="02020603050405020304" pitchFamily="18" charset="0"/>
                <a:ea typeface="楷体_GB2312" panose="02010609030101010101" pitchFamily="1" charset="-122"/>
              </a:rPr>
              <a:t>比较臂</a:t>
            </a:r>
            <a:endParaRPr lang="zh-CN" altLang="en-US" sz="2800" b="1" dirty="0">
              <a:solidFill>
                <a:srgbClr val="FF33CC"/>
              </a:solidFill>
              <a:latin typeface="Times New Roman" panose="02020603050405020304" pitchFamily="18" charset="0"/>
              <a:ea typeface="楷体_GB2312" panose="02010609030101010101" pitchFamily="1" charset="-122"/>
            </a:endParaRPr>
          </a:p>
        </p:txBody>
      </p:sp>
      <p:sp>
        <p:nvSpPr>
          <p:cNvPr id="436266" name="直接连接符 436265"/>
          <p:cNvSpPr/>
          <p:nvPr/>
        </p:nvSpPr>
        <p:spPr>
          <a:xfrm flipV="1">
            <a:off x="3276600" y="4508500"/>
            <a:ext cx="576263" cy="244475"/>
          </a:xfrm>
          <a:prstGeom prst="line">
            <a:avLst/>
          </a:prstGeom>
          <a:ln w="22225" cap="flat" cmpd="sng">
            <a:solidFill>
              <a:srgbClr val="FF00FF"/>
            </a:solidFill>
            <a:prstDash val="solid"/>
            <a:round/>
            <a:headEnd type="none" w="med" len="med"/>
            <a:tailEnd type="triangle" w="med" len="med"/>
          </a:ln>
        </p:spPr>
      </p:sp>
      <p:graphicFrame>
        <p:nvGraphicFramePr>
          <p:cNvPr id="21521" name="Picture 2"/>
          <p:cNvGraphicFramePr>
            <a:graphicFrameLocks noChangeAspect="1"/>
          </p:cNvGraphicFramePr>
          <p:nvPr/>
        </p:nvGraphicFramePr>
        <p:xfrm>
          <a:off x="1042988" y="3933825"/>
          <a:ext cx="2268537" cy="1384300"/>
        </p:xfrm>
        <a:graphic>
          <a:graphicData uri="http://schemas.openxmlformats.org/presentationml/2006/ole">
            <mc:AlternateContent xmlns:mc="http://schemas.openxmlformats.org/markup-compatibility/2006">
              <mc:Choice xmlns:v="urn:schemas-microsoft-com:vml" Requires="v">
                <p:oleObj spid="_x0000_s3077" name="" r:id="rId3" imgW="737870" imgH="445135" progId="Equation.DSMT4">
                  <p:embed/>
                </p:oleObj>
              </mc:Choice>
              <mc:Fallback>
                <p:oleObj name="" r:id="rId3" imgW="737870" imgH="445135" progId="Equation.DSMT4">
                  <p:embed/>
                  <p:pic>
                    <p:nvPicPr>
                      <p:cNvPr id="0" name="图片 3076"/>
                      <p:cNvPicPr/>
                      <p:nvPr/>
                    </p:nvPicPr>
                    <p:blipFill>
                      <a:blip r:embed="rId4"/>
                      <a:stretch>
                        <a:fillRect/>
                      </a:stretch>
                    </p:blipFill>
                    <p:spPr>
                      <a:xfrm>
                        <a:off x="1042988" y="3933825"/>
                        <a:ext cx="2268537" cy="1384300"/>
                      </a:xfrm>
                      <a:prstGeom prst="rect">
                        <a:avLst/>
                      </a:prstGeom>
                      <a:noFill/>
                      <a:ln w="38100">
                        <a:noFill/>
                        <a:miter/>
                      </a:ln>
                    </p:spPr>
                  </p:pic>
                </p:oleObj>
              </mc:Fallback>
            </mc:AlternateContent>
          </a:graphicData>
        </a:graphic>
      </p:graphicFrame>
      <p:pic>
        <p:nvPicPr>
          <p:cNvPr id="21522" name="Picture 8" descr="hstdq1"/>
          <p:cNvPicPr>
            <a:picLocks noChangeAspect="1"/>
          </p:cNvPicPr>
          <p:nvPr/>
        </p:nvPicPr>
        <p:blipFill>
          <a:blip r:embed="rId5">
            <a:biLevel thresh="50000"/>
            <a:grayscl/>
            <a:lum bright="-29999" contrast="17999"/>
          </a:blip>
          <a:srcRect l="4877"/>
          <a:stretch>
            <a:fillRect/>
          </a:stretch>
        </p:blipFill>
        <p:spPr>
          <a:xfrm>
            <a:off x="4932363" y="908050"/>
            <a:ext cx="4211637" cy="4824413"/>
          </a:xfrm>
          <a:prstGeom prst="rect">
            <a:avLst/>
          </a:prstGeom>
          <a:noFill/>
          <a:ln w="9525">
            <a:noFill/>
          </a:ln>
        </p:spPr>
      </p:pic>
      <p:sp>
        <p:nvSpPr>
          <p:cNvPr id="21523" name="Text Box 24"/>
          <p:cNvSpPr txBox="1"/>
          <p:nvPr/>
        </p:nvSpPr>
        <p:spPr>
          <a:xfrm>
            <a:off x="7740650" y="3716338"/>
            <a:ext cx="1150938" cy="519112"/>
          </a:xfrm>
          <a:prstGeom prst="rect">
            <a:avLst/>
          </a:prstGeom>
          <a:noFill/>
          <a:ln w="9525">
            <a:noFill/>
          </a:ln>
        </p:spPr>
        <p:txBody>
          <a:bodyPr anchor="t" anchorCtr="0">
            <a:spAutoFit/>
          </a:bodyPr>
          <a:p>
            <a:pPr>
              <a:spcBef>
                <a:spcPct val="50000"/>
              </a:spcBef>
            </a:pPr>
            <a:r>
              <a:rPr lang="en-US" altLang="zh-CN" sz="2800" i="1" dirty="0">
                <a:solidFill>
                  <a:schemeClr val="tx1"/>
                </a:solidFill>
                <a:latin typeface="Times New Roman" panose="02020603050405020304" pitchFamily="18" charset="0"/>
                <a:ea typeface="宋体" panose="02010600030101010101" pitchFamily="2" charset="-122"/>
              </a:rPr>
              <a:t>R</a:t>
            </a:r>
            <a:r>
              <a:rPr lang="en-US" altLang="zh-CN" dirty="0">
                <a:solidFill>
                  <a:schemeClr val="tx1"/>
                </a:solidFill>
                <a:latin typeface="Times New Roman" panose="02020603050405020304" pitchFamily="18" charset="0"/>
                <a:ea typeface="宋体" panose="02010600030101010101" pitchFamily="2" charset="-122"/>
              </a:rPr>
              <a:t>2</a:t>
            </a:r>
            <a:endParaRPr lang="en-US" altLang="zh-CN"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6236">
                                            <p:txEl>
                                              <p:charRg st="0" end="5"/>
                                            </p:txEl>
                                          </p:spTgt>
                                        </p:tgtEl>
                                        <p:attrNameLst>
                                          <p:attrName>style.visibility</p:attrName>
                                        </p:attrNameLst>
                                      </p:cBhvr>
                                      <p:to>
                                        <p:strVal val="visible"/>
                                      </p:to>
                                    </p:set>
                                    <p:anim calcmode="lin" valueType="num">
                                      <p:cBhvr>
                                        <p:cTn id="7" dur="500" fill="hold"/>
                                        <p:tgtEl>
                                          <p:spTgt spid="436236">
                                            <p:txEl>
                                              <p:charRg st="0" end="5"/>
                                            </p:txEl>
                                          </p:spTgt>
                                        </p:tgtEl>
                                        <p:attrNameLst>
                                          <p:attrName>ppt_x</p:attrName>
                                        </p:attrNameLst>
                                      </p:cBhvr>
                                      <p:tavLst>
                                        <p:tav tm="0">
                                          <p:val>
                                            <p:strVal val="0-#ppt_w/2"/>
                                          </p:val>
                                        </p:tav>
                                        <p:tav tm="100000">
                                          <p:val>
                                            <p:strVal val="#ppt_x"/>
                                          </p:val>
                                        </p:tav>
                                      </p:tavLst>
                                    </p:anim>
                                    <p:anim calcmode="lin" valueType="num">
                                      <p:cBhvr>
                                        <p:cTn id="8" dur="500" fill="hold"/>
                                        <p:tgtEl>
                                          <p:spTgt spid="436236">
                                            <p:txEl>
                                              <p:charRg st="0" end="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62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6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62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62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62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62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26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6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35" grpId="0"/>
      <p:bldP spid="436236" grpId="0" build="p"/>
      <p:bldP spid="436242" grpId="0"/>
      <p:bldP spid="436251" grpId="0"/>
      <p:bldP spid="436261" grpId="0" animBg="1"/>
      <p:bldP spid="436262" grpId="0"/>
      <p:bldP spid="4362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470018"/>
          <p:cNvSpPr txBox="1"/>
          <p:nvPr/>
        </p:nvSpPr>
        <p:spPr>
          <a:xfrm>
            <a:off x="0" y="0"/>
            <a:ext cx="4752975" cy="519113"/>
          </a:xfrm>
          <a:prstGeom prst="rect">
            <a:avLst/>
          </a:prstGeom>
          <a:gradFill rotWithShape="0">
            <a:gsLst>
              <a:gs pos="0">
                <a:srgbClr val="ADB044"/>
              </a:gs>
              <a:gs pos="50000">
                <a:srgbClr val="FFFFFF"/>
              </a:gs>
              <a:gs pos="100000">
                <a:srgbClr val="ADB044"/>
              </a:gs>
            </a:gsLst>
            <a:lin ang="5400000" scaled="1"/>
            <a:tileRect/>
          </a:gradFill>
          <a:ln w="9525">
            <a:noFill/>
          </a:ln>
          <a:effectLst>
            <a:outerShdw dist="162639" dir="18519588" algn="ctr" rotWithShape="0">
              <a:srgbClr val="D9FB9D"/>
            </a:outerShdw>
          </a:effectLst>
        </p:spPr>
        <p:txBody>
          <a:bodyPr lIns="92075" tIns="46038" rIns="92075" bIns="46038" anchor="ctr" anchorCtr="0"/>
          <a:p>
            <a:pPr eaLnBrk="0" hangingPunct="0"/>
            <a:r>
              <a:rPr lang="zh-CN" altLang="en-US" sz="3200" b="1" dirty="0">
                <a:latin typeface="楷体_GB2312" panose="02010609030101010101" pitchFamily="1" charset="-122"/>
                <a:ea typeface="楷体_GB2312" panose="02010609030101010101" pitchFamily="1" charset="-122"/>
              </a:rPr>
              <a:t>四、实验仪器及连接：</a:t>
            </a:r>
            <a:endParaRPr lang="zh-CN" altLang="en-US" sz="3200" b="1" dirty="0">
              <a:latin typeface="楷体_GB2312" panose="02010609030101010101" pitchFamily="1" charset="-122"/>
              <a:ea typeface="楷体_GB2312" panose="02010609030101010101" pitchFamily="1" charset="-122"/>
            </a:endParaRPr>
          </a:p>
        </p:txBody>
      </p:sp>
      <p:pic>
        <p:nvPicPr>
          <p:cNvPr id="22530" name="Picture 7" descr="微信图片_202005101441172"/>
          <p:cNvPicPr>
            <a:picLocks noChangeAspect="1"/>
          </p:cNvPicPr>
          <p:nvPr/>
        </p:nvPicPr>
        <p:blipFill>
          <a:blip r:embed="rId1"/>
          <a:srcRect l="6659" t="22885" r="8548" b="14874"/>
          <a:stretch>
            <a:fillRect/>
          </a:stretch>
        </p:blipFill>
        <p:spPr>
          <a:xfrm>
            <a:off x="287338" y="3932238"/>
            <a:ext cx="8567737" cy="3384550"/>
          </a:xfrm>
          <a:prstGeom prst="rect">
            <a:avLst/>
          </a:prstGeom>
          <a:noFill/>
          <a:ln w="9525">
            <a:noFill/>
          </a:ln>
        </p:spPr>
      </p:pic>
      <p:pic>
        <p:nvPicPr>
          <p:cNvPr id="22531" name="Picture 8" descr="微信图片_202005101441177"/>
          <p:cNvPicPr>
            <a:picLocks noChangeAspect="1"/>
          </p:cNvPicPr>
          <p:nvPr/>
        </p:nvPicPr>
        <p:blipFill>
          <a:blip r:embed="rId2"/>
          <a:srcRect t="10165" b="46654"/>
          <a:stretch>
            <a:fillRect/>
          </a:stretch>
        </p:blipFill>
        <p:spPr>
          <a:xfrm>
            <a:off x="287338" y="749300"/>
            <a:ext cx="8567737" cy="2952750"/>
          </a:xfrm>
          <a:prstGeom prst="rect">
            <a:avLst/>
          </a:prstGeom>
          <a:noFill/>
          <a:ln w="9525">
            <a:noFill/>
          </a:ln>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2"/>
          <p:cNvSpPr txBox="1"/>
          <p:nvPr/>
        </p:nvSpPr>
        <p:spPr>
          <a:xfrm>
            <a:off x="611188" y="1104900"/>
            <a:ext cx="8532812" cy="3403600"/>
          </a:xfrm>
          <a:prstGeom prst="rect">
            <a:avLst/>
          </a:prstGeom>
          <a:noFill/>
          <a:ln w="9525">
            <a:noFill/>
          </a:ln>
        </p:spPr>
        <p:txBody>
          <a:bodyPr anchor="t" anchorCtr="0">
            <a:spAutoFit/>
          </a:bodyPr>
          <a:p>
            <a:pPr>
              <a:spcBef>
                <a:spcPct val="20000"/>
              </a:spcBef>
            </a:pPr>
            <a:r>
              <a:rPr lang="zh-CN" altLang="en-US" sz="3200" b="1" dirty="0">
                <a:solidFill>
                  <a:schemeClr val="tx1"/>
                </a:solidFill>
                <a:latin typeface="楷体" panose="02010609060101010101" pitchFamily="49" charset="-122"/>
                <a:ea typeface="楷体" panose="02010609060101010101" pitchFamily="49" charset="-122"/>
              </a:rPr>
              <a:t>（</a:t>
            </a:r>
            <a:r>
              <a:rPr lang="en-US" altLang="zh-CN" sz="3200" b="1" dirty="0">
                <a:solidFill>
                  <a:schemeClr val="tx1"/>
                </a:solidFill>
                <a:latin typeface="楷体" panose="02010609060101010101" pitchFamily="49" charset="-122"/>
                <a:ea typeface="楷体" panose="02010609060101010101" pitchFamily="49" charset="-122"/>
              </a:rPr>
              <a:t>1</a:t>
            </a:r>
            <a:r>
              <a:rPr lang="zh-CN" altLang="en-US" sz="3200" b="1" dirty="0">
                <a:solidFill>
                  <a:schemeClr val="tx1"/>
                </a:solidFill>
                <a:latin typeface="楷体" panose="02010609060101010101" pitchFamily="49" charset="-122"/>
                <a:ea typeface="楷体" panose="02010609060101010101" pitchFamily="49" charset="-122"/>
              </a:rPr>
              <a:t>）四色环电阻就是指用四条色环表示阻值的电阻，从左向右数：</a:t>
            </a:r>
            <a:endParaRPr lang="zh-CN" altLang="en-US" sz="3200" b="1" dirty="0">
              <a:solidFill>
                <a:schemeClr val="tx1"/>
              </a:solidFill>
              <a:latin typeface="楷体" panose="02010609060101010101" pitchFamily="49" charset="-122"/>
              <a:ea typeface="楷体" panose="02010609060101010101" pitchFamily="49" charset="-122"/>
            </a:endParaRPr>
          </a:p>
          <a:p>
            <a:pPr>
              <a:spcBef>
                <a:spcPct val="20000"/>
              </a:spcBef>
            </a:pPr>
            <a:r>
              <a:rPr lang="zh-CN" altLang="en-US" sz="3200" b="1" dirty="0">
                <a:solidFill>
                  <a:srgbClr val="CC0000"/>
                </a:solidFill>
                <a:latin typeface="楷体" panose="02010609060101010101" pitchFamily="49" charset="-122"/>
                <a:ea typeface="楷体" panose="02010609060101010101" pitchFamily="49" charset="-122"/>
              </a:rPr>
              <a:t>第一道色环表示阻值的最大一位数字；</a:t>
            </a:r>
            <a:endParaRPr lang="zh-CN" altLang="en-US" sz="3200" b="1" dirty="0">
              <a:solidFill>
                <a:srgbClr val="CC0000"/>
              </a:solidFill>
              <a:latin typeface="楷体" panose="02010609060101010101" pitchFamily="49" charset="-122"/>
              <a:ea typeface="楷体" panose="02010609060101010101" pitchFamily="49" charset="-122"/>
            </a:endParaRPr>
          </a:p>
          <a:p>
            <a:pPr>
              <a:spcBef>
                <a:spcPct val="20000"/>
              </a:spcBef>
            </a:pPr>
            <a:r>
              <a:rPr lang="zh-CN" altLang="en-US" sz="3200" b="1" dirty="0">
                <a:solidFill>
                  <a:srgbClr val="FF9900"/>
                </a:solidFill>
                <a:latin typeface="楷体" panose="02010609060101010101" pitchFamily="49" charset="-122"/>
                <a:ea typeface="楷体" panose="02010609060101010101" pitchFamily="49" charset="-122"/>
              </a:rPr>
              <a:t>第二道色环表示阻值的第二位数字；</a:t>
            </a:r>
            <a:endParaRPr lang="zh-CN" altLang="en-US" sz="3200" b="1" dirty="0">
              <a:solidFill>
                <a:srgbClr val="FF9900"/>
              </a:solidFill>
              <a:latin typeface="楷体" panose="02010609060101010101" pitchFamily="49" charset="-122"/>
              <a:ea typeface="楷体" panose="02010609060101010101" pitchFamily="49" charset="-122"/>
            </a:endParaRPr>
          </a:p>
          <a:p>
            <a:pPr>
              <a:spcBef>
                <a:spcPct val="20000"/>
              </a:spcBef>
            </a:pPr>
            <a:r>
              <a:rPr lang="zh-CN" altLang="en-US" sz="3200" b="1" dirty="0">
                <a:solidFill>
                  <a:srgbClr val="CC00CC"/>
                </a:solidFill>
                <a:latin typeface="楷体" panose="02010609060101010101" pitchFamily="49" charset="-122"/>
                <a:ea typeface="楷体" panose="02010609060101010101" pitchFamily="49" charset="-122"/>
              </a:rPr>
              <a:t>第三道色环表示阻值倍乘的数；</a:t>
            </a:r>
            <a:endParaRPr lang="zh-CN" altLang="en-US" sz="3200" b="1" dirty="0">
              <a:solidFill>
                <a:srgbClr val="CC00CC"/>
              </a:solidFill>
              <a:latin typeface="楷体" panose="02010609060101010101" pitchFamily="49" charset="-122"/>
              <a:ea typeface="楷体" panose="02010609060101010101" pitchFamily="49" charset="-122"/>
            </a:endParaRPr>
          </a:p>
          <a:p>
            <a:pPr>
              <a:spcBef>
                <a:spcPct val="20000"/>
              </a:spcBef>
            </a:pPr>
            <a:r>
              <a:rPr lang="zh-CN" altLang="en-US" sz="3200" b="1" dirty="0">
                <a:solidFill>
                  <a:schemeClr val="hlink"/>
                </a:solidFill>
                <a:latin typeface="楷体" panose="02010609060101010101" pitchFamily="49" charset="-122"/>
                <a:ea typeface="楷体" panose="02010609060101010101" pitchFamily="49" charset="-122"/>
              </a:rPr>
              <a:t>第四道色环表示阻值允许的偏差（精度）</a:t>
            </a:r>
            <a:r>
              <a:rPr lang="en-US" altLang="zh-CN" sz="3200" b="1" dirty="0">
                <a:solidFill>
                  <a:schemeClr val="hlink"/>
                </a:solidFill>
                <a:latin typeface="楷体" panose="02010609060101010101" pitchFamily="49" charset="-122"/>
                <a:ea typeface="楷体" panose="02010609060101010101" pitchFamily="49" charset="-122"/>
              </a:rPr>
              <a:t>.</a:t>
            </a:r>
            <a:endParaRPr lang="en-US" altLang="zh-CN" sz="3200" b="1" dirty="0">
              <a:solidFill>
                <a:schemeClr val="hlink"/>
              </a:solidFill>
              <a:latin typeface="楷体" panose="02010609060101010101" pitchFamily="49" charset="-122"/>
              <a:ea typeface="楷体" panose="02010609060101010101" pitchFamily="49" charset="-122"/>
            </a:endParaRPr>
          </a:p>
        </p:txBody>
      </p:sp>
      <p:sp>
        <p:nvSpPr>
          <p:cNvPr id="23554" name="Rectangle 5"/>
          <p:cNvSpPr/>
          <p:nvPr/>
        </p:nvSpPr>
        <p:spPr>
          <a:xfrm>
            <a:off x="468313" y="333375"/>
            <a:ext cx="7272337" cy="579438"/>
          </a:xfrm>
          <a:prstGeom prst="rect">
            <a:avLst/>
          </a:prstGeom>
          <a:noFill/>
          <a:ln w="9525">
            <a:noFill/>
          </a:ln>
        </p:spPr>
        <p:txBody>
          <a:bodyPr anchor="ctr" anchorCtr="0">
            <a:spAutoFit/>
          </a:bodyPr>
          <a:p>
            <a:pPr eaLnBrk="0" hangingPunct="0">
              <a:spcBef>
                <a:spcPct val="20000"/>
              </a:spcBef>
            </a:pPr>
            <a:r>
              <a:rPr lang="en-US" altLang="zh-CN" sz="3200" b="1" dirty="0">
                <a:solidFill>
                  <a:schemeClr val="tx1"/>
                </a:solidFill>
                <a:latin typeface="楷体" panose="02010609060101010101" pitchFamily="49" charset="-122"/>
                <a:ea typeface="楷体" panose="02010609060101010101" pitchFamily="49" charset="-122"/>
              </a:rPr>
              <a:t>2.</a:t>
            </a:r>
            <a:r>
              <a:rPr lang="zh-CN" altLang="en-US" sz="3200" b="1" dirty="0">
                <a:solidFill>
                  <a:schemeClr val="tx1"/>
                </a:solidFill>
                <a:latin typeface="楷体" panose="02010609060101010101" pitchFamily="49" charset="-122"/>
                <a:ea typeface="楷体" panose="02010609060101010101" pitchFamily="49" charset="-122"/>
              </a:rPr>
              <a:t>色环电阻识别方法：</a:t>
            </a:r>
            <a:endParaRPr lang="zh-CN" altLang="en-US" sz="3200" b="1" dirty="0">
              <a:solidFill>
                <a:schemeClr val="tx1"/>
              </a:solidFill>
              <a:latin typeface="楷体" panose="02010609060101010101" pitchFamily="49" charset="-122"/>
              <a:ea typeface="楷体" panose="02010609060101010101" pitchFamily="49" charset="-122"/>
            </a:endParaRPr>
          </a:p>
        </p:txBody>
      </p:sp>
      <p:sp>
        <p:nvSpPr>
          <p:cNvPr id="23555" name="文本框 2"/>
          <p:cNvSpPr txBox="1"/>
          <p:nvPr/>
        </p:nvSpPr>
        <p:spPr>
          <a:xfrm>
            <a:off x="611188" y="4776788"/>
            <a:ext cx="8532812" cy="1747837"/>
          </a:xfrm>
          <a:prstGeom prst="rect">
            <a:avLst/>
          </a:prstGeom>
          <a:solidFill>
            <a:schemeClr val="bg1"/>
          </a:solidFill>
          <a:ln w="9525">
            <a:noFill/>
          </a:ln>
        </p:spPr>
        <p:txBody>
          <a:bodyPr anchor="t" anchorCtr="0">
            <a:spAutoFit/>
          </a:bodyPr>
          <a:p>
            <a:pPr>
              <a:spcBef>
                <a:spcPct val="20000"/>
              </a:spcBef>
            </a:pPr>
            <a:r>
              <a:rPr lang="zh-CN" altLang="en-US" sz="3200" b="1" dirty="0">
                <a:solidFill>
                  <a:schemeClr val="tx1"/>
                </a:solidFill>
                <a:latin typeface="楷体" panose="02010609060101010101" pitchFamily="49" charset="-122"/>
                <a:ea typeface="楷体" panose="02010609060101010101" pitchFamily="49" charset="-122"/>
              </a:rPr>
              <a:t>（</a:t>
            </a:r>
            <a:r>
              <a:rPr lang="en-US" altLang="zh-CN" sz="3200" b="1" dirty="0">
                <a:solidFill>
                  <a:schemeClr val="tx1"/>
                </a:solidFill>
                <a:latin typeface="楷体" panose="02010609060101010101" pitchFamily="49" charset="-122"/>
                <a:ea typeface="楷体" panose="02010609060101010101" pitchFamily="49" charset="-122"/>
              </a:rPr>
              <a:t>2</a:t>
            </a:r>
            <a:r>
              <a:rPr lang="zh-CN" altLang="en-US" sz="3200" b="1" dirty="0">
                <a:solidFill>
                  <a:schemeClr val="tx1"/>
                </a:solidFill>
                <a:latin typeface="楷体" panose="02010609060101010101" pitchFamily="49" charset="-122"/>
                <a:ea typeface="楷体" panose="02010609060101010101" pitchFamily="49" charset="-122"/>
              </a:rPr>
              <a:t>）色环口诀：</a:t>
            </a:r>
            <a:endParaRPr lang="zh-CN" altLang="en-US" sz="3200" b="1" dirty="0">
              <a:solidFill>
                <a:schemeClr val="tx1"/>
              </a:solidFill>
              <a:latin typeface="楷体" panose="02010609060101010101" pitchFamily="49" charset="-122"/>
              <a:ea typeface="楷体" panose="02010609060101010101" pitchFamily="49" charset="-122"/>
            </a:endParaRPr>
          </a:p>
          <a:p>
            <a:pPr>
              <a:spcBef>
                <a:spcPct val="20000"/>
              </a:spcBef>
            </a:pPr>
            <a:r>
              <a:rPr lang="zh-CN" altLang="en-US" sz="3200" b="1" dirty="0">
                <a:solidFill>
                  <a:srgbClr val="CC0000"/>
                </a:solidFill>
                <a:latin typeface="楷体" panose="02010609060101010101" pitchFamily="49" charset="-122"/>
                <a:ea typeface="楷体" panose="02010609060101010101" pitchFamily="49" charset="-122"/>
              </a:rPr>
              <a:t>棕一红二橙是三，</a:t>
            </a:r>
            <a:r>
              <a:rPr lang="zh-CN" altLang="en-US" sz="3200" b="1" dirty="0">
                <a:solidFill>
                  <a:srgbClr val="009900"/>
                </a:solidFill>
                <a:latin typeface="楷体" panose="02010609060101010101" pitchFamily="49" charset="-122"/>
                <a:ea typeface="楷体" panose="02010609060101010101" pitchFamily="49" charset="-122"/>
              </a:rPr>
              <a:t>四黄五绿六为蓝，</a:t>
            </a:r>
            <a:endParaRPr lang="zh-CN" altLang="en-US" sz="3200" b="1" dirty="0">
              <a:solidFill>
                <a:srgbClr val="009900"/>
              </a:solidFill>
              <a:latin typeface="楷体" panose="02010609060101010101" pitchFamily="49" charset="-122"/>
              <a:ea typeface="楷体" panose="02010609060101010101" pitchFamily="49" charset="-122"/>
            </a:endParaRPr>
          </a:p>
          <a:p>
            <a:pPr>
              <a:spcBef>
                <a:spcPct val="20000"/>
              </a:spcBef>
            </a:pPr>
            <a:r>
              <a:rPr lang="zh-CN" altLang="en-US" sz="3200" b="1" dirty="0">
                <a:solidFill>
                  <a:srgbClr val="CC00CC"/>
                </a:solidFill>
                <a:latin typeface="楷体" panose="02010609060101010101" pitchFamily="49" charset="-122"/>
                <a:ea typeface="楷体" panose="02010609060101010101" pitchFamily="49" charset="-122"/>
              </a:rPr>
              <a:t>七紫八灰九对白，</a:t>
            </a:r>
            <a:r>
              <a:rPr lang="zh-CN" altLang="en-US" sz="3200" b="1" dirty="0">
                <a:solidFill>
                  <a:schemeClr val="tx1"/>
                </a:solidFill>
                <a:latin typeface="楷体" panose="02010609060101010101" pitchFamily="49" charset="-122"/>
                <a:ea typeface="楷体" panose="02010609060101010101" pitchFamily="49" charset="-122"/>
              </a:rPr>
              <a:t>黑是零，</a:t>
            </a:r>
            <a:r>
              <a:rPr lang="zh-CN" altLang="en-US" sz="3200" b="1" dirty="0">
                <a:solidFill>
                  <a:srgbClr val="FF9900"/>
                </a:solidFill>
                <a:latin typeface="楷体" panose="02010609060101010101" pitchFamily="49" charset="-122"/>
                <a:ea typeface="楷体" panose="02010609060101010101" pitchFamily="49" charset="-122"/>
              </a:rPr>
              <a:t>金五银十表误差</a:t>
            </a:r>
            <a:r>
              <a:rPr lang="en-US" altLang="zh-CN" sz="3200" b="1" dirty="0">
                <a:solidFill>
                  <a:srgbClr val="FF9900"/>
                </a:solidFill>
                <a:latin typeface="楷体" panose="02010609060101010101" pitchFamily="49" charset="-122"/>
                <a:ea typeface="楷体" panose="02010609060101010101" pitchFamily="49" charset="-122"/>
              </a:rPr>
              <a:t>.</a:t>
            </a:r>
            <a:endParaRPr lang="en-US" altLang="zh-CN" sz="3200" b="1" dirty="0">
              <a:solidFill>
                <a:srgbClr val="FF99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Picture 2" descr="20100627150153-1978873604"/>
          <p:cNvPicPr>
            <a:picLocks noChangeAspect="1"/>
          </p:cNvPicPr>
          <p:nvPr/>
        </p:nvPicPr>
        <p:blipFill>
          <a:blip r:embed="rId1"/>
          <a:stretch>
            <a:fillRect/>
          </a:stretch>
        </p:blipFill>
        <p:spPr>
          <a:xfrm>
            <a:off x="0" y="0"/>
            <a:ext cx="9144000" cy="6854825"/>
          </a:xfrm>
          <a:prstGeom prst="rect">
            <a:avLst/>
          </a:prstGeom>
          <a:noFill/>
          <a:ln w="9525">
            <a:noFill/>
          </a:ln>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5" name="Picture 2" descr="t019422c6ee3d2e485d"/>
          <p:cNvPicPr>
            <a:picLocks noChangeAspect="1"/>
          </p:cNvPicPr>
          <p:nvPr/>
        </p:nvPicPr>
        <p:blipFill>
          <a:blip r:embed="rId1"/>
          <a:stretch>
            <a:fillRect/>
          </a:stretch>
        </p:blipFill>
        <p:spPr>
          <a:xfrm>
            <a:off x="0" y="0"/>
            <a:ext cx="9144000" cy="6826250"/>
          </a:xfrm>
          <a:prstGeom prst="rect">
            <a:avLst/>
          </a:prstGeom>
          <a:noFill/>
          <a:ln w="9525">
            <a:noFill/>
          </a:ln>
        </p:spPr>
      </p:pic>
      <p:sp>
        <p:nvSpPr>
          <p:cNvPr id="26626" name="Rectangle 3"/>
          <p:cNvSpPr/>
          <p:nvPr/>
        </p:nvSpPr>
        <p:spPr>
          <a:xfrm>
            <a:off x="827088" y="5516563"/>
            <a:ext cx="1439862" cy="457200"/>
          </a:xfrm>
          <a:prstGeom prst="rect">
            <a:avLst/>
          </a:prstGeom>
          <a:noFill/>
          <a:ln w="9525">
            <a:noFill/>
          </a:ln>
        </p:spPr>
        <p:txBody>
          <a:bodyPr anchor="t" anchorCtr="0">
            <a:spAutoFit/>
          </a:bodyPr>
          <a:p>
            <a:pPr eaLnBrk="0" hangingPunct="0"/>
            <a:r>
              <a:rPr lang="zh-CN" altLang="en-US" sz="2400" b="1" dirty="0">
                <a:solidFill>
                  <a:srgbClr val="FF0000"/>
                </a:solidFill>
                <a:latin typeface="Arial" panose="020B0604020202020204" pitchFamily="34" charset="0"/>
                <a:ea typeface="楷体_GB2312" panose="02010609030101010101" pitchFamily="1" charset="-122"/>
              </a:rPr>
              <a:t>有效数字</a:t>
            </a:r>
            <a:endParaRPr lang="zh-CN" altLang="en-US" sz="2400" b="1" dirty="0">
              <a:solidFill>
                <a:srgbClr val="FF0000"/>
              </a:solidFill>
              <a:latin typeface="Arial" panose="020B0604020202020204" pitchFamily="34" charset="0"/>
              <a:ea typeface="楷体_GB2312" panose="02010609030101010101" pitchFamily="1" charset="-122"/>
            </a:endParaRPr>
          </a:p>
        </p:txBody>
      </p:sp>
      <p:sp>
        <p:nvSpPr>
          <p:cNvPr id="26627" name="Rectangle 4"/>
          <p:cNvSpPr/>
          <p:nvPr/>
        </p:nvSpPr>
        <p:spPr>
          <a:xfrm>
            <a:off x="6011863" y="5445125"/>
            <a:ext cx="1368425" cy="457200"/>
          </a:xfrm>
          <a:prstGeom prst="rect">
            <a:avLst/>
          </a:prstGeom>
          <a:noFill/>
          <a:ln w="9525">
            <a:noFill/>
          </a:ln>
        </p:spPr>
        <p:txBody>
          <a:bodyPr anchor="t" anchorCtr="0">
            <a:spAutoFit/>
          </a:bodyPr>
          <a:p>
            <a:pPr eaLnBrk="0" hangingPunct="0"/>
            <a:r>
              <a:rPr lang="zh-CN" altLang="en-US" sz="2400" b="1" dirty="0">
                <a:solidFill>
                  <a:srgbClr val="FF0000"/>
                </a:solidFill>
                <a:latin typeface="Arial" panose="020B0604020202020204" pitchFamily="34" charset="0"/>
                <a:ea typeface="楷体_GB2312" panose="02010609030101010101" pitchFamily="1" charset="-122"/>
              </a:rPr>
              <a:t>倍乘数</a:t>
            </a:r>
            <a:endParaRPr lang="zh-CN" altLang="en-US" sz="2400" b="1" dirty="0">
              <a:solidFill>
                <a:srgbClr val="FF0000"/>
              </a:solidFill>
              <a:latin typeface="Arial" panose="020B0604020202020204" pitchFamily="34" charset="0"/>
              <a:ea typeface="楷体_GB2312" panose="02010609030101010101" pitchFamily="1" charset="-122"/>
            </a:endParaRPr>
          </a:p>
        </p:txBody>
      </p:sp>
      <p:sp>
        <p:nvSpPr>
          <p:cNvPr id="26628" name="Rectangle 5"/>
          <p:cNvSpPr/>
          <p:nvPr/>
        </p:nvSpPr>
        <p:spPr>
          <a:xfrm>
            <a:off x="7669213" y="5516563"/>
            <a:ext cx="1474787" cy="457200"/>
          </a:xfrm>
          <a:prstGeom prst="rect">
            <a:avLst/>
          </a:prstGeom>
          <a:noFill/>
          <a:ln w="9525">
            <a:noFill/>
          </a:ln>
        </p:spPr>
        <p:txBody>
          <a:bodyPr anchor="t" anchorCtr="0">
            <a:spAutoFit/>
          </a:bodyPr>
          <a:p>
            <a:pPr eaLnBrk="0" hangingPunct="0"/>
            <a:r>
              <a:rPr lang="zh-CN" altLang="en-US" sz="2400" b="1" dirty="0">
                <a:solidFill>
                  <a:srgbClr val="FF0000"/>
                </a:solidFill>
                <a:latin typeface="Arial" panose="020B0604020202020204" pitchFamily="34" charset="0"/>
                <a:ea typeface="楷体_GB2312" panose="02010609030101010101" pitchFamily="1" charset="-122"/>
              </a:rPr>
              <a:t>允许误差</a:t>
            </a:r>
            <a:endParaRPr lang="zh-CN" altLang="en-US" sz="2400" b="1" dirty="0">
              <a:solidFill>
                <a:srgbClr val="FF0000"/>
              </a:solidFill>
              <a:latin typeface="Arial" panose="020B0604020202020204" pitchFamily="34" charset="0"/>
              <a:ea typeface="楷体_GB2312" panose="02010609030101010101" pitchFamily="1" charset="-122"/>
            </a:endParaRP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49" name="Picture 2" descr="t018cfe933afcc0e8b3"/>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3"/>
          <p:cNvSpPr>
            <a:spLocks noGrp="1"/>
          </p:cNvSpPr>
          <p:nvPr>
            <p:ph idx="1"/>
          </p:nvPr>
        </p:nvSpPr>
        <p:spPr>
          <a:xfrm>
            <a:off x="684213" y="1557338"/>
            <a:ext cx="7772400" cy="4114800"/>
          </a:xfrm>
          <a:ln/>
        </p:spPr>
        <p:txBody>
          <a:bodyPr vert="horz" wrap="square" lIns="91440" tIns="45720" rIns="91440" bIns="45720" anchor="t" anchorCtr="0"/>
          <a:p>
            <a:pPr eaLnBrk="1" hangingPunct="1"/>
            <a:r>
              <a:rPr lang="zh-CN" altLang="en-US" dirty="0"/>
              <a:t>利用惠斯通电桥测量</a:t>
            </a:r>
            <a:r>
              <a:rPr lang="en-US" altLang="zh-CN" dirty="0"/>
              <a:t>6</a:t>
            </a:r>
            <a:r>
              <a:rPr lang="zh-CN" altLang="en-US" dirty="0"/>
              <a:t>个电阻阻值：</a:t>
            </a:r>
            <a:endParaRPr lang="zh-CN" altLang="en-US" dirty="0"/>
          </a:p>
          <a:p>
            <a:pPr eaLnBrk="1" hangingPunct="1"/>
            <a:r>
              <a:rPr lang="en-US" altLang="zh-CN" sz="2400" dirty="0"/>
              <a:t>510</a:t>
            </a:r>
            <a:r>
              <a:rPr lang="el-GR" altLang="zh-CN" sz="2400" dirty="0"/>
              <a:t>Ω</a:t>
            </a:r>
            <a:r>
              <a:rPr lang="zh-CN" altLang="en-US" sz="2400" dirty="0"/>
              <a:t>、</a:t>
            </a:r>
            <a:r>
              <a:rPr lang="en-US" altLang="zh-CN" sz="2400" dirty="0"/>
              <a:t>820</a:t>
            </a:r>
            <a:r>
              <a:rPr lang="el-GR" altLang="zh-CN" sz="2400" dirty="0"/>
              <a:t>Ω</a:t>
            </a:r>
            <a:r>
              <a:rPr lang="zh-CN" altLang="en-US" sz="2400" dirty="0"/>
              <a:t>、</a:t>
            </a:r>
            <a:r>
              <a:rPr lang="en-US" altLang="zh-CN" sz="2400" dirty="0"/>
              <a:t>3K</a:t>
            </a:r>
            <a:r>
              <a:rPr lang="el-GR" altLang="zh-CN" sz="2400" dirty="0"/>
              <a:t>Ω</a:t>
            </a:r>
            <a:r>
              <a:rPr lang="zh-CN" altLang="en-US" sz="2400" dirty="0"/>
              <a:t>、</a:t>
            </a:r>
            <a:r>
              <a:rPr lang="en-US" altLang="zh-CN" sz="2400" dirty="0"/>
              <a:t>10K</a:t>
            </a:r>
            <a:r>
              <a:rPr lang="el-GR" altLang="zh-CN" sz="2400" dirty="0"/>
              <a:t>Ω</a:t>
            </a:r>
            <a:r>
              <a:rPr lang="zh-CN" altLang="en-US" sz="2400" dirty="0"/>
              <a:t>、</a:t>
            </a:r>
            <a:r>
              <a:rPr lang="en-US" altLang="zh-CN" sz="2400" dirty="0"/>
              <a:t>51K</a:t>
            </a:r>
            <a:r>
              <a:rPr lang="el-GR" altLang="zh-CN" sz="2400" dirty="0"/>
              <a:t>Ω</a:t>
            </a:r>
            <a:r>
              <a:rPr lang="zh-CN" altLang="en-US" sz="2400" dirty="0"/>
              <a:t>、</a:t>
            </a:r>
            <a:r>
              <a:rPr lang="en-US" altLang="zh-CN" sz="2400" dirty="0"/>
              <a:t>100K</a:t>
            </a:r>
            <a:r>
              <a:rPr lang="el-GR" altLang="zh-CN" sz="2400" dirty="0"/>
              <a:t>Ω</a:t>
            </a:r>
            <a:endParaRPr lang="el-GR" altLang="zh-CN" sz="2400" dirty="0">
              <a:ea typeface="Times New Roman" panose="02020603050405020304" pitchFamily="18" charset="0"/>
            </a:endParaRPr>
          </a:p>
        </p:txBody>
      </p:sp>
      <p:sp>
        <p:nvSpPr>
          <p:cNvPr id="28674" name="Rectangle 4"/>
          <p:cNvSpPr/>
          <p:nvPr/>
        </p:nvSpPr>
        <p:spPr>
          <a:xfrm>
            <a:off x="468313" y="692150"/>
            <a:ext cx="3040062" cy="579438"/>
          </a:xfrm>
          <a:prstGeom prst="rect">
            <a:avLst/>
          </a:prstGeom>
          <a:noFill/>
          <a:ln w="9525">
            <a:noFill/>
          </a:ln>
        </p:spPr>
        <p:txBody>
          <a:bodyPr wrap="none" anchor="t" anchorCtr="0">
            <a:spAutoFit/>
          </a:bodyPr>
          <a:p>
            <a:pPr>
              <a:spcBef>
                <a:spcPct val="20000"/>
              </a:spcBef>
            </a:pPr>
            <a:r>
              <a:rPr lang="zh-CN" altLang="en-US" sz="3200" b="1" dirty="0">
                <a:latin typeface="Times New Roman" panose="02020603050405020304" pitchFamily="18" charset="0"/>
                <a:ea typeface="宋体" panose="02010600030101010101" pitchFamily="2" charset="-122"/>
              </a:rPr>
              <a:t>五、实验内容：</a:t>
            </a:r>
            <a:endParaRPr lang="zh-CN" altLang="en-US" sz="3200" b="1" dirty="0">
              <a:latin typeface="Times New Roman" panose="02020603050405020304" pitchFamily="18" charset="0"/>
              <a:ea typeface="宋体" panose="02010600030101010101" pitchFamily="2" charset="-122"/>
            </a:endParaRPr>
          </a:p>
        </p:txBody>
      </p:sp>
      <p:pic>
        <p:nvPicPr>
          <p:cNvPr id="28675" name="Picture 6" descr="微信图片_20200510144117"/>
          <p:cNvPicPr>
            <a:picLocks noChangeAspect="1"/>
          </p:cNvPicPr>
          <p:nvPr/>
        </p:nvPicPr>
        <p:blipFill>
          <a:blip r:embed="rId1"/>
          <a:srcRect t="21590"/>
          <a:stretch>
            <a:fillRect/>
          </a:stretch>
        </p:blipFill>
        <p:spPr>
          <a:xfrm>
            <a:off x="1619250" y="2708275"/>
            <a:ext cx="6046788" cy="3556000"/>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6"/>
          <p:cNvSpPr txBox="1"/>
          <p:nvPr/>
        </p:nvSpPr>
        <p:spPr>
          <a:xfrm>
            <a:off x="827088" y="549275"/>
            <a:ext cx="5472112" cy="641350"/>
          </a:xfrm>
          <a:prstGeom prst="rect">
            <a:avLst/>
          </a:prstGeom>
          <a:noFill/>
          <a:ln w="9525">
            <a:noFill/>
          </a:ln>
        </p:spPr>
        <p:txBody>
          <a:bodyPr anchor="t" anchorCtr="0">
            <a:spAutoFit/>
          </a:bodyPr>
          <a:p>
            <a:pPr>
              <a:spcBef>
                <a:spcPct val="50000"/>
              </a:spcBef>
            </a:pPr>
            <a:r>
              <a:rPr lang="zh-CN" altLang="en-US" sz="3600" b="1" dirty="0">
                <a:latin typeface="Times New Roman" panose="02020603050405020304" pitchFamily="18" charset="0"/>
                <a:ea typeface="宋体" panose="02010600030101010101" pitchFamily="2" charset="-122"/>
              </a:rPr>
              <a:t>六、实验步骤</a:t>
            </a:r>
            <a:endParaRPr lang="zh-CN" altLang="en-US" sz="3600" b="1" dirty="0">
              <a:latin typeface="Times New Roman" panose="02020603050405020304" pitchFamily="18" charset="0"/>
              <a:ea typeface="宋体" panose="02010600030101010101" pitchFamily="2" charset="-122"/>
            </a:endParaRPr>
          </a:p>
        </p:txBody>
      </p:sp>
      <p:sp>
        <p:nvSpPr>
          <p:cNvPr id="29698" name="Text Box 8"/>
          <p:cNvSpPr txBox="1"/>
          <p:nvPr/>
        </p:nvSpPr>
        <p:spPr>
          <a:xfrm>
            <a:off x="684213" y="1341438"/>
            <a:ext cx="7920037" cy="4559300"/>
          </a:xfrm>
          <a:prstGeom prst="rect">
            <a:avLst/>
          </a:prstGeom>
          <a:noFill/>
          <a:ln w="9525">
            <a:noFill/>
          </a:ln>
        </p:spPr>
        <p:txBody>
          <a:bodyPr anchor="t" anchorCtr="0">
            <a:spAutoFit/>
          </a:bodyPr>
          <a:p>
            <a:pPr>
              <a:lnSpc>
                <a:spcPct val="130000"/>
              </a:lnSpc>
              <a:spcBef>
                <a:spcPct val="20000"/>
              </a:spcBef>
            </a:pPr>
            <a:r>
              <a:rPr lang="en-US" altLang="zh-CN" b="1" dirty="0">
                <a:solidFill>
                  <a:schemeClr val="tx1"/>
                </a:solidFill>
                <a:latin typeface="Times New Roman" panose="02020603050405020304" pitchFamily="18" charset="0"/>
                <a:ea typeface="宋体" panose="02010600030101010101" pitchFamily="2" charset="-122"/>
              </a:rPr>
              <a:t>1) </a:t>
            </a:r>
            <a:r>
              <a:rPr lang="zh-CN" altLang="en-US" b="1" dirty="0">
                <a:solidFill>
                  <a:schemeClr val="tx1"/>
                </a:solidFill>
                <a:latin typeface="Times New Roman" panose="02020603050405020304" pitchFamily="18" charset="0"/>
                <a:ea typeface="宋体" panose="02010600030101010101" pitchFamily="2" charset="-122"/>
              </a:rPr>
              <a:t>按图先摆好仪器，再接好线路。选择待测电阻</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en-US" altLang="zh-CN" b="1" dirty="0">
                <a:solidFill>
                  <a:schemeClr val="tx1"/>
                </a:solidFill>
                <a:latin typeface="Times New Roman" panose="02020603050405020304" pitchFamily="18" charset="0"/>
                <a:ea typeface="宋体" panose="02010600030101010101" pitchFamily="2" charset="-122"/>
              </a:rPr>
              <a:t>=510Ω</a:t>
            </a:r>
            <a:r>
              <a:rPr lang="zh-CN" altLang="en-US" b="1" dirty="0">
                <a:solidFill>
                  <a:schemeClr val="tx1"/>
                </a:solidFill>
                <a:latin typeface="Times New Roman" panose="02020603050405020304" pitchFamily="18" charset="0"/>
                <a:ea typeface="宋体" panose="02010600030101010101" pitchFamily="2" charset="-122"/>
              </a:rPr>
              <a:t>，可知</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zh-CN" altLang="en-US" b="1" dirty="0">
                <a:solidFill>
                  <a:schemeClr val="tx1"/>
                </a:solidFill>
                <a:latin typeface="Times New Roman" panose="02020603050405020304" pitchFamily="18" charset="0"/>
                <a:ea typeface="宋体" panose="02010600030101010101" pitchFamily="2" charset="-122"/>
              </a:rPr>
              <a:t>的阻值在</a:t>
            </a:r>
            <a:r>
              <a:rPr lang="en-US" altLang="zh-CN" b="1" dirty="0">
                <a:solidFill>
                  <a:schemeClr val="tx1"/>
                </a:solidFill>
                <a:latin typeface="Times New Roman" panose="02020603050405020304" pitchFamily="18" charset="0"/>
                <a:ea typeface="宋体" panose="02010600030101010101" pitchFamily="2" charset="-122"/>
              </a:rPr>
              <a:t>510Ω</a:t>
            </a:r>
            <a:r>
              <a:rPr lang="zh-CN" altLang="en-US" b="1" dirty="0">
                <a:solidFill>
                  <a:schemeClr val="tx1"/>
                </a:solidFill>
                <a:latin typeface="Times New Roman" panose="02020603050405020304" pitchFamily="18" charset="0"/>
                <a:ea typeface="宋体" panose="02010600030101010101" pitchFamily="2" charset="-122"/>
              </a:rPr>
              <a:t>左右。将电阻箱</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的阻值调至与</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zh-CN" altLang="en-US" b="1" dirty="0">
                <a:solidFill>
                  <a:schemeClr val="tx1"/>
                </a:solidFill>
                <a:latin typeface="Times New Roman" panose="02020603050405020304" pitchFamily="18" charset="0"/>
                <a:ea typeface="宋体" panose="02010600030101010101" pitchFamily="2" charset="-122"/>
              </a:rPr>
              <a:t>相当，稳压电源</a:t>
            </a:r>
            <a:r>
              <a:rPr lang="en-US" altLang="zh-CN" b="1" i="1" dirty="0">
                <a:solidFill>
                  <a:schemeClr val="tx1"/>
                </a:solidFill>
                <a:latin typeface="Times New Roman" panose="02020603050405020304" pitchFamily="18" charset="0"/>
                <a:ea typeface="宋体" panose="02010600030101010101" pitchFamily="2" charset="-122"/>
              </a:rPr>
              <a:t>E</a:t>
            </a:r>
            <a:r>
              <a:rPr lang="zh-CN" altLang="en-US" b="1" dirty="0">
                <a:solidFill>
                  <a:schemeClr val="tx1"/>
                </a:solidFill>
                <a:latin typeface="Times New Roman" panose="02020603050405020304" pitchFamily="18" charset="0"/>
                <a:ea typeface="宋体" panose="02010600030101010101" pitchFamily="2" charset="-122"/>
              </a:rPr>
              <a:t>调节到</a:t>
            </a:r>
            <a:r>
              <a:rPr lang="en-US" altLang="zh-CN" b="1" dirty="0">
                <a:solidFill>
                  <a:schemeClr val="tx1"/>
                </a:solidFill>
                <a:latin typeface="Times New Roman" panose="02020603050405020304" pitchFamily="18" charset="0"/>
                <a:ea typeface="宋体" panose="02010600030101010101" pitchFamily="2" charset="-122"/>
              </a:rPr>
              <a:t>1V</a:t>
            </a:r>
            <a:r>
              <a:rPr lang="zh-CN" altLang="en-US" b="1" dirty="0">
                <a:solidFill>
                  <a:schemeClr val="tx1"/>
                </a:solidFill>
                <a:latin typeface="Times New Roman" panose="02020603050405020304" pitchFamily="18" charset="0"/>
                <a:ea typeface="宋体" panose="02010600030101010101" pitchFamily="2" charset="-122"/>
              </a:rPr>
              <a:t>左右；滑键</a:t>
            </a:r>
            <a:r>
              <a:rPr lang="en-US" altLang="zh-CN" b="1" i="1" dirty="0">
                <a:solidFill>
                  <a:schemeClr val="tx1"/>
                </a:solidFill>
                <a:latin typeface="Times New Roman" panose="02020603050405020304" pitchFamily="18" charset="0"/>
                <a:ea typeface="宋体" panose="02010600030101010101" pitchFamily="2" charset="-122"/>
              </a:rPr>
              <a:t>D</a:t>
            </a:r>
            <a:r>
              <a:rPr lang="zh-CN" altLang="en-US" b="1" dirty="0">
                <a:solidFill>
                  <a:schemeClr val="tx1"/>
                </a:solidFill>
                <a:latin typeface="Times New Roman" panose="02020603050405020304" pitchFamily="18" charset="0"/>
                <a:ea typeface="宋体" panose="02010600030101010101" pitchFamily="2" charset="-122"/>
              </a:rPr>
              <a:t>滑到</a:t>
            </a:r>
            <a:r>
              <a:rPr lang="en-US" altLang="zh-CN" b="1" i="1" dirty="0">
                <a:solidFill>
                  <a:schemeClr val="tx1"/>
                </a:solidFill>
                <a:latin typeface="Times New Roman" panose="02020603050405020304" pitchFamily="18" charset="0"/>
                <a:ea typeface="宋体" panose="02010600030101010101" pitchFamily="2" charset="-122"/>
              </a:rPr>
              <a:t>AC</a:t>
            </a:r>
            <a:r>
              <a:rPr lang="zh-CN" altLang="en-US" b="1" dirty="0">
                <a:solidFill>
                  <a:schemeClr val="tx1"/>
                </a:solidFill>
                <a:latin typeface="Times New Roman" panose="02020603050405020304" pitchFamily="18" charset="0"/>
                <a:ea typeface="宋体" panose="02010600030101010101" pitchFamily="2" charset="-122"/>
              </a:rPr>
              <a:t>中央。</a:t>
            </a:r>
            <a:endParaRPr lang="zh-CN" altLang="en-US" b="1" dirty="0">
              <a:solidFill>
                <a:schemeClr val="tx1"/>
              </a:solidFill>
              <a:latin typeface="Times New Roman" panose="02020603050405020304" pitchFamily="18" charset="0"/>
              <a:ea typeface="宋体" panose="02010600030101010101" pitchFamily="2" charset="-122"/>
            </a:endParaRPr>
          </a:p>
          <a:p>
            <a:pPr>
              <a:lnSpc>
                <a:spcPct val="130000"/>
              </a:lnSpc>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2) </a:t>
            </a:r>
            <a:r>
              <a:rPr lang="zh-CN" altLang="en-US" b="1" dirty="0">
                <a:solidFill>
                  <a:schemeClr val="tx1"/>
                </a:solidFill>
                <a:latin typeface="Times New Roman" panose="02020603050405020304" pitchFamily="18" charset="0"/>
                <a:ea typeface="宋体" panose="02010600030101010101" pitchFamily="2" charset="-122"/>
              </a:rPr>
              <a:t>用左手按下滑键</a:t>
            </a:r>
            <a:r>
              <a:rPr lang="en-US" altLang="zh-CN" b="1" i="1" dirty="0">
                <a:solidFill>
                  <a:schemeClr val="tx1"/>
                </a:solidFill>
                <a:latin typeface="Times New Roman" panose="02020603050405020304" pitchFamily="18" charset="0"/>
                <a:ea typeface="宋体" panose="02010600030101010101" pitchFamily="2" charset="-122"/>
              </a:rPr>
              <a:t>D</a:t>
            </a:r>
            <a:r>
              <a:rPr lang="zh-CN" altLang="en-US" b="1" dirty="0">
                <a:solidFill>
                  <a:schemeClr val="tx1"/>
                </a:solidFill>
                <a:latin typeface="Times New Roman" panose="02020603050405020304" pitchFamily="18" charset="0"/>
                <a:ea typeface="宋体" panose="02010600030101010101" pitchFamily="2" charset="-122"/>
              </a:rPr>
              <a:t>上的铜片（注意只能按滑键的一端），眼睛密切注视检流计</a:t>
            </a:r>
            <a:r>
              <a:rPr lang="en-US" altLang="zh-CN" b="1" dirty="0">
                <a:solidFill>
                  <a:schemeClr val="tx1"/>
                </a:solidFill>
                <a:latin typeface="Times New Roman" panose="02020603050405020304" pitchFamily="18" charset="0"/>
                <a:ea typeface="宋体" panose="02010600030101010101" pitchFamily="2" charset="-122"/>
              </a:rPr>
              <a:t>G</a:t>
            </a:r>
            <a:r>
              <a:rPr lang="zh-CN" altLang="en-US" b="1" dirty="0">
                <a:solidFill>
                  <a:schemeClr val="tx1"/>
                </a:solidFill>
                <a:latin typeface="Times New Roman" panose="02020603050405020304" pitchFamily="18" charset="0"/>
                <a:ea typeface="宋体" panose="02010600030101010101" pitchFamily="2" charset="-122"/>
              </a:rPr>
              <a:t>，如果指针迅速偏转，说明通过</a:t>
            </a:r>
            <a:r>
              <a:rPr lang="en-US" altLang="zh-CN" b="1" dirty="0">
                <a:solidFill>
                  <a:schemeClr val="tx1"/>
                </a:solidFill>
                <a:latin typeface="Times New Roman" panose="02020603050405020304" pitchFamily="18" charset="0"/>
                <a:ea typeface="宋体" panose="02010600030101010101" pitchFamily="2" charset="-122"/>
              </a:rPr>
              <a:t>G</a:t>
            </a:r>
            <a:r>
              <a:rPr lang="zh-CN" altLang="en-US" b="1" dirty="0">
                <a:solidFill>
                  <a:schemeClr val="tx1"/>
                </a:solidFill>
                <a:latin typeface="Times New Roman" panose="02020603050405020304" pitchFamily="18" charset="0"/>
                <a:ea typeface="宋体" panose="02010600030101010101" pitchFamily="2" charset="-122"/>
              </a:rPr>
              <a:t>的电流很大，应迅速松开手指，使铜片弹起，</a:t>
            </a:r>
            <a:r>
              <a:rPr lang="zh-CN" altLang="en-US" b="1" dirty="0">
                <a:solidFill>
                  <a:srgbClr val="FF0000"/>
                </a:solidFill>
                <a:latin typeface="Times New Roman" panose="02020603050405020304" pitchFamily="18" charset="0"/>
                <a:ea typeface="宋体" panose="02010600030101010101" pitchFamily="2" charset="-122"/>
              </a:rPr>
              <a:t>以免烧坏检流计</a:t>
            </a:r>
            <a:r>
              <a:rPr lang="zh-CN" altLang="en-US" b="1" dirty="0">
                <a:solidFill>
                  <a:schemeClr val="tx1"/>
                </a:solidFill>
                <a:latin typeface="Times New Roman" panose="02020603050405020304" pitchFamily="18" charset="0"/>
                <a:ea typeface="宋体" panose="02010600030101010101" pitchFamily="2" charset="-122"/>
              </a:rPr>
              <a:t>。这是由于</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的阻值和</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zh-CN" altLang="en-US" b="1" dirty="0">
                <a:solidFill>
                  <a:schemeClr val="tx1"/>
                </a:solidFill>
                <a:latin typeface="Times New Roman" panose="02020603050405020304" pitchFamily="18" charset="0"/>
                <a:ea typeface="宋体" panose="02010600030101010101" pitchFamily="2" charset="-122"/>
              </a:rPr>
              <a:t>的阻值相差太大，电桥很不平衡造成的。当左手按下铜片时，如果指针较慢地偏转，可用右手调节</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，使</a:t>
            </a:r>
            <a:r>
              <a:rPr lang="en-US" altLang="zh-CN" b="1" dirty="0">
                <a:solidFill>
                  <a:schemeClr val="tx1"/>
                </a:solidFill>
                <a:latin typeface="Times New Roman" panose="02020603050405020304" pitchFamily="18" charset="0"/>
                <a:ea typeface="宋体" panose="02010600030101010101" pitchFamily="2" charset="-122"/>
              </a:rPr>
              <a:t>G</a:t>
            </a:r>
            <a:r>
              <a:rPr lang="zh-CN" altLang="en-US" b="1" dirty="0">
                <a:solidFill>
                  <a:schemeClr val="tx1"/>
                </a:solidFill>
                <a:latin typeface="Times New Roman" panose="02020603050405020304" pitchFamily="18" charset="0"/>
                <a:ea typeface="宋体" panose="02010600030101010101" pitchFamily="2" charset="-122"/>
              </a:rPr>
              <a:t>的指针向“</a:t>
            </a:r>
            <a:r>
              <a:rPr lang="en-US" altLang="zh-CN" b="1"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移动，直到指针最接近“</a:t>
            </a:r>
            <a:r>
              <a:rPr lang="en-US" altLang="zh-CN" b="1"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为止。调节的方法是由电阻箱的高阻档到低阻档，</a:t>
            </a:r>
            <a:r>
              <a:rPr lang="en-US" altLang="zh-CN" b="1" dirty="0">
                <a:solidFill>
                  <a:schemeClr val="tx1"/>
                </a:solidFill>
                <a:latin typeface="Times New Roman" panose="02020603050405020304" pitchFamily="18" charset="0"/>
                <a:ea typeface="宋体" panose="02010600030101010101" pitchFamily="2" charset="-122"/>
              </a:rPr>
              <a:t>(×100</a:t>
            </a:r>
            <a:r>
              <a:rPr lang="zh-CN" altLang="en-US" b="1" dirty="0">
                <a:solidFill>
                  <a:schemeClr val="tx1"/>
                </a:solidFill>
                <a:latin typeface="Times New Roman" panose="02020603050405020304" pitchFamily="18" charset="0"/>
                <a:ea typeface="宋体" panose="02010600030101010101" pitchFamily="2" charset="-122"/>
              </a:rPr>
              <a:t>档、</a:t>
            </a:r>
            <a:r>
              <a:rPr lang="en-US" altLang="zh-CN" b="1" dirty="0">
                <a:solidFill>
                  <a:schemeClr val="tx1"/>
                </a:solidFill>
                <a:latin typeface="Times New Roman" panose="02020603050405020304" pitchFamily="18" charset="0"/>
                <a:ea typeface="宋体" panose="02010600030101010101" pitchFamily="2" charset="-122"/>
              </a:rPr>
              <a:t>×10</a:t>
            </a:r>
            <a:r>
              <a:rPr lang="zh-CN" altLang="en-US" b="1" dirty="0">
                <a:solidFill>
                  <a:schemeClr val="tx1"/>
                </a:solidFill>
                <a:latin typeface="Times New Roman" panose="02020603050405020304" pitchFamily="18" charset="0"/>
                <a:ea typeface="宋体" panose="02010600030101010101" pitchFamily="2" charset="-122"/>
              </a:rPr>
              <a:t>档和</a:t>
            </a:r>
            <a:r>
              <a:rPr lang="en-US" altLang="zh-CN" b="1" dirty="0">
                <a:solidFill>
                  <a:schemeClr val="tx1"/>
                </a:solidFill>
                <a:latin typeface="Times New Roman" panose="02020603050405020304" pitchFamily="18" charset="0"/>
                <a:ea typeface="宋体" panose="02010600030101010101" pitchFamily="2" charset="-122"/>
              </a:rPr>
              <a:t>×1</a:t>
            </a:r>
            <a:r>
              <a:rPr lang="zh-CN" altLang="en-US" b="1" dirty="0">
                <a:solidFill>
                  <a:schemeClr val="tx1"/>
                </a:solidFill>
                <a:latin typeface="Times New Roman" panose="02020603050405020304" pitchFamily="18" charset="0"/>
                <a:ea typeface="宋体" panose="02010600030101010101" pitchFamily="2" charset="-122"/>
              </a:rPr>
              <a:t>档</a:t>
            </a:r>
            <a:r>
              <a:rPr lang="en-US" altLang="zh-CN" b="1" dirty="0">
                <a:solidFill>
                  <a:schemeClr val="tx1"/>
                </a:solidFill>
                <a:latin typeface="Times New Roman" panose="02020603050405020304" pitchFamily="18" charset="0"/>
                <a:ea typeface="宋体" panose="02010600030101010101" pitchFamily="2" charset="-122"/>
              </a:rPr>
              <a:t>)</a:t>
            </a:r>
            <a:r>
              <a:rPr lang="zh-CN" altLang="en-US" b="1" dirty="0">
                <a:solidFill>
                  <a:schemeClr val="tx1"/>
                </a:solidFill>
                <a:latin typeface="Times New Roman" panose="02020603050405020304" pitchFamily="18" charset="0"/>
                <a:ea typeface="宋体" panose="02010600030101010101" pitchFamily="2" charset="-122"/>
              </a:rPr>
              <a:t>逐个仔细调节。</a:t>
            </a:r>
            <a:endParaRPr lang="zh-CN" altLang="en-US" b="1" dirty="0">
              <a:solidFill>
                <a:schemeClr val="tx1"/>
              </a:solidFill>
              <a:latin typeface="Times New Roman" panose="02020603050405020304" pitchFamily="18" charset="0"/>
              <a:ea typeface="宋体" panose="02010600030101010101" pitchFamily="2" charset="-122"/>
            </a:endParaRPr>
          </a:p>
          <a:p>
            <a:pPr>
              <a:spcBef>
                <a:spcPct val="20000"/>
              </a:spcBef>
            </a:pPr>
            <a:r>
              <a:rPr lang="zh-CN" altLang="en-US" sz="2400" b="1" dirty="0">
                <a:solidFill>
                  <a:schemeClr val="tx1"/>
                </a:solidFill>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 Box 54"/>
          <p:cNvSpPr txBox="1"/>
          <p:nvPr/>
        </p:nvSpPr>
        <p:spPr>
          <a:xfrm>
            <a:off x="971550" y="1125538"/>
            <a:ext cx="7345363" cy="4324350"/>
          </a:xfrm>
          <a:prstGeom prst="rect">
            <a:avLst/>
          </a:prstGeom>
          <a:noFill/>
          <a:ln w="9525">
            <a:noFill/>
          </a:ln>
        </p:spPr>
        <p:txBody>
          <a:bodyPr anchor="t" anchorCtr="0">
            <a:spAutoFit/>
          </a:bodyPr>
          <a:p>
            <a:pPr>
              <a:lnSpc>
                <a:spcPct val="125000"/>
              </a:lnSpc>
              <a:spcBef>
                <a:spcPct val="20000"/>
              </a:spcBef>
            </a:pPr>
            <a:r>
              <a:rPr lang="en-US" altLang="zh-CN" b="1" dirty="0">
                <a:solidFill>
                  <a:schemeClr val="tx1"/>
                </a:solidFill>
                <a:latin typeface="Times New Roman" panose="02020603050405020304" pitchFamily="18" charset="0"/>
                <a:ea typeface="宋体" panose="02010600030101010101" pitchFamily="2" charset="-122"/>
              </a:rPr>
              <a:t> 4) </a:t>
            </a:r>
            <a:r>
              <a:rPr lang="zh-CN" altLang="en-US" b="1" dirty="0">
                <a:solidFill>
                  <a:schemeClr val="tx1"/>
                </a:solidFill>
                <a:latin typeface="Times New Roman" panose="02020603050405020304" pitchFamily="18" charset="0"/>
                <a:ea typeface="宋体" panose="02010600030101010101" pitchFamily="2" charset="-122"/>
              </a:rPr>
              <a:t>稍微移动滑键</a:t>
            </a:r>
            <a:r>
              <a:rPr lang="en-US" altLang="zh-CN" b="1" i="1" dirty="0">
                <a:solidFill>
                  <a:schemeClr val="tx1"/>
                </a:solidFill>
                <a:latin typeface="Times New Roman" panose="02020603050405020304" pitchFamily="18" charset="0"/>
                <a:ea typeface="宋体" panose="02010600030101010101" pitchFamily="2" charset="-122"/>
              </a:rPr>
              <a:t>D</a:t>
            </a:r>
            <a:r>
              <a:rPr lang="zh-CN" altLang="en-US" b="1" dirty="0">
                <a:solidFill>
                  <a:schemeClr val="tx1"/>
                </a:solidFill>
                <a:latin typeface="Times New Roman" panose="02020603050405020304" pitchFamily="18" charset="0"/>
                <a:ea typeface="宋体" panose="02010600030101010101" pitchFamily="2" charset="-122"/>
              </a:rPr>
              <a:t>，当按下铜片时，检流计指针准确指“</a:t>
            </a:r>
            <a:r>
              <a:rPr lang="en-US" altLang="zh-CN" b="1"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，这 时电桥就处于平衡状态。读记</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和</a:t>
            </a:r>
            <a:r>
              <a:rPr lang="en-US" altLang="zh-CN" b="1" i="1" dirty="0">
                <a:solidFill>
                  <a:schemeClr val="tx1"/>
                </a:solidFill>
                <a:latin typeface="Times New Roman" panose="02020603050405020304" pitchFamily="18" charset="0"/>
                <a:ea typeface="宋体" panose="02010600030101010101" pitchFamily="2" charset="-122"/>
              </a:rPr>
              <a:t>L</a:t>
            </a:r>
            <a:r>
              <a:rPr lang="en-US" altLang="zh-CN" b="1" baseline="-25000" dirty="0">
                <a:solidFill>
                  <a:schemeClr val="tx1"/>
                </a:solidFill>
                <a:latin typeface="Times New Roman" panose="02020603050405020304" pitchFamily="18" charset="0"/>
                <a:ea typeface="宋体" panose="02010600030101010101" pitchFamily="2" charset="-122"/>
              </a:rPr>
              <a:t>1</a:t>
            </a:r>
            <a:r>
              <a:rPr lang="en-US" altLang="zh-CN" b="1" dirty="0">
                <a:solidFill>
                  <a:schemeClr val="tx1"/>
                </a:solidFill>
                <a:latin typeface="Times New Roman" panose="02020603050405020304" pitchFamily="18" charset="0"/>
                <a:ea typeface="宋体" panose="02010600030101010101" pitchFamily="2" charset="-122"/>
              </a:rPr>
              <a:t> </a:t>
            </a:r>
            <a:r>
              <a:rPr lang="zh-CN" altLang="en-US" b="1" dirty="0">
                <a:solidFill>
                  <a:schemeClr val="tx1"/>
                </a:solidFill>
                <a:latin typeface="Times New Roman" panose="02020603050405020304" pitchFamily="18" charset="0"/>
                <a:ea typeface="宋体" panose="02010600030101010101" pitchFamily="2" charset="-122"/>
              </a:rPr>
              <a:t>。</a:t>
            </a: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5) </a:t>
            </a:r>
            <a:r>
              <a:rPr lang="zh-CN" altLang="en-US" b="1" dirty="0">
                <a:solidFill>
                  <a:schemeClr val="tx1"/>
                </a:solidFill>
                <a:latin typeface="Times New Roman" panose="02020603050405020304" pitchFamily="18" charset="0"/>
                <a:ea typeface="宋体" panose="02010600030101010101" pitchFamily="2" charset="-122"/>
              </a:rPr>
              <a:t>把</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和</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zh-CN" altLang="en-US" b="1" dirty="0">
                <a:solidFill>
                  <a:schemeClr val="tx1"/>
                </a:solidFill>
                <a:latin typeface="Times New Roman" panose="02020603050405020304" pitchFamily="18" charset="0"/>
                <a:ea typeface="宋体" panose="02010600030101010101" pitchFamily="2" charset="-122"/>
              </a:rPr>
              <a:t>的位置对调，重复上述步骤，读记</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0</a:t>
            </a:r>
            <a:r>
              <a:rPr lang="en-US" altLang="zh-CN" b="1" dirty="0">
                <a:solidFill>
                  <a:schemeClr val="tx1"/>
                </a:solidFill>
                <a:latin typeface="Times New Roman" panose="02020603050405020304" pitchFamily="18" charset="0"/>
                <a:ea typeface="宋体" panose="02010600030101010101" pitchFamily="2" charset="-122"/>
              </a:rPr>
              <a:t>’ </a:t>
            </a:r>
            <a:r>
              <a:rPr lang="zh-CN" altLang="en-US" b="1" dirty="0">
                <a:solidFill>
                  <a:schemeClr val="tx1"/>
                </a:solidFill>
                <a:latin typeface="Times New Roman" panose="02020603050405020304" pitchFamily="18" charset="0"/>
                <a:ea typeface="宋体" panose="02010600030101010101" pitchFamily="2" charset="-122"/>
              </a:rPr>
              <a:t>和</a:t>
            </a:r>
            <a:r>
              <a:rPr lang="en-US" altLang="zh-CN" b="1" i="1" dirty="0">
                <a:solidFill>
                  <a:schemeClr val="tx1"/>
                </a:solidFill>
                <a:latin typeface="Times New Roman" panose="02020603050405020304" pitchFamily="18" charset="0"/>
                <a:ea typeface="宋体" panose="02010600030101010101" pitchFamily="2" charset="-122"/>
              </a:rPr>
              <a:t>L</a:t>
            </a:r>
            <a:r>
              <a:rPr lang="en-US" altLang="zh-CN" b="1" baseline="-25000" dirty="0">
                <a:solidFill>
                  <a:schemeClr val="tx1"/>
                </a:solidFill>
                <a:latin typeface="Times New Roman" panose="02020603050405020304" pitchFamily="18" charset="0"/>
                <a:ea typeface="宋体" panose="02010600030101010101" pitchFamily="2" charset="-122"/>
              </a:rPr>
              <a:t>1</a:t>
            </a:r>
            <a:r>
              <a:rPr lang="en-US" altLang="zh-CN" b="1" dirty="0">
                <a:solidFill>
                  <a:schemeClr val="tx1"/>
                </a:solidFill>
                <a:latin typeface="Times New Roman" panose="02020603050405020304" pitchFamily="18" charset="0"/>
                <a:ea typeface="宋体" panose="02010600030101010101" pitchFamily="2" charset="-122"/>
              </a:rPr>
              <a:t>’ </a:t>
            </a:r>
            <a:r>
              <a:rPr lang="zh-CN" altLang="en-US" b="1" dirty="0">
                <a:solidFill>
                  <a:schemeClr val="tx1"/>
                </a:solidFill>
                <a:latin typeface="Times New Roman" panose="02020603050405020304" pitchFamily="18" charset="0"/>
                <a:ea typeface="宋体" panose="02010600030101010101" pitchFamily="2" charset="-122"/>
              </a:rPr>
              <a:t>。</a:t>
            </a: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6) </a:t>
            </a:r>
            <a:r>
              <a:rPr lang="zh-CN" altLang="en-US" b="1" dirty="0">
                <a:solidFill>
                  <a:schemeClr val="tx1"/>
                </a:solidFill>
                <a:latin typeface="Times New Roman" panose="02020603050405020304" pitchFamily="18" charset="0"/>
                <a:ea typeface="宋体" panose="02010600030101010101" pitchFamily="2" charset="-122"/>
              </a:rPr>
              <a:t>根据下列公式，分别计算出待测电阻</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X1</a:t>
            </a:r>
            <a:r>
              <a:rPr lang="zh-CN" altLang="en-US" b="1" dirty="0">
                <a:solidFill>
                  <a:schemeClr val="tx1"/>
                </a:solidFill>
                <a:latin typeface="Times New Roman" panose="02020603050405020304" pitchFamily="18" charset="0"/>
                <a:ea typeface="宋体" panose="02010600030101010101" pitchFamily="2" charset="-122"/>
              </a:rPr>
              <a:t>和</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X2</a:t>
            </a:r>
            <a:r>
              <a:rPr lang="zh-CN" altLang="en-US" b="1" dirty="0">
                <a:solidFill>
                  <a:schemeClr val="tx1"/>
                </a:solidFill>
                <a:latin typeface="Times New Roman" panose="02020603050405020304" pitchFamily="18" charset="0"/>
                <a:ea typeface="宋体" panose="02010600030101010101" pitchFamily="2" charset="-122"/>
              </a:rPr>
              <a:t>，并求出它们的平均值</a:t>
            </a:r>
            <a:r>
              <a:rPr lang="en-US" altLang="zh-CN" b="1" i="1" dirty="0">
                <a:solidFill>
                  <a:schemeClr val="tx1"/>
                </a:solidFill>
                <a:latin typeface="Times New Roman" panose="02020603050405020304" pitchFamily="18" charset="0"/>
                <a:ea typeface="宋体" panose="02010600030101010101" pitchFamily="2" charset="-122"/>
              </a:rPr>
              <a:t>R</a:t>
            </a:r>
            <a:r>
              <a:rPr lang="en-US" altLang="zh-CN" b="1" baseline="-25000" dirty="0">
                <a:solidFill>
                  <a:schemeClr val="tx1"/>
                </a:solidFill>
                <a:latin typeface="Times New Roman" panose="02020603050405020304" pitchFamily="18" charset="0"/>
                <a:ea typeface="宋体" panose="02010600030101010101" pitchFamily="2" charset="-122"/>
              </a:rPr>
              <a:t>X</a:t>
            </a:r>
            <a:r>
              <a:rPr lang="en-US" altLang="zh-CN" b="1" dirty="0">
                <a:solidFill>
                  <a:schemeClr val="tx1"/>
                </a:solidFill>
                <a:latin typeface="Times New Roman" panose="02020603050405020304" pitchFamily="18" charset="0"/>
                <a:ea typeface="宋体" panose="02010600030101010101" pitchFamily="2" charset="-122"/>
              </a:rPr>
              <a:t> </a:t>
            </a:r>
            <a:r>
              <a:rPr lang="zh-CN" altLang="en-US" b="1" dirty="0">
                <a:solidFill>
                  <a:schemeClr val="tx1"/>
                </a:solidFill>
                <a:latin typeface="Times New Roman" panose="02020603050405020304" pitchFamily="18" charset="0"/>
                <a:ea typeface="宋体" panose="02010600030101010101" pitchFamily="2" charset="-122"/>
              </a:rPr>
              <a:t>。</a:t>
            </a: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r>
              <a:rPr lang="en-US" altLang="zh-CN" b="1" dirty="0">
                <a:solidFill>
                  <a:schemeClr val="tx1"/>
                </a:solidFill>
                <a:latin typeface="Times New Roman" panose="02020603050405020304" pitchFamily="18" charset="0"/>
                <a:ea typeface="宋体" panose="02010600030101010101" pitchFamily="2" charset="-122"/>
              </a:rPr>
              <a:t>7) </a:t>
            </a:r>
            <a:r>
              <a:rPr lang="zh-CN" altLang="en-US" b="1" dirty="0">
                <a:solidFill>
                  <a:schemeClr val="tx1"/>
                </a:solidFill>
                <a:latin typeface="Times New Roman" panose="02020603050405020304" pitchFamily="18" charset="0"/>
                <a:ea typeface="宋体" panose="02010600030101010101" pitchFamily="2" charset="-122"/>
              </a:rPr>
              <a:t>选择其它待测电阻，重复上述步骤。</a:t>
            </a:r>
            <a:endParaRPr lang="zh-CN" altLang="en-US" b="1" dirty="0">
              <a:solidFill>
                <a:schemeClr val="tx1"/>
              </a:solidFill>
              <a:latin typeface="Times New Roman" panose="02020603050405020304" pitchFamily="18" charset="0"/>
              <a:ea typeface="宋体" panose="02010600030101010101" pitchFamily="2" charset="-122"/>
            </a:endParaRPr>
          </a:p>
          <a:p>
            <a:pPr>
              <a:lnSpc>
                <a:spcPct val="125000"/>
              </a:lnSpc>
              <a:spcBef>
                <a:spcPct val="20000"/>
              </a:spcBef>
            </a:pPr>
            <a:r>
              <a:rPr lang="zh-CN" altLang="en-US" b="1" dirty="0">
                <a:solidFill>
                  <a:schemeClr val="tx1"/>
                </a:solidFill>
                <a:latin typeface="Times New Roman" panose="02020603050405020304" pitchFamily="18" charset="0"/>
                <a:ea typeface="宋体" panose="02010600030101010101" pitchFamily="2" charset="-122"/>
              </a:rPr>
              <a:t>  </a:t>
            </a:r>
            <a:endParaRPr lang="zh-CN" altLang="en-US" b="1" dirty="0">
              <a:solidFill>
                <a:schemeClr val="tx1"/>
              </a:solidFill>
              <a:latin typeface="Times New Roman" panose="02020603050405020304" pitchFamily="18" charset="0"/>
              <a:ea typeface="宋体" panose="02010600030101010101" pitchFamily="2" charset="-122"/>
            </a:endParaRPr>
          </a:p>
        </p:txBody>
      </p:sp>
      <p:sp>
        <p:nvSpPr>
          <p:cNvPr id="30722" name="Rectangle 56"/>
          <p:cNvSpPr/>
          <p:nvPr/>
        </p:nvSpPr>
        <p:spPr>
          <a:xfrm>
            <a:off x="0" y="0"/>
            <a:ext cx="9144000" cy="0"/>
          </a:xfrm>
          <a:prstGeom prst="rect">
            <a:avLst/>
          </a:prstGeom>
          <a:noFill/>
          <a:ln w="9525">
            <a:noFill/>
          </a:ln>
        </p:spPr>
        <p:txBody>
          <a:bodyPr wrap="none" anchor="ctr" anchorCtr="0">
            <a:spAutoFit/>
          </a:bodyPr>
          <a:p>
            <a:pPr>
              <a:spcBef>
                <a:spcPct val="20000"/>
              </a:spcBef>
            </a:pPr>
            <a:endParaRPr lang="zh-CN" altLang="en-US" dirty="0">
              <a:latin typeface="Times New Roman" panose="02020603050405020304" pitchFamily="18" charset="0"/>
              <a:ea typeface="宋体" panose="02010600030101010101" pitchFamily="2" charset="-122"/>
            </a:endParaRPr>
          </a:p>
        </p:txBody>
      </p:sp>
      <p:graphicFrame>
        <p:nvGraphicFramePr>
          <p:cNvPr id="30723" name="Picture 6"/>
          <p:cNvGraphicFramePr>
            <a:graphicFrameLocks noChangeAspect="1"/>
          </p:cNvGraphicFramePr>
          <p:nvPr/>
        </p:nvGraphicFramePr>
        <p:xfrm>
          <a:off x="1835150" y="3284538"/>
          <a:ext cx="1871663" cy="1100137"/>
        </p:xfrm>
        <a:graphic>
          <a:graphicData uri="http://schemas.openxmlformats.org/presentationml/2006/ole">
            <mc:AlternateContent xmlns:mc="http://schemas.openxmlformats.org/markup-compatibility/2006">
              <mc:Choice xmlns:v="urn:schemas-microsoft-com:vml" Requires="v">
                <p:oleObj spid="_x0000_s3078" name="" r:id="rId1" imgW="763270" imgH="445135" progId="Equation.DSMT4">
                  <p:embed/>
                </p:oleObj>
              </mc:Choice>
              <mc:Fallback>
                <p:oleObj name="" r:id="rId1" imgW="763270" imgH="445135" progId="Equation.DSMT4">
                  <p:embed/>
                  <p:pic>
                    <p:nvPicPr>
                      <p:cNvPr id="0" name="图片 3077"/>
                      <p:cNvPicPr/>
                      <p:nvPr/>
                    </p:nvPicPr>
                    <p:blipFill>
                      <a:blip r:embed="rId2"/>
                      <a:stretch>
                        <a:fillRect/>
                      </a:stretch>
                    </p:blipFill>
                    <p:spPr>
                      <a:xfrm>
                        <a:off x="1835150" y="3284538"/>
                        <a:ext cx="1871663" cy="1100137"/>
                      </a:xfrm>
                      <a:prstGeom prst="rect">
                        <a:avLst/>
                      </a:prstGeom>
                      <a:noFill/>
                      <a:ln w="38100">
                        <a:noFill/>
                        <a:miter/>
                      </a:ln>
                    </p:spPr>
                  </p:pic>
                </p:oleObj>
              </mc:Fallback>
            </mc:AlternateContent>
          </a:graphicData>
        </a:graphic>
      </p:graphicFrame>
      <p:sp>
        <p:nvSpPr>
          <p:cNvPr id="30724" name="Rectangle 58"/>
          <p:cNvSpPr/>
          <p:nvPr/>
        </p:nvSpPr>
        <p:spPr>
          <a:xfrm>
            <a:off x="0" y="0"/>
            <a:ext cx="9144000" cy="0"/>
          </a:xfrm>
          <a:prstGeom prst="rect">
            <a:avLst/>
          </a:prstGeom>
          <a:noFill/>
          <a:ln w="9525">
            <a:noFill/>
          </a:ln>
        </p:spPr>
        <p:txBody>
          <a:bodyPr wrap="none" anchor="ctr" anchorCtr="0">
            <a:spAutoFit/>
          </a:bodyPr>
          <a:p>
            <a:pPr>
              <a:spcBef>
                <a:spcPct val="20000"/>
              </a:spcBef>
            </a:pPr>
            <a:endParaRPr lang="zh-CN" altLang="en-US" dirty="0">
              <a:latin typeface="Times New Roman" panose="02020603050405020304" pitchFamily="18" charset="0"/>
              <a:ea typeface="宋体" panose="02010600030101010101" pitchFamily="2" charset="-122"/>
            </a:endParaRPr>
          </a:p>
        </p:txBody>
      </p:sp>
      <p:graphicFrame>
        <p:nvGraphicFramePr>
          <p:cNvPr id="30725" name="Picture 7"/>
          <p:cNvGraphicFramePr>
            <a:graphicFrameLocks noChangeAspect="1"/>
          </p:cNvGraphicFramePr>
          <p:nvPr/>
        </p:nvGraphicFramePr>
        <p:xfrm>
          <a:off x="5003800" y="3284538"/>
          <a:ext cx="1800225" cy="1068387"/>
        </p:xfrm>
        <a:graphic>
          <a:graphicData uri="http://schemas.openxmlformats.org/presentationml/2006/ole">
            <mc:AlternateContent xmlns:mc="http://schemas.openxmlformats.org/markup-compatibility/2006">
              <mc:Choice xmlns:v="urn:schemas-microsoft-com:vml" Requires="v">
                <p:oleObj spid="_x0000_s3079" name="" r:id="rId3" imgW="775970" imgH="457835" progId="Equation.DSMT4">
                  <p:embed/>
                </p:oleObj>
              </mc:Choice>
              <mc:Fallback>
                <p:oleObj name="" r:id="rId3" imgW="775970" imgH="457835" progId="Equation.DSMT4">
                  <p:embed/>
                  <p:pic>
                    <p:nvPicPr>
                      <p:cNvPr id="0" name="图片 3078"/>
                      <p:cNvPicPr/>
                      <p:nvPr/>
                    </p:nvPicPr>
                    <p:blipFill>
                      <a:blip r:embed="rId4"/>
                      <a:stretch>
                        <a:fillRect/>
                      </a:stretch>
                    </p:blipFill>
                    <p:spPr>
                      <a:xfrm>
                        <a:off x="5003800" y="3284538"/>
                        <a:ext cx="1800225" cy="1068387"/>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p:nvPr/>
        </p:nvSpPr>
        <p:spPr>
          <a:xfrm>
            <a:off x="827088" y="555625"/>
            <a:ext cx="5789612" cy="701675"/>
          </a:xfrm>
          <a:prstGeom prst="rect">
            <a:avLst/>
          </a:prstGeom>
          <a:noFill/>
          <a:ln w="9525">
            <a:noFill/>
          </a:ln>
        </p:spPr>
        <p:txBody>
          <a:bodyPr wrap="none" anchor="ctr" anchorCtr="0">
            <a:spAutoFit/>
          </a:bodyPr>
          <a:p>
            <a:pPr defTabSz="914400">
              <a:spcBef>
                <a:spcPct val="20000"/>
              </a:spcBef>
              <a:tabLst>
                <a:tab pos="361950" algn="l"/>
              </a:tabLst>
            </a:pPr>
            <a:r>
              <a:rPr lang="zh-CN" altLang="en-US" sz="4000" b="1" dirty="0">
                <a:solidFill>
                  <a:srgbClr val="FF0000"/>
                </a:solidFill>
                <a:latin typeface="Times New Roman" panose="02020603050405020304" pitchFamily="18" charset="0"/>
                <a:ea typeface="宋体" panose="02010600030101010101" pitchFamily="2" charset="-122"/>
              </a:rPr>
              <a:t>七、测量记录和数据处理</a:t>
            </a:r>
            <a:endParaRPr lang="zh-CN" altLang="en-US" sz="4000" dirty="0">
              <a:solidFill>
                <a:srgbClr val="FF0000"/>
              </a:solidFill>
              <a:latin typeface="Times New Roman" panose="02020603050405020304" pitchFamily="18" charset="0"/>
              <a:ea typeface="宋体" panose="02010600030101010101" pitchFamily="2" charset="-122"/>
            </a:endParaRPr>
          </a:p>
        </p:txBody>
      </p:sp>
      <p:graphicFrame>
        <p:nvGraphicFramePr>
          <p:cNvPr id="24071" name="Group 519"/>
          <p:cNvGraphicFramePr>
            <a:graphicFrameLocks noGrp="1"/>
          </p:cNvGraphicFramePr>
          <p:nvPr/>
        </p:nvGraphicFramePr>
        <p:xfrm>
          <a:off x="250825" y="1844675"/>
          <a:ext cx="8424863" cy="3687763"/>
        </p:xfrm>
        <a:graphic>
          <a:graphicData uri="http://schemas.openxmlformats.org/drawingml/2006/table">
            <a:tbl>
              <a:tblPr/>
              <a:tblGrid>
                <a:gridCol w="928688"/>
                <a:gridCol w="800100"/>
                <a:gridCol w="720725"/>
                <a:gridCol w="719137"/>
                <a:gridCol w="720725"/>
                <a:gridCol w="719138"/>
                <a:gridCol w="792162"/>
                <a:gridCol w="649288"/>
                <a:gridCol w="647700"/>
                <a:gridCol w="1727200"/>
              </a:tblGrid>
              <a:tr h="396204">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标称值</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Ω</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(cm)</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(cm)</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Ω</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r>
                        <a:rPr kumimoji="0" lang="en-US" altLang="zh-CN" sz="2000" b="1" i="0" u="none" strike="noStrike" cap="none" normalizeH="0" baseline="0" smtClean="0">
                          <a:ln>
                            <a:noFill/>
                          </a:ln>
                          <a:solidFill>
                            <a:schemeClr val="tx1"/>
                          </a:solidFill>
                          <a:effectLst/>
                          <a:latin typeface="Times New Roman" panose="02020603050405020304" pitchFamily="18" charset="0"/>
                          <a:ea typeface="Helvetica" pitchFamily="34" charset="0"/>
                          <a:cs typeface="Times New Roman" panose="02020603050405020304" pitchFamily="18" charset="0"/>
                        </a:rPr>
                        <a:t>’</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(cm)</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r>
                        <a:rPr kumimoji="0" lang="en-US" altLang="zh-CN" sz="2000" b="1" i="0" u="none" strike="noStrike" cap="none" normalizeH="0" baseline="0" smtClean="0">
                          <a:ln>
                            <a:noFill/>
                          </a:ln>
                          <a:solidFill>
                            <a:schemeClr val="tx1"/>
                          </a:solidFill>
                          <a:effectLst/>
                          <a:latin typeface="Times New Roman" panose="02020603050405020304" pitchFamily="18" charset="0"/>
                          <a:ea typeface="Helvetica" pitchFamily="34" charset="0"/>
                          <a:cs typeface="Times New Roman" panose="02020603050405020304" pitchFamily="18" charset="0"/>
                        </a:rPr>
                        <a:t>’</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(cm)</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Helvetica" pitchFamily="34" charset="0"/>
                          <a:cs typeface="Times New Roman" panose="02020603050405020304" pitchFamily="18" charset="0"/>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Ω</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实验值</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Ω</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914335">
                <a:tc vMerge="1">
                  <a:tcPr/>
                </a:tc>
                <a:tc vMerge="1">
                  <a:tcPr/>
                </a:tc>
                <a:tc vMerge="1">
                  <a:tcPr/>
                </a:tc>
                <a:tc vMerge="1">
                  <a:tcPr/>
                </a:tc>
                <a:tc vMerge="1">
                  <a:tcPr/>
                </a:tc>
                <a:tc vMerge="1">
                  <a:tcPr/>
                </a:tc>
                <a:tc vMerge="1">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X2</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2</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510</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820</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3K</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10K</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51K</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04">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100K</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3" marB="45713"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1839" name="Rectangle 490"/>
          <p:cNvSpPr/>
          <p:nvPr/>
        </p:nvSpPr>
        <p:spPr>
          <a:xfrm>
            <a:off x="0" y="5502275"/>
            <a:ext cx="9144000" cy="0"/>
          </a:xfrm>
          <a:prstGeom prst="rect">
            <a:avLst/>
          </a:prstGeom>
          <a:noFill/>
          <a:ln w="9525">
            <a:noFill/>
          </a:ln>
        </p:spPr>
        <p:txBody>
          <a:bodyPr wrap="none" anchor="ctr" anchorCtr="0">
            <a:spAutoFit/>
          </a:bodyPr>
          <a:p>
            <a:pPr>
              <a:spcBef>
                <a:spcPct val="20000"/>
              </a:spcBef>
            </a:pPr>
            <a:endParaRPr lang="zh-CN" altLang="en-US" sz="3600" dirty="0">
              <a:latin typeface="Times New Roman" panose="02020603050405020304" pitchFamily="18" charset="0"/>
              <a:ea typeface="宋体" panose="02010600030101010101" pitchFamily="2" charset="-122"/>
            </a:endParaRPr>
          </a:p>
        </p:txBody>
      </p:sp>
    </p:spTree>
  </p:cSld>
  <p:clrMapOvr>
    <a:masterClrMapping/>
  </p:clrMapOvr>
  <p:transition>
    <p:random/>
  </p:transition>
</p:sld>
</file>

<file path=ppt/tags/tag1.xml><?xml version="1.0" encoding="utf-8"?>
<p:tagLst xmlns:p="http://schemas.openxmlformats.org/presentationml/2006/main">
  <p:tag name="KSO_WM_TAG_VERSION" val="1.0"/>
  <p:tag name="KSO_WM_BEAUTIFY_FLAG" val="#wm#"/>
  <p:tag name="KSO_WM_TEMPLATE_CATEGORY" val="custom"/>
  <p:tag name="KSO_WM_TEMPLATE_INDEX" val="178"/>
  <p:tag name="KSO_WM_UNIT_TYPE" val="a"/>
  <p:tag name="KSO_WM_UNIT_INDEX" val="1"/>
  <p:tag name="KSO_WM_UNIT_ID" val="custom178_3*a*1"/>
  <p:tag name="KSO_WM_UNIT_CLEAR" val="1"/>
  <p:tag name="KSO_WM_UNIT_LAYERLEVEL" val="1"/>
  <p:tag name="KSO_WM_UNIT_VALUE" val="21"/>
  <p:tag name="KSO_WM_UNIT_ISCONTENTSTITLE" val="0"/>
  <p:tag name="KSO_WM_UNIT_HIGHLIGHT" val="0"/>
  <p:tag name="KSO_WM_UNIT_COMPATIBLE" val="0"/>
  <p:tag name="KSO_WM_UNIT_PRESET_TEXT_INDEX" val="3"/>
  <p:tag name="KSO_WM_UNIT_PRESET_TEXT_LEN" val="17"/>
</p:tagLst>
</file>

<file path=ppt/tags/tag2.xml><?xml version="1.0" encoding="utf-8"?>
<p:tagLst xmlns:p="http://schemas.openxmlformats.org/presentationml/2006/main">
  <p:tag name="KSO_WM_BEAUTIFY_FLAG" val="#wm#"/>
  <p:tag name="KSO_WM_TEMPLATE_CATEGORY" val="custom"/>
  <p:tag name="KSO_WM_TEMPLATE_INDEX" val="178"/>
</p:tagLst>
</file>

<file path=ppt/tags/tag3.xml><?xml version="1.0" encoding="utf-8"?>
<p:tagLst xmlns:p="http://schemas.openxmlformats.org/presentationml/2006/main">
  <p:tag name="commondata" val="eyJoZGlkIjoiMDYwZTJjNzUyYmI4MDVlNmU3YzBjOWNiNmZiNzQ4ZjIifQ=="/>
</p:tagLst>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0000FF"/>
      </a:hlink>
      <a:folHlink>
        <a:srgbClr val="FF330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D:\MSOffice\Templates\教案.pot</Template>
  <TotalTime>0</TotalTime>
  <Words>1459</Words>
  <Application>WPS 演示</Application>
  <PresentationFormat>全屏显示(4:3)</PresentationFormat>
  <Paragraphs>204</Paragraphs>
  <Slides>15</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15</vt:i4>
      </vt:variant>
    </vt:vector>
  </HeadingPairs>
  <TitlesOfParts>
    <vt:vector size="34" baseType="lpstr">
      <vt:lpstr>Arial</vt:lpstr>
      <vt:lpstr>宋体</vt:lpstr>
      <vt:lpstr>Wingdings</vt:lpstr>
      <vt:lpstr>Times New Roman</vt:lpstr>
      <vt:lpstr>Calibri</vt:lpstr>
      <vt:lpstr>黑体</vt:lpstr>
      <vt:lpstr>楷体</vt:lpstr>
      <vt:lpstr>楷体_GB2312</vt:lpstr>
      <vt:lpstr>新宋体</vt:lpstr>
      <vt:lpstr>微软雅黑</vt:lpstr>
      <vt:lpstr>Arial Black</vt:lpstr>
      <vt:lpstr>Helvetica</vt:lpstr>
      <vt:lpstr>Helvetica</vt:lpstr>
      <vt:lpstr>Arial Unicode MS</vt:lpstr>
      <vt:lpstr>教案</vt:lpstr>
      <vt:lpstr>Equation.3</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机械振动_1</dc:title>
  <dc:creator/>
  <cp:lastModifiedBy>WPS_1602470867</cp:lastModifiedBy>
  <cp:revision>546</cp:revision>
  <dcterms:created xsi:type="dcterms:W3CDTF">2000-10-29T00:37:00Z</dcterms:created>
  <dcterms:modified xsi:type="dcterms:W3CDTF">2024-03-03T15:27:29Z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5D136C2F59394742B47299BE49BFA8A2_12</vt:lpwstr>
  </property>
</Properties>
</file>