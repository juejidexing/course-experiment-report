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av" ContentType="audio/x-wav"/>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1.xml" ContentType="application/vnd.openxmlformats-officedocument.presentationml.notesSlide+xml"/>
  <Override PartName="/ppt/tags/tag2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8" r:id="rId2"/>
    <p:sldId id="311" r:id="rId3"/>
    <p:sldId id="312" r:id="rId4"/>
    <p:sldId id="313" r:id="rId5"/>
    <p:sldId id="307" r:id="rId6"/>
    <p:sldId id="289" r:id="rId7"/>
    <p:sldId id="290" r:id="rId8"/>
    <p:sldId id="292" r:id="rId9"/>
    <p:sldId id="291" r:id="rId10"/>
    <p:sldId id="293" r:id="rId11"/>
    <p:sldId id="294" r:id="rId12"/>
    <p:sldId id="295" r:id="rId13"/>
    <p:sldId id="296" r:id="rId14"/>
    <p:sldId id="297" r:id="rId15"/>
    <p:sldId id="298" r:id="rId16"/>
    <p:sldId id="299" r:id="rId17"/>
    <p:sldId id="300" r:id="rId18"/>
    <p:sldId id="301" r:id="rId19"/>
    <p:sldId id="302" r:id="rId20"/>
    <p:sldId id="303" r:id="rId21"/>
    <p:sldId id="304" r:id="rId22"/>
    <p:sldId id="305" r:id="rId23"/>
    <p:sldId id="310"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4F4F6"/>
    <a:srgbClr val="F6F6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59" d="100"/>
          <a:sy n="59" d="100"/>
        </p:scale>
        <p:origin x="145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D9A836-B227-4431-9561-4EE9A5EBB9B4}" type="datetimeFigureOut">
              <a:rPr lang="zh-CN" altLang="en-US" smtClean="0"/>
              <a:t>2022/10/27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FA0C6F-FACA-4D1D-BB7E-2BAE7AC20A13}" type="slidenum">
              <a:rPr lang="zh-CN" altLang="en-US" smtClean="0"/>
              <a:t>‹#›</a:t>
            </a:fld>
            <a:endParaRPr lang="zh-CN" altLang="en-US"/>
          </a:p>
        </p:txBody>
      </p:sp>
    </p:spTree>
    <p:extLst>
      <p:ext uri="{BB962C8B-B14F-4D97-AF65-F5344CB8AC3E}">
        <p14:creationId xmlns:p14="http://schemas.microsoft.com/office/powerpoint/2010/main" val="3400991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A21AE18C-38D6-4D3D-93D5-AB34807AD205}" type="slidenum">
              <a:rPr lang="zh-CN" altLang="en-US" smtClean="0"/>
              <a:pPr/>
              <a:t>6</a:t>
            </a:fld>
            <a:endParaRPr lang="zh-CN" altLang="en-US"/>
          </a:p>
        </p:txBody>
      </p:sp>
    </p:spTree>
    <p:extLst>
      <p:ext uri="{BB962C8B-B14F-4D97-AF65-F5344CB8AC3E}">
        <p14:creationId xmlns:p14="http://schemas.microsoft.com/office/powerpoint/2010/main" val="16147263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EFDA57E-A825-4571-8C48-E0264926DDFA}" type="slidenum">
              <a:rPr lang="zh-CN" altLang="en-US" smtClean="0"/>
              <a:pPr/>
              <a:t>7</a:t>
            </a:fld>
            <a:endParaRPr lang="zh-CN" altLang="en-US"/>
          </a:p>
        </p:txBody>
      </p:sp>
    </p:spTree>
    <p:extLst>
      <p:ext uri="{BB962C8B-B14F-4D97-AF65-F5344CB8AC3E}">
        <p14:creationId xmlns:p14="http://schemas.microsoft.com/office/powerpoint/2010/main" val="3839725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EFDA57E-A825-4571-8C48-E0264926DDFA}" type="slidenum">
              <a:rPr lang="zh-CN" altLang="en-US" smtClean="0"/>
              <a:pPr/>
              <a:t>8</a:t>
            </a:fld>
            <a:endParaRPr lang="zh-CN" altLang="en-US"/>
          </a:p>
        </p:txBody>
      </p:sp>
    </p:spTree>
    <p:extLst>
      <p:ext uri="{BB962C8B-B14F-4D97-AF65-F5344CB8AC3E}">
        <p14:creationId xmlns:p14="http://schemas.microsoft.com/office/powerpoint/2010/main" val="4215729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EFDA57E-A825-4571-8C48-E0264926DDFA}" type="slidenum">
              <a:rPr lang="zh-CN" altLang="en-US" smtClean="0"/>
              <a:pPr/>
              <a:t>9</a:t>
            </a:fld>
            <a:endParaRPr lang="zh-CN" altLang="en-US"/>
          </a:p>
        </p:txBody>
      </p:sp>
    </p:spTree>
    <p:extLst>
      <p:ext uri="{BB962C8B-B14F-4D97-AF65-F5344CB8AC3E}">
        <p14:creationId xmlns:p14="http://schemas.microsoft.com/office/powerpoint/2010/main" val="18224584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C3ECA3-62B1-40CE-9790-ECD49CA6B19E}" type="slidenum">
              <a:rPr lang="en-US" altLang="zh-CN"/>
              <a:pPr/>
              <a:t>10</a:t>
            </a:fld>
            <a:endParaRPr lang="en-US" altLang="zh-CN"/>
          </a:p>
        </p:txBody>
      </p:sp>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p:txBody>
          <a:bodyPr/>
          <a:lstStyle/>
          <a:p>
            <a:r>
              <a:rPr lang="zh-CN" altLang="en-US" b="1"/>
              <a:t>（等厚点轨迹）</a:t>
            </a:r>
          </a:p>
        </p:txBody>
      </p:sp>
    </p:spTree>
    <p:extLst>
      <p:ext uri="{BB962C8B-B14F-4D97-AF65-F5344CB8AC3E}">
        <p14:creationId xmlns:p14="http://schemas.microsoft.com/office/powerpoint/2010/main" val="42841741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49E5A7-A8C9-4514-B9A7-CD4039580BA0}" type="slidenum">
              <a:rPr lang="en-US" altLang="zh-CN"/>
              <a:pPr/>
              <a:t>14</a:t>
            </a:fld>
            <a:endParaRPr lang="en-US" altLang="zh-CN"/>
          </a:p>
        </p:txBody>
      </p:sp>
      <p:sp>
        <p:nvSpPr>
          <p:cNvPr id="8194" name="Rectangle 2"/>
          <p:cNvSpPr>
            <a:spLocks noGrp="1" noRot="1" noChangeAspect="1" noChangeArrowheads="1" noTextEdit="1"/>
          </p:cNvSpPr>
          <p:nvPr>
            <p:ph type="sldImg"/>
          </p:nvPr>
        </p:nvSpPr>
        <p:spPr>
          <a:ln/>
        </p:spPr>
      </p:sp>
      <p:sp>
        <p:nvSpPr>
          <p:cNvPr id="8195" name="Rectangle 3"/>
          <p:cNvSpPr>
            <a:spLocks noGrp="1" noChangeArrowheads="1"/>
          </p:cNvSpPr>
          <p:nvPr>
            <p:ph type="body" idx="1"/>
          </p:nvPr>
        </p:nvSpPr>
        <p:spPr/>
        <p:txBody>
          <a:bodyPr/>
          <a:lstStyle/>
          <a:p>
            <a:pPr>
              <a:spcBef>
                <a:spcPct val="0"/>
              </a:spcBef>
            </a:pPr>
            <a:r>
              <a:rPr lang="zh-CN" altLang="en-US" b="1"/>
              <a:t>　　</a:t>
            </a:r>
            <a:r>
              <a:rPr lang="zh-CN" altLang="en-US" b="1">
                <a:solidFill>
                  <a:srgbClr val="9900CC"/>
                </a:solidFill>
              </a:rPr>
              <a:t>比如，</a:t>
            </a:r>
            <a:r>
              <a:rPr lang="zh-CN" altLang="en-US" b="1"/>
              <a:t>可以用两块平面玻璃片。一端叠合，另一端夹一张薄纸，或放一根细金属丝。在两块玻璃片之间形成一个劈尖形的空气薄膜。</a:t>
            </a:r>
          </a:p>
          <a:p>
            <a:pPr>
              <a:spcBef>
                <a:spcPct val="0"/>
              </a:spcBef>
            </a:pPr>
            <a:endParaRPr lang="zh-CN" altLang="en-US" b="1"/>
          </a:p>
          <a:p>
            <a:pPr>
              <a:spcBef>
                <a:spcPct val="0"/>
              </a:spcBef>
            </a:pPr>
            <a:r>
              <a:rPr lang="zh-CN" altLang="en-US" b="1"/>
              <a:t>        两介质片叠合的交线，称为</a:t>
            </a:r>
            <a:r>
              <a:rPr lang="zh-CN" altLang="en-US" b="1">
                <a:solidFill>
                  <a:srgbClr val="CC0000"/>
                </a:solidFill>
              </a:rPr>
              <a:t>棱边</a:t>
            </a:r>
            <a:r>
              <a:rPr lang="zh-CN" altLang="en-US" b="1"/>
              <a:t>。</a:t>
            </a:r>
          </a:p>
          <a:p>
            <a:pPr>
              <a:spcBef>
                <a:spcPct val="0"/>
              </a:spcBef>
            </a:pPr>
            <a:endParaRPr lang="zh-CN" altLang="en-US" b="1"/>
          </a:p>
          <a:p>
            <a:endParaRPr lang="en-US" altLang="zh-CN"/>
          </a:p>
        </p:txBody>
      </p:sp>
    </p:spTree>
    <p:extLst>
      <p:ext uri="{BB962C8B-B14F-4D97-AF65-F5344CB8AC3E}">
        <p14:creationId xmlns:p14="http://schemas.microsoft.com/office/powerpoint/2010/main" val="1405374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372D2AB-4D84-423E-B93F-C2220AA6DE4D}" type="slidenum">
              <a:rPr lang="en-US" altLang="zh-CN"/>
              <a:pPr/>
              <a:t>17</a:t>
            </a:fld>
            <a:endParaRPr lang="en-US" altLang="zh-CN"/>
          </a:p>
        </p:txBody>
      </p:sp>
      <p:sp>
        <p:nvSpPr>
          <p:cNvPr id="12290" name="Rectangle 2"/>
          <p:cNvSpPr>
            <a:spLocks noGrp="1" noRot="1" noChangeAspect="1" noChangeArrowheads="1" noTextEdit="1"/>
          </p:cNvSpPr>
          <p:nvPr>
            <p:ph type="sldImg"/>
          </p:nvPr>
        </p:nvSpPr>
        <p:spPr>
          <a:ln/>
        </p:spPr>
      </p:sp>
      <p:sp>
        <p:nvSpPr>
          <p:cNvPr id="12291" name="Rectangle 3"/>
          <p:cNvSpPr>
            <a:spLocks noGrp="1" noChangeArrowheads="1"/>
          </p:cNvSpPr>
          <p:nvPr>
            <p:ph type="body" idx="1"/>
          </p:nvPr>
        </p:nvSpPr>
        <p:spPr/>
        <p:txBody>
          <a:bodyPr/>
          <a:lstStyle/>
          <a:p>
            <a:r>
              <a:rPr lang="zh-CN" altLang="en-US" b="1"/>
              <a:t>　　由于</a:t>
            </a:r>
            <a:r>
              <a:rPr lang="el-GR" altLang="zh-CN" b="1" i="1"/>
              <a:t>θ</a:t>
            </a:r>
            <a:r>
              <a:rPr lang="zh-CN" altLang="en-US" b="1"/>
              <a:t>很小，实际上入射、反射几乎都垂直于空气劈尖表面。</a:t>
            </a:r>
            <a:r>
              <a:rPr lang="zh-CN" altLang="en-US"/>
              <a:t> </a:t>
            </a:r>
          </a:p>
        </p:txBody>
      </p:sp>
    </p:spTree>
    <p:extLst>
      <p:ext uri="{BB962C8B-B14F-4D97-AF65-F5344CB8AC3E}">
        <p14:creationId xmlns:p14="http://schemas.microsoft.com/office/powerpoint/2010/main" val="1394265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6E4654-2853-4B5C-8FD8-B30B6F2B18C8}" type="slidenum">
              <a:rPr lang="en-US" altLang="zh-CN"/>
              <a:pPr/>
              <a:t>18</a:t>
            </a:fld>
            <a:endParaRPr lang="en-US" altLang="zh-CN"/>
          </a:p>
        </p:txBody>
      </p:sp>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p:txBody>
          <a:bodyPr/>
          <a:lstStyle/>
          <a:p>
            <a:r>
              <a:rPr lang="zh-CN" altLang="en-US" b="1"/>
              <a:t>劈尖干涉条纹是一组平行于棱边的明暗相间的等</a:t>
            </a:r>
            <a:r>
              <a:rPr lang="zh-CN" altLang="en-US" b="1">
                <a:solidFill>
                  <a:srgbClr val="9900CC"/>
                </a:solidFill>
              </a:rPr>
              <a:t>间距的</a:t>
            </a:r>
            <a:r>
              <a:rPr lang="zh-CN" altLang="en-US" b="1"/>
              <a:t>直条纹。</a:t>
            </a:r>
          </a:p>
        </p:txBody>
      </p:sp>
    </p:spTree>
    <p:extLst>
      <p:ext uri="{BB962C8B-B14F-4D97-AF65-F5344CB8AC3E}">
        <p14:creationId xmlns:p14="http://schemas.microsoft.com/office/powerpoint/2010/main" val="13206255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623A3A3-2188-464F-9072-FE8FD80D17D5}" type="slidenum">
              <a:rPr lang="zh-CN" altLang="en-US" smtClean="0"/>
              <a:pPr/>
              <a:t>21</a:t>
            </a:fld>
            <a:endParaRPr lang="zh-CN" altLang="en-US"/>
          </a:p>
        </p:txBody>
      </p:sp>
    </p:spTree>
    <p:extLst>
      <p:ext uri="{BB962C8B-B14F-4D97-AF65-F5344CB8AC3E}">
        <p14:creationId xmlns:p14="http://schemas.microsoft.com/office/powerpoint/2010/main" val="31301091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623A3A3-2188-464F-9072-FE8FD80D17D5}" type="slidenum">
              <a:rPr lang="zh-CN" altLang="en-US" smtClean="0"/>
              <a:pPr/>
              <a:t>23</a:t>
            </a:fld>
            <a:endParaRPr lang="zh-CN" altLang="en-US"/>
          </a:p>
        </p:txBody>
      </p:sp>
    </p:spTree>
    <p:extLst>
      <p:ext uri="{BB962C8B-B14F-4D97-AF65-F5344CB8AC3E}">
        <p14:creationId xmlns:p14="http://schemas.microsoft.com/office/powerpoint/2010/main" val="6612228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4588A84-EFA0-4F7A-9161-580F20E98A6D}" type="datetimeFigureOut">
              <a:rPr lang="zh-CN" altLang="en-US" smtClean="0"/>
              <a:t>2022/10/27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2A0ED9E-A76C-438F-AC4A-15D6B2685D90}" type="slidenum">
              <a:rPr lang="zh-CN" altLang="en-US" smtClean="0"/>
              <a:t>‹#›</a:t>
            </a:fld>
            <a:endParaRPr lang="zh-CN" altLang="en-US"/>
          </a:p>
        </p:txBody>
      </p:sp>
    </p:spTree>
    <p:extLst>
      <p:ext uri="{BB962C8B-B14F-4D97-AF65-F5344CB8AC3E}">
        <p14:creationId xmlns:p14="http://schemas.microsoft.com/office/powerpoint/2010/main" val="4037256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4588A84-EFA0-4F7A-9161-580F20E98A6D}" type="datetimeFigureOut">
              <a:rPr lang="zh-CN" altLang="en-US" smtClean="0"/>
              <a:t>2022/10/27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2A0ED9E-A76C-438F-AC4A-15D6B2685D90}" type="slidenum">
              <a:rPr lang="zh-CN" altLang="en-US" smtClean="0"/>
              <a:t>‹#›</a:t>
            </a:fld>
            <a:endParaRPr lang="zh-CN" altLang="en-US"/>
          </a:p>
        </p:txBody>
      </p:sp>
    </p:spTree>
    <p:extLst>
      <p:ext uri="{BB962C8B-B14F-4D97-AF65-F5344CB8AC3E}">
        <p14:creationId xmlns:p14="http://schemas.microsoft.com/office/powerpoint/2010/main" val="2582517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4588A84-EFA0-4F7A-9161-580F20E98A6D}" type="datetimeFigureOut">
              <a:rPr lang="zh-CN" altLang="en-US" smtClean="0"/>
              <a:t>2022/10/27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2A0ED9E-A76C-438F-AC4A-15D6B2685D90}" type="slidenum">
              <a:rPr lang="zh-CN" altLang="en-US" smtClean="0"/>
              <a:t>‹#›</a:t>
            </a:fld>
            <a:endParaRPr lang="zh-CN" altLang="en-US"/>
          </a:p>
        </p:txBody>
      </p:sp>
    </p:spTree>
    <p:extLst>
      <p:ext uri="{BB962C8B-B14F-4D97-AF65-F5344CB8AC3E}">
        <p14:creationId xmlns:p14="http://schemas.microsoft.com/office/powerpoint/2010/main" val="242159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4588A84-EFA0-4F7A-9161-580F20E98A6D}" type="datetimeFigureOut">
              <a:rPr lang="zh-CN" altLang="en-US" smtClean="0"/>
              <a:t>2022/10/27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2A0ED9E-A76C-438F-AC4A-15D6B2685D90}" type="slidenum">
              <a:rPr lang="zh-CN" altLang="en-US" smtClean="0"/>
              <a:t>‹#›</a:t>
            </a:fld>
            <a:endParaRPr lang="zh-CN" altLang="en-US"/>
          </a:p>
        </p:txBody>
      </p:sp>
    </p:spTree>
    <p:extLst>
      <p:ext uri="{BB962C8B-B14F-4D97-AF65-F5344CB8AC3E}">
        <p14:creationId xmlns:p14="http://schemas.microsoft.com/office/powerpoint/2010/main" val="2314369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14588A84-EFA0-4F7A-9161-580F20E98A6D}" type="datetimeFigureOut">
              <a:rPr lang="zh-CN" altLang="en-US" smtClean="0"/>
              <a:t>2022/10/27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2A0ED9E-A76C-438F-AC4A-15D6B2685D90}" type="slidenum">
              <a:rPr lang="zh-CN" altLang="en-US" smtClean="0"/>
              <a:t>‹#›</a:t>
            </a:fld>
            <a:endParaRPr lang="zh-CN" altLang="en-US"/>
          </a:p>
        </p:txBody>
      </p:sp>
    </p:spTree>
    <p:extLst>
      <p:ext uri="{BB962C8B-B14F-4D97-AF65-F5344CB8AC3E}">
        <p14:creationId xmlns:p14="http://schemas.microsoft.com/office/powerpoint/2010/main" val="1704303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4588A84-EFA0-4F7A-9161-580F20E98A6D}" type="datetimeFigureOut">
              <a:rPr lang="zh-CN" altLang="en-US" smtClean="0"/>
              <a:t>2022/10/27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2A0ED9E-A76C-438F-AC4A-15D6B2685D90}" type="slidenum">
              <a:rPr lang="zh-CN" altLang="en-US" smtClean="0"/>
              <a:t>‹#›</a:t>
            </a:fld>
            <a:endParaRPr lang="zh-CN" altLang="en-US"/>
          </a:p>
        </p:txBody>
      </p:sp>
    </p:spTree>
    <p:extLst>
      <p:ext uri="{BB962C8B-B14F-4D97-AF65-F5344CB8AC3E}">
        <p14:creationId xmlns:p14="http://schemas.microsoft.com/office/powerpoint/2010/main" val="1846393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588A84-EFA0-4F7A-9161-580F20E98A6D}" type="datetimeFigureOut">
              <a:rPr lang="zh-CN" altLang="en-US" smtClean="0"/>
              <a:t>2022/10/27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2A0ED9E-A76C-438F-AC4A-15D6B2685D90}" type="slidenum">
              <a:rPr lang="zh-CN" altLang="en-US" smtClean="0"/>
              <a:t>‹#›</a:t>
            </a:fld>
            <a:endParaRPr lang="zh-CN" altLang="en-US"/>
          </a:p>
        </p:txBody>
      </p:sp>
    </p:spTree>
    <p:extLst>
      <p:ext uri="{BB962C8B-B14F-4D97-AF65-F5344CB8AC3E}">
        <p14:creationId xmlns:p14="http://schemas.microsoft.com/office/powerpoint/2010/main" val="3174095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4588A84-EFA0-4F7A-9161-580F20E98A6D}" type="datetimeFigureOut">
              <a:rPr lang="zh-CN" altLang="en-US" smtClean="0"/>
              <a:t>2022/10/27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2A0ED9E-A76C-438F-AC4A-15D6B2685D90}" type="slidenum">
              <a:rPr lang="zh-CN" altLang="en-US" smtClean="0"/>
              <a:t>‹#›</a:t>
            </a:fld>
            <a:endParaRPr lang="zh-CN" altLang="en-US"/>
          </a:p>
        </p:txBody>
      </p:sp>
    </p:spTree>
    <p:extLst>
      <p:ext uri="{BB962C8B-B14F-4D97-AF65-F5344CB8AC3E}">
        <p14:creationId xmlns:p14="http://schemas.microsoft.com/office/powerpoint/2010/main" val="1057205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4588A84-EFA0-4F7A-9161-580F20E98A6D}" type="datetimeFigureOut">
              <a:rPr lang="zh-CN" altLang="en-US" smtClean="0"/>
              <a:t>2022/10/27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2A0ED9E-A76C-438F-AC4A-15D6B2685D90}" type="slidenum">
              <a:rPr lang="zh-CN" altLang="en-US" smtClean="0"/>
              <a:t>‹#›</a:t>
            </a:fld>
            <a:endParaRPr lang="zh-CN" altLang="en-US"/>
          </a:p>
        </p:txBody>
      </p:sp>
    </p:spTree>
    <p:extLst>
      <p:ext uri="{BB962C8B-B14F-4D97-AF65-F5344CB8AC3E}">
        <p14:creationId xmlns:p14="http://schemas.microsoft.com/office/powerpoint/2010/main" val="3355831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4588A84-EFA0-4F7A-9161-580F20E98A6D}" type="datetimeFigureOut">
              <a:rPr lang="zh-CN" altLang="en-US" smtClean="0"/>
              <a:t>2022/10/27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2A0ED9E-A76C-438F-AC4A-15D6B2685D90}" type="slidenum">
              <a:rPr lang="zh-CN" altLang="en-US" smtClean="0"/>
              <a:t>‹#›</a:t>
            </a:fld>
            <a:endParaRPr lang="zh-CN" altLang="en-US"/>
          </a:p>
        </p:txBody>
      </p:sp>
    </p:spTree>
    <p:extLst>
      <p:ext uri="{BB962C8B-B14F-4D97-AF65-F5344CB8AC3E}">
        <p14:creationId xmlns:p14="http://schemas.microsoft.com/office/powerpoint/2010/main" val="1070671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4588A84-EFA0-4F7A-9161-580F20E98A6D}" type="datetimeFigureOut">
              <a:rPr lang="zh-CN" altLang="en-US" smtClean="0"/>
              <a:t>2022/10/27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2A0ED9E-A76C-438F-AC4A-15D6B2685D90}" type="slidenum">
              <a:rPr lang="zh-CN" altLang="en-US" smtClean="0"/>
              <a:t>‹#›</a:t>
            </a:fld>
            <a:endParaRPr lang="zh-CN" altLang="en-US"/>
          </a:p>
        </p:txBody>
      </p:sp>
    </p:spTree>
    <p:extLst>
      <p:ext uri="{BB962C8B-B14F-4D97-AF65-F5344CB8AC3E}">
        <p14:creationId xmlns:p14="http://schemas.microsoft.com/office/powerpoint/2010/main" val="47394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588A84-EFA0-4F7A-9161-580F20E98A6D}" type="datetimeFigureOut">
              <a:rPr lang="zh-CN" altLang="en-US" smtClean="0"/>
              <a:t>2022/10/27</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A0ED9E-A76C-438F-AC4A-15D6B2685D90}" type="slidenum">
              <a:rPr lang="zh-CN" altLang="en-US" smtClean="0"/>
              <a:t>‹#›</a:t>
            </a:fld>
            <a:endParaRPr lang="zh-CN" altLang="en-US"/>
          </a:p>
        </p:txBody>
      </p:sp>
    </p:spTree>
    <p:extLst>
      <p:ext uri="{BB962C8B-B14F-4D97-AF65-F5344CB8AC3E}">
        <p14:creationId xmlns:p14="http://schemas.microsoft.com/office/powerpoint/2010/main" val="10959142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image" Target="../media/image7.png"/><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6.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slideLayout" Target="../slideLayouts/slideLayout2.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6.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tags" Target="../tags/tag2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2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17.wmf"/><Relationship Id="rId3" Type="http://schemas.openxmlformats.org/officeDocument/2006/relationships/image" Target="../media/image12.wmf"/><Relationship Id="rId7" Type="http://schemas.openxmlformats.org/officeDocument/2006/relationships/image" Target="../media/image14.wmf"/><Relationship Id="rId12" Type="http://schemas.openxmlformats.org/officeDocument/2006/relationships/oleObject" Target="../embeddings/oleObject7.bin"/><Relationship Id="rId2" Type="http://schemas.openxmlformats.org/officeDocument/2006/relationships/oleObject" Target="../embeddings/oleObject2.bin"/><Relationship Id="rId16"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oleObject" Target="../embeddings/oleObject4.bin"/><Relationship Id="rId11" Type="http://schemas.openxmlformats.org/officeDocument/2006/relationships/image" Target="../media/image16.wmf"/><Relationship Id="rId5" Type="http://schemas.openxmlformats.org/officeDocument/2006/relationships/image" Target="../media/image13.wmf"/><Relationship Id="rId15" Type="http://schemas.openxmlformats.org/officeDocument/2006/relationships/image" Target="../media/image18.wmf"/><Relationship Id="rId10" Type="http://schemas.openxmlformats.org/officeDocument/2006/relationships/oleObject" Target="../embeddings/oleObject6.bin"/><Relationship Id="rId4" Type="http://schemas.openxmlformats.org/officeDocument/2006/relationships/oleObject" Target="../embeddings/oleObject3.bin"/><Relationship Id="rId9" Type="http://schemas.openxmlformats.org/officeDocument/2006/relationships/image" Target="../media/image15.wmf"/><Relationship Id="rId14" Type="http://schemas.openxmlformats.org/officeDocument/2006/relationships/oleObject" Target="../embeddings/oleObject8.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19.wmf"/><Relationship Id="rId7" Type="http://schemas.openxmlformats.org/officeDocument/2006/relationships/image" Target="../media/image21.wmf"/><Relationship Id="rId2" Type="http://schemas.openxmlformats.org/officeDocument/2006/relationships/oleObject" Target="../embeddings/oleObject9.bin"/><Relationship Id="rId1" Type="http://schemas.openxmlformats.org/officeDocument/2006/relationships/slideLayout" Target="../slideLayouts/slideLayout7.xml"/><Relationship Id="rId6" Type="http://schemas.openxmlformats.org/officeDocument/2006/relationships/oleObject" Target="../embeddings/oleObject11.bin"/><Relationship Id="rId11" Type="http://schemas.openxmlformats.org/officeDocument/2006/relationships/image" Target="../media/image23.wmf"/><Relationship Id="rId5" Type="http://schemas.openxmlformats.org/officeDocument/2006/relationships/image" Target="../media/image20.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22.wmf"/></Relationships>
</file>

<file path=ppt/slides/_rels/slide13.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2.bin"/><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oleObject" Target="../embeddings/oleObject19.bin"/><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image" Target="../media/image30.wmf"/><Relationship Id="rId2" Type="http://schemas.openxmlformats.org/officeDocument/2006/relationships/notesSlide" Target="../notesSlides/notesSlide6.xml"/><Relationship Id="rId16" Type="http://schemas.openxmlformats.org/officeDocument/2006/relationships/image" Target="../media/image32.wmf"/><Relationship Id="rId1" Type="http://schemas.openxmlformats.org/officeDocument/2006/relationships/slideLayout" Target="../slideLayouts/slideLayout7.xml"/><Relationship Id="rId6" Type="http://schemas.openxmlformats.org/officeDocument/2006/relationships/image" Target="../media/image27.wmf"/><Relationship Id="rId11" Type="http://schemas.openxmlformats.org/officeDocument/2006/relationships/oleObject" Target="../embeddings/oleObject18.bin"/><Relationship Id="rId5" Type="http://schemas.openxmlformats.org/officeDocument/2006/relationships/oleObject" Target="../embeddings/oleObject15.bin"/><Relationship Id="rId15" Type="http://schemas.openxmlformats.org/officeDocument/2006/relationships/oleObject" Target="../embeddings/oleObject20.bin"/><Relationship Id="rId10" Type="http://schemas.openxmlformats.org/officeDocument/2006/relationships/image" Target="../media/image29.emf"/><Relationship Id="rId4" Type="http://schemas.openxmlformats.org/officeDocument/2006/relationships/image" Target="../media/image26.wmf"/><Relationship Id="rId9" Type="http://schemas.openxmlformats.org/officeDocument/2006/relationships/oleObject" Target="../embeddings/oleObject17.bin"/><Relationship Id="rId14" Type="http://schemas.openxmlformats.org/officeDocument/2006/relationships/image" Target="../media/image31.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image" Target="../media/image33.wmf"/><Relationship Id="rId7" Type="http://schemas.openxmlformats.org/officeDocument/2006/relationships/image" Target="../media/image35.wmf"/><Relationship Id="rId12" Type="http://schemas.openxmlformats.org/officeDocument/2006/relationships/image" Target="../media/image38.gif"/><Relationship Id="rId2" Type="http://schemas.openxmlformats.org/officeDocument/2006/relationships/oleObject" Target="../embeddings/oleObject21.bin"/><Relationship Id="rId1" Type="http://schemas.openxmlformats.org/officeDocument/2006/relationships/slideLayout" Target="../slideLayouts/slideLayout7.xml"/><Relationship Id="rId6" Type="http://schemas.openxmlformats.org/officeDocument/2006/relationships/oleObject" Target="../embeddings/oleObject23.bin"/><Relationship Id="rId11" Type="http://schemas.openxmlformats.org/officeDocument/2006/relationships/image" Target="../media/image37.wmf"/><Relationship Id="rId5" Type="http://schemas.openxmlformats.org/officeDocument/2006/relationships/image" Target="../media/image34.wmf"/><Relationship Id="rId10" Type="http://schemas.openxmlformats.org/officeDocument/2006/relationships/oleObject" Target="../embeddings/oleObject25.bin"/><Relationship Id="rId4" Type="http://schemas.openxmlformats.org/officeDocument/2006/relationships/oleObject" Target="../embeddings/oleObject22.bin"/><Relationship Id="rId9" Type="http://schemas.openxmlformats.org/officeDocument/2006/relationships/image" Target="../media/image36.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29.bin"/><Relationship Id="rId13" Type="http://schemas.openxmlformats.org/officeDocument/2006/relationships/image" Target="../media/image43.wmf"/><Relationship Id="rId3" Type="http://schemas.openxmlformats.org/officeDocument/2006/relationships/image" Target="../media/image39.wmf"/><Relationship Id="rId7" Type="http://schemas.openxmlformats.org/officeDocument/2006/relationships/image" Target="../media/image41.wmf"/><Relationship Id="rId12" Type="http://schemas.openxmlformats.org/officeDocument/2006/relationships/oleObject" Target="../embeddings/oleObject31.bin"/><Relationship Id="rId17" Type="http://schemas.openxmlformats.org/officeDocument/2006/relationships/image" Target="../media/image45.wmf"/><Relationship Id="rId2" Type="http://schemas.openxmlformats.org/officeDocument/2006/relationships/oleObject" Target="../embeddings/oleObject26.bin"/><Relationship Id="rId16" Type="http://schemas.openxmlformats.org/officeDocument/2006/relationships/oleObject" Target="../embeddings/oleObject33.bin"/><Relationship Id="rId1" Type="http://schemas.openxmlformats.org/officeDocument/2006/relationships/slideLayout" Target="../slideLayouts/slideLayout7.xml"/><Relationship Id="rId6" Type="http://schemas.openxmlformats.org/officeDocument/2006/relationships/oleObject" Target="../embeddings/oleObject28.bin"/><Relationship Id="rId11" Type="http://schemas.openxmlformats.org/officeDocument/2006/relationships/image" Target="../media/image32.wmf"/><Relationship Id="rId5" Type="http://schemas.openxmlformats.org/officeDocument/2006/relationships/image" Target="../media/image40.wmf"/><Relationship Id="rId15" Type="http://schemas.openxmlformats.org/officeDocument/2006/relationships/image" Target="../media/image44.wmf"/><Relationship Id="rId10" Type="http://schemas.openxmlformats.org/officeDocument/2006/relationships/oleObject" Target="../embeddings/oleObject30.bin"/><Relationship Id="rId4" Type="http://schemas.openxmlformats.org/officeDocument/2006/relationships/oleObject" Target="../embeddings/oleObject27.bin"/><Relationship Id="rId9" Type="http://schemas.openxmlformats.org/officeDocument/2006/relationships/image" Target="../media/image42.wmf"/><Relationship Id="rId14" Type="http://schemas.openxmlformats.org/officeDocument/2006/relationships/oleObject" Target="../embeddings/oleObject32.bin"/></Relationships>
</file>

<file path=ppt/slides/_rels/slide17.xml.rels><?xml version="1.0" encoding="UTF-8" standalone="yes"?>
<Relationships xmlns="http://schemas.openxmlformats.org/package/2006/relationships"><Relationship Id="rId8" Type="http://schemas.openxmlformats.org/officeDocument/2006/relationships/image" Target="../media/image48.wmf"/><Relationship Id="rId13" Type="http://schemas.openxmlformats.org/officeDocument/2006/relationships/oleObject" Target="../embeddings/oleObject39.bin"/><Relationship Id="rId18" Type="http://schemas.openxmlformats.org/officeDocument/2006/relationships/image" Target="../media/image51.wmf"/><Relationship Id="rId3" Type="http://schemas.openxmlformats.org/officeDocument/2006/relationships/oleObject" Target="../embeddings/oleObject34.bin"/><Relationship Id="rId7" Type="http://schemas.openxmlformats.org/officeDocument/2006/relationships/oleObject" Target="../embeddings/oleObject36.bin"/><Relationship Id="rId12" Type="http://schemas.openxmlformats.org/officeDocument/2006/relationships/image" Target="../media/image39.wmf"/><Relationship Id="rId17" Type="http://schemas.openxmlformats.org/officeDocument/2006/relationships/oleObject" Target="../embeddings/oleObject41.bin"/><Relationship Id="rId2" Type="http://schemas.openxmlformats.org/officeDocument/2006/relationships/notesSlide" Target="../notesSlides/notesSlide7.xml"/><Relationship Id="rId16" Type="http://schemas.openxmlformats.org/officeDocument/2006/relationships/image" Target="../media/image41.wmf"/><Relationship Id="rId20" Type="http://schemas.openxmlformats.org/officeDocument/2006/relationships/image" Target="../media/image32.wmf"/><Relationship Id="rId1" Type="http://schemas.openxmlformats.org/officeDocument/2006/relationships/slideLayout" Target="../slideLayouts/slideLayout7.xml"/><Relationship Id="rId6" Type="http://schemas.openxmlformats.org/officeDocument/2006/relationships/image" Target="../media/image47.wmf"/><Relationship Id="rId11" Type="http://schemas.openxmlformats.org/officeDocument/2006/relationships/oleObject" Target="../embeddings/oleObject38.bin"/><Relationship Id="rId5" Type="http://schemas.openxmlformats.org/officeDocument/2006/relationships/oleObject" Target="../embeddings/oleObject35.bin"/><Relationship Id="rId15" Type="http://schemas.openxmlformats.org/officeDocument/2006/relationships/oleObject" Target="../embeddings/oleObject40.bin"/><Relationship Id="rId10" Type="http://schemas.openxmlformats.org/officeDocument/2006/relationships/image" Target="../media/image49.wmf"/><Relationship Id="rId19" Type="http://schemas.openxmlformats.org/officeDocument/2006/relationships/oleObject" Target="../embeddings/oleObject42.bin"/><Relationship Id="rId4" Type="http://schemas.openxmlformats.org/officeDocument/2006/relationships/image" Target="../media/image46.wmf"/><Relationship Id="rId9" Type="http://schemas.openxmlformats.org/officeDocument/2006/relationships/oleObject" Target="../embeddings/oleObject37.bin"/><Relationship Id="rId14" Type="http://schemas.openxmlformats.org/officeDocument/2006/relationships/image" Target="../media/image50.wmf"/></Relationships>
</file>

<file path=ppt/slides/_rels/slide18.xml.rels><?xml version="1.0" encoding="UTF-8" standalone="yes"?>
<Relationships xmlns="http://schemas.openxmlformats.org/package/2006/relationships"><Relationship Id="rId8" Type="http://schemas.openxmlformats.org/officeDocument/2006/relationships/image" Target="../media/image54.wmf"/><Relationship Id="rId13" Type="http://schemas.openxmlformats.org/officeDocument/2006/relationships/oleObject" Target="../embeddings/oleObject48.bin"/><Relationship Id="rId18" Type="http://schemas.openxmlformats.org/officeDocument/2006/relationships/image" Target="../media/image59.wmf"/><Relationship Id="rId26" Type="http://schemas.openxmlformats.org/officeDocument/2006/relationships/image" Target="../media/image63.wmf"/><Relationship Id="rId3" Type="http://schemas.openxmlformats.org/officeDocument/2006/relationships/oleObject" Target="../embeddings/oleObject43.bin"/><Relationship Id="rId21" Type="http://schemas.openxmlformats.org/officeDocument/2006/relationships/oleObject" Target="../embeddings/oleObject52.bin"/><Relationship Id="rId7" Type="http://schemas.openxmlformats.org/officeDocument/2006/relationships/oleObject" Target="../embeddings/oleObject45.bin"/><Relationship Id="rId12" Type="http://schemas.openxmlformats.org/officeDocument/2006/relationships/image" Target="../media/image56.wmf"/><Relationship Id="rId17" Type="http://schemas.openxmlformats.org/officeDocument/2006/relationships/oleObject" Target="../embeddings/oleObject50.bin"/><Relationship Id="rId25" Type="http://schemas.openxmlformats.org/officeDocument/2006/relationships/oleObject" Target="../embeddings/oleObject54.bin"/><Relationship Id="rId2" Type="http://schemas.openxmlformats.org/officeDocument/2006/relationships/notesSlide" Target="../notesSlides/notesSlide8.xml"/><Relationship Id="rId16" Type="http://schemas.openxmlformats.org/officeDocument/2006/relationships/image" Target="../media/image58.wmf"/><Relationship Id="rId20" Type="http://schemas.openxmlformats.org/officeDocument/2006/relationships/image" Target="../media/image60.wmf"/><Relationship Id="rId1" Type="http://schemas.openxmlformats.org/officeDocument/2006/relationships/slideLayout" Target="../slideLayouts/slideLayout7.xml"/><Relationship Id="rId6" Type="http://schemas.openxmlformats.org/officeDocument/2006/relationships/image" Target="../media/image53.emf"/><Relationship Id="rId11" Type="http://schemas.openxmlformats.org/officeDocument/2006/relationships/oleObject" Target="../embeddings/oleObject47.bin"/><Relationship Id="rId24" Type="http://schemas.openxmlformats.org/officeDocument/2006/relationships/image" Target="../media/image62.wmf"/><Relationship Id="rId5" Type="http://schemas.openxmlformats.org/officeDocument/2006/relationships/oleObject" Target="../embeddings/oleObject44.bin"/><Relationship Id="rId15" Type="http://schemas.openxmlformats.org/officeDocument/2006/relationships/oleObject" Target="../embeddings/oleObject49.bin"/><Relationship Id="rId23" Type="http://schemas.openxmlformats.org/officeDocument/2006/relationships/oleObject" Target="../embeddings/oleObject53.bin"/><Relationship Id="rId10" Type="http://schemas.openxmlformats.org/officeDocument/2006/relationships/image" Target="../media/image55.emf"/><Relationship Id="rId19" Type="http://schemas.openxmlformats.org/officeDocument/2006/relationships/oleObject" Target="../embeddings/oleObject51.bin"/><Relationship Id="rId4" Type="http://schemas.openxmlformats.org/officeDocument/2006/relationships/image" Target="../media/image52.wmf"/><Relationship Id="rId9" Type="http://schemas.openxmlformats.org/officeDocument/2006/relationships/oleObject" Target="../embeddings/oleObject46.bin"/><Relationship Id="rId14" Type="http://schemas.openxmlformats.org/officeDocument/2006/relationships/image" Target="../media/image57.wmf"/><Relationship Id="rId22" Type="http://schemas.openxmlformats.org/officeDocument/2006/relationships/image" Target="../media/image61.wmf"/></Relationships>
</file>

<file path=ppt/slides/_rels/slide19.x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oleObject" Target="../embeddings/oleObject55.bin"/><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oleObject" Target="../embeddings/oleObject56.bin"/><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60.bin"/><Relationship Id="rId13" Type="http://schemas.openxmlformats.org/officeDocument/2006/relationships/image" Target="../media/image72.wmf"/><Relationship Id="rId18" Type="http://schemas.openxmlformats.org/officeDocument/2006/relationships/oleObject" Target="../embeddings/oleObject65.bin"/><Relationship Id="rId3" Type="http://schemas.openxmlformats.org/officeDocument/2006/relationships/image" Target="../media/image67.wmf"/><Relationship Id="rId21" Type="http://schemas.openxmlformats.org/officeDocument/2006/relationships/image" Target="../media/image76.wmf"/><Relationship Id="rId7" Type="http://schemas.openxmlformats.org/officeDocument/2006/relationships/image" Target="../media/image69.wmf"/><Relationship Id="rId12" Type="http://schemas.openxmlformats.org/officeDocument/2006/relationships/oleObject" Target="../embeddings/oleObject62.bin"/><Relationship Id="rId17" Type="http://schemas.openxmlformats.org/officeDocument/2006/relationships/image" Target="../media/image74.wmf"/><Relationship Id="rId2" Type="http://schemas.openxmlformats.org/officeDocument/2006/relationships/oleObject" Target="../embeddings/oleObject57.bin"/><Relationship Id="rId16" Type="http://schemas.openxmlformats.org/officeDocument/2006/relationships/oleObject" Target="../embeddings/oleObject64.bin"/><Relationship Id="rId20" Type="http://schemas.openxmlformats.org/officeDocument/2006/relationships/oleObject" Target="../embeddings/oleObject66.bin"/><Relationship Id="rId1" Type="http://schemas.openxmlformats.org/officeDocument/2006/relationships/slideLayout" Target="../slideLayouts/slideLayout7.xml"/><Relationship Id="rId6" Type="http://schemas.openxmlformats.org/officeDocument/2006/relationships/oleObject" Target="../embeddings/oleObject59.bin"/><Relationship Id="rId11" Type="http://schemas.openxmlformats.org/officeDocument/2006/relationships/image" Target="../media/image71.wmf"/><Relationship Id="rId5" Type="http://schemas.openxmlformats.org/officeDocument/2006/relationships/image" Target="../media/image68.wmf"/><Relationship Id="rId15" Type="http://schemas.openxmlformats.org/officeDocument/2006/relationships/image" Target="../media/image73.wmf"/><Relationship Id="rId10" Type="http://schemas.openxmlformats.org/officeDocument/2006/relationships/oleObject" Target="../embeddings/oleObject61.bin"/><Relationship Id="rId19" Type="http://schemas.openxmlformats.org/officeDocument/2006/relationships/image" Target="../media/image75.wmf"/><Relationship Id="rId4" Type="http://schemas.openxmlformats.org/officeDocument/2006/relationships/oleObject" Target="../embeddings/oleObject58.bin"/><Relationship Id="rId9" Type="http://schemas.openxmlformats.org/officeDocument/2006/relationships/image" Target="../media/image70.wmf"/><Relationship Id="rId14" Type="http://schemas.openxmlformats.org/officeDocument/2006/relationships/oleObject" Target="../embeddings/oleObject63.bin"/></Relationships>
</file>

<file path=ppt/slides/_rels/slide2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7.wmf"/><Relationship Id="rId4" Type="http://schemas.openxmlformats.org/officeDocument/2006/relationships/oleObject" Target="../embeddings/oleObject6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22280" y="2017814"/>
            <a:ext cx="4440639" cy="707886"/>
          </a:xfrm>
          <a:prstGeom prst="rect">
            <a:avLst/>
          </a:prstGeom>
        </p:spPr>
        <p:txBody>
          <a:bodyPr wrap="none">
            <a:spAutoFit/>
          </a:bodyPr>
          <a:lstStyle/>
          <a:p>
            <a:pPr algn="ctr">
              <a:spcBef>
                <a:spcPct val="50000"/>
              </a:spcBef>
              <a:defRPr/>
            </a:pPr>
            <a:r>
              <a:rPr lang="zh-CN" altLang="en-US" sz="4000" b="1" dirty="0">
                <a:solidFill>
                  <a:srgbClr val="0000FF"/>
                </a:solidFill>
                <a:latin typeface="微软雅黑" panose="020B0503020204020204" pitchFamily="34" charset="-122"/>
                <a:ea typeface="微软雅黑" panose="020B0503020204020204" pitchFamily="34" charset="-122"/>
              </a:rPr>
              <a:t>等厚干涉及其应用 </a:t>
            </a:r>
          </a:p>
        </p:txBody>
      </p:sp>
      <p:sp>
        <p:nvSpPr>
          <p:cNvPr id="3" name="矩形 2">
            <a:extLst>
              <a:ext uri="{FF2B5EF4-FFF2-40B4-BE49-F238E27FC236}">
                <a16:creationId xmlns:a16="http://schemas.microsoft.com/office/drawing/2014/main" id="{A5EEFE3B-00B6-A0C0-9DCC-47294D086E54}"/>
              </a:ext>
            </a:extLst>
          </p:cNvPr>
          <p:cNvSpPr/>
          <p:nvPr/>
        </p:nvSpPr>
        <p:spPr>
          <a:xfrm>
            <a:off x="3346875" y="3944582"/>
            <a:ext cx="2613216" cy="461665"/>
          </a:xfrm>
          <a:prstGeom prst="rect">
            <a:avLst/>
          </a:prstGeom>
        </p:spPr>
        <p:txBody>
          <a:bodyPr wrap="none">
            <a:spAutoFit/>
          </a:bodyPr>
          <a:lstStyle/>
          <a:p>
            <a:pPr algn="ctr">
              <a:spcBef>
                <a:spcPct val="50000"/>
              </a:spcBef>
              <a:defRPr/>
            </a:pPr>
            <a:r>
              <a:rPr lang="zh-CN" altLang="en-US" sz="2400" b="1" dirty="0">
                <a:solidFill>
                  <a:srgbClr val="7030A0"/>
                </a:solidFill>
                <a:latin typeface="微软雅黑" panose="020B0503020204020204" pitchFamily="34" charset="-122"/>
                <a:ea typeface="微软雅黑" panose="020B0503020204020204" pitchFamily="34" charset="-122"/>
              </a:rPr>
              <a:t>南昌大学  王仲平 </a:t>
            </a:r>
          </a:p>
        </p:txBody>
      </p:sp>
      <p:sp>
        <p:nvSpPr>
          <p:cNvPr id="4" name="WordArt 51">
            <a:extLst>
              <a:ext uri="{FF2B5EF4-FFF2-40B4-BE49-F238E27FC236}">
                <a16:creationId xmlns:a16="http://schemas.microsoft.com/office/drawing/2014/main" id="{72570BEE-B0D9-7684-A576-F10BA9CE6EB8}"/>
              </a:ext>
            </a:extLst>
          </p:cNvPr>
          <p:cNvSpPr>
            <a:spLocks noChangeArrowheads="1" noChangeShapeType="1"/>
          </p:cNvSpPr>
          <p:nvPr/>
        </p:nvSpPr>
        <p:spPr bwMode="auto">
          <a:xfrm>
            <a:off x="142845" y="71415"/>
            <a:ext cx="2480612" cy="385785"/>
          </a:xfrm>
          <a:prstGeom prst="rect">
            <a:avLst/>
          </a:prstGeom>
        </p:spPr>
        <p:txBody>
          <a:bodyPr wrap="none" fromWordArt="1">
            <a:prstTxWarp prst="textPlain">
              <a:avLst>
                <a:gd name="adj" fmla="val 50000"/>
              </a:avLst>
            </a:prstTxWarp>
          </a:bodyPr>
          <a:lstStyle/>
          <a:p>
            <a:pPr algn="ctr"/>
            <a:r>
              <a:rPr lang="zh-CN" altLang="en-US" sz="3600" dirty="0">
                <a:ln w="9525">
                  <a:noFill/>
                  <a:round/>
                  <a:headEnd/>
                  <a:tailEnd/>
                </a:ln>
                <a:gradFill rotWithShape="0">
                  <a:gsLst>
                    <a:gs pos="0">
                      <a:schemeClr val="bg1"/>
                    </a:gs>
                    <a:gs pos="100000">
                      <a:srgbClr val="FFFE7D"/>
                    </a:gs>
                  </a:gsLst>
                  <a:lin ang="5400000" scaled="1"/>
                </a:gradFill>
                <a:effectLst>
                  <a:outerShdw dist="38100" dir="5400000" algn="ctr" rotWithShape="0">
                    <a:srgbClr val="4D4D4D">
                      <a:alpha val="76999"/>
                    </a:srgbClr>
                  </a:outerShdw>
                </a:effectLst>
                <a:latin typeface="华文琥珀"/>
                <a:ea typeface="华文琥珀"/>
              </a:rPr>
              <a:t>大学物理实验</a:t>
            </a:r>
          </a:p>
        </p:txBody>
      </p:sp>
    </p:spTree>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WordArt 51">
            <a:extLst>
              <a:ext uri="{FF2B5EF4-FFF2-40B4-BE49-F238E27FC236}">
                <a16:creationId xmlns:a16="http://schemas.microsoft.com/office/drawing/2014/main" id="{59059B82-95CF-36D7-C1D1-C8AB3C34B928}"/>
              </a:ext>
            </a:extLst>
          </p:cNvPr>
          <p:cNvSpPr>
            <a:spLocks noChangeArrowheads="1" noChangeShapeType="1"/>
          </p:cNvSpPr>
          <p:nvPr/>
        </p:nvSpPr>
        <p:spPr bwMode="auto">
          <a:xfrm>
            <a:off x="142844" y="71414"/>
            <a:ext cx="1729499" cy="409097"/>
          </a:xfrm>
          <a:prstGeom prst="rect">
            <a:avLst/>
          </a:prstGeom>
        </p:spPr>
        <p:txBody>
          <a:bodyPr wrap="none" fromWordArt="1">
            <a:prstTxWarp prst="textPlain">
              <a:avLst>
                <a:gd name="adj" fmla="val 50000"/>
              </a:avLst>
            </a:prstTxWarp>
          </a:bodyPr>
          <a:lstStyle/>
          <a:p>
            <a:pPr algn="ctr"/>
            <a:r>
              <a:rPr lang="zh-CN" altLang="en-US" sz="3600" dirty="0">
                <a:ln w="9525">
                  <a:noFill/>
                  <a:round/>
                  <a:headEnd/>
                  <a:tailEnd/>
                </a:ln>
                <a:gradFill rotWithShape="0">
                  <a:gsLst>
                    <a:gs pos="0">
                      <a:schemeClr val="bg1"/>
                    </a:gs>
                    <a:gs pos="100000">
                      <a:srgbClr val="FFFE7D"/>
                    </a:gs>
                  </a:gsLst>
                  <a:lin ang="5400000" scaled="1"/>
                </a:gradFill>
                <a:effectLst>
                  <a:outerShdw dist="38100" dir="5400000" algn="ctr" rotWithShape="0">
                    <a:srgbClr val="4D4D4D">
                      <a:alpha val="76999"/>
                    </a:srgbClr>
                  </a:outerShdw>
                </a:effectLst>
                <a:latin typeface="华文琥珀"/>
                <a:ea typeface="华文琥珀"/>
              </a:rPr>
              <a:t>实验引入</a:t>
            </a:r>
          </a:p>
        </p:txBody>
      </p:sp>
      <p:sp>
        <p:nvSpPr>
          <p:cNvPr id="3" name="文本框 2">
            <a:extLst>
              <a:ext uri="{FF2B5EF4-FFF2-40B4-BE49-F238E27FC236}">
                <a16:creationId xmlns:a16="http://schemas.microsoft.com/office/drawing/2014/main" id="{478C991E-B2B6-8AFD-A2F9-A2738E3A70AE}"/>
              </a:ext>
            </a:extLst>
          </p:cNvPr>
          <p:cNvSpPr txBox="1"/>
          <p:nvPr/>
        </p:nvSpPr>
        <p:spPr>
          <a:xfrm>
            <a:off x="142844" y="833555"/>
            <a:ext cx="3062027" cy="523220"/>
          </a:xfrm>
          <a:prstGeom prst="rect">
            <a:avLst/>
          </a:prstGeom>
          <a:noFill/>
        </p:spPr>
        <p:txBody>
          <a:bodyPr wrap="square" rtlCol="0">
            <a:spAutoFit/>
          </a:bodyPr>
          <a:lstStyle/>
          <a:p>
            <a:r>
              <a:rPr lang="zh-CN" altLang="en-US" sz="2800" b="1" dirty="0">
                <a:solidFill>
                  <a:srgbClr val="0000FF"/>
                </a:solidFill>
                <a:latin typeface="微软雅黑" panose="020B0503020204020204" pitchFamily="34" charset="-122"/>
                <a:ea typeface="微软雅黑" panose="020B0503020204020204" pitchFamily="34" charset="-122"/>
              </a:rPr>
              <a:t>检测的地位与作用</a:t>
            </a:r>
          </a:p>
        </p:txBody>
      </p:sp>
      <p:sp>
        <p:nvSpPr>
          <p:cNvPr id="4" name="文本框 3">
            <a:extLst>
              <a:ext uri="{FF2B5EF4-FFF2-40B4-BE49-F238E27FC236}">
                <a16:creationId xmlns:a16="http://schemas.microsoft.com/office/drawing/2014/main" id="{A345850B-4298-C49B-899C-F0188970E434}"/>
              </a:ext>
            </a:extLst>
          </p:cNvPr>
          <p:cNvSpPr txBox="1"/>
          <p:nvPr/>
        </p:nvSpPr>
        <p:spPr>
          <a:xfrm>
            <a:off x="208157" y="1475813"/>
            <a:ext cx="8761672" cy="830997"/>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检测技术是信息工业的基础，没有现代化的检测技术，也就没有</a:t>
            </a:r>
            <a:endParaRPr lang="en-US" altLang="zh-CN" sz="2400" b="1" dirty="0">
              <a:latin typeface="微软雅黑" panose="020B0503020204020204" pitchFamily="34" charset="-122"/>
              <a:ea typeface="微软雅黑" panose="020B0503020204020204" pitchFamily="34" charset="-122"/>
            </a:endParaRPr>
          </a:p>
          <a:p>
            <a:r>
              <a:rPr lang="zh-CN" altLang="en-US" sz="2400" b="1" dirty="0">
                <a:latin typeface="微软雅黑" panose="020B0503020204020204" pitchFamily="34" charset="-122"/>
                <a:ea typeface="微软雅黑" panose="020B0503020204020204" pitchFamily="34" charset="-122"/>
              </a:rPr>
              <a:t>现代化的生产和现代化的社会生活</a:t>
            </a:r>
          </a:p>
        </p:txBody>
      </p:sp>
      <p:graphicFrame>
        <p:nvGraphicFramePr>
          <p:cNvPr id="5" name="对象 4">
            <a:extLst>
              <a:ext uri="{FF2B5EF4-FFF2-40B4-BE49-F238E27FC236}">
                <a16:creationId xmlns:a16="http://schemas.microsoft.com/office/drawing/2014/main" id="{8B1EEC01-BA6F-3B03-F537-B2640BEA0757}"/>
              </a:ext>
            </a:extLst>
          </p:cNvPr>
          <p:cNvGraphicFramePr>
            <a:graphicFrameLocks noChangeAspect="1"/>
          </p:cNvGraphicFramePr>
          <p:nvPr>
            <p:extLst>
              <p:ext uri="{D42A27DB-BD31-4B8C-83A1-F6EECF244321}">
                <p14:modId xmlns:p14="http://schemas.microsoft.com/office/powerpoint/2010/main" val="1287589528"/>
              </p:ext>
            </p:extLst>
          </p:nvPr>
        </p:nvGraphicFramePr>
        <p:xfrm>
          <a:off x="0" y="2274888"/>
          <a:ext cx="9144000" cy="4060825"/>
        </p:xfrm>
        <a:graphic>
          <a:graphicData uri="http://schemas.openxmlformats.org/presentationml/2006/ole">
            <mc:AlternateContent xmlns:mc="http://schemas.openxmlformats.org/markup-compatibility/2006">
              <mc:Choice xmlns:v="urn:schemas-microsoft-com:vml" Requires="v">
                <p:oleObj name="Bitmap Image" r:id="rId2" imgW="7289640" imgH="3238560" progId="PBrush">
                  <p:embed/>
                </p:oleObj>
              </mc:Choice>
              <mc:Fallback>
                <p:oleObj name="Bitmap Image" r:id="rId2" imgW="7289640" imgH="3238560" progId="PBrush">
                  <p:embed/>
                  <p:pic>
                    <p:nvPicPr>
                      <p:cNvPr id="0" name=""/>
                      <p:cNvPicPr/>
                      <p:nvPr/>
                    </p:nvPicPr>
                    <p:blipFill>
                      <a:blip r:embed="rId3"/>
                      <a:stretch>
                        <a:fillRect/>
                      </a:stretch>
                    </p:blipFill>
                    <p:spPr>
                      <a:xfrm>
                        <a:off x="0" y="2274888"/>
                        <a:ext cx="9144000" cy="4060825"/>
                      </a:xfrm>
                      <a:prstGeom prst="rect">
                        <a:avLst/>
                      </a:prstGeom>
                    </p:spPr>
                  </p:pic>
                </p:oleObj>
              </mc:Fallback>
            </mc:AlternateContent>
          </a:graphicData>
        </a:graphic>
      </p:graphicFrame>
    </p:spTree>
    <p:extLst>
      <p:ext uri="{BB962C8B-B14F-4D97-AF65-F5344CB8AC3E}">
        <p14:creationId xmlns:p14="http://schemas.microsoft.com/office/powerpoint/2010/main" val="628928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WordArt 51">
            <a:extLst>
              <a:ext uri="{FF2B5EF4-FFF2-40B4-BE49-F238E27FC236}">
                <a16:creationId xmlns:a16="http://schemas.microsoft.com/office/drawing/2014/main" id="{06004A37-4180-69A6-E40A-AE21228F6C61}"/>
              </a:ext>
            </a:extLst>
          </p:cNvPr>
          <p:cNvSpPr>
            <a:spLocks noChangeArrowheads="1" noChangeShapeType="1"/>
          </p:cNvSpPr>
          <p:nvPr/>
        </p:nvSpPr>
        <p:spPr bwMode="auto">
          <a:xfrm>
            <a:off x="142844" y="71414"/>
            <a:ext cx="1729499" cy="409097"/>
          </a:xfrm>
          <a:prstGeom prst="rect">
            <a:avLst/>
          </a:prstGeom>
        </p:spPr>
        <p:txBody>
          <a:bodyPr wrap="none" fromWordArt="1">
            <a:prstTxWarp prst="textPlain">
              <a:avLst>
                <a:gd name="adj" fmla="val 50000"/>
              </a:avLst>
            </a:prstTxWarp>
          </a:bodyPr>
          <a:lstStyle/>
          <a:p>
            <a:pPr algn="ctr"/>
            <a:r>
              <a:rPr lang="zh-CN" altLang="en-US" sz="3600" dirty="0">
                <a:ln w="9525">
                  <a:noFill/>
                  <a:round/>
                  <a:headEnd/>
                  <a:tailEnd/>
                </a:ln>
                <a:gradFill rotWithShape="0">
                  <a:gsLst>
                    <a:gs pos="0">
                      <a:schemeClr val="bg1"/>
                    </a:gs>
                    <a:gs pos="100000">
                      <a:srgbClr val="FFFE7D"/>
                    </a:gs>
                  </a:gsLst>
                  <a:lin ang="5400000" scaled="1"/>
                </a:gradFill>
                <a:effectLst>
                  <a:outerShdw dist="38100" dir="5400000" algn="ctr" rotWithShape="0">
                    <a:srgbClr val="4D4D4D">
                      <a:alpha val="76999"/>
                    </a:srgbClr>
                  </a:outerShdw>
                </a:effectLst>
                <a:latin typeface="华文琥珀"/>
                <a:ea typeface="华文琥珀"/>
              </a:rPr>
              <a:t>实验引入</a:t>
            </a:r>
          </a:p>
        </p:txBody>
      </p:sp>
      <p:sp>
        <p:nvSpPr>
          <p:cNvPr id="3" name="文本框 2">
            <a:extLst>
              <a:ext uri="{FF2B5EF4-FFF2-40B4-BE49-F238E27FC236}">
                <a16:creationId xmlns:a16="http://schemas.microsoft.com/office/drawing/2014/main" id="{D12CAEA8-2969-AB62-511E-95E89C601976}"/>
              </a:ext>
            </a:extLst>
          </p:cNvPr>
          <p:cNvSpPr txBox="1"/>
          <p:nvPr/>
        </p:nvSpPr>
        <p:spPr>
          <a:xfrm>
            <a:off x="0" y="877105"/>
            <a:ext cx="6879771" cy="830997"/>
          </a:xfrm>
          <a:prstGeom prst="rect">
            <a:avLst/>
          </a:prstGeom>
          <a:noFill/>
        </p:spPr>
        <p:txBody>
          <a:bodyPr wrap="square"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俄罗斯著名化学家门捷列夫（</a:t>
            </a:r>
            <a:r>
              <a:rPr lang="en-US" altLang="zh-CN" sz="2400" b="1" dirty="0">
                <a:solidFill>
                  <a:srgbClr val="002060"/>
                </a:solidFill>
                <a:latin typeface="微软雅黑" panose="020B0503020204020204" pitchFamily="34" charset="-122"/>
                <a:ea typeface="微软雅黑" panose="020B0503020204020204" pitchFamily="34" charset="-122"/>
              </a:rPr>
              <a:t>1834-1907</a:t>
            </a:r>
            <a:r>
              <a:rPr lang="zh-CN" altLang="en-US" sz="2400" b="1" dirty="0">
                <a:solidFill>
                  <a:srgbClr val="002060"/>
                </a:solidFill>
                <a:latin typeface="微软雅黑" panose="020B0503020204020204" pitchFamily="34" charset="-122"/>
                <a:ea typeface="微软雅黑" panose="020B0503020204020204" pitchFamily="34" charset="-122"/>
              </a:rPr>
              <a:t>）：科学始于测量，没有测量，便没有精密的科学</a:t>
            </a:r>
            <a:endParaRPr lang="en-US" altLang="zh-CN" sz="2400" b="1" dirty="0">
              <a:solidFill>
                <a:srgbClr val="002060"/>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8B85DAFB-E889-015C-3E3F-45ADCA350339}"/>
              </a:ext>
            </a:extLst>
          </p:cNvPr>
          <p:cNvSpPr txBox="1"/>
          <p:nvPr/>
        </p:nvSpPr>
        <p:spPr>
          <a:xfrm>
            <a:off x="43540" y="2270471"/>
            <a:ext cx="6879771" cy="1938992"/>
          </a:xfrm>
          <a:prstGeom prst="rect">
            <a:avLst/>
          </a:prstGeom>
          <a:noFill/>
        </p:spPr>
        <p:txBody>
          <a:bodyPr wrap="square"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英国著名物理学家开尔文（</a:t>
            </a:r>
            <a:r>
              <a:rPr lang="en-US" altLang="zh-CN" sz="2400" b="1" dirty="0">
                <a:solidFill>
                  <a:srgbClr val="002060"/>
                </a:solidFill>
                <a:latin typeface="微软雅黑" panose="020B0503020204020204" pitchFamily="34" charset="-122"/>
                <a:ea typeface="微软雅黑" panose="020B0503020204020204" pitchFamily="34" charset="-122"/>
              </a:rPr>
              <a:t>1824-1907</a:t>
            </a:r>
            <a:r>
              <a:rPr lang="zh-CN" altLang="en-US" sz="2400" b="1" dirty="0">
                <a:solidFill>
                  <a:srgbClr val="002060"/>
                </a:solidFill>
                <a:latin typeface="微软雅黑" panose="020B0503020204020204" pitchFamily="34" charset="-122"/>
                <a:ea typeface="微软雅黑" panose="020B0503020204020204" pitchFamily="34" charset="-122"/>
              </a:rPr>
              <a:t>）：当你能够测量你所关注的事物，而且能够用数量来描述它的时候，你就对其有所认识；当你不能测量它，也不能将其量化的时候，你对它的了解就是贫乏和不深入的</a:t>
            </a:r>
            <a:endParaRPr lang="en-US" altLang="zh-CN" sz="2400" b="1" dirty="0">
              <a:solidFill>
                <a:srgbClr val="002060"/>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58A093D8-9DEE-16EF-B956-7F847A53E8AA}"/>
              </a:ext>
            </a:extLst>
          </p:cNvPr>
          <p:cNvSpPr txBox="1"/>
          <p:nvPr/>
        </p:nvSpPr>
        <p:spPr>
          <a:xfrm>
            <a:off x="65309" y="4676215"/>
            <a:ext cx="6879771" cy="1200329"/>
          </a:xfrm>
          <a:prstGeom prst="rect">
            <a:avLst/>
          </a:prstGeom>
          <a:noFill/>
        </p:spPr>
        <p:txBody>
          <a:bodyPr wrap="square"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中国著名科学家钱学森（</a:t>
            </a:r>
            <a:r>
              <a:rPr lang="en-US" altLang="zh-CN" sz="2400" b="1" dirty="0">
                <a:solidFill>
                  <a:srgbClr val="002060"/>
                </a:solidFill>
                <a:latin typeface="微软雅黑" panose="020B0503020204020204" pitchFamily="34" charset="-122"/>
                <a:ea typeface="微软雅黑" panose="020B0503020204020204" pitchFamily="34" charset="-122"/>
              </a:rPr>
              <a:t>1911-2009</a:t>
            </a:r>
            <a:r>
              <a:rPr lang="zh-CN" altLang="en-US" sz="2400" b="1" dirty="0">
                <a:solidFill>
                  <a:srgbClr val="002060"/>
                </a:solidFill>
                <a:latin typeface="微软雅黑" panose="020B0503020204020204" pitchFamily="34" charset="-122"/>
                <a:ea typeface="微软雅黑" panose="020B0503020204020204" pitchFamily="34" charset="-122"/>
              </a:rPr>
              <a:t>）：信息技术包括测量技术、计算机技术和通信技术、测量技术是信息技术的关键和基础</a:t>
            </a:r>
            <a:endParaRPr lang="en-US" altLang="zh-CN" sz="2400" b="1" dirty="0">
              <a:solidFill>
                <a:srgbClr val="002060"/>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CC7BBE9C-D5BF-03E2-C0F2-9261084F2C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4779" y="648501"/>
            <a:ext cx="1347591" cy="1645401"/>
          </a:xfrm>
          <a:prstGeom prst="rect">
            <a:avLst/>
          </a:prstGeom>
        </p:spPr>
      </p:pic>
      <p:pic>
        <p:nvPicPr>
          <p:cNvPr id="9" name="图片 8">
            <a:extLst>
              <a:ext uri="{FF2B5EF4-FFF2-40B4-BE49-F238E27FC236}">
                <a16:creationId xmlns:a16="http://schemas.microsoft.com/office/drawing/2014/main" id="{1CA02BF2-6AB4-C423-ED64-B47ACD0A55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84778" y="2544606"/>
            <a:ext cx="1347591" cy="1648729"/>
          </a:xfrm>
          <a:prstGeom prst="rect">
            <a:avLst/>
          </a:prstGeom>
        </p:spPr>
      </p:pic>
      <p:pic>
        <p:nvPicPr>
          <p:cNvPr id="11" name="图片 10">
            <a:extLst>
              <a:ext uri="{FF2B5EF4-FFF2-40B4-BE49-F238E27FC236}">
                <a16:creationId xmlns:a16="http://schemas.microsoft.com/office/drawing/2014/main" id="{6DCDF500-AF3F-9E87-7A68-D908E3EAD2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84777" y="4362866"/>
            <a:ext cx="1347591" cy="1653531"/>
          </a:xfrm>
          <a:prstGeom prst="rect">
            <a:avLst/>
          </a:prstGeom>
        </p:spPr>
      </p:pic>
    </p:spTree>
    <p:extLst>
      <p:ext uri="{BB962C8B-B14F-4D97-AF65-F5344CB8AC3E}">
        <p14:creationId xmlns:p14="http://schemas.microsoft.com/office/powerpoint/2010/main" val="3845190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72DBEE7-8F82-01E9-BD70-236C4FBBA6C8}"/>
              </a:ext>
            </a:extLst>
          </p:cNvPr>
          <p:cNvSpPr txBox="1">
            <a:spLocks noRot="1" noChangeArrowheads="1"/>
          </p:cNvSpPr>
          <p:nvPr/>
        </p:nvSpPr>
        <p:spPr>
          <a:xfrm>
            <a:off x="2609403" y="838202"/>
            <a:ext cx="3606341"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a:latin typeface="微软雅黑" panose="020B0503020204020204" pitchFamily="34" charset="-122"/>
                <a:ea typeface="微软雅黑" panose="020B0503020204020204" pitchFamily="34" charset="-122"/>
              </a:rPr>
              <a:t>中国是我永远的家</a:t>
            </a:r>
          </a:p>
        </p:txBody>
      </p:sp>
      <p:sp>
        <p:nvSpPr>
          <p:cNvPr id="4" name="Rectangle 3">
            <a:extLst>
              <a:ext uri="{FF2B5EF4-FFF2-40B4-BE49-F238E27FC236}">
                <a16:creationId xmlns:a16="http://schemas.microsoft.com/office/drawing/2014/main" id="{915E2086-F9E3-C7E7-2F7B-97E8B1209E1E}"/>
              </a:ext>
            </a:extLst>
          </p:cNvPr>
          <p:cNvSpPr txBox="1">
            <a:spLocks noRot="1" noChangeArrowheads="1"/>
          </p:cNvSpPr>
          <p:nvPr/>
        </p:nvSpPr>
        <p:spPr>
          <a:xfrm>
            <a:off x="0" y="1055907"/>
            <a:ext cx="8985250" cy="50945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buNone/>
            </a:pPr>
            <a:endParaRPr lang="zh-CN" altLang="en-US" sz="3300" b="1" dirty="0">
              <a:solidFill>
                <a:srgbClr val="6600FF"/>
              </a:solidFill>
              <a:latin typeface="楷体" panose="02010609060101010101" pitchFamily="49" charset="-122"/>
              <a:ea typeface="楷体" panose="02010609060101010101" pitchFamily="49" charset="-122"/>
            </a:endParaRPr>
          </a:p>
          <a:p>
            <a:pPr marL="0" defTabSz="457200">
              <a:lnSpc>
                <a:spcPct val="100000"/>
              </a:lnSpc>
            </a:pPr>
            <a:r>
              <a:rPr lang="en-US" altLang="zh-CN" sz="2400" b="1" dirty="0">
                <a:solidFill>
                  <a:srgbClr val="002060"/>
                </a:solidFill>
                <a:latin typeface="微软雅黑" panose="020B0503020204020204" pitchFamily="34" charset="-122"/>
                <a:ea typeface="微软雅黑" panose="020B0503020204020204" pitchFamily="34" charset="-122"/>
              </a:rPr>
              <a:t>1945</a:t>
            </a:r>
            <a:r>
              <a:rPr lang="zh-CN" altLang="en-US" sz="2400" b="1" dirty="0">
                <a:solidFill>
                  <a:srgbClr val="002060"/>
                </a:solidFill>
                <a:latin typeface="微软雅黑" panose="020B0503020204020204" pitchFamily="34" charset="-122"/>
                <a:ea typeface="微软雅黑" panose="020B0503020204020204" pitchFamily="34" charset="-122"/>
              </a:rPr>
              <a:t>年，钱学森已成为美国空军顾问组专家，他担任了加州理工学院喷气推进研究中心的主任。美国专栏作家密尔顿</a:t>
            </a:r>
            <a:r>
              <a:rPr lang="en-US" altLang="zh-CN" sz="2400" b="1" dirty="0">
                <a:solidFill>
                  <a:srgbClr val="002060"/>
                </a:solidFill>
                <a:latin typeface="微软雅黑" panose="020B0503020204020204" pitchFamily="34" charset="-122"/>
                <a:ea typeface="微软雅黑" panose="020B0503020204020204" pitchFamily="34" charset="-122"/>
              </a:rPr>
              <a:t>·</a:t>
            </a:r>
            <a:r>
              <a:rPr lang="zh-CN" altLang="en-US" sz="2400" b="1" dirty="0">
                <a:solidFill>
                  <a:srgbClr val="002060"/>
                </a:solidFill>
                <a:latin typeface="微软雅黑" panose="020B0503020204020204" pitchFamily="34" charset="-122"/>
                <a:ea typeface="微软雅黑" panose="020B0503020204020204" pitchFamily="34" charset="-122"/>
              </a:rPr>
              <a:t>维奥斯成曾写道，“钱学森是帮助美国成为世界第一流军事强国的科学家银河中的一颗明亮的星”，是“制定使美国空军从螺旋桨式向喷气式飞机过渡，并最后向遨游太空无人航天器过渡的长远规划的关键人物”。为美国在</a:t>
            </a:r>
            <a:r>
              <a:rPr lang="en-US" altLang="zh-CN" sz="2400" b="1" dirty="0">
                <a:solidFill>
                  <a:srgbClr val="002060"/>
                </a:solidFill>
                <a:latin typeface="微软雅黑" panose="020B0503020204020204" pitchFamily="34" charset="-122"/>
                <a:ea typeface="微软雅黑" panose="020B0503020204020204" pitchFamily="34" charset="-122"/>
              </a:rPr>
              <a:t>40</a:t>
            </a:r>
            <a:r>
              <a:rPr lang="zh-CN" altLang="en-US" sz="2400" b="1" dirty="0">
                <a:solidFill>
                  <a:srgbClr val="002060"/>
                </a:solidFill>
                <a:latin typeface="微软雅黑" panose="020B0503020204020204" pitchFamily="34" charset="-122"/>
                <a:ea typeface="微软雅黑" panose="020B0503020204020204" pitchFamily="34" charset="-122"/>
              </a:rPr>
              <a:t>年代研制成功第一批地对地导弹奠定了理论基础。</a:t>
            </a:r>
            <a:endParaRPr lang="zh-CN" altLang="en-US" sz="2700" b="1" dirty="0">
              <a:solidFill>
                <a:srgbClr val="FF0000"/>
              </a:solidFill>
              <a:latin typeface="华文楷体" panose="02010600040101010101" pitchFamily="2" charset="-122"/>
              <a:ea typeface="华文楷体" panose="02010600040101010101" pitchFamily="2" charset="-122"/>
            </a:endParaRPr>
          </a:p>
          <a:p>
            <a:pPr>
              <a:lnSpc>
                <a:spcPct val="100000"/>
              </a:lnSpc>
            </a:pPr>
            <a:r>
              <a:rPr lang="zh-CN" altLang="en-US" sz="2400" b="1" dirty="0">
                <a:solidFill>
                  <a:srgbClr val="FF0000"/>
                </a:solidFill>
                <a:latin typeface="微软雅黑" panose="020B0503020204020204" pitchFamily="34" charset="-122"/>
                <a:ea typeface="微软雅黑" panose="020B0503020204020204" pitchFamily="34" charset="-122"/>
              </a:rPr>
              <a:t>钱学森已成世界著名科学家，夫人蒋英也在音乐界享有声誉，在美国他们拥有十分优越的条件，但祖国的召唤让他们毫不犹豫地放弃这一切。钱学森曾激动地对夫人蒋英说：“祖国已经解放，我们该回去了！”他的爱国精神可圈可点，实在令人钦佩。</a:t>
            </a:r>
          </a:p>
        </p:txBody>
      </p:sp>
    </p:spTree>
    <p:extLst>
      <p:ext uri="{BB962C8B-B14F-4D97-AF65-F5344CB8AC3E}">
        <p14:creationId xmlns:p14="http://schemas.microsoft.com/office/powerpoint/2010/main" val="3342947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A_图片 2" descr="F:\案例二\394\1.png"/>
          <p:cNvPicPr preferRelativeResize="0">
            <a:picLocks noChangeArrowheads="1"/>
          </p:cNvPicPr>
          <p:nvPr>
            <p:custDataLst>
              <p:tags r:id="rId1"/>
            </p:custDataLst>
          </p:nvPr>
        </p:nvPicPr>
        <p:blipFill rotWithShape="1">
          <a:blip r:embed="rId20" cstate="print">
            <a:extLst>
              <a:ext uri="{28A0092B-C50C-407E-A947-70E740481C1C}">
                <a14:useLocalDpi xmlns:a14="http://schemas.microsoft.com/office/drawing/2010/main" val="0"/>
              </a:ext>
            </a:extLst>
          </a:blip>
          <a:srcRect l="414" t="29347" r="41232" b="70030"/>
          <a:stretch>
            <a:fillRect/>
          </a:stretch>
        </p:blipFill>
        <p:spPr bwMode="auto">
          <a:xfrm>
            <a:off x="0" y="5964750"/>
            <a:ext cx="9144000" cy="54000"/>
          </a:xfrm>
          <a:prstGeom prst="rect">
            <a:avLst/>
          </a:prstGeom>
          <a:noFill/>
          <a:effectLst>
            <a:outerShdw blurRad="342900" dist="139700" dir="12060000" sx="102000" sy="102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6" name="PA_图片 4" descr="G:\稻壳儿\5\miracomunicazione\shadow3.png"/>
          <p:cNvPicPr>
            <a:picLocks noChangeAspect="1" noChangeArrowheads="1"/>
          </p:cNvPicPr>
          <p:nvPr>
            <p:custDataLst>
              <p:tags r:id="rId2"/>
            </p:custDataLst>
          </p:nvPr>
        </p:nvPicPr>
        <p:blipFill>
          <a:blip r:embed="rId21" cstate="print">
            <a:extLst>
              <a:ext uri="{28A0092B-C50C-407E-A947-70E740481C1C}">
                <a14:useLocalDpi xmlns:a14="http://schemas.microsoft.com/office/drawing/2010/main" val="0"/>
              </a:ext>
            </a:extLst>
          </a:blip>
          <a:srcRect/>
          <a:stretch>
            <a:fillRect/>
          </a:stretch>
        </p:blipFill>
        <p:spPr bwMode="auto">
          <a:xfrm flipV="1">
            <a:off x="0" y="5591174"/>
            <a:ext cx="9144000" cy="373574"/>
          </a:xfrm>
          <a:prstGeom prst="rect">
            <a:avLst/>
          </a:prstGeom>
          <a:noFill/>
          <a:extLst>
            <a:ext uri="{909E8E84-426E-40DD-AFC4-6F175D3DCCD1}">
              <a14:hiddenFill xmlns:a14="http://schemas.microsoft.com/office/drawing/2010/main">
                <a:solidFill>
                  <a:srgbClr val="FFFFFF"/>
                </a:solidFill>
              </a14:hiddenFill>
            </a:ext>
          </a:extLst>
        </p:spPr>
      </p:pic>
      <p:grpSp>
        <p:nvGrpSpPr>
          <p:cNvPr id="2" name="组合 1"/>
          <p:cNvGrpSpPr/>
          <p:nvPr/>
        </p:nvGrpSpPr>
        <p:grpSpPr>
          <a:xfrm>
            <a:off x="324963" y="2221960"/>
            <a:ext cx="468000" cy="468000"/>
            <a:chOff x="1051006" y="1507813"/>
            <a:chExt cx="468000" cy="468000"/>
          </a:xfrm>
        </p:grpSpPr>
        <p:sp>
          <p:nvSpPr>
            <p:cNvPr id="23" name="PA_椭圆 22"/>
            <p:cNvSpPr/>
            <p:nvPr>
              <p:custDataLst>
                <p:tags r:id="rId17"/>
              </p:custDataLst>
            </p:nvPr>
          </p:nvSpPr>
          <p:spPr>
            <a:xfrm>
              <a:off x="1051006" y="1507813"/>
              <a:ext cx="468000" cy="468000"/>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bg1"/>
                </a:solidFill>
                <a:effectLst>
                  <a:outerShdw blurRad="38100" dist="38100" dir="2700000" algn="tl">
                    <a:srgbClr val="000000">
                      <a:alpha val="43137"/>
                    </a:srgbClr>
                  </a:outerShdw>
                </a:effectLst>
              </a:endParaRPr>
            </a:p>
          </p:txBody>
        </p:sp>
        <p:sp>
          <p:nvSpPr>
            <p:cNvPr id="54" name="PA_任意多边形 5"/>
            <p:cNvSpPr>
              <a:spLocks noEditPoints="1"/>
            </p:cNvSpPr>
            <p:nvPr>
              <p:custDataLst>
                <p:tags r:id="rId18"/>
              </p:custDataLst>
            </p:nvPr>
          </p:nvSpPr>
          <p:spPr bwMode="auto">
            <a:xfrm>
              <a:off x="1169216" y="1629096"/>
              <a:ext cx="231580" cy="225434"/>
            </a:xfrm>
            <a:custGeom>
              <a:avLst/>
              <a:gdLst>
                <a:gd name="T0" fmla="*/ 807 w 942"/>
                <a:gd name="T1" fmla="*/ 361 h 917"/>
                <a:gd name="T2" fmla="*/ 422 w 942"/>
                <a:gd name="T3" fmla="*/ 504 h 917"/>
                <a:gd name="T4" fmla="*/ 432 w 942"/>
                <a:gd name="T5" fmla="*/ 696 h 917"/>
                <a:gd name="T6" fmla="*/ 796 w 942"/>
                <a:gd name="T7" fmla="*/ 885 h 917"/>
                <a:gd name="T8" fmla="*/ 43 w 942"/>
                <a:gd name="T9" fmla="*/ 909 h 917"/>
                <a:gd name="T10" fmla="*/ 10 w 942"/>
                <a:gd name="T11" fmla="*/ 230 h 917"/>
                <a:gd name="T12" fmla="*/ 309 w 942"/>
                <a:gd name="T13" fmla="*/ 160 h 917"/>
                <a:gd name="T14" fmla="*/ 88 w 942"/>
                <a:gd name="T15" fmla="*/ 295 h 917"/>
                <a:gd name="T16" fmla="*/ 86 w 942"/>
                <a:gd name="T17" fmla="*/ 858 h 917"/>
                <a:gd name="T18" fmla="*/ 168 w 942"/>
                <a:gd name="T19" fmla="*/ 862 h 917"/>
                <a:gd name="T20" fmla="*/ 547 w 942"/>
                <a:gd name="T21" fmla="*/ 539 h 917"/>
                <a:gd name="T22" fmla="*/ 491 w 942"/>
                <a:gd name="T23" fmla="*/ 594 h 917"/>
                <a:gd name="T24" fmla="*/ 559 w 942"/>
                <a:gd name="T25" fmla="*/ 649 h 917"/>
                <a:gd name="T26" fmla="*/ 598 w 942"/>
                <a:gd name="T27" fmla="*/ 573 h 917"/>
                <a:gd name="T28" fmla="*/ 92 w 942"/>
                <a:gd name="T29" fmla="*/ 369 h 917"/>
                <a:gd name="T30" fmla="*/ 160 w 942"/>
                <a:gd name="T31" fmla="*/ 389 h 917"/>
                <a:gd name="T32" fmla="*/ 164 w 942"/>
                <a:gd name="T33" fmla="*/ 369 h 917"/>
                <a:gd name="T34" fmla="*/ 663 w 942"/>
                <a:gd name="T35" fmla="*/ 379 h 917"/>
                <a:gd name="T36" fmla="*/ 747 w 942"/>
                <a:gd name="T37" fmla="*/ 383 h 917"/>
                <a:gd name="T38" fmla="*/ 559 w 942"/>
                <a:gd name="T39" fmla="*/ 367 h 917"/>
                <a:gd name="T40" fmla="*/ 555 w 942"/>
                <a:gd name="T41" fmla="*/ 387 h 917"/>
                <a:gd name="T42" fmla="*/ 633 w 942"/>
                <a:gd name="T43" fmla="*/ 373 h 917"/>
                <a:gd name="T44" fmla="*/ 438 w 942"/>
                <a:gd name="T45" fmla="*/ 373 h 917"/>
                <a:gd name="T46" fmla="*/ 516 w 942"/>
                <a:gd name="T47" fmla="*/ 387 h 917"/>
                <a:gd name="T48" fmla="*/ 448 w 942"/>
                <a:gd name="T49" fmla="*/ 367 h 917"/>
                <a:gd name="T50" fmla="*/ 323 w 942"/>
                <a:gd name="T51" fmla="*/ 383 h 917"/>
                <a:gd name="T52" fmla="*/ 407 w 942"/>
                <a:gd name="T53" fmla="*/ 379 h 917"/>
                <a:gd name="T54" fmla="*/ 207 w 942"/>
                <a:gd name="T55" fmla="*/ 369 h 917"/>
                <a:gd name="T56" fmla="*/ 274 w 942"/>
                <a:gd name="T57" fmla="*/ 389 h 917"/>
                <a:gd name="T58" fmla="*/ 278 w 942"/>
                <a:gd name="T59" fmla="*/ 369 h 917"/>
                <a:gd name="T60" fmla="*/ 67 w 942"/>
                <a:gd name="T61" fmla="*/ 408 h 917"/>
                <a:gd name="T62" fmla="*/ 63 w 942"/>
                <a:gd name="T63" fmla="*/ 492 h 917"/>
                <a:gd name="T64" fmla="*/ 67 w 942"/>
                <a:gd name="T65" fmla="*/ 870 h 917"/>
                <a:gd name="T66" fmla="*/ 67 w 942"/>
                <a:gd name="T67" fmla="*/ 760 h 917"/>
                <a:gd name="T68" fmla="*/ 59 w 942"/>
                <a:gd name="T69" fmla="*/ 842 h 917"/>
                <a:gd name="T70" fmla="*/ 78 w 942"/>
                <a:gd name="T71" fmla="*/ 770 h 917"/>
                <a:gd name="T72" fmla="*/ 59 w 942"/>
                <a:gd name="T73" fmla="*/ 649 h 917"/>
                <a:gd name="T74" fmla="*/ 67 w 942"/>
                <a:gd name="T75" fmla="*/ 729 h 917"/>
                <a:gd name="T76" fmla="*/ 74 w 942"/>
                <a:gd name="T77" fmla="*/ 526 h 917"/>
                <a:gd name="T78" fmla="*/ 55 w 942"/>
                <a:gd name="T79" fmla="*/ 596 h 917"/>
                <a:gd name="T80" fmla="*/ 78 w 942"/>
                <a:gd name="T81" fmla="*/ 596 h 917"/>
                <a:gd name="T82" fmla="*/ 663 w 942"/>
                <a:gd name="T83" fmla="*/ 858 h 917"/>
                <a:gd name="T84" fmla="*/ 747 w 942"/>
                <a:gd name="T85" fmla="*/ 858 h 917"/>
                <a:gd name="T86" fmla="*/ 559 w 942"/>
                <a:gd name="T87" fmla="*/ 848 h 917"/>
                <a:gd name="T88" fmla="*/ 559 w 942"/>
                <a:gd name="T89" fmla="*/ 868 h 917"/>
                <a:gd name="T90" fmla="*/ 630 w 942"/>
                <a:gd name="T91" fmla="*/ 850 h 917"/>
                <a:gd name="T92" fmla="*/ 438 w 942"/>
                <a:gd name="T93" fmla="*/ 858 h 917"/>
                <a:gd name="T94" fmla="*/ 518 w 942"/>
                <a:gd name="T95" fmla="*/ 866 h 917"/>
                <a:gd name="T96" fmla="*/ 448 w 942"/>
                <a:gd name="T97" fmla="*/ 848 h 917"/>
                <a:gd name="T98" fmla="*/ 325 w 942"/>
                <a:gd name="T99" fmla="*/ 866 h 917"/>
                <a:gd name="T100" fmla="*/ 407 w 942"/>
                <a:gd name="T101" fmla="*/ 858 h 917"/>
                <a:gd name="T102" fmla="*/ 203 w 942"/>
                <a:gd name="T103" fmla="*/ 850 h 917"/>
                <a:gd name="T104" fmla="*/ 274 w 942"/>
                <a:gd name="T105" fmla="*/ 868 h 917"/>
                <a:gd name="T106" fmla="*/ 274 w 942"/>
                <a:gd name="T107" fmla="*/ 848 h 917"/>
                <a:gd name="T108" fmla="*/ 766 w 942"/>
                <a:gd name="T109" fmla="*/ 25 h 917"/>
                <a:gd name="T110" fmla="*/ 473 w 942"/>
                <a:gd name="T111" fmla="*/ 508 h 917"/>
                <a:gd name="T112" fmla="*/ 446 w 942"/>
                <a:gd name="T113" fmla="*/ 649 h 917"/>
                <a:gd name="T114" fmla="*/ 833 w 942"/>
                <a:gd name="T115" fmla="*/ 686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942" h="917">
                  <a:moveTo>
                    <a:pt x="96" y="299"/>
                  </a:moveTo>
                  <a:lnTo>
                    <a:pt x="731" y="299"/>
                  </a:lnTo>
                  <a:lnTo>
                    <a:pt x="731" y="299"/>
                  </a:lnTo>
                  <a:lnTo>
                    <a:pt x="747" y="301"/>
                  </a:lnTo>
                  <a:lnTo>
                    <a:pt x="762" y="305"/>
                  </a:lnTo>
                  <a:lnTo>
                    <a:pt x="774" y="311"/>
                  </a:lnTo>
                  <a:lnTo>
                    <a:pt x="786" y="322"/>
                  </a:lnTo>
                  <a:lnTo>
                    <a:pt x="796" y="334"/>
                  </a:lnTo>
                  <a:lnTo>
                    <a:pt x="802" y="346"/>
                  </a:lnTo>
                  <a:lnTo>
                    <a:pt x="807" y="361"/>
                  </a:lnTo>
                  <a:lnTo>
                    <a:pt x="809" y="377"/>
                  </a:lnTo>
                  <a:lnTo>
                    <a:pt x="809" y="469"/>
                  </a:lnTo>
                  <a:lnTo>
                    <a:pt x="491" y="469"/>
                  </a:lnTo>
                  <a:lnTo>
                    <a:pt x="491" y="469"/>
                  </a:lnTo>
                  <a:lnTo>
                    <a:pt x="475" y="469"/>
                  </a:lnTo>
                  <a:lnTo>
                    <a:pt x="458" y="475"/>
                  </a:lnTo>
                  <a:lnTo>
                    <a:pt x="444" y="481"/>
                  </a:lnTo>
                  <a:lnTo>
                    <a:pt x="432" y="492"/>
                  </a:lnTo>
                  <a:lnTo>
                    <a:pt x="432" y="492"/>
                  </a:lnTo>
                  <a:lnTo>
                    <a:pt x="422" y="504"/>
                  </a:lnTo>
                  <a:lnTo>
                    <a:pt x="415" y="518"/>
                  </a:lnTo>
                  <a:lnTo>
                    <a:pt x="409" y="535"/>
                  </a:lnTo>
                  <a:lnTo>
                    <a:pt x="409" y="551"/>
                  </a:lnTo>
                  <a:lnTo>
                    <a:pt x="409" y="639"/>
                  </a:lnTo>
                  <a:lnTo>
                    <a:pt x="409" y="639"/>
                  </a:lnTo>
                  <a:lnTo>
                    <a:pt x="409" y="655"/>
                  </a:lnTo>
                  <a:lnTo>
                    <a:pt x="415" y="672"/>
                  </a:lnTo>
                  <a:lnTo>
                    <a:pt x="422" y="684"/>
                  </a:lnTo>
                  <a:lnTo>
                    <a:pt x="432" y="696"/>
                  </a:lnTo>
                  <a:lnTo>
                    <a:pt x="432" y="696"/>
                  </a:lnTo>
                  <a:lnTo>
                    <a:pt x="444" y="707"/>
                  </a:lnTo>
                  <a:lnTo>
                    <a:pt x="458" y="715"/>
                  </a:lnTo>
                  <a:lnTo>
                    <a:pt x="475" y="719"/>
                  </a:lnTo>
                  <a:lnTo>
                    <a:pt x="491" y="721"/>
                  </a:lnTo>
                  <a:lnTo>
                    <a:pt x="809" y="721"/>
                  </a:lnTo>
                  <a:lnTo>
                    <a:pt x="809" y="842"/>
                  </a:lnTo>
                  <a:lnTo>
                    <a:pt x="809" y="842"/>
                  </a:lnTo>
                  <a:lnTo>
                    <a:pt x="807" y="856"/>
                  </a:lnTo>
                  <a:lnTo>
                    <a:pt x="802" y="870"/>
                  </a:lnTo>
                  <a:lnTo>
                    <a:pt x="796" y="885"/>
                  </a:lnTo>
                  <a:lnTo>
                    <a:pt x="786" y="895"/>
                  </a:lnTo>
                  <a:lnTo>
                    <a:pt x="774" y="905"/>
                  </a:lnTo>
                  <a:lnTo>
                    <a:pt x="762" y="911"/>
                  </a:lnTo>
                  <a:lnTo>
                    <a:pt x="747" y="915"/>
                  </a:lnTo>
                  <a:lnTo>
                    <a:pt x="731" y="917"/>
                  </a:lnTo>
                  <a:lnTo>
                    <a:pt x="96" y="917"/>
                  </a:lnTo>
                  <a:lnTo>
                    <a:pt x="96" y="917"/>
                  </a:lnTo>
                  <a:lnTo>
                    <a:pt x="78" y="917"/>
                  </a:lnTo>
                  <a:lnTo>
                    <a:pt x="59" y="915"/>
                  </a:lnTo>
                  <a:lnTo>
                    <a:pt x="43" y="909"/>
                  </a:lnTo>
                  <a:lnTo>
                    <a:pt x="28" y="903"/>
                  </a:lnTo>
                  <a:lnTo>
                    <a:pt x="18" y="893"/>
                  </a:lnTo>
                  <a:lnTo>
                    <a:pt x="8" y="881"/>
                  </a:lnTo>
                  <a:lnTo>
                    <a:pt x="2" y="864"/>
                  </a:lnTo>
                  <a:lnTo>
                    <a:pt x="0" y="844"/>
                  </a:lnTo>
                  <a:lnTo>
                    <a:pt x="0" y="303"/>
                  </a:lnTo>
                  <a:lnTo>
                    <a:pt x="0" y="303"/>
                  </a:lnTo>
                  <a:lnTo>
                    <a:pt x="0" y="277"/>
                  </a:lnTo>
                  <a:lnTo>
                    <a:pt x="4" y="252"/>
                  </a:lnTo>
                  <a:lnTo>
                    <a:pt x="10" y="230"/>
                  </a:lnTo>
                  <a:lnTo>
                    <a:pt x="18" y="209"/>
                  </a:lnTo>
                  <a:lnTo>
                    <a:pt x="31" y="191"/>
                  </a:lnTo>
                  <a:lnTo>
                    <a:pt x="43" y="176"/>
                  </a:lnTo>
                  <a:lnTo>
                    <a:pt x="51" y="170"/>
                  </a:lnTo>
                  <a:lnTo>
                    <a:pt x="59" y="166"/>
                  </a:lnTo>
                  <a:lnTo>
                    <a:pt x="69" y="162"/>
                  </a:lnTo>
                  <a:lnTo>
                    <a:pt x="80" y="160"/>
                  </a:lnTo>
                  <a:lnTo>
                    <a:pt x="84" y="160"/>
                  </a:lnTo>
                  <a:lnTo>
                    <a:pt x="86" y="160"/>
                  </a:lnTo>
                  <a:lnTo>
                    <a:pt x="309" y="160"/>
                  </a:lnTo>
                  <a:lnTo>
                    <a:pt x="149" y="232"/>
                  </a:lnTo>
                  <a:lnTo>
                    <a:pt x="90" y="232"/>
                  </a:lnTo>
                  <a:lnTo>
                    <a:pt x="90" y="232"/>
                  </a:lnTo>
                  <a:lnTo>
                    <a:pt x="86" y="236"/>
                  </a:lnTo>
                  <a:lnTo>
                    <a:pt x="82" y="246"/>
                  </a:lnTo>
                  <a:lnTo>
                    <a:pt x="78" y="256"/>
                  </a:lnTo>
                  <a:lnTo>
                    <a:pt x="78" y="268"/>
                  </a:lnTo>
                  <a:lnTo>
                    <a:pt x="78" y="279"/>
                  </a:lnTo>
                  <a:lnTo>
                    <a:pt x="82" y="289"/>
                  </a:lnTo>
                  <a:lnTo>
                    <a:pt x="88" y="295"/>
                  </a:lnTo>
                  <a:lnTo>
                    <a:pt x="92" y="297"/>
                  </a:lnTo>
                  <a:lnTo>
                    <a:pt x="96" y="299"/>
                  </a:lnTo>
                  <a:lnTo>
                    <a:pt x="96" y="299"/>
                  </a:lnTo>
                  <a:close/>
                  <a:moveTo>
                    <a:pt x="96" y="848"/>
                  </a:moveTo>
                  <a:lnTo>
                    <a:pt x="96" y="848"/>
                  </a:lnTo>
                  <a:lnTo>
                    <a:pt x="92" y="848"/>
                  </a:lnTo>
                  <a:lnTo>
                    <a:pt x="88" y="850"/>
                  </a:lnTo>
                  <a:lnTo>
                    <a:pt x="86" y="854"/>
                  </a:lnTo>
                  <a:lnTo>
                    <a:pt x="86" y="858"/>
                  </a:lnTo>
                  <a:lnTo>
                    <a:pt x="86" y="858"/>
                  </a:lnTo>
                  <a:lnTo>
                    <a:pt x="86" y="858"/>
                  </a:lnTo>
                  <a:lnTo>
                    <a:pt x="86" y="862"/>
                  </a:lnTo>
                  <a:lnTo>
                    <a:pt x="88" y="866"/>
                  </a:lnTo>
                  <a:lnTo>
                    <a:pt x="92" y="868"/>
                  </a:lnTo>
                  <a:lnTo>
                    <a:pt x="96" y="868"/>
                  </a:lnTo>
                  <a:lnTo>
                    <a:pt x="160" y="868"/>
                  </a:lnTo>
                  <a:lnTo>
                    <a:pt x="160" y="868"/>
                  </a:lnTo>
                  <a:lnTo>
                    <a:pt x="164" y="868"/>
                  </a:lnTo>
                  <a:lnTo>
                    <a:pt x="166" y="866"/>
                  </a:lnTo>
                  <a:lnTo>
                    <a:pt x="168" y="862"/>
                  </a:lnTo>
                  <a:lnTo>
                    <a:pt x="170" y="858"/>
                  </a:lnTo>
                  <a:lnTo>
                    <a:pt x="170" y="858"/>
                  </a:lnTo>
                  <a:lnTo>
                    <a:pt x="170" y="858"/>
                  </a:lnTo>
                  <a:lnTo>
                    <a:pt x="168" y="854"/>
                  </a:lnTo>
                  <a:lnTo>
                    <a:pt x="166" y="850"/>
                  </a:lnTo>
                  <a:lnTo>
                    <a:pt x="164" y="848"/>
                  </a:lnTo>
                  <a:lnTo>
                    <a:pt x="160" y="848"/>
                  </a:lnTo>
                  <a:lnTo>
                    <a:pt x="96" y="848"/>
                  </a:lnTo>
                  <a:lnTo>
                    <a:pt x="96" y="848"/>
                  </a:lnTo>
                  <a:close/>
                  <a:moveTo>
                    <a:pt x="547" y="539"/>
                  </a:moveTo>
                  <a:lnTo>
                    <a:pt x="547" y="539"/>
                  </a:lnTo>
                  <a:lnTo>
                    <a:pt x="534" y="539"/>
                  </a:lnTo>
                  <a:lnTo>
                    <a:pt x="524" y="543"/>
                  </a:lnTo>
                  <a:lnTo>
                    <a:pt x="516" y="549"/>
                  </a:lnTo>
                  <a:lnTo>
                    <a:pt x="508" y="555"/>
                  </a:lnTo>
                  <a:lnTo>
                    <a:pt x="499" y="563"/>
                  </a:lnTo>
                  <a:lnTo>
                    <a:pt x="495" y="573"/>
                  </a:lnTo>
                  <a:lnTo>
                    <a:pt x="491" y="584"/>
                  </a:lnTo>
                  <a:lnTo>
                    <a:pt x="491" y="594"/>
                  </a:lnTo>
                  <a:lnTo>
                    <a:pt x="491" y="594"/>
                  </a:lnTo>
                  <a:lnTo>
                    <a:pt x="491" y="606"/>
                  </a:lnTo>
                  <a:lnTo>
                    <a:pt x="495" y="616"/>
                  </a:lnTo>
                  <a:lnTo>
                    <a:pt x="499" y="627"/>
                  </a:lnTo>
                  <a:lnTo>
                    <a:pt x="508" y="635"/>
                  </a:lnTo>
                  <a:lnTo>
                    <a:pt x="516" y="641"/>
                  </a:lnTo>
                  <a:lnTo>
                    <a:pt x="524" y="647"/>
                  </a:lnTo>
                  <a:lnTo>
                    <a:pt x="534" y="649"/>
                  </a:lnTo>
                  <a:lnTo>
                    <a:pt x="547" y="651"/>
                  </a:lnTo>
                  <a:lnTo>
                    <a:pt x="547" y="651"/>
                  </a:lnTo>
                  <a:lnTo>
                    <a:pt x="559" y="649"/>
                  </a:lnTo>
                  <a:lnTo>
                    <a:pt x="569" y="647"/>
                  </a:lnTo>
                  <a:lnTo>
                    <a:pt x="577" y="641"/>
                  </a:lnTo>
                  <a:lnTo>
                    <a:pt x="585" y="635"/>
                  </a:lnTo>
                  <a:lnTo>
                    <a:pt x="594" y="627"/>
                  </a:lnTo>
                  <a:lnTo>
                    <a:pt x="598" y="616"/>
                  </a:lnTo>
                  <a:lnTo>
                    <a:pt x="602" y="606"/>
                  </a:lnTo>
                  <a:lnTo>
                    <a:pt x="604" y="594"/>
                  </a:lnTo>
                  <a:lnTo>
                    <a:pt x="604" y="594"/>
                  </a:lnTo>
                  <a:lnTo>
                    <a:pt x="602" y="584"/>
                  </a:lnTo>
                  <a:lnTo>
                    <a:pt x="598" y="573"/>
                  </a:lnTo>
                  <a:lnTo>
                    <a:pt x="594" y="563"/>
                  </a:lnTo>
                  <a:lnTo>
                    <a:pt x="585" y="555"/>
                  </a:lnTo>
                  <a:lnTo>
                    <a:pt x="577" y="549"/>
                  </a:lnTo>
                  <a:lnTo>
                    <a:pt x="569" y="543"/>
                  </a:lnTo>
                  <a:lnTo>
                    <a:pt x="559" y="539"/>
                  </a:lnTo>
                  <a:lnTo>
                    <a:pt x="547" y="539"/>
                  </a:lnTo>
                  <a:lnTo>
                    <a:pt x="547" y="539"/>
                  </a:lnTo>
                  <a:close/>
                  <a:moveTo>
                    <a:pt x="96" y="367"/>
                  </a:moveTo>
                  <a:lnTo>
                    <a:pt x="96" y="367"/>
                  </a:lnTo>
                  <a:lnTo>
                    <a:pt x="92" y="369"/>
                  </a:lnTo>
                  <a:lnTo>
                    <a:pt x="88" y="371"/>
                  </a:lnTo>
                  <a:lnTo>
                    <a:pt x="86" y="373"/>
                  </a:lnTo>
                  <a:lnTo>
                    <a:pt x="86" y="379"/>
                  </a:lnTo>
                  <a:lnTo>
                    <a:pt x="86" y="379"/>
                  </a:lnTo>
                  <a:lnTo>
                    <a:pt x="86" y="379"/>
                  </a:lnTo>
                  <a:lnTo>
                    <a:pt x="86" y="383"/>
                  </a:lnTo>
                  <a:lnTo>
                    <a:pt x="88" y="385"/>
                  </a:lnTo>
                  <a:lnTo>
                    <a:pt x="92" y="387"/>
                  </a:lnTo>
                  <a:lnTo>
                    <a:pt x="96" y="389"/>
                  </a:lnTo>
                  <a:lnTo>
                    <a:pt x="160" y="389"/>
                  </a:lnTo>
                  <a:lnTo>
                    <a:pt x="160" y="389"/>
                  </a:lnTo>
                  <a:lnTo>
                    <a:pt x="164" y="387"/>
                  </a:lnTo>
                  <a:lnTo>
                    <a:pt x="166" y="385"/>
                  </a:lnTo>
                  <a:lnTo>
                    <a:pt x="168" y="383"/>
                  </a:lnTo>
                  <a:lnTo>
                    <a:pt x="170" y="379"/>
                  </a:lnTo>
                  <a:lnTo>
                    <a:pt x="170" y="379"/>
                  </a:lnTo>
                  <a:lnTo>
                    <a:pt x="170" y="379"/>
                  </a:lnTo>
                  <a:lnTo>
                    <a:pt x="168" y="373"/>
                  </a:lnTo>
                  <a:lnTo>
                    <a:pt x="166" y="371"/>
                  </a:lnTo>
                  <a:lnTo>
                    <a:pt x="164" y="369"/>
                  </a:lnTo>
                  <a:lnTo>
                    <a:pt x="160" y="367"/>
                  </a:lnTo>
                  <a:lnTo>
                    <a:pt x="96" y="367"/>
                  </a:lnTo>
                  <a:lnTo>
                    <a:pt x="96" y="367"/>
                  </a:lnTo>
                  <a:close/>
                  <a:moveTo>
                    <a:pt x="673" y="367"/>
                  </a:moveTo>
                  <a:lnTo>
                    <a:pt x="673" y="367"/>
                  </a:lnTo>
                  <a:lnTo>
                    <a:pt x="669" y="369"/>
                  </a:lnTo>
                  <a:lnTo>
                    <a:pt x="667" y="371"/>
                  </a:lnTo>
                  <a:lnTo>
                    <a:pt x="665" y="373"/>
                  </a:lnTo>
                  <a:lnTo>
                    <a:pt x="663" y="379"/>
                  </a:lnTo>
                  <a:lnTo>
                    <a:pt x="663" y="379"/>
                  </a:lnTo>
                  <a:lnTo>
                    <a:pt x="663" y="379"/>
                  </a:lnTo>
                  <a:lnTo>
                    <a:pt x="665" y="383"/>
                  </a:lnTo>
                  <a:lnTo>
                    <a:pt x="667" y="385"/>
                  </a:lnTo>
                  <a:lnTo>
                    <a:pt x="669" y="387"/>
                  </a:lnTo>
                  <a:lnTo>
                    <a:pt x="673" y="389"/>
                  </a:lnTo>
                  <a:lnTo>
                    <a:pt x="737" y="389"/>
                  </a:lnTo>
                  <a:lnTo>
                    <a:pt x="737" y="389"/>
                  </a:lnTo>
                  <a:lnTo>
                    <a:pt x="741" y="387"/>
                  </a:lnTo>
                  <a:lnTo>
                    <a:pt x="745" y="385"/>
                  </a:lnTo>
                  <a:lnTo>
                    <a:pt x="747" y="383"/>
                  </a:lnTo>
                  <a:lnTo>
                    <a:pt x="747" y="379"/>
                  </a:lnTo>
                  <a:lnTo>
                    <a:pt x="747" y="379"/>
                  </a:lnTo>
                  <a:lnTo>
                    <a:pt x="747" y="379"/>
                  </a:lnTo>
                  <a:lnTo>
                    <a:pt x="747" y="373"/>
                  </a:lnTo>
                  <a:lnTo>
                    <a:pt x="745" y="371"/>
                  </a:lnTo>
                  <a:lnTo>
                    <a:pt x="741" y="369"/>
                  </a:lnTo>
                  <a:lnTo>
                    <a:pt x="737" y="367"/>
                  </a:lnTo>
                  <a:lnTo>
                    <a:pt x="673" y="367"/>
                  </a:lnTo>
                  <a:lnTo>
                    <a:pt x="673" y="367"/>
                  </a:lnTo>
                  <a:close/>
                  <a:moveTo>
                    <a:pt x="559" y="367"/>
                  </a:moveTo>
                  <a:lnTo>
                    <a:pt x="559" y="367"/>
                  </a:lnTo>
                  <a:lnTo>
                    <a:pt x="555" y="369"/>
                  </a:lnTo>
                  <a:lnTo>
                    <a:pt x="553" y="371"/>
                  </a:lnTo>
                  <a:lnTo>
                    <a:pt x="549" y="373"/>
                  </a:lnTo>
                  <a:lnTo>
                    <a:pt x="549" y="379"/>
                  </a:lnTo>
                  <a:lnTo>
                    <a:pt x="549" y="379"/>
                  </a:lnTo>
                  <a:lnTo>
                    <a:pt x="549" y="379"/>
                  </a:lnTo>
                  <a:lnTo>
                    <a:pt x="549" y="383"/>
                  </a:lnTo>
                  <a:lnTo>
                    <a:pt x="553" y="385"/>
                  </a:lnTo>
                  <a:lnTo>
                    <a:pt x="555" y="387"/>
                  </a:lnTo>
                  <a:lnTo>
                    <a:pt x="559" y="389"/>
                  </a:lnTo>
                  <a:lnTo>
                    <a:pt x="622" y="389"/>
                  </a:lnTo>
                  <a:lnTo>
                    <a:pt x="622" y="389"/>
                  </a:lnTo>
                  <a:lnTo>
                    <a:pt x="626" y="387"/>
                  </a:lnTo>
                  <a:lnTo>
                    <a:pt x="630" y="385"/>
                  </a:lnTo>
                  <a:lnTo>
                    <a:pt x="633" y="383"/>
                  </a:lnTo>
                  <a:lnTo>
                    <a:pt x="633" y="379"/>
                  </a:lnTo>
                  <a:lnTo>
                    <a:pt x="633" y="379"/>
                  </a:lnTo>
                  <a:lnTo>
                    <a:pt x="633" y="379"/>
                  </a:lnTo>
                  <a:lnTo>
                    <a:pt x="633" y="373"/>
                  </a:lnTo>
                  <a:lnTo>
                    <a:pt x="630" y="371"/>
                  </a:lnTo>
                  <a:lnTo>
                    <a:pt x="626" y="369"/>
                  </a:lnTo>
                  <a:lnTo>
                    <a:pt x="622" y="367"/>
                  </a:lnTo>
                  <a:lnTo>
                    <a:pt x="559" y="367"/>
                  </a:lnTo>
                  <a:lnTo>
                    <a:pt x="559" y="367"/>
                  </a:lnTo>
                  <a:close/>
                  <a:moveTo>
                    <a:pt x="448" y="367"/>
                  </a:moveTo>
                  <a:lnTo>
                    <a:pt x="448" y="367"/>
                  </a:lnTo>
                  <a:lnTo>
                    <a:pt x="444" y="369"/>
                  </a:lnTo>
                  <a:lnTo>
                    <a:pt x="440" y="371"/>
                  </a:lnTo>
                  <a:lnTo>
                    <a:pt x="438" y="373"/>
                  </a:lnTo>
                  <a:lnTo>
                    <a:pt x="438" y="379"/>
                  </a:lnTo>
                  <a:lnTo>
                    <a:pt x="438" y="379"/>
                  </a:lnTo>
                  <a:lnTo>
                    <a:pt x="438" y="379"/>
                  </a:lnTo>
                  <a:lnTo>
                    <a:pt x="438" y="383"/>
                  </a:lnTo>
                  <a:lnTo>
                    <a:pt x="440" y="385"/>
                  </a:lnTo>
                  <a:lnTo>
                    <a:pt x="444" y="387"/>
                  </a:lnTo>
                  <a:lnTo>
                    <a:pt x="448" y="389"/>
                  </a:lnTo>
                  <a:lnTo>
                    <a:pt x="512" y="389"/>
                  </a:lnTo>
                  <a:lnTo>
                    <a:pt x="512" y="389"/>
                  </a:lnTo>
                  <a:lnTo>
                    <a:pt x="516" y="387"/>
                  </a:lnTo>
                  <a:lnTo>
                    <a:pt x="518" y="385"/>
                  </a:lnTo>
                  <a:lnTo>
                    <a:pt x="522" y="383"/>
                  </a:lnTo>
                  <a:lnTo>
                    <a:pt x="522" y="379"/>
                  </a:lnTo>
                  <a:lnTo>
                    <a:pt x="522" y="379"/>
                  </a:lnTo>
                  <a:lnTo>
                    <a:pt x="522" y="379"/>
                  </a:lnTo>
                  <a:lnTo>
                    <a:pt x="522" y="373"/>
                  </a:lnTo>
                  <a:lnTo>
                    <a:pt x="518" y="371"/>
                  </a:lnTo>
                  <a:lnTo>
                    <a:pt x="516" y="369"/>
                  </a:lnTo>
                  <a:lnTo>
                    <a:pt x="512" y="367"/>
                  </a:lnTo>
                  <a:lnTo>
                    <a:pt x="448" y="367"/>
                  </a:lnTo>
                  <a:lnTo>
                    <a:pt x="448" y="367"/>
                  </a:lnTo>
                  <a:close/>
                  <a:moveTo>
                    <a:pt x="334" y="367"/>
                  </a:moveTo>
                  <a:lnTo>
                    <a:pt x="334" y="367"/>
                  </a:lnTo>
                  <a:lnTo>
                    <a:pt x="329" y="369"/>
                  </a:lnTo>
                  <a:lnTo>
                    <a:pt x="325" y="371"/>
                  </a:lnTo>
                  <a:lnTo>
                    <a:pt x="323" y="373"/>
                  </a:lnTo>
                  <a:lnTo>
                    <a:pt x="323" y="379"/>
                  </a:lnTo>
                  <a:lnTo>
                    <a:pt x="323" y="379"/>
                  </a:lnTo>
                  <a:lnTo>
                    <a:pt x="323" y="379"/>
                  </a:lnTo>
                  <a:lnTo>
                    <a:pt x="323" y="383"/>
                  </a:lnTo>
                  <a:lnTo>
                    <a:pt x="325" y="385"/>
                  </a:lnTo>
                  <a:lnTo>
                    <a:pt x="329" y="387"/>
                  </a:lnTo>
                  <a:lnTo>
                    <a:pt x="334" y="389"/>
                  </a:lnTo>
                  <a:lnTo>
                    <a:pt x="397" y="389"/>
                  </a:lnTo>
                  <a:lnTo>
                    <a:pt x="397" y="389"/>
                  </a:lnTo>
                  <a:lnTo>
                    <a:pt x="401" y="387"/>
                  </a:lnTo>
                  <a:lnTo>
                    <a:pt x="403" y="385"/>
                  </a:lnTo>
                  <a:lnTo>
                    <a:pt x="405" y="383"/>
                  </a:lnTo>
                  <a:lnTo>
                    <a:pt x="407" y="379"/>
                  </a:lnTo>
                  <a:lnTo>
                    <a:pt x="407" y="379"/>
                  </a:lnTo>
                  <a:lnTo>
                    <a:pt x="407" y="379"/>
                  </a:lnTo>
                  <a:lnTo>
                    <a:pt x="405" y="373"/>
                  </a:lnTo>
                  <a:lnTo>
                    <a:pt x="403" y="371"/>
                  </a:lnTo>
                  <a:lnTo>
                    <a:pt x="401" y="369"/>
                  </a:lnTo>
                  <a:lnTo>
                    <a:pt x="397" y="367"/>
                  </a:lnTo>
                  <a:lnTo>
                    <a:pt x="334" y="367"/>
                  </a:lnTo>
                  <a:lnTo>
                    <a:pt x="334" y="367"/>
                  </a:lnTo>
                  <a:close/>
                  <a:moveTo>
                    <a:pt x="211" y="367"/>
                  </a:moveTo>
                  <a:lnTo>
                    <a:pt x="211" y="367"/>
                  </a:lnTo>
                  <a:lnTo>
                    <a:pt x="207" y="369"/>
                  </a:lnTo>
                  <a:lnTo>
                    <a:pt x="203" y="371"/>
                  </a:lnTo>
                  <a:lnTo>
                    <a:pt x="200" y="373"/>
                  </a:lnTo>
                  <a:lnTo>
                    <a:pt x="200" y="379"/>
                  </a:lnTo>
                  <a:lnTo>
                    <a:pt x="200" y="379"/>
                  </a:lnTo>
                  <a:lnTo>
                    <a:pt x="200" y="379"/>
                  </a:lnTo>
                  <a:lnTo>
                    <a:pt x="200" y="383"/>
                  </a:lnTo>
                  <a:lnTo>
                    <a:pt x="203" y="385"/>
                  </a:lnTo>
                  <a:lnTo>
                    <a:pt x="207" y="387"/>
                  </a:lnTo>
                  <a:lnTo>
                    <a:pt x="211" y="389"/>
                  </a:lnTo>
                  <a:lnTo>
                    <a:pt x="274" y="389"/>
                  </a:lnTo>
                  <a:lnTo>
                    <a:pt x="274" y="389"/>
                  </a:lnTo>
                  <a:lnTo>
                    <a:pt x="278" y="387"/>
                  </a:lnTo>
                  <a:lnTo>
                    <a:pt x="280" y="385"/>
                  </a:lnTo>
                  <a:lnTo>
                    <a:pt x="284" y="383"/>
                  </a:lnTo>
                  <a:lnTo>
                    <a:pt x="284" y="379"/>
                  </a:lnTo>
                  <a:lnTo>
                    <a:pt x="284" y="379"/>
                  </a:lnTo>
                  <a:lnTo>
                    <a:pt x="284" y="379"/>
                  </a:lnTo>
                  <a:lnTo>
                    <a:pt x="284" y="373"/>
                  </a:lnTo>
                  <a:lnTo>
                    <a:pt x="280" y="371"/>
                  </a:lnTo>
                  <a:lnTo>
                    <a:pt x="278" y="369"/>
                  </a:lnTo>
                  <a:lnTo>
                    <a:pt x="274" y="367"/>
                  </a:lnTo>
                  <a:lnTo>
                    <a:pt x="211" y="367"/>
                  </a:lnTo>
                  <a:lnTo>
                    <a:pt x="211" y="367"/>
                  </a:lnTo>
                  <a:close/>
                  <a:moveTo>
                    <a:pt x="78" y="418"/>
                  </a:moveTo>
                  <a:lnTo>
                    <a:pt x="78" y="418"/>
                  </a:lnTo>
                  <a:lnTo>
                    <a:pt x="78" y="414"/>
                  </a:lnTo>
                  <a:lnTo>
                    <a:pt x="74" y="412"/>
                  </a:lnTo>
                  <a:lnTo>
                    <a:pt x="71" y="408"/>
                  </a:lnTo>
                  <a:lnTo>
                    <a:pt x="67" y="408"/>
                  </a:lnTo>
                  <a:lnTo>
                    <a:pt x="67" y="408"/>
                  </a:lnTo>
                  <a:lnTo>
                    <a:pt x="67" y="408"/>
                  </a:lnTo>
                  <a:lnTo>
                    <a:pt x="63" y="408"/>
                  </a:lnTo>
                  <a:lnTo>
                    <a:pt x="59" y="412"/>
                  </a:lnTo>
                  <a:lnTo>
                    <a:pt x="57" y="414"/>
                  </a:lnTo>
                  <a:lnTo>
                    <a:pt x="55" y="418"/>
                  </a:lnTo>
                  <a:lnTo>
                    <a:pt x="55" y="481"/>
                  </a:lnTo>
                  <a:lnTo>
                    <a:pt x="55" y="481"/>
                  </a:lnTo>
                  <a:lnTo>
                    <a:pt x="57" y="485"/>
                  </a:lnTo>
                  <a:lnTo>
                    <a:pt x="59" y="490"/>
                  </a:lnTo>
                  <a:lnTo>
                    <a:pt x="63" y="492"/>
                  </a:lnTo>
                  <a:lnTo>
                    <a:pt x="67" y="492"/>
                  </a:lnTo>
                  <a:lnTo>
                    <a:pt x="67" y="492"/>
                  </a:lnTo>
                  <a:lnTo>
                    <a:pt x="67" y="492"/>
                  </a:lnTo>
                  <a:lnTo>
                    <a:pt x="71" y="492"/>
                  </a:lnTo>
                  <a:lnTo>
                    <a:pt x="74" y="490"/>
                  </a:lnTo>
                  <a:lnTo>
                    <a:pt x="78" y="485"/>
                  </a:lnTo>
                  <a:lnTo>
                    <a:pt x="78" y="481"/>
                  </a:lnTo>
                  <a:lnTo>
                    <a:pt x="78" y="418"/>
                  </a:lnTo>
                  <a:lnTo>
                    <a:pt x="78" y="418"/>
                  </a:lnTo>
                  <a:close/>
                  <a:moveTo>
                    <a:pt x="67" y="870"/>
                  </a:moveTo>
                  <a:lnTo>
                    <a:pt x="67" y="870"/>
                  </a:lnTo>
                  <a:lnTo>
                    <a:pt x="67" y="870"/>
                  </a:lnTo>
                  <a:lnTo>
                    <a:pt x="67" y="870"/>
                  </a:lnTo>
                  <a:lnTo>
                    <a:pt x="67" y="870"/>
                  </a:lnTo>
                  <a:close/>
                  <a:moveTo>
                    <a:pt x="78" y="770"/>
                  </a:moveTo>
                  <a:lnTo>
                    <a:pt x="78" y="770"/>
                  </a:lnTo>
                  <a:lnTo>
                    <a:pt x="78" y="766"/>
                  </a:lnTo>
                  <a:lnTo>
                    <a:pt x="74" y="764"/>
                  </a:lnTo>
                  <a:lnTo>
                    <a:pt x="71" y="762"/>
                  </a:lnTo>
                  <a:lnTo>
                    <a:pt x="67" y="760"/>
                  </a:lnTo>
                  <a:lnTo>
                    <a:pt x="67" y="760"/>
                  </a:lnTo>
                  <a:lnTo>
                    <a:pt x="67" y="760"/>
                  </a:lnTo>
                  <a:lnTo>
                    <a:pt x="63" y="762"/>
                  </a:lnTo>
                  <a:lnTo>
                    <a:pt x="59" y="764"/>
                  </a:lnTo>
                  <a:lnTo>
                    <a:pt x="57" y="766"/>
                  </a:lnTo>
                  <a:lnTo>
                    <a:pt x="55" y="770"/>
                  </a:lnTo>
                  <a:lnTo>
                    <a:pt x="55" y="833"/>
                  </a:lnTo>
                  <a:lnTo>
                    <a:pt x="55" y="833"/>
                  </a:lnTo>
                  <a:lnTo>
                    <a:pt x="57" y="838"/>
                  </a:lnTo>
                  <a:lnTo>
                    <a:pt x="59" y="842"/>
                  </a:lnTo>
                  <a:lnTo>
                    <a:pt x="63" y="844"/>
                  </a:lnTo>
                  <a:lnTo>
                    <a:pt x="67" y="844"/>
                  </a:lnTo>
                  <a:lnTo>
                    <a:pt x="67" y="844"/>
                  </a:lnTo>
                  <a:lnTo>
                    <a:pt x="67" y="844"/>
                  </a:lnTo>
                  <a:lnTo>
                    <a:pt x="71" y="844"/>
                  </a:lnTo>
                  <a:lnTo>
                    <a:pt x="74" y="842"/>
                  </a:lnTo>
                  <a:lnTo>
                    <a:pt x="78" y="838"/>
                  </a:lnTo>
                  <a:lnTo>
                    <a:pt x="78" y="833"/>
                  </a:lnTo>
                  <a:lnTo>
                    <a:pt x="78" y="770"/>
                  </a:lnTo>
                  <a:lnTo>
                    <a:pt x="78" y="770"/>
                  </a:lnTo>
                  <a:close/>
                  <a:moveTo>
                    <a:pt x="78" y="655"/>
                  </a:moveTo>
                  <a:lnTo>
                    <a:pt x="78" y="655"/>
                  </a:lnTo>
                  <a:lnTo>
                    <a:pt x="78" y="651"/>
                  </a:lnTo>
                  <a:lnTo>
                    <a:pt x="74" y="649"/>
                  </a:lnTo>
                  <a:lnTo>
                    <a:pt x="71" y="645"/>
                  </a:lnTo>
                  <a:lnTo>
                    <a:pt x="67" y="645"/>
                  </a:lnTo>
                  <a:lnTo>
                    <a:pt x="67" y="645"/>
                  </a:lnTo>
                  <a:lnTo>
                    <a:pt x="67" y="645"/>
                  </a:lnTo>
                  <a:lnTo>
                    <a:pt x="63" y="645"/>
                  </a:lnTo>
                  <a:lnTo>
                    <a:pt x="59" y="649"/>
                  </a:lnTo>
                  <a:lnTo>
                    <a:pt x="57" y="651"/>
                  </a:lnTo>
                  <a:lnTo>
                    <a:pt x="55" y="655"/>
                  </a:lnTo>
                  <a:lnTo>
                    <a:pt x="55" y="719"/>
                  </a:lnTo>
                  <a:lnTo>
                    <a:pt x="55" y="719"/>
                  </a:lnTo>
                  <a:lnTo>
                    <a:pt x="57" y="723"/>
                  </a:lnTo>
                  <a:lnTo>
                    <a:pt x="59" y="727"/>
                  </a:lnTo>
                  <a:lnTo>
                    <a:pt x="63" y="729"/>
                  </a:lnTo>
                  <a:lnTo>
                    <a:pt x="67" y="729"/>
                  </a:lnTo>
                  <a:lnTo>
                    <a:pt x="67" y="729"/>
                  </a:lnTo>
                  <a:lnTo>
                    <a:pt x="67" y="729"/>
                  </a:lnTo>
                  <a:lnTo>
                    <a:pt x="71" y="729"/>
                  </a:lnTo>
                  <a:lnTo>
                    <a:pt x="74" y="727"/>
                  </a:lnTo>
                  <a:lnTo>
                    <a:pt x="78" y="723"/>
                  </a:lnTo>
                  <a:lnTo>
                    <a:pt x="78" y="719"/>
                  </a:lnTo>
                  <a:lnTo>
                    <a:pt x="78" y="655"/>
                  </a:lnTo>
                  <a:lnTo>
                    <a:pt x="78" y="655"/>
                  </a:lnTo>
                  <a:close/>
                  <a:moveTo>
                    <a:pt x="78" y="533"/>
                  </a:moveTo>
                  <a:lnTo>
                    <a:pt x="78" y="533"/>
                  </a:lnTo>
                  <a:lnTo>
                    <a:pt x="78" y="528"/>
                  </a:lnTo>
                  <a:lnTo>
                    <a:pt x="74" y="526"/>
                  </a:lnTo>
                  <a:lnTo>
                    <a:pt x="71" y="524"/>
                  </a:lnTo>
                  <a:lnTo>
                    <a:pt x="67" y="522"/>
                  </a:lnTo>
                  <a:lnTo>
                    <a:pt x="67" y="522"/>
                  </a:lnTo>
                  <a:lnTo>
                    <a:pt x="67" y="522"/>
                  </a:lnTo>
                  <a:lnTo>
                    <a:pt x="63" y="524"/>
                  </a:lnTo>
                  <a:lnTo>
                    <a:pt x="59" y="526"/>
                  </a:lnTo>
                  <a:lnTo>
                    <a:pt x="57" y="528"/>
                  </a:lnTo>
                  <a:lnTo>
                    <a:pt x="55" y="533"/>
                  </a:lnTo>
                  <a:lnTo>
                    <a:pt x="55" y="596"/>
                  </a:lnTo>
                  <a:lnTo>
                    <a:pt x="55" y="596"/>
                  </a:lnTo>
                  <a:lnTo>
                    <a:pt x="57" y="600"/>
                  </a:lnTo>
                  <a:lnTo>
                    <a:pt x="59" y="604"/>
                  </a:lnTo>
                  <a:lnTo>
                    <a:pt x="63" y="606"/>
                  </a:lnTo>
                  <a:lnTo>
                    <a:pt x="67" y="606"/>
                  </a:lnTo>
                  <a:lnTo>
                    <a:pt x="67" y="606"/>
                  </a:lnTo>
                  <a:lnTo>
                    <a:pt x="67" y="606"/>
                  </a:lnTo>
                  <a:lnTo>
                    <a:pt x="71" y="606"/>
                  </a:lnTo>
                  <a:lnTo>
                    <a:pt x="74" y="604"/>
                  </a:lnTo>
                  <a:lnTo>
                    <a:pt x="78" y="600"/>
                  </a:lnTo>
                  <a:lnTo>
                    <a:pt x="78" y="596"/>
                  </a:lnTo>
                  <a:lnTo>
                    <a:pt x="78" y="533"/>
                  </a:lnTo>
                  <a:lnTo>
                    <a:pt x="78" y="533"/>
                  </a:lnTo>
                  <a:close/>
                  <a:moveTo>
                    <a:pt x="673" y="848"/>
                  </a:moveTo>
                  <a:lnTo>
                    <a:pt x="673" y="848"/>
                  </a:lnTo>
                  <a:lnTo>
                    <a:pt x="669" y="848"/>
                  </a:lnTo>
                  <a:lnTo>
                    <a:pt x="667" y="850"/>
                  </a:lnTo>
                  <a:lnTo>
                    <a:pt x="665" y="854"/>
                  </a:lnTo>
                  <a:lnTo>
                    <a:pt x="663" y="858"/>
                  </a:lnTo>
                  <a:lnTo>
                    <a:pt x="663" y="858"/>
                  </a:lnTo>
                  <a:lnTo>
                    <a:pt x="663" y="858"/>
                  </a:lnTo>
                  <a:lnTo>
                    <a:pt x="665" y="862"/>
                  </a:lnTo>
                  <a:lnTo>
                    <a:pt x="667" y="866"/>
                  </a:lnTo>
                  <a:lnTo>
                    <a:pt x="669" y="868"/>
                  </a:lnTo>
                  <a:lnTo>
                    <a:pt x="673" y="868"/>
                  </a:lnTo>
                  <a:lnTo>
                    <a:pt x="737" y="868"/>
                  </a:lnTo>
                  <a:lnTo>
                    <a:pt x="737" y="868"/>
                  </a:lnTo>
                  <a:lnTo>
                    <a:pt x="741" y="868"/>
                  </a:lnTo>
                  <a:lnTo>
                    <a:pt x="745" y="866"/>
                  </a:lnTo>
                  <a:lnTo>
                    <a:pt x="747" y="862"/>
                  </a:lnTo>
                  <a:lnTo>
                    <a:pt x="747" y="858"/>
                  </a:lnTo>
                  <a:lnTo>
                    <a:pt x="747" y="858"/>
                  </a:lnTo>
                  <a:lnTo>
                    <a:pt x="747" y="858"/>
                  </a:lnTo>
                  <a:lnTo>
                    <a:pt x="747" y="854"/>
                  </a:lnTo>
                  <a:lnTo>
                    <a:pt x="745" y="850"/>
                  </a:lnTo>
                  <a:lnTo>
                    <a:pt x="741" y="848"/>
                  </a:lnTo>
                  <a:lnTo>
                    <a:pt x="737" y="848"/>
                  </a:lnTo>
                  <a:lnTo>
                    <a:pt x="673" y="848"/>
                  </a:lnTo>
                  <a:lnTo>
                    <a:pt x="673" y="848"/>
                  </a:lnTo>
                  <a:close/>
                  <a:moveTo>
                    <a:pt x="559" y="848"/>
                  </a:moveTo>
                  <a:lnTo>
                    <a:pt x="559" y="848"/>
                  </a:lnTo>
                  <a:lnTo>
                    <a:pt x="555" y="848"/>
                  </a:lnTo>
                  <a:lnTo>
                    <a:pt x="553" y="850"/>
                  </a:lnTo>
                  <a:lnTo>
                    <a:pt x="549" y="854"/>
                  </a:lnTo>
                  <a:lnTo>
                    <a:pt x="549" y="858"/>
                  </a:lnTo>
                  <a:lnTo>
                    <a:pt x="549" y="858"/>
                  </a:lnTo>
                  <a:lnTo>
                    <a:pt x="549" y="858"/>
                  </a:lnTo>
                  <a:lnTo>
                    <a:pt x="549" y="862"/>
                  </a:lnTo>
                  <a:lnTo>
                    <a:pt x="553" y="866"/>
                  </a:lnTo>
                  <a:lnTo>
                    <a:pt x="555" y="868"/>
                  </a:lnTo>
                  <a:lnTo>
                    <a:pt x="559" y="868"/>
                  </a:lnTo>
                  <a:lnTo>
                    <a:pt x="622" y="868"/>
                  </a:lnTo>
                  <a:lnTo>
                    <a:pt x="622" y="868"/>
                  </a:lnTo>
                  <a:lnTo>
                    <a:pt x="626" y="868"/>
                  </a:lnTo>
                  <a:lnTo>
                    <a:pt x="630" y="866"/>
                  </a:lnTo>
                  <a:lnTo>
                    <a:pt x="633" y="862"/>
                  </a:lnTo>
                  <a:lnTo>
                    <a:pt x="633" y="858"/>
                  </a:lnTo>
                  <a:lnTo>
                    <a:pt x="633" y="858"/>
                  </a:lnTo>
                  <a:lnTo>
                    <a:pt x="633" y="858"/>
                  </a:lnTo>
                  <a:lnTo>
                    <a:pt x="633" y="854"/>
                  </a:lnTo>
                  <a:lnTo>
                    <a:pt x="630" y="850"/>
                  </a:lnTo>
                  <a:lnTo>
                    <a:pt x="626" y="848"/>
                  </a:lnTo>
                  <a:lnTo>
                    <a:pt x="622" y="848"/>
                  </a:lnTo>
                  <a:lnTo>
                    <a:pt x="559" y="848"/>
                  </a:lnTo>
                  <a:lnTo>
                    <a:pt x="559" y="848"/>
                  </a:lnTo>
                  <a:close/>
                  <a:moveTo>
                    <a:pt x="448" y="848"/>
                  </a:moveTo>
                  <a:lnTo>
                    <a:pt x="448" y="848"/>
                  </a:lnTo>
                  <a:lnTo>
                    <a:pt x="444" y="848"/>
                  </a:lnTo>
                  <a:lnTo>
                    <a:pt x="440" y="850"/>
                  </a:lnTo>
                  <a:lnTo>
                    <a:pt x="438" y="854"/>
                  </a:lnTo>
                  <a:lnTo>
                    <a:pt x="438" y="858"/>
                  </a:lnTo>
                  <a:lnTo>
                    <a:pt x="438" y="858"/>
                  </a:lnTo>
                  <a:lnTo>
                    <a:pt x="438" y="858"/>
                  </a:lnTo>
                  <a:lnTo>
                    <a:pt x="438" y="862"/>
                  </a:lnTo>
                  <a:lnTo>
                    <a:pt x="440" y="866"/>
                  </a:lnTo>
                  <a:lnTo>
                    <a:pt x="444" y="868"/>
                  </a:lnTo>
                  <a:lnTo>
                    <a:pt x="448" y="868"/>
                  </a:lnTo>
                  <a:lnTo>
                    <a:pt x="512" y="868"/>
                  </a:lnTo>
                  <a:lnTo>
                    <a:pt x="512" y="868"/>
                  </a:lnTo>
                  <a:lnTo>
                    <a:pt x="516" y="868"/>
                  </a:lnTo>
                  <a:lnTo>
                    <a:pt x="518" y="866"/>
                  </a:lnTo>
                  <a:lnTo>
                    <a:pt x="522" y="862"/>
                  </a:lnTo>
                  <a:lnTo>
                    <a:pt x="522" y="858"/>
                  </a:lnTo>
                  <a:lnTo>
                    <a:pt x="522" y="858"/>
                  </a:lnTo>
                  <a:lnTo>
                    <a:pt x="522" y="858"/>
                  </a:lnTo>
                  <a:lnTo>
                    <a:pt x="522" y="854"/>
                  </a:lnTo>
                  <a:lnTo>
                    <a:pt x="518" y="850"/>
                  </a:lnTo>
                  <a:lnTo>
                    <a:pt x="516" y="848"/>
                  </a:lnTo>
                  <a:lnTo>
                    <a:pt x="512" y="848"/>
                  </a:lnTo>
                  <a:lnTo>
                    <a:pt x="448" y="848"/>
                  </a:lnTo>
                  <a:lnTo>
                    <a:pt x="448" y="848"/>
                  </a:lnTo>
                  <a:close/>
                  <a:moveTo>
                    <a:pt x="334" y="848"/>
                  </a:moveTo>
                  <a:lnTo>
                    <a:pt x="334" y="848"/>
                  </a:lnTo>
                  <a:lnTo>
                    <a:pt x="329" y="848"/>
                  </a:lnTo>
                  <a:lnTo>
                    <a:pt x="325" y="850"/>
                  </a:lnTo>
                  <a:lnTo>
                    <a:pt x="323" y="854"/>
                  </a:lnTo>
                  <a:lnTo>
                    <a:pt x="323" y="858"/>
                  </a:lnTo>
                  <a:lnTo>
                    <a:pt x="323" y="858"/>
                  </a:lnTo>
                  <a:lnTo>
                    <a:pt x="323" y="858"/>
                  </a:lnTo>
                  <a:lnTo>
                    <a:pt x="323" y="862"/>
                  </a:lnTo>
                  <a:lnTo>
                    <a:pt x="325" y="866"/>
                  </a:lnTo>
                  <a:lnTo>
                    <a:pt x="329" y="868"/>
                  </a:lnTo>
                  <a:lnTo>
                    <a:pt x="334" y="868"/>
                  </a:lnTo>
                  <a:lnTo>
                    <a:pt x="397" y="868"/>
                  </a:lnTo>
                  <a:lnTo>
                    <a:pt x="397" y="868"/>
                  </a:lnTo>
                  <a:lnTo>
                    <a:pt x="401" y="868"/>
                  </a:lnTo>
                  <a:lnTo>
                    <a:pt x="403" y="866"/>
                  </a:lnTo>
                  <a:lnTo>
                    <a:pt x="405" y="862"/>
                  </a:lnTo>
                  <a:lnTo>
                    <a:pt x="407" y="858"/>
                  </a:lnTo>
                  <a:lnTo>
                    <a:pt x="407" y="858"/>
                  </a:lnTo>
                  <a:lnTo>
                    <a:pt x="407" y="858"/>
                  </a:lnTo>
                  <a:lnTo>
                    <a:pt x="405" y="854"/>
                  </a:lnTo>
                  <a:lnTo>
                    <a:pt x="403" y="850"/>
                  </a:lnTo>
                  <a:lnTo>
                    <a:pt x="401" y="848"/>
                  </a:lnTo>
                  <a:lnTo>
                    <a:pt x="397" y="848"/>
                  </a:lnTo>
                  <a:lnTo>
                    <a:pt x="334" y="848"/>
                  </a:lnTo>
                  <a:lnTo>
                    <a:pt x="334" y="848"/>
                  </a:lnTo>
                  <a:close/>
                  <a:moveTo>
                    <a:pt x="211" y="848"/>
                  </a:moveTo>
                  <a:lnTo>
                    <a:pt x="211" y="848"/>
                  </a:lnTo>
                  <a:lnTo>
                    <a:pt x="207" y="848"/>
                  </a:lnTo>
                  <a:lnTo>
                    <a:pt x="203" y="850"/>
                  </a:lnTo>
                  <a:lnTo>
                    <a:pt x="200" y="854"/>
                  </a:lnTo>
                  <a:lnTo>
                    <a:pt x="200" y="858"/>
                  </a:lnTo>
                  <a:lnTo>
                    <a:pt x="200" y="858"/>
                  </a:lnTo>
                  <a:lnTo>
                    <a:pt x="200" y="858"/>
                  </a:lnTo>
                  <a:lnTo>
                    <a:pt x="200" y="862"/>
                  </a:lnTo>
                  <a:lnTo>
                    <a:pt x="203" y="866"/>
                  </a:lnTo>
                  <a:lnTo>
                    <a:pt x="207" y="868"/>
                  </a:lnTo>
                  <a:lnTo>
                    <a:pt x="211" y="868"/>
                  </a:lnTo>
                  <a:lnTo>
                    <a:pt x="274" y="868"/>
                  </a:lnTo>
                  <a:lnTo>
                    <a:pt x="274" y="868"/>
                  </a:lnTo>
                  <a:lnTo>
                    <a:pt x="278" y="868"/>
                  </a:lnTo>
                  <a:lnTo>
                    <a:pt x="280" y="866"/>
                  </a:lnTo>
                  <a:lnTo>
                    <a:pt x="284" y="862"/>
                  </a:lnTo>
                  <a:lnTo>
                    <a:pt x="284" y="858"/>
                  </a:lnTo>
                  <a:lnTo>
                    <a:pt x="284" y="858"/>
                  </a:lnTo>
                  <a:lnTo>
                    <a:pt x="284" y="858"/>
                  </a:lnTo>
                  <a:lnTo>
                    <a:pt x="284" y="854"/>
                  </a:lnTo>
                  <a:lnTo>
                    <a:pt x="280" y="850"/>
                  </a:lnTo>
                  <a:lnTo>
                    <a:pt x="278" y="848"/>
                  </a:lnTo>
                  <a:lnTo>
                    <a:pt x="274" y="848"/>
                  </a:lnTo>
                  <a:lnTo>
                    <a:pt x="211" y="848"/>
                  </a:lnTo>
                  <a:lnTo>
                    <a:pt x="211" y="848"/>
                  </a:lnTo>
                  <a:close/>
                  <a:moveTo>
                    <a:pt x="98" y="275"/>
                  </a:moveTo>
                  <a:lnTo>
                    <a:pt x="221" y="277"/>
                  </a:lnTo>
                  <a:lnTo>
                    <a:pt x="727" y="70"/>
                  </a:lnTo>
                  <a:lnTo>
                    <a:pt x="872" y="397"/>
                  </a:lnTo>
                  <a:lnTo>
                    <a:pt x="833" y="418"/>
                  </a:lnTo>
                  <a:lnTo>
                    <a:pt x="835" y="479"/>
                  </a:lnTo>
                  <a:lnTo>
                    <a:pt x="942" y="420"/>
                  </a:lnTo>
                  <a:lnTo>
                    <a:pt x="766" y="25"/>
                  </a:lnTo>
                  <a:lnTo>
                    <a:pt x="755" y="0"/>
                  </a:lnTo>
                  <a:lnTo>
                    <a:pt x="731" y="11"/>
                  </a:lnTo>
                  <a:lnTo>
                    <a:pt x="98" y="275"/>
                  </a:lnTo>
                  <a:lnTo>
                    <a:pt x="98" y="275"/>
                  </a:lnTo>
                  <a:close/>
                  <a:moveTo>
                    <a:pt x="833" y="504"/>
                  </a:moveTo>
                  <a:lnTo>
                    <a:pt x="809" y="504"/>
                  </a:lnTo>
                  <a:lnTo>
                    <a:pt x="491" y="504"/>
                  </a:lnTo>
                  <a:lnTo>
                    <a:pt x="491" y="504"/>
                  </a:lnTo>
                  <a:lnTo>
                    <a:pt x="481" y="506"/>
                  </a:lnTo>
                  <a:lnTo>
                    <a:pt x="473" y="508"/>
                  </a:lnTo>
                  <a:lnTo>
                    <a:pt x="465" y="512"/>
                  </a:lnTo>
                  <a:lnTo>
                    <a:pt x="458" y="518"/>
                  </a:lnTo>
                  <a:lnTo>
                    <a:pt x="458" y="518"/>
                  </a:lnTo>
                  <a:lnTo>
                    <a:pt x="452" y="524"/>
                  </a:lnTo>
                  <a:lnTo>
                    <a:pt x="448" y="533"/>
                  </a:lnTo>
                  <a:lnTo>
                    <a:pt x="446" y="541"/>
                  </a:lnTo>
                  <a:lnTo>
                    <a:pt x="444" y="551"/>
                  </a:lnTo>
                  <a:lnTo>
                    <a:pt x="444" y="639"/>
                  </a:lnTo>
                  <a:lnTo>
                    <a:pt x="444" y="639"/>
                  </a:lnTo>
                  <a:lnTo>
                    <a:pt x="446" y="649"/>
                  </a:lnTo>
                  <a:lnTo>
                    <a:pt x="448" y="657"/>
                  </a:lnTo>
                  <a:lnTo>
                    <a:pt x="452" y="666"/>
                  </a:lnTo>
                  <a:lnTo>
                    <a:pt x="458" y="672"/>
                  </a:lnTo>
                  <a:lnTo>
                    <a:pt x="458" y="672"/>
                  </a:lnTo>
                  <a:lnTo>
                    <a:pt x="465" y="678"/>
                  </a:lnTo>
                  <a:lnTo>
                    <a:pt x="473" y="682"/>
                  </a:lnTo>
                  <a:lnTo>
                    <a:pt x="481" y="684"/>
                  </a:lnTo>
                  <a:lnTo>
                    <a:pt x="491" y="686"/>
                  </a:lnTo>
                  <a:lnTo>
                    <a:pt x="809" y="686"/>
                  </a:lnTo>
                  <a:lnTo>
                    <a:pt x="833" y="686"/>
                  </a:lnTo>
                  <a:lnTo>
                    <a:pt x="833" y="504"/>
                  </a:lnTo>
                  <a:close/>
                </a:path>
              </a:pathLst>
            </a:custGeom>
            <a:solidFill>
              <a:srgbClr val="0A4776"/>
            </a:solidFill>
            <a:ln>
              <a:noFill/>
            </a:ln>
          </p:spPr>
          <p:txBody>
            <a:bodyPr vert="horz" wrap="square" lIns="91440" tIns="45720" rIns="91440" bIns="45720" numCol="1" anchor="t" anchorCtr="0" compatLnSpc="1"/>
            <a:lstStyle/>
            <a:p>
              <a:endParaRPr lang="zh-CN" altLang="en-US"/>
            </a:p>
          </p:txBody>
        </p:sp>
      </p:grpSp>
      <p:grpSp>
        <p:nvGrpSpPr>
          <p:cNvPr id="6" name="组合 5"/>
          <p:cNvGrpSpPr/>
          <p:nvPr/>
        </p:nvGrpSpPr>
        <p:grpSpPr>
          <a:xfrm>
            <a:off x="282374" y="4751512"/>
            <a:ext cx="468000" cy="468000"/>
            <a:chOff x="3588155" y="3103530"/>
            <a:chExt cx="468000" cy="468000"/>
          </a:xfrm>
        </p:grpSpPr>
        <p:sp>
          <p:nvSpPr>
            <p:cNvPr id="27" name="PA_椭圆 26"/>
            <p:cNvSpPr/>
            <p:nvPr>
              <p:custDataLst>
                <p:tags r:id="rId15"/>
              </p:custDataLst>
            </p:nvPr>
          </p:nvSpPr>
          <p:spPr>
            <a:xfrm>
              <a:off x="3588155" y="3103530"/>
              <a:ext cx="468000" cy="468000"/>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bg1"/>
                </a:solidFill>
                <a:effectLst>
                  <a:outerShdw blurRad="38100" dist="38100" dir="2700000" algn="tl">
                    <a:srgbClr val="000000">
                      <a:alpha val="43137"/>
                    </a:srgbClr>
                  </a:outerShdw>
                </a:effectLst>
              </a:endParaRPr>
            </a:p>
          </p:txBody>
        </p:sp>
        <p:grpSp>
          <p:nvGrpSpPr>
            <p:cNvPr id="55" name="PA_组合 54"/>
            <p:cNvGrpSpPr/>
            <p:nvPr>
              <p:custDataLst>
                <p:tags r:id="rId16"/>
              </p:custDataLst>
            </p:nvPr>
          </p:nvGrpSpPr>
          <p:grpSpPr>
            <a:xfrm>
              <a:off x="3692599" y="3249643"/>
              <a:ext cx="259113" cy="175774"/>
              <a:chOff x="5195888" y="3033713"/>
              <a:chExt cx="1673225" cy="1135063"/>
            </a:xfrm>
            <a:solidFill>
              <a:srgbClr val="0A4776"/>
            </a:solidFill>
          </p:grpSpPr>
          <p:sp>
            <p:nvSpPr>
              <p:cNvPr id="56" name="Freeform 11"/>
              <p:cNvSpPr>
                <a:spLocks noEditPoints="1"/>
              </p:cNvSpPr>
              <p:nvPr/>
            </p:nvSpPr>
            <p:spPr bwMode="auto">
              <a:xfrm>
                <a:off x="5195888" y="3033713"/>
                <a:ext cx="965200" cy="1135063"/>
              </a:xfrm>
              <a:custGeom>
                <a:avLst/>
                <a:gdLst>
                  <a:gd name="T0" fmla="*/ 254 w 608"/>
                  <a:gd name="T1" fmla="*/ 72 h 715"/>
                  <a:gd name="T2" fmla="*/ 278 w 608"/>
                  <a:gd name="T3" fmla="*/ 39 h 715"/>
                  <a:gd name="T4" fmla="*/ 331 w 608"/>
                  <a:gd name="T5" fmla="*/ 7 h 715"/>
                  <a:gd name="T6" fmla="*/ 370 w 608"/>
                  <a:gd name="T7" fmla="*/ 0 h 715"/>
                  <a:gd name="T8" fmla="*/ 422 w 608"/>
                  <a:gd name="T9" fmla="*/ 11 h 715"/>
                  <a:gd name="T10" fmla="*/ 465 w 608"/>
                  <a:gd name="T11" fmla="*/ 39 h 715"/>
                  <a:gd name="T12" fmla="*/ 493 w 608"/>
                  <a:gd name="T13" fmla="*/ 82 h 715"/>
                  <a:gd name="T14" fmla="*/ 503 w 608"/>
                  <a:gd name="T15" fmla="*/ 134 h 715"/>
                  <a:gd name="T16" fmla="*/ 489 w 608"/>
                  <a:gd name="T17" fmla="*/ 191 h 715"/>
                  <a:gd name="T18" fmla="*/ 608 w 608"/>
                  <a:gd name="T19" fmla="*/ 348 h 715"/>
                  <a:gd name="T20" fmla="*/ 487 w 608"/>
                  <a:gd name="T21" fmla="*/ 394 h 715"/>
                  <a:gd name="T22" fmla="*/ 497 w 608"/>
                  <a:gd name="T23" fmla="*/ 467 h 715"/>
                  <a:gd name="T24" fmla="*/ 479 w 608"/>
                  <a:gd name="T25" fmla="*/ 563 h 715"/>
                  <a:gd name="T26" fmla="*/ 426 w 608"/>
                  <a:gd name="T27" fmla="*/ 643 h 715"/>
                  <a:gd name="T28" fmla="*/ 368 w 608"/>
                  <a:gd name="T29" fmla="*/ 686 h 715"/>
                  <a:gd name="T30" fmla="*/ 274 w 608"/>
                  <a:gd name="T31" fmla="*/ 715 h 715"/>
                  <a:gd name="T32" fmla="*/ 198 w 608"/>
                  <a:gd name="T33" fmla="*/ 711 h 715"/>
                  <a:gd name="T34" fmla="*/ 110 w 608"/>
                  <a:gd name="T35" fmla="*/ 674 h 715"/>
                  <a:gd name="T36" fmla="*/ 57 w 608"/>
                  <a:gd name="T37" fmla="*/ 625 h 715"/>
                  <a:gd name="T38" fmla="*/ 12 w 608"/>
                  <a:gd name="T39" fmla="*/ 541 h 715"/>
                  <a:gd name="T40" fmla="*/ 0 w 608"/>
                  <a:gd name="T41" fmla="*/ 467 h 715"/>
                  <a:gd name="T42" fmla="*/ 20 w 608"/>
                  <a:gd name="T43" fmla="*/ 371 h 715"/>
                  <a:gd name="T44" fmla="*/ 73 w 608"/>
                  <a:gd name="T45" fmla="*/ 291 h 715"/>
                  <a:gd name="T46" fmla="*/ 241 w 608"/>
                  <a:gd name="T47" fmla="*/ 111 h 715"/>
                  <a:gd name="T48" fmla="*/ 141 w 608"/>
                  <a:gd name="T49" fmla="*/ 443 h 715"/>
                  <a:gd name="T50" fmla="*/ 225 w 608"/>
                  <a:gd name="T51" fmla="*/ 383 h 715"/>
                  <a:gd name="T52" fmla="*/ 309 w 608"/>
                  <a:gd name="T53" fmla="*/ 348 h 715"/>
                  <a:gd name="T54" fmla="*/ 202 w 608"/>
                  <a:gd name="T55" fmla="*/ 357 h 715"/>
                  <a:gd name="T56" fmla="*/ 153 w 608"/>
                  <a:gd name="T57" fmla="*/ 385 h 715"/>
                  <a:gd name="T58" fmla="*/ 127 w 608"/>
                  <a:gd name="T59" fmla="*/ 441 h 715"/>
                  <a:gd name="T60" fmla="*/ 362 w 608"/>
                  <a:gd name="T61" fmla="*/ 353 h 715"/>
                  <a:gd name="T62" fmla="*/ 311 w 608"/>
                  <a:gd name="T63" fmla="*/ 320 h 715"/>
                  <a:gd name="T64" fmla="*/ 250 w 608"/>
                  <a:gd name="T65" fmla="*/ 305 h 715"/>
                  <a:gd name="T66" fmla="*/ 200 w 608"/>
                  <a:gd name="T67" fmla="*/ 314 h 715"/>
                  <a:gd name="T68" fmla="*/ 147 w 608"/>
                  <a:gd name="T69" fmla="*/ 342 h 715"/>
                  <a:gd name="T70" fmla="*/ 116 w 608"/>
                  <a:gd name="T71" fmla="*/ 377 h 715"/>
                  <a:gd name="T72" fmla="*/ 92 w 608"/>
                  <a:gd name="T73" fmla="*/ 434 h 715"/>
                  <a:gd name="T74" fmla="*/ 90 w 608"/>
                  <a:gd name="T75" fmla="*/ 484 h 715"/>
                  <a:gd name="T76" fmla="*/ 108 w 608"/>
                  <a:gd name="T77" fmla="*/ 543 h 715"/>
                  <a:gd name="T78" fmla="*/ 135 w 608"/>
                  <a:gd name="T79" fmla="*/ 582 h 715"/>
                  <a:gd name="T80" fmla="*/ 186 w 608"/>
                  <a:gd name="T81" fmla="*/ 615 h 715"/>
                  <a:gd name="T82" fmla="*/ 250 w 608"/>
                  <a:gd name="T83" fmla="*/ 629 h 715"/>
                  <a:gd name="T84" fmla="*/ 297 w 608"/>
                  <a:gd name="T85" fmla="*/ 621 h 715"/>
                  <a:gd name="T86" fmla="*/ 352 w 608"/>
                  <a:gd name="T87" fmla="*/ 592 h 715"/>
                  <a:gd name="T88" fmla="*/ 383 w 608"/>
                  <a:gd name="T89" fmla="*/ 557 h 715"/>
                  <a:gd name="T90" fmla="*/ 407 w 608"/>
                  <a:gd name="T91" fmla="*/ 500 h 715"/>
                  <a:gd name="T92" fmla="*/ 409 w 608"/>
                  <a:gd name="T93" fmla="*/ 451 h 715"/>
                  <a:gd name="T94" fmla="*/ 391 w 608"/>
                  <a:gd name="T95" fmla="*/ 391 h 715"/>
                  <a:gd name="T96" fmla="*/ 362 w 608"/>
                  <a:gd name="T97" fmla="*/ 353 h 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08" h="715">
                    <a:moveTo>
                      <a:pt x="241" y="111"/>
                    </a:moveTo>
                    <a:lnTo>
                      <a:pt x="241" y="111"/>
                    </a:lnTo>
                    <a:lnTo>
                      <a:pt x="245" y="91"/>
                    </a:lnTo>
                    <a:lnTo>
                      <a:pt x="254" y="72"/>
                    </a:lnTo>
                    <a:lnTo>
                      <a:pt x="264" y="56"/>
                    </a:lnTo>
                    <a:lnTo>
                      <a:pt x="278" y="39"/>
                    </a:lnTo>
                    <a:lnTo>
                      <a:pt x="278" y="39"/>
                    </a:lnTo>
                    <a:lnTo>
                      <a:pt x="278" y="39"/>
                    </a:lnTo>
                    <a:lnTo>
                      <a:pt x="297" y="23"/>
                    </a:lnTo>
                    <a:lnTo>
                      <a:pt x="309" y="17"/>
                    </a:lnTo>
                    <a:lnTo>
                      <a:pt x="319" y="11"/>
                    </a:lnTo>
                    <a:lnTo>
                      <a:pt x="331" y="7"/>
                    </a:lnTo>
                    <a:lnTo>
                      <a:pt x="344" y="5"/>
                    </a:lnTo>
                    <a:lnTo>
                      <a:pt x="358" y="3"/>
                    </a:lnTo>
                    <a:lnTo>
                      <a:pt x="370" y="0"/>
                    </a:lnTo>
                    <a:lnTo>
                      <a:pt x="370" y="0"/>
                    </a:lnTo>
                    <a:lnTo>
                      <a:pt x="385" y="3"/>
                    </a:lnTo>
                    <a:lnTo>
                      <a:pt x="397" y="5"/>
                    </a:lnTo>
                    <a:lnTo>
                      <a:pt x="411" y="7"/>
                    </a:lnTo>
                    <a:lnTo>
                      <a:pt x="422" y="11"/>
                    </a:lnTo>
                    <a:lnTo>
                      <a:pt x="434" y="17"/>
                    </a:lnTo>
                    <a:lnTo>
                      <a:pt x="444" y="23"/>
                    </a:lnTo>
                    <a:lnTo>
                      <a:pt x="465" y="39"/>
                    </a:lnTo>
                    <a:lnTo>
                      <a:pt x="465" y="39"/>
                    </a:lnTo>
                    <a:lnTo>
                      <a:pt x="465" y="39"/>
                    </a:lnTo>
                    <a:lnTo>
                      <a:pt x="481" y="60"/>
                    </a:lnTo>
                    <a:lnTo>
                      <a:pt x="487" y="70"/>
                    </a:lnTo>
                    <a:lnTo>
                      <a:pt x="493" y="82"/>
                    </a:lnTo>
                    <a:lnTo>
                      <a:pt x="497" y="95"/>
                    </a:lnTo>
                    <a:lnTo>
                      <a:pt x="501" y="107"/>
                    </a:lnTo>
                    <a:lnTo>
                      <a:pt x="503" y="119"/>
                    </a:lnTo>
                    <a:lnTo>
                      <a:pt x="503" y="134"/>
                    </a:lnTo>
                    <a:lnTo>
                      <a:pt x="503" y="134"/>
                    </a:lnTo>
                    <a:lnTo>
                      <a:pt x="501" y="154"/>
                    </a:lnTo>
                    <a:lnTo>
                      <a:pt x="497" y="172"/>
                    </a:lnTo>
                    <a:lnTo>
                      <a:pt x="489" y="191"/>
                    </a:lnTo>
                    <a:lnTo>
                      <a:pt x="481" y="207"/>
                    </a:lnTo>
                    <a:lnTo>
                      <a:pt x="479" y="228"/>
                    </a:lnTo>
                    <a:lnTo>
                      <a:pt x="608" y="228"/>
                    </a:lnTo>
                    <a:lnTo>
                      <a:pt x="608" y="348"/>
                    </a:lnTo>
                    <a:lnTo>
                      <a:pt x="479" y="348"/>
                    </a:lnTo>
                    <a:lnTo>
                      <a:pt x="479" y="371"/>
                    </a:lnTo>
                    <a:lnTo>
                      <a:pt x="479" y="371"/>
                    </a:lnTo>
                    <a:lnTo>
                      <a:pt x="487" y="394"/>
                    </a:lnTo>
                    <a:lnTo>
                      <a:pt x="493" y="418"/>
                    </a:lnTo>
                    <a:lnTo>
                      <a:pt x="495" y="443"/>
                    </a:lnTo>
                    <a:lnTo>
                      <a:pt x="497" y="467"/>
                    </a:lnTo>
                    <a:lnTo>
                      <a:pt x="497" y="467"/>
                    </a:lnTo>
                    <a:lnTo>
                      <a:pt x="495" y="492"/>
                    </a:lnTo>
                    <a:lnTo>
                      <a:pt x="493" y="516"/>
                    </a:lnTo>
                    <a:lnTo>
                      <a:pt x="487" y="541"/>
                    </a:lnTo>
                    <a:lnTo>
                      <a:pt x="479" y="563"/>
                    </a:lnTo>
                    <a:lnTo>
                      <a:pt x="467" y="586"/>
                    </a:lnTo>
                    <a:lnTo>
                      <a:pt x="454" y="606"/>
                    </a:lnTo>
                    <a:lnTo>
                      <a:pt x="440" y="625"/>
                    </a:lnTo>
                    <a:lnTo>
                      <a:pt x="426" y="643"/>
                    </a:lnTo>
                    <a:lnTo>
                      <a:pt x="426" y="643"/>
                    </a:lnTo>
                    <a:lnTo>
                      <a:pt x="407" y="660"/>
                    </a:lnTo>
                    <a:lnTo>
                      <a:pt x="389" y="674"/>
                    </a:lnTo>
                    <a:lnTo>
                      <a:pt x="368" y="686"/>
                    </a:lnTo>
                    <a:lnTo>
                      <a:pt x="346" y="697"/>
                    </a:lnTo>
                    <a:lnTo>
                      <a:pt x="323" y="705"/>
                    </a:lnTo>
                    <a:lnTo>
                      <a:pt x="299" y="711"/>
                    </a:lnTo>
                    <a:lnTo>
                      <a:pt x="274" y="715"/>
                    </a:lnTo>
                    <a:lnTo>
                      <a:pt x="250" y="715"/>
                    </a:lnTo>
                    <a:lnTo>
                      <a:pt x="250" y="715"/>
                    </a:lnTo>
                    <a:lnTo>
                      <a:pt x="223" y="715"/>
                    </a:lnTo>
                    <a:lnTo>
                      <a:pt x="198" y="711"/>
                    </a:lnTo>
                    <a:lnTo>
                      <a:pt x="176" y="705"/>
                    </a:lnTo>
                    <a:lnTo>
                      <a:pt x="151" y="697"/>
                    </a:lnTo>
                    <a:lnTo>
                      <a:pt x="131" y="686"/>
                    </a:lnTo>
                    <a:lnTo>
                      <a:pt x="110" y="674"/>
                    </a:lnTo>
                    <a:lnTo>
                      <a:pt x="92" y="660"/>
                    </a:lnTo>
                    <a:lnTo>
                      <a:pt x="73" y="643"/>
                    </a:lnTo>
                    <a:lnTo>
                      <a:pt x="73" y="643"/>
                    </a:lnTo>
                    <a:lnTo>
                      <a:pt x="57" y="625"/>
                    </a:lnTo>
                    <a:lnTo>
                      <a:pt x="43" y="606"/>
                    </a:lnTo>
                    <a:lnTo>
                      <a:pt x="30" y="586"/>
                    </a:lnTo>
                    <a:lnTo>
                      <a:pt x="20" y="563"/>
                    </a:lnTo>
                    <a:lnTo>
                      <a:pt x="12" y="541"/>
                    </a:lnTo>
                    <a:lnTo>
                      <a:pt x="6" y="516"/>
                    </a:lnTo>
                    <a:lnTo>
                      <a:pt x="2" y="492"/>
                    </a:lnTo>
                    <a:lnTo>
                      <a:pt x="0" y="467"/>
                    </a:lnTo>
                    <a:lnTo>
                      <a:pt x="0" y="467"/>
                    </a:lnTo>
                    <a:lnTo>
                      <a:pt x="2" y="443"/>
                    </a:lnTo>
                    <a:lnTo>
                      <a:pt x="6" y="418"/>
                    </a:lnTo>
                    <a:lnTo>
                      <a:pt x="12" y="394"/>
                    </a:lnTo>
                    <a:lnTo>
                      <a:pt x="20" y="371"/>
                    </a:lnTo>
                    <a:lnTo>
                      <a:pt x="30" y="348"/>
                    </a:lnTo>
                    <a:lnTo>
                      <a:pt x="43" y="328"/>
                    </a:lnTo>
                    <a:lnTo>
                      <a:pt x="57" y="310"/>
                    </a:lnTo>
                    <a:lnTo>
                      <a:pt x="73" y="291"/>
                    </a:lnTo>
                    <a:lnTo>
                      <a:pt x="73" y="291"/>
                    </a:lnTo>
                    <a:lnTo>
                      <a:pt x="96" y="271"/>
                    </a:lnTo>
                    <a:lnTo>
                      <a:pt x="123" y="252"/>
                    </a:lnTo>
                    <a:lnTo>
                      <a:pt x="241" y="111"/>
                    </a:lnTo>
                    <a:lnTo>
                      <a:pt x="241" y="111"/>
                    </a:lnTo>
                    <a:close/>
                    <a:moveTo>
                      <a:pt x="125" y="459"/>
                    </a:moveTo>
                    <a:lnTo>
                      <a:pt x="125" y="459"/>
                    </a:lnTo>
                    <a:lnTo>
                      <a:pt x="141" y="443"/>
                    </a:lnTo>
                    <a:lnTo>
                      <a:pt x="159" y="426"/>
                    </a:lnTo>
                    <a:lnTo>
                      <a:pt x="180" y="412"/>
                    </a:lnTo>
                    <a:lnTo>
                      <a:pt x="202" y="398"/>
                    </a:lnTo>
                    <a:lnTo>
                      <a:pt x="225" y="383"/>
                    </a:lnTo>
                    <a:lnTo>
                      <a:pt x="252" y="371"/>
                    </a:lnTo>
                    <a:lnTo>
                      <a:pt x="278" y="359"/>
                    </a:lnTo>
                    <a:lnTo>
                      <a:pt x="309" y="348"/>
                    </a:lnTo>
                    <a:lnTo>
                      <a:pt x="309" y="348"/>
                    </a:lnTo>
                    <a:lnTo>
                      <a:pt x="278" y="346"/>
                    </a:lnTo>
                    <a:lnTo>
                      <a:pt x="247" y="346"/>
                    </a:lnTo>
                    <a:lnTo>
                      <a:pt x="217" y="353"/>
                    </a:lnTo>
                    <a:lnTo>
                      <a:pt x="202" y="357"/>
                    </a:lnTo>
                    <a:lnTo>
                      <a:pt x="190" y="361"/>
                    </a:lnTo>
                    <a:lnTo>
                      <a:pt x="176" y="369"/>
                    </a:lnTo>
                    <a:lnTo>
                      <a:pt x="166" y="377"/>
                    </a:lnTo>
                    <a:lnTo>
                      <a:pt x="153" y="385"/>
                    </a:lnTo>
                    <a:lnTo>
                      <a:pt x="145" y="398"/>
                    </a:lnTo>
                    <a:lnTo>
                      <a:pt x="137" y="410"/>
                    </a:lnTo>
                    <a:lnTo>
                      <a:pt x="131" y="424"/>
                    </a:lnTo>
                    <a:lnTo>
                      <a:pt x="127" y="441"/>
                    </a:lnTo>
                    <a:lnTo>
                      <a:pt x="125" y="459"/>
                    </a:lnTo>
                    <a:lnTo>
                      <a:pt x="125" y="459"/>
                    </a:lnTo>
                    <a:close/>
                    <a:moveTo>
                      <a:pt x="362" y="353"/>
                    </a:moveTo>
                    <a:lnTo>
                      <a:pt x="362" y="353"/>
                    </a:lnTo>
                    <a:lnTo>
                      <a:pt x="352" y="342"/>
                    </a:lnTo>
                    <a:lnTo>
                      <a:pt x="340" y="334"/>
                    </a:lnTo>
                    <a:lnTo>
                      <a:pt x="325" y="326"/>
                    </a:lnTo>
                    <a:lnTo>
                      <a:pt x="311" y="320"/>
                    </a:lnTo>
                    <a:lnTo>
                      <a:pt x="297" y="314"/>
                    </a:lnTo>
                    <a:lnTo>
                      <a:pt x="282" y="310"/>
                    </a:lnTo>
                    <a:lnTo>
                      <a:pt x="266" y="308"/>
                    </a:lnTo>
                    <a:lnTo>
                      <a:pt x="250" y="305"/>
                    </a:lnTo>
                    <a:lnTo>
                      <a:pt x="250" y="305"/>
                    </a:lnTo>
                    <a:lnTo>
                      <a:pt x="233" y="308"/>
                    </a:lnTo>
                    <a:lnTo>
                      <a:pt x="217" y="310"/>
                    </a:lnTo>
                    <a:lnTo>
                      <a:pt x="200" y="314"/>
                    </a:lnTo>
                    <a:lnTo>
                      <a:pt x="186" y="320"/>
                    </a:lnTo>
                    <a:lnTo>
                      <a:pt x="172" y="326"/>
                    </a:lnTo>
                    <a:lnTo>
                      <a:pt x="159" y="334"/>
                    </a:lnTo>
                    <a:lnTo>
                      <a:pt x="147" y="342"/>
                    </a:lnTo>
                    <a:lnTo>
                      <a:pt x="135" y="353"/>
                    </a:lnTo>
                    <a:lnTo>
                      <a:pt x="135" y="353"/>
                    </a:lnTo>
                    <a:lnTo>
                      <a:pt x="125" y="365"/>
                    </a:lnTo>
                    <a:lnTo>
                      <a:pt x="116" y="377"/>
                    </a:lnTo>
                    <a:lnTo>
                      <a:pt x="108" y="391"/>
                    </a:lnTo>
                    <a:lnTo>
                      <a:pt x="100" y="404"/>
                    </a:lnTo>
                    <a:lnTo>
                      <a:pt x="96" y="420"/>
                    </a:lnTo>
                    <a:lnTo>
                      <a:pt x="92" y="434"/>
                    </a:lnTo>
                    <a:lnTo>
                      <a:pt x="90" y="451"/>
                    </a:lnTo>
                    <a:lnTo>
                      <a:pt x="88" y="467"/>
                    </a:lnTo>
                    <a:lnTo>
                      <a:pt x="88" y="467"/>
                    </a:lnTo>
                    <a:lnTo>
                      <a:pt x="90" y="484"/>
                    </a:lnTo>
                    <a:lnTo>
                      <a:pt x="92" y="500"/>
                    </a:lnTo>
                    <a:lnTo>
                      <a:pt x="96" y="514"/>
                    </a:lnTo>
                    <a:lnTo>
                      <a:pt x="100" y="531"/>
                    </a:lnTo>
                    <a:lnTo>
                      <a:pt x="108" y="543"/>
                    </a:lnTo>
                    <a:lnTo>
                      <a:pt x="116" y="557"/>
                    </a:lnTo>
                    <a:lnTo>
                      <a:pt x="125" y="570"/>
                    </a:lnTo>
                    <a:lnTo>
                      <a:pt x="135" y="582"/>
                    </a:lnTo>
                    <a:lnTo>
                      <a:pt x="135" y="582"/>
                    </a:lnTo>
                    <a:lnTo>
                      <a:pt x="147" y="592"/>
                    </a:lnTo>
                    <a:lnTo>
                      <a:pt x="159" y="600"/>
                    </a:lnTo>
                    <a:lnTo>
                      <a:pt x="172" y="608"/>
                    </a:lnTo>
                    <a:lnTo>
                      <a:pt x="186" y="615"/>
                    </a:lnTo>
                    <a:lnTo>
                      <a:pt x="200" y="621"/>
                    </a:lnTo>
                    <a:lnTo>
                      <a:pt x="217" y="625"/>
                    </a:lnTo>
                    <a:lnTo>
                      <a:pt x="233" y="627"/>
                    </a:lnTo>
                    <a:lnTo>
                      <a:pt x="250" y="629"/>
                    </a:lnTo>
                    <a:lnTo>
                      <a:pt x="250" y="629"/>
                    </a:lnTo>
                    <a:lnTo>
                      <a:pt x="266" y="627"/>
                    </a:lnTo>
                    <a:lnTo>
                      <a:pt x="282" y="625"/>
                    </a:lnTo>
                    <a:lnTo>
                      <a:pt x="297" y="621"/>
                    </a:lnTo>
                    <a:lnTo>
                      <a:pt x="311" y="615"/>
                    </a:lnTo>
                    <a:lnTo>
                      <a:pt x="325" y="608"/>
                    </a:lnTo>
                    <a:lnTo>
                      <a:pt x="340" y="600"/>
                    </a:lnTo>
                    <a:lnTo>
                      <a:pt x="352" y="592"/>
                    </a:lnTo>
                    <a:lnTo>
                      <a:pt x="362" y="582"/>
                    </a:lnTo>
                    <a:lnTo>
                      <a:pt x="362" y="582"/>
                    </a:lnTo>
                    <a:lnTo>
                      <a:pt x="372" y="570"/>
                    </a:lnTo>
                    <a:lnTo>
                      <a:pt x="383" y="557"/>
                    </a:lnTo>
                    <a:lnTo>
                      <a:pt x="391" y="543"/>
                    </a:lnTo>
                    <a:lnTo>
                      <a:pt x="397" y="531"/>
                    </a:lnTo>
                    <a:lnTo>
                      <a:pt x="403" y="514"/>
                    </a:lnTo>
                    <a:lnTo>
                      <a:pt x="407" y="500"/>
                    </a:lnTo>
                    <a:lnTo>
                      <a:pt x="409" y="484"/>
                    </a:lnTo>
                    <a:lnTo>
                      <a:pt x="409" y="467"/>
                    </a:lnTo>
                    <a:lnTo>
                      <a:pt x="409" y="467"/>
                    </a:lnTo>
                    <a:lnTo>
                      <a:pt x="409" y="451"/>
                    </a:lnTo>
                    <a:lnTo>
                      <a:pt x="407" y="434"/>
                    </a:lnTo>
                    <a:lnTo>
                      <a:pt x="403" y="420"/>
                    </a:lnTo>
                    <a:lnTo>
                      <a:pt x="397" y="404"/>
                    </a:lnTo>
                    <a:lnTo>
                      <a:pt x="391" y="391"/>
                    </a:lnTo>
                    <a:lnTo>
                      <a:pt x="383" y="377"/>
                    </a:lnTo>
                    <a:lnTo>
                      <a:pt x="372" y="365"/>
                    </a:lnTo>
                    <a:lnTo>
                      <a:pt x="362" y="353"/>
                    </a:lnTo>
                    <a:lnTo>
                      <a:pt x="362" y="35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12"/>
              <p:cNvSpPr>
                <a:spLocks noEditPoints="1"/>
              </p:cNvSpPr>
              <p:nvPr/>
            </p:nvSpPr>
            <p:spPr bwMode="auto">
              <a:xfrm>
                <a:off x="6059488" y="3033713"/>
                <a:ext cx="809625" cy="1135063"/>
              </a:xfrm>
              <a:custGeom>
                <a:avLst/>
                <a:gdLst>
                  <a:gd name="T0" fmla="*/ 256 w 510"/>
                  <a:gd name="T1" fmla="*/ 72 h 715"/>
                  <a:gd name="T2" fmla="*/ 234 w 510"/>
                  <a:gd name="T3" fmla="*/ 39 h 715"/>
                  <a:gd name="T4" fmla="*/ 179 w 510"/>
                  <a:gd name="T5" fmla="*/ 7 h 715"/>
                  <a:gd name="T6" fmla="*/ 140 w 510"/>
                  <a:gd name="T7" fmla="*/ 0 h 715"/>
                  <a:gd name="T8" fmla="*/ 88 w 510"/>
                  <a:gd name="T9" fmla="*/ 11 h 715"/>
                  <a:gd name="T10" fmla="*/ 45 w 510"/>
                  <a:gd name="T11" fmla="*/ 39 h 715"/>
                  <a:gd name="T12" fmla="*/ 19 w 510"/>
                  <a:gd name="T13" fmla="*/ 82 h 715"/>
                  <a:gd name="T14" fmla="*/ 7 w 510"/>
                  <a:gd name="T15" fmla="*/ 134 h 715"/>
                  <a:gd name="T16" fmla="*/ 21 w 510"/>
                  <a:gd name="T17" fmla="*/ 191 h 715"/>
                  <a:gd name="T18" fmla="*/ 0 w 510"/>
                  <a:gd name="T19" fmla="*/ 340 h 715"/>
                  <a:gd name="T20" fmla="*/ 25 w 510"/>
                  <a:gd name="T21" fmla="*/ 394 h 715"/>
                  <a:gd name="T22" fmla="*/ 13 w 510"/>
                  <a:gd name="T23" fmla="*/ 467 h 715"/>
                  <a:gd name="T24" fmla="*/ 33 w 510"/>
                  <a:gd name="T25" fmla="*/ 563 h 715"/>
                  <a:gd name="T26" fmla="*/ 86 w 510"/>
                  <a:gd name="T27" fmla="*/ 643 h 715"/>
                  <a:gd name="T28" fmla="*/ 144 w 510"/>
                  <a:gd name="T29" fmla="*/ 686 h 715"/>
                  <a:gd name="T30" fmla="*/ 236 w 510"/>
                  <a:gd name="T31" fmla="*/ 715 h 715"/>
                  <a:gd name="T32" fmla="*/ 312 w 510"/>
                  <a:gd name="T33" fmla="*/ 711 h 715"/>
                  <a:gd name="T34" fmla="*/ 402 w 510"/>
                  <a:gd name="T35" fmla="*/ 674 h 715"/>
                  <a:gd name="T36" fmla="*/ 453 w 510"/>
                  <a:gd name="T37" fmla="*/ 625 h 715"/>
                  <a:gd name="T38" fmla="*/ 500 w 510"/>
                  <a:gd name="T39" fmla="*/ 541 h 715"/>
                  <a:gd name="T40" fmla="*/ 510 w 510"/>
                  <a:gd name="T41" fmla="*/ 467 h 715"/>
                  <a:gd name="T42" fmla="*/ 492 w 510"/>
                  <a:gd name="T43" fmla="*/ 371 h 715"/>
                  <a:gd name="T44" fmla="*/ 439 w 510"/>
                  <a:gd name="T45" fmla="*/ 291 h 715"/>
                  <a:gd name="T46" fmla="*/ 271 w 510"/>
                  <a:gd name="T47" fmla="*/ 111 h 715"/>
                  <a:gd name="T48" fmla="*/ 138 w 510"/>
                  <a:gd name="T49" fmla="*/ 441 h 715"/>
                  <a:gd name="T50" fmla="*/ 166 w 510"/>
                  <a:gd name="T51" fmla="*/ 385 h 715"/>
                  <a:gd name="T52" fmla="*/ 215 w 510"/>
                  <a:gd name="T53" fmla="*/ 357 h 715"/>
                  <a:gd name="T54" fmla="*/ 322 w 510"/>
                  <a:gd name="T55" fmla="*/ 348 h 715"/>
                  <a:gd name="T56" fmla="*/ 238 w 510"/>
                  <a:gd name="T57" fmla="*/ 383 h 715"/>
                  <a:gd name="T58" fmla="*/ 154 w 510"/>
                  <a:gd name="T59" fmla="*/ 443 h 715"/>
                  <a:gd name="T60" fmla="*/ 148 w 510"/>
                  <a:gd name="T61" fmla="*/ 353 h 715"/>
                  <a:gd name="T62" fmla="*/ 199 w 510"/>
                  <a:gd name="T63" fmla="*/ 320 h 715"/>
                  <a:gd name="T64" fmla="*/ 263 w 510"/>
                  <a:gd name="T65" fmla="*/ 305 h 715"/>
                  <a:gd name="T66" fmla="*/ 310 w 510"/>
                  <a:gd name="T67" fmla="*/ 314 h 715"/>
                  <a:gd name="T68" fmla="*/ 365 w 510"/>
                  <a:gd name="T69" fmla="*/ 342 h 715"/>
                  <a:gd name="T70" fmla="*/ 396 w 510"/>
                  <a:gd name="T71" fmla="*/ 377 h 715"/>
                  <a:gd name="T72" fmla="*/ 420 w 510"/>
                  <a:gd name="T73" fmla="*/ 434 h 715"/>
                  <a:gd name="T74" fmla="*/ 422 w 510"/>
                  <a:gd name="T75" fmla="*/ 484 h 715"/>
                  <a:gd name="T76" fmla="*/ 404 w 510"/>
                  <a:gd name="T77" fmla="*/ 543 h 715"/>
                  <a:gd name="T78" fmla="*/ 375 w 510"/>
                  <a:gd name="T79" fmla="*/ 582 h 715"/>
                  <a:gd name="T80" fmla="*/ 324 w 510"/>
                  <a:gd name="T81" fmla="*/ 615 h 715"/>
                  <a:gd name="T82" fmla="*/ 263 w 510"/>
                  <a:gd name="T83" fmla="*/ 629 h 715"/>
                  <a:gd name="T84" fmla="*/ 213 w 510"/>
                  <a:gd name="T85" fmla="*/ 621 h 715"/>
                  <a:gd name="T86" fmla="*/ 160 w 510"/>
                  <a:gd name="T87" fmla="*/ 592 h 715"/>
                  <a:gd name="T88" fmla="*/ 129 w 510"/>
                  <a:gd name="T89" fmla="*/ 557 h 715"/>
                  <a:gd name="T90" fmla="*/ 105 w 510"/>
                  <a:gd name="T91" fmla="*/ 500 h 715"/>
                  <a:gd name="T92" fmla="*/ 103 w 510"/>
                  <a:gd name="T93" fmla="*/ 451 h 715"/>
                  <a:gd name="T94" fmla="*/ 121 w 510"/>
                  <a:gd name="T95" fmla="*/ 391 h 715"/>
                  <a:gd name="T96" fmla="*/ 148 w 510"/>
                  <a:gd name="T97" fmla="*/ 353 h 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0" h="715">
                    <a:moveTo>
                      <a:pt x="271" y="111"/>
                    </a:moveTo>
                    <a:lnTo>
                      <a:pt x="271" y="111"/>
                    </a:lnTo>
                    <a:lnTo>
                      <a:pt x="265" y="91"/>
                    </a:lnTo>
                    <a:lnTo>
                      <a:pt x="256" y="72"/>
                    </a:lnTo>
                    <a:lnTo>
                      <a:pt x="246" y="56"/>
                    </a:lnTo>
                    <a:lnTo>
                      <a:pt x="234" y="39"/>
                    </a:lnTo>
                    <a:lnTo>
                      <a:pt x="234" y="39"/>
                    </a:lnTo>
                    <a:lnTo>
                      <a:pt x="234" y="39"/>
                    </a:lnTo>
                    <a:lnTo>
                      <a:pt x="213" y="23"/>
                    </a:lnTo>
                    <a:lnTo>
                      <a:pt x="203" y="17"/>
                    </a:lnTo>
                    <a:lnTo>
                      <a:pt x="191" y="11"/>
                    </a:lnTo>
                    <a:lnTo>
                      <a:pt x="179" y="7"/>
                    </a:lnTo>
                    <a:lnTo>
                      <a:pt x="166" y="5"/>
                    </a:lnTo>
                    <a:lnTo>
                      <a:pt x="154" y="3"/>
                    </a:lnTo>
                    <a:lnTo>
                      <a:pt x="140" y="0"/>
                    </a:lnTo>
                    <a:lnTo>
                      <a:pt x="140" y="0"/>
                    </a:lnTo>
                    <a:lnTo>
                      <a:pt x="125" y="3"/>
                    </a:lnTo>
                    <a:lnTo>
                      <a:pt x="113" y="5"/>
                    </a:lnTo>
                    <a:lnTo>
                      <a:pt x="101" y="7"/>
                    </a:lnTo>
                    <a:lnTo>
                      <a:pt x="88" y="11"/>
                    </a:lnTo>
                    <a:lnTo>
                      <a:pt x="76" y="17"/>
                    </a:lnTo>
                    <a:lnTo>
                      <a:pt x="66" y="23"/>
                    </a:lnTo>
                    <a:lnTo>
                      <a:pt x="45" y="39"/>
                    </a:lnTo>
                    <a:lnTo>
                      <a:pt x="45" y="39"/>
                    </a:lnTo>
                    <a:lnTo>
                      <a:pt x="45" y="39"/>
                    </a:lnTo>
                    <a:lnTo>
                      <a:pt x="31" y="60"/>
                    </a:lnTo>
                    <a:lnTo>
                      <a:pt x="23" y="70"/>
                    </a:lnTo>
                    <a:lnTo>
                      <a:pt x="19" y="82"/>
                    </a:lnTo>
                    <a:lnTo>
                      <a:pt x="13" y="95"/>
                    </a:lnTo>
                    <a:lnTo>
                      <a:pt x="11" y="107"/>
                    </a:lnTo>
                    <a:lnTo>
                      <a:pt x="9" y="119"/>
                    </a:lnTo>
                    <a:lnTo>
                      <a:pt x="7" y="134"/>
                    </a:lnTo>
                    <a:lnTo>
                      <a:pt x="7" y="134"/>
                    </a:lnTo>
                    <a:lnTo>
                      <a:pt x="9" y="154"/>
                    </a:lnTo>
                    <a:lnTo>
                      <a:pt x="15" y="172"/>
                    </a:lnTo>
                    <a:lnTo>
                      <a:pt x="21" y="191"/>
                    </a:lnTo>
                    <a:lnTo>
                      <a:pt x="31" y="207"/>
                    </a:lnTo>
                    <a:lnTo>
                      <a:pt x="31" y="228"/>
                    </a:lnTo>
                    <a:lnTo>
                      <a:pt x="0" y="228"/>
                    </a:lnTo>
                    <a:lnTo>
                      <a:pt x="0" y="340"/>
                    </a:lnTo>
                    <a:lnTo>
                      <a:pt x="33" y="340"/>
                    </a:lnTo>
                    <a:lnTo>
                      <a:pt x="33" y="371"/>
                    </a:lnTo>
                    <a:lnTo>
                      <a:pt x="33" y="371"/>
                    </a:lnTo>
                    <a:lnTo>
                      <a:pt x="25" y="394"/>
                    </a:lnTo>
                    <a:lnTo>
                      <a:pt x="19" y="418"/>
                    </a:lnTo>
                    <a:lnTo>
                      <a:pt x="15" y="443"/>
                    </a:lnTo>
                    <a:lnTo>
                      <a:pt x="13" y="467"/>
                    </a:lnTo>
                    <a:lnTo>
                      <a:pt x="13" y="467"/>
                    </a:lnTo>
                    <a:lnTo>
                      <a:pt x="15" y="492"/>
                    </a:lnTo>
                    <a:lnTo>
                      <a:pt x="19" y="516"/>
                    </a:lnTo>
                    <a:lnTo>
                      <a:pt x="25" y="541"/>
                    </a:lnTo>
                    <a:lnTo>
                      <a:pt x="33" y="563"/>
                    </a:lnTo>
                    <a:lnTo>
                      <a:pt x="43" y="586"/>
                    </a:lnTo>
                    <a:lnTo>
                      <a:pt x="56" y="606"/>
                    </a:lnTo>
                    <a:lnTo>
                      <a:pt x="70" y="625"/>
                    </a:lnTo>
                    <a:lnTo>
                      <a:pt x="86" y="643"/>
                    </a:lnTo>
                    <a:lnTo>
                      <a:pt x="86" y="643"/>
                    </a:lnTo>
                    <a:lnTo>
                      <a:pt x="105" y="660"/>
                    </a:lnTo>
                    <a:lnTo>
                      <a:pt x="123" y="674"/>
                    </a:lnTo>
                    <a:lnTo>
                      <a:pt x="144" y="686"/>
                    </a:lnTo>
                    <a:lnTo>
                      <a:pt x="164" y="697"/>
                    </a:lnTo>
                    <a:lnTo>
                      <a:pt x="189" y="705"/>
                    </a:lnTo>
                    <a:lnTo>
                      <a:pt x="211" y="711"/>
                    </a:lnTo>
                    <a:lnTo>
                      <a:pt x="236" y="715"/>
                    </a:lnTo>
                    <a:lnTo>
                      <a:pt x="263" y="715"/>
                    </a:lnTo>
                    <a:lnTo>
                      <a:pt x="263" y="715"/>
                    </a:lnTo>
                    <a:lnTo>
                      <a:pt x="287" y="715"/>
                    </a:lnTo>
                    <a:lnTo>
                      <a:pt x="312" y="711"/>
                    </a:lnTo>
                    <a:lnTo>
                      <a:pt x="336" y="705"/>
                    </a:lnTo>
                    <a:lnTo>
                      <a:pt x="359" y="697"/>
                    </a:lnTo>
                    <a:lnTo>
                      <a:pt x="381" y="686"/>
                    </a:lnTo>
                    <a:lnTo>
                      <a:pt x="402" y="674"/>
                    </a:lnTo>
                    <a:lnTo>
                      <a:pt x="420" y="660"/>
                    </a:lnTo>
                    <a:lnTo>
                      <a:pt x="439" y="643"/>
                    </a:lnTo>
                    <a:lnTo>
                      <a:pt x="439" y="643"/>
                    </a:lnTo>
                    <a:lnTo>
                      <a:pt x="453" y="625"/>
                    </a:lnTo>
                    <a:lnTo>
                      <a:pt x="467" y="606"/>
                    </a:lnTo>
                    <a:lnTo>
                      <a:pt x="480" y="586"/>
                    </a:lnTo>
                    <a:lnTo>
                      <a:pt x="492" y="563"/>
                    </a:lnTo>
                    <a:lnTo>
                      <a:pt x="500" y="541"/>
                    </a:lnTo>
                    <a:lnTo>
                      <a:pt x="506" y="516"/>
                    </a:lnTo>
                    <a:lnTo>
                      <a:pt x="508" y="492"/>
                    </a:lnTo>
                    <a:lnTo>
                      <a:pt x="510" y="467"/>
                    </a:lnTo>
                    <a:lnTo>
                      <a:pt x="510" y="467"/>
                    </a:lnTo>
                    <a:lnTo>
                      <a:pt x="508" y="443"/>
                    </a:lnTo>
                    <a:lnTo>
                      <a:pt x="506" y="418"/>
                    </a:lnTo>
                    <a:lnTo>
                      <a:pt x="500" y="394"/>
                    </a:lnTo>
                    <a:lnTo>
                      <a:pt x="492" y="371"/>
                    </a:lnTo>
                    <a:lnTo>
                      <a:pt x="480" y="348"/>
                    </a:lnTo>
                    <a:lnTo>
                      <a:pt x="467" y="328"/>
                    </a:lnTo>
                    <a:lnTo>
                      <a:pt x="453" y="310"/>
                    </a:lnTo>
                    <a:lnTo>
                      <a:pt x="439" y="291"/>
                    </a:lnTo>
                    <a:lnTo>
                      <a:pt x="439" y="291"/>
                    </a:lnTo>
                    <a:lnTo>
                      <a:pt x="414" y="271"/>
                    </a:lnTo>
                    <a:lnTo>
                      <a:pt x="387" y="252"/>
                    </a:lnTo>
                    <a:lnTo>
                      <a:pt x="271" y="111"/>
                    </a:lnTo>
                    <a:lnTo>
                      <a:pt x="271" y="111"/>
                    </a:lnTo>
                    <a:close/>
                    <a:moveTo>
                      <a:pt x="136" y="459"/>
                    </a:moveTo>
                    <a:lnTo>
                      <a:pt x="136" y="459"/>
                    </a:lnTo>
                    <a:lnTo>
                      <a:pt x="138" y="441"/>
                    </a:lnTo>
                    <a:lnTo>
                      <a:pt x="144" y="424"/>
                    </a:lnTo>
                    <a:lnTo>
                      <a:pt x="150" y="410"/>
                    </a:lnTo>
                    <a:lnTo>
                      <a:pt x="156" y="398"/>
                    </a:lnTo>
                    <a:lnTo>
                      <a:pt x="166" y="385"/>
                    </a:lnTo>
                    <a:lnTo>
                      <a:pt x="177" y="377"/>
                    </a:lnTo>
                    <a:lnTo>
                      <a:pt x="189" y="369"/>
                    </a:lnTo>
                    <a:lnTo>
                      <a:pt x="201" y="361"/>
                    </a:lnTo>
                    <a:lnTo>
                      <a:pt x="215" y="357"/>
                    </a:lnTo>
                    <a:lnTo>
                      <a:pt x="230" y="353"/>
                    </a:lnTo>
                    <a:lnTo>
                      <a:pt x="258" y="346"/>
                    </a:lnTo>
                    <a:lnTo>
                      <a:pt x="291" y="346"/>
                    </a:lnTo>
                    <a:lnTo>
                      <a:pt x="322" y="348"/>
                    </a:lnTo>
                    <a:lnTo>
                      <a:pt x="322" y="348"/>
                    </a:lnTo>
                    <a:lnTo>
                      <a:pt x="291" y="359"/>
                    </a:lnTo>
                    <a:lnTo>
                      <a:pt x="263" y="371"/>
                    </a:lnTo>
                    <a:lnTo>
                      <a:pt x="238" y="383"/>
                    </a:lnTo>
                    <a:lnTo>
                      <a:pt x="213" y="398"/>
                    </a:lnTo>
                    <a:lnTo>
                      <a:pt x="193" y="412"/>
                    </a:lnTo>
                    <a:lnTo>
                      <a:pt x="172" y="426"/>
                    </a:lnTo>
                    <a:lnTo>
                      <a:pt x="154" y="443"/>
                    </a:lnTo>
                    <a:lnTo>
                      <a:pt x="136" y="459"/>
                    </a:lnTo>
                    <a:lnTo>
                      <a:pt x="136" y="459"/>
                    </a:lnTo>
                    <a:close/>
                    <a:moveTo>
                      <a:pt x="148" y="353"/>
                    </a:moveTo>
                    <a:lnTo>
                      <a:pt x="148" y="353"/>
                    </a:lnTo>
                    <a:lnTo>
                      <a:pt x="160" y="342"/>
                    </a:lnTo>
                    <a:lnTo>
                      <a:pt x="172" y="334"/>
                    </a:lnTo>
                    <a:lnTo>
                      <a:pt x="185" y="326"/>
                    </a:lnTo>
                    <a:lnTo>
                      <a:pt x="199" y="320"/>
                    </a:lnTo>
                    <a:lnTo>
                      <a:pt x="213" y="314"/>
                    </a:lnTo>
                    <a:lnTo>
                      <a:pt x="230" y="310"/>
                    </a:lnTo>
                    <a:lnTo>
                      <a:pt x="246" y="308"/>
                    </a:lnTo>
                    <a:lnTo>
                      <a:pt x="263" y="305"/>
                    </a:lnTo>
                    <a:lnTo>
                      <a:pt x="263" y="305"/>
                    </a:lnTo>
                    <a:lnTo>
                      <a:pt x="279" y="308"/>
                    </a:lnTo>
                    <a:lnTo>
                      <a:pt x="295" y="310"/>
                    </a:lnTo>
                    <a:lnTo>
                      <a:pt x="310" y="314"/>
                    </a:lnTo>
                    <a:lnTo>
                      <a:pt x="324" y="320"/>
                    </a:lnTo>
                    <a:lnTo>
                      <a:pt x="338" y="326"/>
                    </a:lnTo>
                    <a:lnTo>
                      <a:pt x="353" y="334"/>
                    </a:lnTo>
                    <a:lnTo>
                      <a:pt x="365" y="342"/>
                    </a:lnTo>
                    <a:lnTo>
                      <a:pt x="375" y="353"/>
                    </a:lnTo>
                    <a:lnTo>
                      <a:pt x="375" y="353"/>
                    </a:lnTo>
                    <a:lnTo>
                      <a:pt x="385" y="365"/>
                    </a:lnTo>
                    <a:lnTo>
                      <a:pt x="396" y="377"/>
                    </a:lnTo>
                    <a:lnTo>
                      <a:pt x="404" y="391"/>
                    </a:lnTo>
                    <a:lnTo>
                      <a:pt x="410" y="404"/>
                    </a:lnTo>
                    <a:lnTo>
                      <a:pt x="416" y="420"/>
                    </a:lnTo>
                    <a:lnTo>
                      <a:pt x="420" y="434"/>
                    </a:lnTo>
                    <a:lnTo>
                      <a:pt x="422" y="451"/>
                    </a:lnTo>
                    <a:lnTo>
                      <a:pt x="422" y="467"/>
                    </a:lnTo>
                    <a:lnTo>
                      <a:pt x="422" y="467"/>
                    </a:lnTo>
                    <a:lnTo>
                      <a:pt x="422" y="484"/>
                    </a:lnTo>
                    <a:lnTo>
                      <a:pt x="420" y="500"/>
                    </a:lnTo>
                    <a:lnTo>
                      <a:pt x="416" y="514"/>
                    </a:lnTo>
                    <a:lnTo>
                      <a:pt x="410" y="531"/>
                    </a:lnTo>
                    <a:lnTo>
                      <a:pt x="404" y="543"/>
                    </a:lnTo>
                    <a:lnTo>
                      <a:pt x="396" y="557"/>
                    </a:lnTo>
                    <a:lnTo>
                      <a:pt x="385" y="570"/>
                    </a:lnTo>
                    <a:lnTo>
                      <a:pt x="375" y="582"/>
                    </a:lnTo>
                    <a:lnTo>
                      <a:pt x="375" y="582"/>
                    </a:lnTo>
                    <a:lnTo>
                      <a:pt x="365" y="592"/>
                    </a:lnTo>
                    <a:lnTo>
                      <a:pt x="353" y="600"/>
                    </a:lnTo>
                    <a:lnTo>
                      <a:pt x="338" y="608"/>
                    </a:lnTo>
                    <a:lnTo>
                      <a:pt x="324" y="615"/>
                    </a:lnTo>
                    <a:lnTo>
                      <a:pt x="310" y="621"/>
                    </a:lnTo>
                    <a:lnTo>
                      <a:pt x="295" y="625"/>
                    </a:lnTo>
                    <a:lnTo>
                      <a:pt x="279" y="627"/>
                    </a:lnTo>
                    <a:lnTo>
                      <a:pt x="263" y="629"/>
                    </a:lnTo>
                    <a:lnTo>
                      <a:pt x="263" y="629"/>
                    </a:lnTo>
                    <a:lnTo>
                      <a:pt x="246" y="627"/>
                    </a:lnTo>
                    <a:lnTo>
                      <a:pt x="230" y="625"/>
                    </a:lnTo>
                    <a:lnTo>
                      <a:pt x="213" y="621"/>
                    </a:lnTo>
                    <a:lnTo>
                      <a:pt x="199" y="615"/>
                    </a:lnTo>
                    <a:lnTo>
                      <a:pt x="185" y="608"/>
                    </a:lnTo>
                    <a:lnTo>
                      <a:pt x="172" y="600"/>
                    </a:lnTo>
                    <a:lnTo>
                      <a:pt x="160" y="592"/>
                    </a:lnTo>
                    <a:lnTo>
                      <a:pt x="148" y="582"/>
                    </a:lnTo>
                    <a:lnTo>
                      <a:pt x="148" y="582"/>
                    </a:lnTo>
                    <a:lnTo>
                      <a:pt x="138" y="570"/>
                    </a:lnTo>
                    <a:lnTo>
                      <a:pt x="129" y="557"/>
                    </a:lnTo>
                    <a:lnTo>
                      <a:pt x="121" y="543"/>
                    </a:lnTo>
                    <a:lnTo>
                      <a:pt x="113" y="531"/>
                    </a:lnTo>
                    <a:lnTo>
                      <a:pt x="109" y="514"/>
                    </a:lnTo>
                    <a:lnTo>
                      <a:pt x="105" y="500"/>
                    </a:lnTo>
                    <a:lnTo>
                      <a:pt x="103" y="484"/>
                    </a:lnTo>
                    <a:lnTo>
                      <a:pt x="101" y="467"/>
                    </a:lnTo>
                    <a:lnTo>
                      <a:pt x="101" y="467"/>
                    </a:lnTo>
                    <a:lnTo>
                      <a:pt x="103" y="451"/>
                    </a:lnTo>
                    <a:lnTo>
                      <a:pt x="105" y="434"/>
                    </a:lnTo>
                    <a:lnTo>
                      <a:pt x="109" y="420"/>
                    </a:lnTo>
                    <a:lnTo>
                      <a:pt x="113" y="404"/>
                    </a:lnTo>
                    <a:lnTo>
                      <a:pt x="121" y="391"/>
                    </a:lnTo>
                    <a:lnTo>
                      <a:pt x="129" y="377"/>
                    </a:lnTo>
                    <a:lnTo>
                      <a:pt x="138" y="365"/>
                    </a:lnTo>
                    <a:lnTo>
                      <a:pt x="148" y="353"/>
                    </a:lnTo>
                    <a:lnTo>
                      <a:pt x="148" y="35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2" name="组合 11"/>
          <p:cNvGrpSpPr/>
          <p:nvPr/>
        </p:nvGrpSpPr>
        <p:grpSpPr>
          <a:xfrm>
            <a:off x="4555749" y="3121452"/>
            <a:ext cx="468000" cy="468000"/>
            <a:chOff x="6064211" y="1507813"/>
            <a:chExt cx="468000" cy="468000"/>
          </a:xfrm>
        </p:grpSpPr>
        <p:sp>
          <p:nvSpPr>
            <p:cNvPr id="25" name="PA_椭圆 24"/>
            <p:cNvSpPr/>
            <p:nvPr>
              <p:custDataLst>
                <p:tags r:id="rId13"/>
              </p:custDataLst>
            </p:nvPr>
          </p:nvSpPr>
          <p:spPr>
            <a:xfrm>
              <a:off x="6064211" y="1507813"/>
              <a:ext cx="468000" cy="468000"/>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bg1"/>
                </a:solidFill>
                <a:effectLst>
                  <a:outerShdw blurRad="38100" dist="38100" dir="2700000" algn="tl">
                    <a:srgbClr val="000000">
                      <a:alpha val="43137"/>
                    </a:srgbClr>
                  </a:outerShdw>
                </a:effectLst>
              </a:endParaRPr>
            </a:p>
          </p:txBody>
        </p:sp>
        <p:sp>
          <p:nvSpPr>
            <p:cNvPr id="58" name="PA_任意多边形 14"/>
            <p:cNvSpPr>
              <a:spLocks noEditPoints="1"/>
            </p:cNvSpPr>
            <p:nvPr>
              <p:custDataLst>
                <p:tags r:id="rId14"/>
              </p:custDataLst>
            </p:nvPr>
          </p:nvSpPr>
          <p:spPr bwMode="auto">
            <a:xfrm>
              <a:off x="6228762" y="1617788"/>
              <a:ext cx="138898" cy="248050"/>
            </a:xfrm>
            <a:custGeom>
              <a:avLst/>
              <a:gdLst>
                <a:gd name="T0" fmla="*/ 565 w 565"/>
                <a:gd name="T1" fmla="*/ 373 h 1009"/>
                <a:gd name="T2" fmla="*/ 520 w 565"/>
                <a:gd name="T3" fmla="*/ 373 h 1009"/>
                <a:gd name="T4" fmla="*/ 555 w 565"/>
                <a:gd name="T5" fmla="*/ 215 h 1009"/>
                <a:gd name="T6" fmla="*/ 563 w 565"/>
                <a:gd name="T7" fmla="*/ 184 h 1009"/>
                <a:gd name="T8" fmla="*/ 532 w 565"/>
                <a:gd name="T9" fmla="*/ 176 h 1009"/>
                <a:gd name="T10" fmla="*/ 522 w 565"/>
                <a:gd name="T11" fmla="*/ 174 h 1009"/>
                <a:gd name="T12" fmla="*/ 532 w 565"/>
                <a:gd name="T13" fmla="*/ 125 h 1009"/>
                <a:gd name="T14" fmla="*/ 499 w 565"/>
                <a:gd name="T15" fmla="*/ 119 h 1009"/>
                <a:gd name="T16" fmla="*/ 516 w 565"/>
                <a:gd name="T17" fmla="*/ 43 h 1009"/>
                <a:gd name="T18" fmla="*/ 403 w 565"/>
                <a:gd name="T19" fmla="*/ 57 h 1009"/>
                <a:gd name="T20" fmla="*/ 395 w 565"/>
                <a:gd name="T21" fmla="*/ 96 h 1009"/>
                <a:gd name="T22" fmla="*/ 362 w 565"/>
                <a:gd name="T23" fmla="*/ 88 h 1009"/>
                <a:gd name="T24" fmla="*/ 352 w 565"/>
                <a:gd name="T25" fmla="*/ 137 h 1009"/>
                <a:gd name="T26" fmla="*/ 340 w 565"/>
                <a:gd name="T27" fmla="*/ 135 h 1009"/>
                <a:gd name="T28" fmla="*/ 309 w 565"/>
                <a:gd name="T29" fmla="*/ 127 h 1009"/>
                <a:gd name="T30" fmla="*/ 301 w 565"/>
                <a:gd name="T31" fmla="*/ 160 h 1009"/>
                <a:gd name="T32" fmla="*/ 274 w 565"/>
                <a:gd name="T33" fmla="*/ 278 h 1009"/>
                <a:gd name="T34" fmla="*/ 223 w 565"/>
                <a:gd name="T35" fmla="*/ 127 h 1009"/>
                <a:gd name="T36" fmla="*/ 219 w 565"/>
                <a:gd name="T37" fmla="*/ 119 h 1009"/>
                <a:gd name="T38" fmla="*/ 211 w 565"/>
                <a:gd name="T39" fmla="*/ 113 h 1009"/>
                <a:gd name="T40" fmla="*/ 92 w 565"/>
                <a:gd name="T41" fmla="*/ 27 h 1009"/>
                <a:gd name="T42" fmla="*/ 55 w 565"/>
                <a:gd name="T43" fmla="*/ 0 h 1009"/>
                <a:gd name="T44" fmla="*/ 43 w 565"/>
                <a:gd name="T45" fmla="*/ 43 h 1009"/>
                <a:gd name="T46" fmla="*/ 2 w 565"/>
                <a:gd name="T47" fmla="*/ 184 h 1009"/>
                <a:gd name="T48" fmla="*/ 0 w 565"/>
                <a:gd name="T49" fmla="*/ 192 h 1009"/>
                <a:gd name="T50" fmla="*/ 2 w 565"/>
                <a:gd name="T51" fmla="*/ 203 h 1009"/>
                <a:gd name="T52" fmla="*/ 61 w 565"/>
                <a:gd name="T53" fmla="*/ 373 h 1009"/>
                <a:gd name="T54" fmla="*/ 4 w 565"/>
                <a:gd name="T55" fmla="*/ 373 h 1009"/>
                <a:gd name="T56" fmla="*/ 92 w 565"/>
                <a:gd name="T57" fmla="*/ 1009 h 1009"/>
                <a:gd name="T58" fmla="*/ 456 w 565"/>
                <a:gd name="T59" fmla="*/ 1009 h 1009"/>
                <a:gd name="T60" fmla="*/ 565 w 565"/>
                <a:gd name="T61" fmla="*/ 373 h 1009"/>
                <a:gd name="T62" fmla="*/ 565 w 565"/>
                <a:gd name="T63" fmla="*/ 373 h 1009"/>
                <a:gd name="T64" fmla="*/ 454 w 565"/>
                <a:gd name="T65" fmla="*/ 373 h 1009"/>
                <a:gd name="T66" fmla="*/ 319 w 565"/>
                <a:gd name="T67" fmla="*/ 373 h 1009"/>
                <a:gd name="T68" fmla="*/ 358 w 565"/>
                <a:gd name="T69" fmla="*/ 205 h 1009"/>
                <a:gd name="T70" fmla="*/ 487 w 565"/>
                <a:gd name="T71" fmla="*/ 231 h 1009"/>
                <a:gd name="T72" fmla="*/ 454 w 565"/>
                <a:gd name="T73" fmla="*/ 373 h 1009"/>
                <a:gd name="T74" fmla="*/ 454 w 565"/>
                <a:gd name="T75" fmla="*/ 373 h 1009"/>
                <a:gd name="T76" fmla="*/ 239 w 565"/>
                <a:gd name="T77" fmla="*/ 373 h 1009"/>
                <a:gd name="T78" fmla="*/ 129 w 565"/>
                <a:gd name="T79" fmla="*/ 373 h 1009"/>
                <a:gd name="T80" fmla="*/ 65 w 565"/>
                <a:gd name="T81" fmla="*/ 190 h 1009"/>
                <a:gd name="T82" fmla="*/ 166 w 565"/>
                <a:gd name="T83" fmla="*/ 158 h 1009"/>
                <a:gd name="T84" fmla="*/ 239 w 565"/>
                <a:gd name="T85" fmla="*/ 373 h 1009"/>
                <a:gd name="T86" fmla="*/ 239 w 565"/>
                <a:gd name="T87" fmla="*/ 373 h 1009"/>
                <a:gd name="T88" fmla="*/ 458 w 565"/>
                <a:gd name="T89" fmla="*/ 444 h 1009"/>
                <a:gd name="T90" fmla="*/ 391 w 565"/>
                <a:gd name="T91" fmla="*/ 917 h 1009"/>
                <a:gd name="T92" fmla="*/ 274 w 565"/>
                <a:gd name="T93" fmla="*/ 917 h 1009"/>
                <a:gd name="T94" fmla="*/ 342 w 565"/>
                <a:gd name="T95" fmla="*/ 444 h 1009"/>
                <a:gd name="T96" fmla="*/ 458 w 565"/>
                <a:gd name="T97" fmla="*/ 444 h 10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65" h="1009">
                  <a:moveTo>
                    <a:pt x="565" y="373"/>
                  </a:moveTo>
                  <a:lnTo>
                    <a:pt x="520" y="373"/>
                  </a:lnTo>
                  <a:lnTo>
                    <a:pt x="555" y="215"/>
                  </a:lnTo>
                  <a:lnTo>
                    <a:pt x="563" y="184"/>
                  </a:lnTo>
                  <a:lnTo>
                    <a:pt x="532" y="176"/>
                  </a:lnTo>
                  <a:lnTo>
                    <a:pt x="522" y="174"/>
                  </a:lnTo>
                  <a:lnTo>
                    <a:pt x="532" y="125"/>
                  </a:lnTo>
                  <a:lnTo>
                    <a:pt x="499" y="119"/>
                  </a:lnTo>
                  <a:lnTo>
                    <a:pt x="516" y="43"/>
                  </a:lnTo>
                  <a:lnTo>
                    <a:pt x="403" y="57"/>
                  </a:lnTo>
                  <a:lnTo>
                    <a:pt x="395" y="96"/>
                  </a:lnTo>
                  <a:lnTo>
                    <a:pt x="362" y="88"/>
                  </a:lnTo>
                  <a:lnTo>
                    <a:pt x="352" y="137"/>
                  </a:lnTo>
                  <a:lnTo>
                    <a:pt x="340" y="135"/>
                  </a:lnTo>
                  <a:lnTo>
                    <a:pt x="309" y="127"/>
                  </a:lnTo>
                  <a:lnTo>
                    <a:pt x="301" y="160"/>
                  </a:lnTo>
                  <a:lnTo>
                    <a:pt x="274" y="278"/>
                  </a:lnTo>
                  <a:lnTo>
                    <a:pt x="223" y="127"/>
                  </a:lnTo>
                  <a:lnTo>
                    <a:pt x="219" y="119"/>
                  </a:lnTo>
                  <a:lnTo>
                    <a:pt x="211" y="113"/>
                  </a:lnTo>
                  <a:lnTo>
                    <a:pt x="92" y="27"/>
                  </a:lnTo>
                  <a:lnTo>
                    <a:pt x="55" y="0"/>
                  </a:lnTo>
                  <a:lnTo>
                    <a:pt x="43" y="43"/>
                  </a:lnTo>
                  <a:lnTo>
                    <a:pt x="2" y="184"/>
                  </a:lnTo>
                  <a:lnTo>
                    <a:pt x="0" y="192"/>
                  </a:lnTo>
                  <a:lnTo>
                    <a:pt x="2" y="203"/>
                  </a:lnTo>
                  <a:lnTo>
                    <a:pt x="61" y="373"/>
                  </a:lnTo>
                  <a:lnTo>
                    <a:pt x="4" y="373"/>
                  </a:lnTo>
                  <a:lnTo>
                    <a:pt x="92" y="1009"/>
                  </a:lnTo>
                  <a:lnTo>
                    <a:pt x="456" y="1009"/>
                  </a:lnTo>
                  <a:lnTo>
                    <a:pt x="565" y="373"/>
                  </a:lnTo>
                  <a:lnTo>
                    <a:pt x="565" y="373"/>
                  </a:lnTo>
                  <a:close/>
                  <a:moveTo>
                    <a:pt x="454" y="373"/>
                  </a:moveTo>
                  <a:lnTo>
                    <a:pt x="319" y="373"/>
                  </a:lnTo>
                  <a:lnTo>
                    <a:pt x="358" y="205"/>
                  </a:lnTo>
                  <a:lnTo>
                    <a:pt x="487" y="231"/>
                  </a:lnTo>
                  <a:lnTo>
                    <a:pt x="454" y="373"/>
                  </a:lnTo>
                  <a:lnTo>
                    <a:pt x="454" y="373"/>
                  </a:lnTo>
                  <a:close/>
                  <a:moveTo>
                    <a:pt x="239" y="373"/>
                  </a:moveTo>
                  <a:lnTo>
                    <a:pt x="129" y="373"/>
                  </a:lnTo>
                  <a:lnTo>
                    <a:pt x="65" y="190"/>
                  </a:lnTo>
                  <a:lnTo>
                    <a:pt x="166" y="158"/>
                  </a:lnTo>
                  <a:lnTo>
                    <a:pt x="239" y="373"/>
                  </a:lnTo>
                  <a:lnTo>
                    <a:pt x="239" y="373"/>
                  </a:lnTo>
                  <a:close/>
                  <a:moveTo>
                    <a:pt x="458" y="444"/>
                  </a:moveTo>
                  <a:lnTo>
                    <a:pt x="391" y="917"/>
                  </a:lnTo>
                  <a:lnTo>
                    <a:pt x="274" y="917"/>
                  </a:lnTo>
                  <a:lnTo>
                    <a:pt x="342" y="444"/>
                  </a:lnTo>
                  <a:lnTo>
                    <a:pt x="458" y="444"/>
                  </a:lnTo>
                  <a:close/>
                </a:path>
              </a:pathLst>
            </a:custGeom>
            <a:solidFill>
              <a:srgbClr val="0A4776"/>
            </a:solidFill>
            <a:ln>
              <a:noFill/>
            </a:ln>
          </p:spPr>
          <p:txBody>
            <a:bodyPr vert="horz" wrap="square" lIns="91440" tIns="45720" rIns="91440" bIns="45720" numCol="1" anchor="t" anchorCtr="0" compatLnSpc="1"/>
            <a:lstStyle/>
            <a:p>
              <a:endParaRPr lang="zh-CN" altLang="en-US"/>
            </a:p>
          </p:txBody>
        </p:sp>
      </p:grpSp>
      <p:grpSp>
        <p:nvGrpSpPr>
          <p:cNvPr id="7" name="组合 6"/>
          <p:cNvGrpSpPr/>
          <p:nvPr/>
        </p:nvGrpSpPr>
        <p:grpSpPr>
          <a:xfrm>
            <a:off x="313130" y="3041109"/>
            <a:ext cx="468000" cy="468000"/>
            <a:chOff x="3588155" y="1507813"/>
            <a:chExt cx="468000" cy="468000"/>
          </a:xfrm>
        </p:grpSpPr>
        <p:sp>
          <p:nvSpPr>
            <p:cNvPr id="24" name="PA_椭圆 23"/>
            <p:cNvSpPr/>
            <p:nvPr>
              <p:custDataLst>
                <p:tags r:id="rId11"/>
              </p:custDataLst>
            </p:nvPr>
          </p:nvSpPr>
          <p:spPr>
            <a:xfrm>
              <a:off x="3588155" y="1507813"/>
              <a:ext cx="468000" cy="468000"/>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bg1"/>
                </a:solidFill>
                <a:effectLst>
                  <a:outerShdw blurRad="38100" dist="38100" dir="2700000" algn="tl">
                    <a:srgbClr val="000000">
                      <a:alpha val="43137"/>
                    </a:srgbClr>
                  </a:outerShdw>
                </a:effectLst>
              </a:endParaRPr>
            </a:p>
          </p:txBody>
        </p:sp>
        <p:sp>
          <p:nvSpPr>
            <p:cNvPr id="59" name="PA_任意多边形 15"/>
            <p:cNvSpPr>
              <a:spLocks noEditPoints="1"/>
            </p:cNvSpPr>
            <p:nvPr>
              <p:custDataLst>
                <p:tags r:id="rId12"/>
              </p:custDataLst>
            </p:nvPr>
          </p:nvSpPr>
          <p:spPr bwMode="auto">
            <a:xfrm>
              <a:off x="3724803" y="1624549"/>
              <a:ext cx="194704" cy="234529"/>
            </a:xfrm>
            <a:custGeom>
              <a:avLst/>
              <a:gdLst>
                <a:gd name="T0" fmla="*/ 641 w 792"/>
                <a:gd name="T1" fmla="*/ 278 h 954"/>
                <a:gd name="T2" fmla="*/ 639 w 792"/>
                <a:gd name="T3" fmla="*/ 331 h 954"/>
                <a:gd name="T4" fmla="*/ 623 w 792"/>
                <a:gd name="T5" fmla="*/ 376 h 954"/>
                <a:gd name="T6" fmla="*/ 598 w 792"/>
                <a:gd name="T7" fmla="*/ 403 h 954"/>
                <a:gd name="T8" fmla="*/ 559 w 792"/>
                <a:gd name="T9" fmla="*/ 497 h 954"/>
                <a:gd name="T10" fmla="*/ 516 w 792"/>
                <a:gd name="T11" fmla="*/ 546 h 954"/>
                <a:gd name="T12" fmla="*/ 481 w 792"/>
                <a:gd name="T13" fmla="*/ 567 h 954"/>
                <a:gd name="T14" fmla="*/ 387 w 792"/>
                <a:gd name="T15" fmla="*/ 573 h 954"/>
                <a:gd name="T16" fmla="*/ 313 w 792"/>
                <a:gd name="T17" fmla="*/ 567 h 954"/>
                <a:gd name="T18" fmla="*/ 258 w 792"/>
                <a:gd name="T19" fmla="*/ 534 h 954"/>
                <a:gd name="T20" fmla="*/ 217 w 792"/>
                <a:gd name="T21" fmla="*/ 473 h 954"/>
                <a:gd name="T22" fmla="*/ 182 w 792"/>
                <a:gd name="T23" fmla="*/ 397 h 954"/>
                <a:gd name="T24" fmla="*/ 160 w 792"/>
                <a:gd name="T25" fmla="*/ 364 h 954"/>
                <a:gd name="T26" fmla="*/ 150 w 792"/>
                <a:gd name="T27" fmla="*/ 288 h 954"/>
                <a:gd name="T28" fmla="*/ 164 w 792"/>
                <a:gd name="T29" fmla="*/ 268 h 954"/>
                <a:gd name="T30" fmla="*/ 160 w 792"/>
                <a:gd name="T31" fmla="*/ 161 h 954"/>
                <a:gd name="T32" fmla="*/ 188 w 792"/>
                <a:gd name="T33" fmla="*/ 71 h 954"/>
                <a:gd name="T34" fmla="*/ 240 w 792"/>
                <a:gd name="T35" fmla="*/ 30 h 954"/>
                <a:gd name="T36" fmla="*/ 336 w 792"/>
                <a:gd name="T37" fmla="*/ 4 h 954"/>
                <a:gd name="T38" fmla="*/ 442 w 792"/>
                <a:gd name="T39" fmla="*/ 4 h 954"/>
                <a:gd name="T40" fmla="*/ 539 w 792"/>
                <a:gd name="T41" fmla="*/ 28 h 954"/>
                <a:gd name="T42" fmla="*/ 598 w 792"/>
                <a:gd name="T43" fmla="*/ 71 h 954"/>
                <a:gd name="T44" fmla="*/ 633 w 792"/>
                <a:gd name="T45" fmla="*/ 170 h 954"/>
                <a:gd name="T46" fmla="*/ 623 w 792"/>
                <a:gd name="T47" fmla="*/ 268 h 954"/>
                <a:gd name="T48" fmla="*/ 448 w 792"/>
                <a:gd name="T49" fmla="*/ 819 h 954"/>
                <a:gd name="T50" fmla="*/ 696 w 792"/>
                <a:gd name="T51" fmla="*/ 628 h 954"/>
                <a:gd name="T52" fmla="*/ 743 w 792"/>
                <a:gd name="T53" fmla="*/ 702 h 954"/>
                <a:gd name="T54" fmla="*/ 790 w 792"/>
                <a:gd name="T55" fmla="*/ 864 h 954"/>
                <a:gd name="T56" fmla="*/ 792 w 792"/>
                <a:gd name="T57" fmla="*/ 954 h 954"/>
                <a:gd name="T58" fmla="*/ 6 w 792"/>
                <a:gd name="T59" fmla="*/ 872 h 954"/>
                <a:gd name="T60" fmla="*/ 37 w 792"/>
                <a:gd name="T61" fmla="*/ 735 h 954"/>
                <a:gd name="T62" fmla="*/ 82 w 792"/>
                <a:gd name="T63" fmla="*/ 653 h 954"/>
                <a:gd name="T64" fmla="*/ 362 w 792"/>
                <a:gd name="T65" fmla="*/ 817 h 954"/>
                <a:gd name="T66" fmla="*/ 369 w 792"/>
                <a:gd name="T67" fmla="*/ 616 h 954"/>
                <a:gd name="T68" fmla="*/ 547 w 792"/>
                <a:gd name="T69" fmla="*/ 225 h 954"/>
                <a:gd name="T70" fmla="*/ 446 w 792"/>
                <a:gd name="T71" fmla="*/ 235 h 954"/>
                <a:gd name="T72" fmla="*/ 340 w 792"/>
                <a:gd name="T73" fmla="*/ 209 h 954"/>
                <a:gd name="T74" fmla="*/ 307 w 792"/>
                <a:gd name="T75" fmla="*/ 206 h 954"/>
                <a:gd name="T76" fmla="*/ 246 w 792"/>
                <a:gd name="T77" fmla="*/ 221 h 954"/>
                <a:gd name="T78" fmla="*/ 223 w 792"/>
                <a:gd name="T79" fmla="*/ 299 h 954"/>
                <a:gd name="T80" fmla="*/ 193 w 792"/>
                <a:gd name="T81" fmla="*/ 299 h 954"/>
                <a:gd name="T82" fmla="*/ 195 w 792"/>
                <a:gd name="T83" fmla="*/ 340 h 954"/>
                <a:gd name="T84" fmla="*/ 205 w 792"/>
                <a:gd name="T85" fmla="*/ 364 h 954"/>
                <a:gd name="T86" fmla="*/ 229 w 792"/>
                <a:gd name="T87" fmla="*/ 385 h 954"/>
                <a:gd name="T88" fmla="*/ 262 w 792"/>
                <a:gd name="T89" fmla="*/ 473 h 954"/>
                <a:gd name="T90" fmla="*/ 299 w 792"/>
                <a:gd name="T91" fmla="*/ 518 h 954"/>
                <a:gd name="T92" fmla="*/ 344 w 792"/>
                <a:gd name="T93" fmla="*/ 532 h 954"/>
                <a:gd name="T94" fmla="*/ 455 w 792"/>
                <a:gd name="T95" fmla="*/ 530 h 954"/>
                <a:gd name="T96" fmla="*/ 500 w 792"/>
                <a:gd name="T97" fmla="*/ 507 h 954"/>
                <a:gd name="T98" fmla="*/ 537 w 792"/>
                <a:gd name="T99" fmla="*/ 456 h 954"/>
                <a:gd name="T100" fmla="*/ 563 w 792"/>
                <a:gd name="T101" fmla="*/ 374 h 954"/>
                <a:gd name="T102" fmla="*/ 584 w 792"/>
                <a:gd name="T103" fmla="*/ 362 h 954"/>
                <a:gd name="T104" fmla="*/ 598 w 792"/>
                <a:gd name="T105" fmla="*/ 327 h 954"/>
                <a:gd name="T106" fmla="*/ 596 w 792"/>
                <a:gd name="T107" fmla="*/ 299 h 954"/>
                <a:gd name="T108" fmla="*/ 565 w 792"/>
                <a:gd name="T109" fmla="*/ 280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92" h="954">
                  <a:moveTo>
                    <a:pt x="623" y="268"/>
                  </a:moveTo>
                  <a:lnTo>
                    <a:pt x="623" y="268"/>
                  </a:lnTo>
                  <a:lnTo>
                    <a:pt x="631" y="272"/>
                  </a:lnTo>
                  <a:lnTo>
                    <a:pt x="641" y="278"/>
                  </a:lnTo>
                  <a:lnTo>
                    <a:pt x="641" y="288"/>
                  </a:lnTo>
                  <a:lnTo>
                    <a:pt x="641" y="288"/>
                  </a:lnTo>
                  <a:lnTo>
                    <a:pt x="641" y="311"/>
                  </a:lnTo>
                  <a:lnTo>
                    <a:pt x="639" y="331"/>
                  </a:lnTo>
                  <a:lnTo>
                    <a:pt x="635" y="348"/>
                  </a:lnTo>
                  <a:lnTo>
                    <a:pt x="629" y="364"/>
                  </a:lnTo>
                  <a:lnTo>
                    <a:pt x="629" y="364"/>
                  </a:lnTo>
                  <a:lnTo>
                    <a:pt x="623" y="376"/>
                  </a:lnTo>
                  <a:lnTo>
                    <a:pt x="616" y="387"/>
                  </a:lnTo>
                  <a:lnTo>
                    <a:pt x="608" y="397"/>
                  </a:lnTo>
                  <a:lnTo>
                    <a:pt x="598" y="403"/>
                  </a:lnTo>
                  <a:lnTo>
                    <a:pt x="598" y="403"/>
                  </a:lnTo>
                  <a:lnTo>
                    <a:pt x="590" y="430"/>
                  </a:lnTo>
                  <a:lnTo>
                    <a:pt x="582" y="454"/>
                  </a:lnTo>
                  <a:lnTo>
                    <a:pt x="571" y="477"/>
                  </a:lnTo>
                  <a:lnTo>
                    <a:pt x="559" y="497"/>
                  </a:lnTo>
                  <a:lnTo>
                    <a:pt x="559" y="497"/>
                  </a:lnTo>
                  <a:lnTo>
                    <a:pt x="545" y="520"/>
                  </a:lnTo>
                  <a:lnTo>
                    <a:pt x="526" y="538"/>
                  </a:lnTo>
                  <a:lnTo>
                    <a:pt x="516" y="546"/>
                  </a:lnTo>
                  <a:lnTo>
                    <a:pt x="506" y="554"/>
                  </a:lnTo>
                  <a:lnTo>
                    <a:pt x="494" y="561"/>
                  </a:lnTo>
                  <a:lnTo>
                    <a:pt x="481" y="567"/>
                  </a:lnTo>
                  <a:lnTo>
                    <a:pt x="481" y="567"/>
                  </a:lnTo>
                  <a:lnTo>
                    <a:pt x="465" y="569"/>
                  </a:lnTo>
                  <a:lnTo>
                    <a:pt x="442" y="573"/>
                  </a:lnTo>
                  <a:lnTo>
                    <a:pt x="416" y="573"/>
                  </a:lnTo>
                  <a:lnTo>
                    <a:pt x="387" y="573"/>
                  </a:lnTo>
                  <a:lnTo>
                    <a:pt x="387" y="573"/>
                  </a:lnTo>
                  <a:lnTo>
                    <a:pt x="360" y="573"/>
                  </a:lnTo>
                  <a:lnTo>
                    <a:pt x="334" y="571"/>
                  </a:lnTo>
                  <a:lnTo>
                    <a:pt x="313" y="567"/>
                  </a:lnTo>
                  <a:lnTo>
                    <a:pt x="299" y="563"/>
                  </a:lnTo>
                  <a:lnTo>
                    <a:pt x="299" y="563"/>
                  </a:lnTo>
                  <a:lnTo>
                    <a:pt x="276" y="550"/>
                  </a:lnTo>
                  <a:lnTo>
                    <a:pt x="258" y="534"/>
                  </a:lnTo>
                  <a:lnTo>
                    <a:pt x="242" y="516"/>
                  </a:lnTo>
                  <a:lnTo>
                    <a:pt x="227" y="493"/>
                  </a:lnTo>
                  <a:lnTo>
                    <a:pt x="227" y="493"/>
                  </a:lnTo>
                  <a:lnTo>
                    <a:pt x="217" y="473"/>
                  </a:lnTo>
                  <a:lnTo>
                    <a:pt x="209" y="450"/>
                  </a:lnTo>
                  <a:lnTo>
                    <a:pt x="195" y="405"/>
                  </a:lnTo>
                  <a:lnTo>
                    <a:pt x="195" y="405"/>
                  </a:lnTo>
                  <a:lnTo>
                    <a:pt x="182" y="397"/>
                  </a:lnTo>
                  <a:lnTo>
                    <a:pt x="174" y="389"/>
                  </a:lnTo>
                  <a:lnTo>
                    <a:pt x="166" y="378"/>
                  </a:lnTo>
                  <a:lnTo>
                    <a:pt x="160" y="364"/>
                  </a:lnTo>
                  <a:lnTo>
                    <a:pt x="160" y="364"/>
                  </a:lnTo>
                  <a:lnTo>
                    <a:pt x="156" y="350"/>
                  </a:lnTo>
                  <a:lnTo>
                    <a:pt x="152" y="331"/>
                  </a:lnTo>
                  <a:lnTo>
                    <a:pt x="150" y="311"/>
                  </a:lnTo>
                  <a:lnTo>
                    <a:pt x="150" y="288"/>
                  </a:lnTo>
                  <a:lnTo>
                    <a:pt x="150" y="278"/>
                  </a:lnTo>
                  <a:lnTo>
                    <a:pt x="158" y="272"/>
                  </a:lnTo>
                  <a:lnTo>
                    <a:pt x="158" y="272"/>
                  </a:lnTo>
                  <a:lnTo>
                    <a:pt x="164" y="268"/>
                  </a:lnTo>
                  <a:lnTo>
                    <a:pt x="164" y="268"/>
                  </a:lnTo>
                  <a:lnTo>
                    <a:pt x="162" y="227"/>
                  </a:lnTo>
                  <a:lnTo>
                    <a:pt x="160" y="192"/>
                  </a:lnTo>
                  <a:lnTo>
                    <a:pt x="160" y="161"/>
                  </a:lnTo>
                  <a:lnTo>
                    <a:pt x="164" y="135"/>
                  </a:lnTo>
                  <a:lnTo>
                    <a:pt x="168" y="112"/>
                  </a:lnTo>
                  <a:lnTo>
                    <a:pt x="176" y="92"/>
                  </a:lnTo>
                  <a:lnTo>
                    <a:pt x="188" y="71"/>
                  </a:lnTo>
                  <a:lnTo>
                    <a:pt x="203" y="53"/>
                  </a:lnTo>
                  <a:lnTo>
                    <a:pt x="203" y="53"/>
                  </a:lnTo>
                  <a:lnTo>
                    <a:pt x="219" y="41"/>
                  </a:lnTo>
                  <a:lnTo>
                    <a:pt x="240" y="30"/>
                  </a:lnTo>
                  <a:lnTo>
                    <a:pt x="262" y="20"/>
                  </a:lnTo>
                  <a:lnTo>
                    <a:pt x="285" y="14"/>
                  </a:lnTo>
                  <a:lnTo>
                    <a:pt x="311" y="8"/>
                  </a:lnTo>
                  <a:lnTo>
                    <a:pt x="336" y="4"/>
                  </a:lnTo>
                  <a:lnTo>
                    <a:pt x="362" y="2"/>
                  </a:lnTo>
                  <a:lnTo>
                    <a:pt x="389" y="0"/>
                  </a:lnTo>
                  <a:lnTo>
                    <a:pt x="416" y="2"/>
                  </a:lnTo>
                  <a:lnTo>
                    <a:pt x="442" y="4"/>
                  </a:lnTo>
                  <a:lnTo>
                    <a:pt x="469" y="8"/>
                  </a:lnTo>
                  <a:lnTo>
                    <a:pt x="494" y="12"/>
                  </a:lnTo>
                  <a:lnTo>
                    <a:pt x="518" y="20"/>
                  </a:lnTo>
                  <a:lnTo>
                    <a:pt x="539" y="28"/>
                  </a:lnTo>
                  <a:lnTo>
                    <a:pt x="559" y="39"/>
                  </a:lnTo>
                  <a:lnTo>
                    <a:pt x="577" y="49"/>
                  </a:lnTo>
                  <a:lnTo>
                    <a:pt x="577" y="49"/>
                  </a:lnTo>
                  <a:lnTo>
                    <a:pt x="598" y="71"/>
                  </a:lnTo>
                  <a:lnTo>
                    <a:pt x="612" y="94"/>
                  </a:lnTo>
                  <a:lnTo>
                    <a:pt x="623" y="116"/>
                  </a:lnTo>
                  <a:lnTo>
                    <a:pt x="629" y="143"/>
                  </a:lnTo>
                  <a:lnTo>
                    <a:pt x="633" y="170"/>
                  </a:lnTo>
                  <a:lnTo>
                    <a:pt x="633" y="200"/>
                  </a:lnTo>
                  <a:lnTo>
                    <a:pt x="629" y="233"/>
                  </a:lnTo>
                  <a:lnTo>
                    <a:pt x="623" y="268"/>
                  </a:lnTo>
                  <a:lnTo>
                    <a:pt x="623" y="268"/>
                  </a:lnTo>
                  <a:close/>
                  <a:moveTo>
                    <a:pt x="440" y="616"/>
                  </a:moveTo>
                  <a:lnTo>
                    <a:pt x="442" y="643"/>
                  </a:lnTo>
                  <a:lnTo>
                    <a:pt x="426" y="669"/>
                  </a:lnTo>
                  <a:lnTo>
                    <a:pt x="448" y="819"/>
                  </a:lnTo>
                  <a:lnTo>
                    <a:pt x="541" y="618"/>
                  </a:lnTo>
                  <a:lnTo>
                    <a:pt x="684" y="614"/>
                  </a:lnTo>
                  <a:lnTo>
                    <a:pt x="684" y="614"/>
                  </a:lnTo>
                  <a:lnTo>
                    <a:pt x="696" y="628"/>
                  </a:lnTo>
                  <a:lnTo>
                    <a:pt x="709" y="645"/>
                  </a:lnTo>
                  <a:lnTo>
                    <a:pt x="721" y="661"/>
                  </a:lnTo>
                  <a:lnTo>
                    <a:pt x="733" y="681"/>
                  </a:lnTo>
                  <a:lnTo>
                    <a:pt x="743" y="702"/>
                  </a:lnTo>
                  <a:lnTo>
                    <a:pt x="754" y="722"/>
                  </a:lnTo>
                  <a:lnTo>
                    <a:pt x="770" y="769"/>
                  </a:lnTo>
                  <a:lnTo>
                    <a:pt x="782" y="817"/>
                  </a:lnTo>
                  <a:lnTo>
                    <a:pt x="790" y="864"/>
                  </a:lnTo>
                  <a:lnTo>
                    <a:pt x="792" y="911"/>
                  </a:lnTo>
                  <a:lnTo>
                    <a:pt x="792" y="931"/>
                  </a:lnTo>
                  <a:lnTo>
                    <a:pt x="792" y="954"/>
                  </a:lnTo>
                  <a:lnTo>
                    <a:pt x="792" y="954"/>
                  </a:lnTo>
                  <a:lnTo>
                    <a:pt x="0" y="954"/>
                  </a:lnTo>
                  <a:lnTo>
                    <a:pt x="0" y="954"/>
                  </a:lnTo>
                  <a:lnTo>
                    <a:pt x="2" y="915"/>
                  </a:lnTo>
                  <a:lnTo>
                    <a:pt x="6" y="872"/>
                  </a:lnTo>
                  <a:lnTo>
                    <a:pt x="12" y="827"/>
                  </a:lnTo>
                  <a:lnTo>
                    <a:pt x="23" y="782"/>
                  </a:lnTo>
                  <a:lnTo>
                    <a:pt x="29" y="757"/>
                  </a:lnTo>
                  <a:lnTo>
                    <a:pt x="37" y="735"/>
                  </a:lnTo>
                  <a:lnTo>
                    <a:pt x="47" y="712"/>
                  </a:lnTo>
                  <a:lnTo>
                    <a:pt x="57" y="692"/>
                  </a:lnTo>
                  <a:lnTo>
                    <a:pt x="68" y="671"/>
                  </a:lnTo>
                  <a:lnTo>
                    <a:pt x="82" y="653"/>
                  </a:lnTo>
                  <a:lnTo>
                    <a:pt x="96" y="634"/>
                  </a:lnTo>
                  <a:lnTo>
                    <a:pt x="113" y="618"/>
                  </a:lnTo>
                  <a:lnTo>
                    <a:pt x="242" y="620"/>
                  </a:lnTo>
                  <a:lnTo>
                    <a:pt x="362" y="817"/>
                  </a:lnTo>
                  <a:lnTo>
                    <a:pt x="385" y="669"/>
                  </a:lnTo>
                  <a:lnTo>
                    <a:pt x="369" y="643"/>
                  </a:lnTo>
                  <a:lnTo>
                    <a:pt x="369" y="616"/>
                  </a:lnTo>
                  <a:lnTo>
                    <a:pt x="369" y="616"/>
                  </a:lnTo>
                  <a:lnTo>
                    <a:pt x="405" y="614"/>
                  </a:lnTo>
                  <a:lnTo>
                    <a:pt x="440" y="616"/>
                  </a:lnTo>
                  <a:lnTo>
                    <a:pt x="440" y="616"/>
                  </a:lnTo>
                  <a:close/>
                  <a:moveTo>
                    <a:pt x="547" y="225"/>
                  </a:moveTo>
                  <a:lnTo>
                    <a:pt x="547" y="225"/>
                  </a:lnTo>
                  <a:lnTo>
                    <a:pt x="500" y="231"/>
                  </a:lnTo>
                  <a:lnTo>
                    <a:pt x="473" y="235"/>
                  </a:lnTo>
                  <a:lnTo>
                    <a:pt x="446" y="235"/>
                  </a:lnTo>
                  <a:lnTo>
                    <a:pt x="420" y="233"/>
                  </a:lnTo>
                  <a:lnTo>
                    <a:pt x="391" y="229"/>
                  </a:lnTo>
                  <a:lnTo>
                    <a:pt x="365" y="221"/>
                  </a:lnTo>
                  <a:lnTo>
                    <a:pt x="340" y="209"/>
                  </a:lnTo>
                  <a:lnTo>
                    <a:pt x="340" y="209"/>
                  </a:lnTo>
                  <a:lnTo>
                    <a:pt x="330" y="204"/>
                  </a:lnTo>
                  <a:lnTo>
                    <a:pt x="319" y="204"/>
                  </a:lnTo>
                  <a:lnTo>
                    <a:pt x="307" y="206"/>
                  </a:lnTo>
                  <a:lnTo>
                    <a:pt x="295" y="211"/>
                  </a:lnTo>
                  <a:lnTo>
                    <a:pt x="270" y="217"/>
                  </a:lnTo>
                  <a:lnTo>
                    <a:pt x="258" y="221"/>
                  </a:lnTo>
                  <a:lnTo>
                    <a:pt x="246" y="221"/>
                  </a:lnTo>
                  <a:lnTo>
                    <a:pt x="246" y="221"/>
                  </a:lnTo>
                  <a:lnTo>
                    <a:pt x="233" y="249"/>
                  </a:lnTo>
                  <a:lnTo>
                    <a:pt x="225" y="282"/>
                  </a:lnTo>
                  <a:lnTo>
                    <a:pt x="223" y="299"/>
                  </a:lnTo>
                  <a:lnTo>
                    <a:pt x="205" y="297"/>
                  </a:lnTo>
                  <a:lnTo>
                    <a:pt x="205" y="297"/>
                  </a:lnTo>
                  <a:lnTo>
                    <a:pt x="193" y="299"/>
                  </a:lnTo>
                  <a:lnTo>
                    <a:pt x="193" y="299"/>
                  </a:lnTo>
                  <a:lnTo>
                    <a:pt x="188" y="301"/>
                  </a:lnTo>
                  <a:lnTo>
                    <a:pt x="188" y="301"/>
                  </a:lnTo>
                  <a:lnTo>
                    <a:pt x="190" y="327"/>
                  </a:lnTo>
                  <a:lnTo>
                    <a:pt x="195" y="340"/>
                  </a:lnTo>
                  <a:lnTo>
                    <a:pt x="197" y="350"/>
                  </a:lnTo>
                  <a:lnTo>
                    <a:pt x="197" y="350"/>
                  </a:lnTo>
                  <a:lnTo>
                    <a:pt x="201" y="358"/>
                  </a:lnTo>
                  <a:lnTo>
                    <a:pt x="205" y="364"/>
                  </a:lnTo>
                  <a:lnTo>
                    <a:pt x="211" y="368"/>
                  </a:lnTo>
                  <a:lnTo>
                    <a:pt x="217" y="370"/>
                  </a:lnTo>
                  <a:lnTo>
                    <a:pt x="227" y="374"/>
                  </a:lnTo>
                  <a:lnTo>
                    <a:pt x="229" y="385"/>
                  </a:lnTo>
                  <a:lnTo>
                    <a:pt x="229" y="385"/>
                  </a:lnTo>
                  <a:lnTo>
                    <a:pt x="244" y="432"/>
                  </a:lnTo>
                  <a:lnTo>
                    <a:pt x="252" y="454"/>
                  </a:lnTo>
                  <a:lnTo>
                    <a:pt x="262" y="473"/>
                  </a:lnTo>
                  <a:lnTo>
                    <a:pt x="262" y="473"/>
                  </a:lnTo>
                  <a:lnTo>
                    <a:pt x="272" y="491"/>
                  </a:lnTo>
                  <a:lnTo>
                    <a:pt x="285" y="505"/>
                  </a:lnTo>
                  <a:lnTo>
                    <a:pt x="299" y="518"/>
                  </a:lnTo>
                  <a:lnTo>
                    <a:pt x="315" y="526"/>
                  </a:lnTo>
                  <a:lnTo>
                    <a:pt x="315" y="526"/>
                  </a:lnTo>
                  <a:lnTo>
                    <a:pt x="326" y="530"/>
                  </a:lnTo>
                  <a:lnTo>
                    <a:pt x="344" y="532"/>
                  </a:lnTo>
                  <a:lnTo>
                    <a:pt x="387" y="534"/>
                  </a:lnTo>
                  <a:lnTo>
                    <a:pt x="387" y="534"/>
                  </a:lnTo>
                  <a:lnTo>
                    <a:pt x="436" y="532"/>
                  </a:lnTo>
                  <a:lnTo>
                    <a:pt x="455" y="530"/>
                  </a:lnTo>
                  <a:lnTo>
                    <a:pt x="467" y="528"/>
                  </a:lnTo>
                  <a:lnTo>
                    <a:pt x="467" y="528"/>
                  </a:lnTo>
                  <a:lnTo>
                    <a:pt x="485" y="520"/>
                  </a:lnTo>
                  <a:lnTo>
                    <a:pt x="500" y="507"/>
                  </a:lnTo>
                  <a:lnTo>
                    <a:pt x="514" y="493"/>
                  </a:lnTo>
                  <a:lnTo>
                    <a:pt x="526" y="477"/>
                  </a:lnTo>
                  <a:lnTo>
                    <a:pt x="526" y="477"/>
                  </a:lnTo>
                  <a:lnTo>
                    <a:pt x="537" y="456"/>
                  </a:lnTo>
                  <a:lnTo>
                    <a:pt x="545" y="434"/>
                  </a:lnTo>
                  <a:lnTo>
                    <a:pt x="553" y="409"/>
                  </a:lnTo>
                  <a:lnTo>
                    <a:pt x="561" y="385"/>
                  </a:lnTo>
                  <a:lnTo>
                    <a:pt x="563" y="374"/>
                  </a:lnTo>
                  <a:lnTo>
                    <a:pt x="573" y="370"/>
                  </a:lnTo>
                  <a:lnTo>
                    <a:pt x="573" y="370"/>
                  </a:lnTo>
                  <a:lnTo>
                    <a:pt x="580" y="366"/>
                  </a:lnTo>
                  <a:lnTo>
                    <a:pt x="584" y="362"/>
                  </a:lnTo>
                  <a:lnTo>
                    <a:pt x="588" y="356"/>
                  </a:lnTo>
                  <a:lnTo>
                    <a:pt x="592" y="350"/>
                  </a:lnTo>
                  <a:lnTo>
                    <a:pt x="592" y="350"/>
                  </a:lnTo>
                  <a:lnTo>
                    <a:pt x="598" y="327"/>
                  </a:lnTo>
                  <a:lnTo>
                    <a:pt x="600" y="301"/>
                  </a:lnTo>
                  <a:lnTo>
                    <a:pt x="600" y="301"/>
                  </a:lnTo>
                  <a:lnTo>
                    <a:pt x="596" y="299"/>
                  </a:lnTo>
                  <a:lnTo>
                    <a:pt x="596" y="299"/>
                  </a:lnTo>
                  <a:lnTo>
                    <a:pt x="586" y="297"/>
                  </a:lnTo>
                  <a:lnTo>
                    <a:pt x="567" y="299"/>
                  </a:lnTo>
                  <a:lnTo>
                    <a:pt x="565" y="280"/>
                  </a:lnTo>
                  <a:lnTo>
                    <a:pt x="565" y="280"/>
                  </a:lnTo>
                  <a:lnTo>
                    <a:pt x="557" y="252"/>
                  </a:lnTo>
                  <a:lnTo>
                    <a:pt x="547" y="225"/>
                  </a:lnTo>
                  <a:lnTo>
                    <a:pt x="547" y="225"/>
                  </a:lnTo>
                  <a:close/>
                </a:path>
              </a:pathLst>
            </a:custGeom>
            <a:solidFill>
              <a:srgbClr val="0A4776"/>
            </a:solidFill>
            <a:ln>
              <a:noFill/>
            </a:ln>
          </p:spPr>
          <p:txBody>
            <a:bodyPr vert="horz" wrap="square" lIns="91440" tIns="45720" rIns="91440" bIns="45720" numCol="1" anchor="t" anchorCtr="0" compatLnSpc="1"/>
            <a:lstStyle/>
            <a:p>
              <a:endParaRPr lang="zh-CN" altLang="en-US"/>
            </a:p>
          </p:txBody>
        </p:sp>
      </p:grpSp>
      <p:grpSp>
        <p:nvGrpSpPr>
          <p:cNvPr id="17" name="组合 16"/>
          <p:cNvGrpSpPr/>
          <p:nvPr/>
        </p:nvGrpSpPr>
        <p:grpSpPr>
          <a:xfrm>
            <a:off x="4555749" y="4887390"/>
            <a:ext cx="468000" cy="468000"/>
            <a:chOff x="6064211" y="3103530"/>
            <a:chExt cx="468000" cy="468000"/>
          </a:xfrm>
        </p:grpSpPr>
        <p:sp>
          <p:nvSpPr>
            <p:cNvPr id="28" name="PA_椭圆 27"/>
            <p:cNvSpPr/>
            <p:nvPr>
              <p:custDataLst>
                <p:tags r:id="rId9"/>
              </p:custDataLst>
            </p:nvPr>
          </p:nvSpPr>
          <p:spPr>
            <a:xfrm>
              <a:off x="6064211" y="3103530"/>
              <a:ext cx="468000" cy="468000"/>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bg1"/>
                </a:solidFill>
                <a:effectLst>
                  <a:outerShdw blurRad="38100" dist="38100" dir="2700000" algn="tl">
                    <a:srgbClr val="000000">
                      <a:alpha val="43137"/>
                    </a:srgbClr>
                  </a:outerShdw>
                </a:effectLst>
              </a:endParaRPr>
            </a:p>
          </p:txBody>
        </p:sp>
        <p:sp>
          <p:nvSpPr>
            <p:cNvPr id="60" name="PA_任意多边形 18"/>
            <p:cNvSpPr>
              <a:spLocks noEditPoints="1"/>
            </p:cNvSpPr>
            <p:nvPr>
              <p:custDataLst>
                <p:tags r:id="rId10"/>
              </p:custDataLst>
            </p:nvPr>
          </p:nvSpPr>
          <p:spPr bwMode="auto">
            <a:xfrm>
              <a:off x="6206882" y="3226780"/>
              <a:ext cx="182658" cy="221501"/>
            </a:xfrm>
            <a:custGeom>
              <a:avLst/>
              <a:gdLst>
                <a:gd name="T0" fmla="*/ 743 w 743"/>
                <a:gd name="T1" fmla="*/ 841 h 901"/>
                <a:gd name="T2" fmla="*/ 211 w 743"/>
                <a:gd name="T3" fmla="*/ 901 h 901"/>
                <a:gd name="T4" fmla="*/ 340 w 743"/>
                <a:gd name="T5" fmla="*/ 841 h 901"/>
                <a:gd name="T6" fmla="*/ 586 w 743"/>
                <a:gd name="T7" fmla="*/ 260 h 901"/>
                <a:gd name="T8" fmla="*/ 586 w 743"/>
                <a:gd name="T9" fmla="*/ 260 h 901"/>
                <a:gd name="T10" fmla="*/ 592 w 743"/>
                <a:gd name="T11" fmla="*/ 238 h 901"/>
                <a:gd name="T12" fmla="*/ 592 w 743"/>
                <a:gd name="T13" fmla="*/ 213 h 901"/>
                <a:gd name="T14" fmla="*/ 588 w 743"/>
                <a:gd name="T15" fmla="*/ 201 h 901"/>
                <a:gd name="T16" fmla="*/ 571 w 743"/>
                <a:gd name="T17" fmla="*/ 182 h 901"/>
                <a:gd name="T18" fmla="*/ 379 w 743"/>
                <a:gd name="T19" fmla="*/ 70 h 901"/>
                <a:gd name="T20" fmla="*/ 369 w 743"/>
                <a:gd name="T21" fmla="*/ 64 h 901"/>
                <a:gd name="T22" fmla="*/ 344 w 743"/>
                <a:gd name="T23" fmla="*/ 61 h 901"/>
                <a:gd name="T24" fmla="*/ 332 w 743"/>
                <a:gd name="T25" fmla="*/ 64 h 901"/>
                <a:gd name="T26" fmla="*/ 319 w 743"/>
                <a:gd name="T27" fmla="*/ 68 h 901"/>
                <a:gd name="T28" fmla="*/ 301 w 743"/>
                <a:gd name="T29" fmla="*/ 82 h 901"/>
                <a:gd name="T30" fmla="*/ 293 w 743"/>
                <a:gd name="T31" fmla="*/ 92 h 901"/>
                <a:gd name="T32" fmla="*/ 281 w 743"/>
                <a:gd name="T33" fmla="*/ 131 h 901"/>
                <a:gd name="T34" fmla="*/ 485 w 743"/>
                <a:gd name="T35" fmla="*/ 250 h 901"/>
                <a:gd name="T36" fmla="*/ 565 w 743"/>
                <a:gd name="T37" fmla="*/ 295 h 901"/>
                <a:gd name="T38" fmla="*/ 643 w 743"/>
                <a:gd name="T39" fmla="*/ 278 h 901"/>
                <a:gd name="T40" fmla="*/ 612 w 743"/>
                <a:gd name="T41" fmla="*/ 332 h 901"/>
                <a:gd name="T42" fmla="*/ 594 w 743"/>
                <a:gd name="T43" fmla="*/ 362 h 901"/>
                <a:gd name="T44" fmla="*/ 592 w 743"/>
                <a:gd name="T45" fmla="*/ 367 h 901"/>
                <a:gd name="T46" fmla="*/ 395 w 743"/>
                <a:gd name="T47" fmla="*/ 710 h 901"/>
                <a:gd name="T48" fmla="*/ 383 w 743"/>
                <a:gd name="T49" fmla="*/ 715 h 901"/>
                <a:gd name="T50" fmla="*/ 352 w 743"/>
                <a:gd name="T51" fmla="*/ 727 h 901"/>
                <a:gd name="T52" fmla="*/ 328 w 743"/>
                <a:gd name="T53" fmla="*/ 731 h 901"/>
                <a:gd name="T54" fmla="*/ 303 w 743"/>
                <a:gd name="T55" fmla="*/ 727 h 901"/>
                <a:gd name="T56" fmla="*/ 285 w 743"/>
                <a:gd name="T57" fmla="*/ 719 h 901"/>
                <a:gd name="T58" fmla="*/ 274 w 743"/>
                <a:gd name="T59" fmla="*/ 710 h 901"/>
                <a:gd name="T60" fmla="*/ 258 w 743"/>
                <a:gd name="T61" fmla="*/ 686 h 901"/>
                <a:gd name="T62" fmla="*/ 252 w 743"/>
                <a:gd name="T63" fmla="*/ 672 h 901"/>
                <a:gd name="T64" fmla="*/ 209 w 743"/>
                <a:gd name="T65" fmla="*/ 667 h 901"/>
                <a:gd name="T66" fmla="*/ 170 w 743"/>
                <a:gd name="T67" fmla="*/ 653 h 901"/>
                <a:gd name="T68" fmla="*/ 152 w 743"/>
                <a:gd name="T69" fmla="*/ 641 h 901"/>
                <a:gd name="T70" fmla="*/ 119 w 743"/>
                <a:gd name="T71" fmla="*/ 606 h 901"/>
                <a:gd name="T72" fmla="*/ 107 w 743"/>
                <a:gd name="T73" fmla="*/ 586 h 901"/>
                <a:gd name="T74" fmla="*/ 76 w 743"/>
                <a:gd name="T75" fmla="*/ 588 h 901"/>
                <a:gd name="T76" fmla="*/ 49 w 743"/>
                <a:gd name="T77" fmla="*/ 581 h 901"/>
                <a:gd name="T78" fmla="*/ 39 w 743"/>
                <a:gd name="T79" fmla="*/ 577 h 901"/>
                <a:gd name="T80" fmla="*/ 23 w 743"/>
                <a:gd name="T81" fmla="*/ 561 h 901"/>
                <a:gd name="T82" fmla="*/ 10 w 743"/>
                <a:gd name="T83" fmla="*/ 538 h 901"/>
                <a:gd name="T84" fmla="*/ 2 w 743"/>
                <a:gd name="T85" fmla="*/ 510 h 901"/>
                <a:gd name="T86" fmla="*/ 0 w 743"/>
                <a:gd name="T87" fmla="*/ 481 h 901"/>
                <a:gd name="T88" fmla="*/ 199 w 743"/>
                <a:gd name="T89" fmla="*/ 139 h 901"/>
                <a:gd name="T90" fmla="*/ 205 w 743"/>
                <a:gd name="T91" fmla="*/ 127 h 901"/>
                <a:gd name="T92" fmla="*/ 219 w 743"/>
                <a:gd name="T93" fmla="*/ 104 h 901"/>
                <a:gd name="T94" fmla="*/ 250 w 743"/>
                <a:gd name="T95" fmla="*/ 51 h 901"/>
                <a:gd name="T96" fmla="*/ 262 w 743"/>
                <a:gd name="T97" fmla="*/ 33 h 901"/>
                <a:gd name="T98" fmla="*/ 293 w 743"/>
                <a:gd name="T99" fmla="*/ 10 h 901"/>
                <a:gd name="T100" fmla="*/ 311 w 743"/>
                <a:gd name="T101" fmla="*/ 2 h 901"/>
                <a:gd name="T102" fmla="*/ 332 w 743"/>
                <a:gd name="T103" fmla="*/ 0 h 901"/>
                <a:gd name="T104" fmla="*/ 371 w 743"/>
                <a:gd name="T105" fmla="*/ 4 h 901"/>
                <a:gd name="T106" fmla="*/ 606 w 743"/>
                <a:gd name="T107" fmla="*/ 137 h 901"/>
                <a:gd name="T108" fmla="*/ 623 w 743"/>
                <a:gd name="T109" fmla="*/ 150 h 901"/>
                <a:gd name="T110" fmla="*/ 647 w 743"/>
                <a:gd name="T111" fmla="*/ 182 h 901"/>
                <a:gd name="T112" fmla="*/ 653 w 743"/>
                <a:gd name="T113" fmla="*/ 201 h 901"/>
                <a:gd name="T114" fmla="*/ 657 w 743"/>
                <a:gd name="T115" fmla="*/ 240 h 901"/>
                <a:gd name="T116" fmla="*/ 643 w 743"/>
                <a:gd name="T117" fmla="*/ 278 h 901"/>
                <a:gd name="T118" fmla="*/ 10 w 743"/>
                <a:gd name="T119" fmla="*/ 653 h 901"/>
                <a:gd name="T120" fmla="*/ 98 w 743"/>
                <a:gd name="T121" fmla="*/ 884 h 901"/>
                <a:gd name="T122" fmla="*/ 10 w 743"/>
                <a:gd name="T123" fmla="*/ 653 h 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43" h="901">
                  <a:moveTo>
                    <a:pt x="340" y="841"/>
                  </a:moveTo>
                  <a:lnTo>
                    <a:pt x="743" y="841"/>
                  </a:lnTo>
                  <a:lnTo>
                    <a:pt x="743" y="901"/>
                  </a:lnTo>
                  <a:lnTo>
                    <a:pt x="211" y="901"/>
                  </a:lnTo>
                  <a:lnTo>
                    <a:pt x="340" y="841"/>
                  </a:lnTo>
                  <a:lnTo>
                    <a:pt x="340" y="841"/>
                  </a:lnTo>
                  <a:close/>
                  <a:moveTo>
                    <a:pt x="565" y="295"/>
                  </a:moveTo>
                  <a:lnTo>
                    <a:pt x="586" y="260"/>
                  </a:lnTo>
                  <a:lnTo>
                    <a:pt x="586" y="260"/>
                  </a:lnTo>
                  <a:lnTo>
                    <a:pt x="586" y="260"/>
                  </a:lnTo>
                  <a:lnTo>
                    <a:pt x="590" y="250"/>
                  </a:lnTo>
                  <a:lnTo>
                    <a:pt x="592" y="238"/>
                  </a:lnTo>
                  <a:lnTo>
                    <a:pt x="594" y="225"/>
                  </a:lnTo>
                  <a:lnTo>
                    <a:pt x="592" y="213"/>
                  </a:lnTo>
                  <a:lnTo>
                    <a:pt x="592" y="213"/>
                  </a:lnTo>
                  <a:lnTo>
                    <a:pt x="588" y="201"/>
                  </a:lnTo>
                  <a:lnTo>
                    <a:pt x="580" y="190"/>
                  </a:lnTo>
                  <a:lnTo>
                    <a:pt x="571" y="182"/>
                  </a:lnTo>
                  <a:lnTo>
                    <a:pt x="561" y="174"/>
                  </a:lnTo>
                  <a:lnTo>
                    <a:pt x="379" y="70"/>
                  </a:lnTo>
                  <a:lnTo>
                    <a:pt x="379" y="70"/>
                  </a:lnTo>
                  <a:lnTo>
                    <a:pt x="369" y="64"/>
                  </a:lnTo>
                  <a:lnTo>
                    <a:pt x="356" y="61"/>
                  </a:lnTo>
                  <a:lnTo>
                    <a:pt x="344" y="61"/>
                  </a:lnTo>
                  <a:lnTo>
                    <a:pt x="332" y="64"/>
                  </a:lnTo>
                  <a:lnTo>
                    <a:pt x="332" y="64"/>
                  </a:lnTo>
                  <a:lnTo>
                    <a:pt x="332" y="64"/>
                  </a:lnTo>
                  <a:lnTo>
                    <a:pt x="319" y="68"/>
                  </a:lnTo>
                  <a:lnTo>
                    <a:pt x="309" y="74"/>
                  </a:lnTo>
                  <a:lnTo>
                    <a:pt x="301" y="82"/>
                  </a:lnTo>
                  <a:lnTo>
                    <a:pt x="293" y="92"/>
                  </a:lnTo>
                  <a:lnTo>
                    <a:pt x="293" y="92"/>
                  </a:lnTo>
                  <a:lnTo>
                    <a:pt x="272" y="127"/>
                  </a:lnTo>
                  <a:lnTo>
                    <a:pt x="281" y="131"/>
                  </a:lnTo>
                  <a:lnTo>
                    <a:pt x="352" y="172"/>
                  </a:lnTo>
                  <a:lnTo>
                    <a:pt x="485" y="250"/>
                  </a:lnTo>
                  <a:lnTo>
                    <a:pt x="559" y="291"/>
                  </a:lnTo>
                  <a:lnTo>
                    <a:pt x="565" y="295"/>
                  </a:lnTo>
                  <a:lnTo>
                    <a:pt x="565" y="295"/>
                  </a:lnTo>
                  <a:close/>
                  <a:moveTo>
                    <a:pt x="643" y="278"/>
                  </a:moveTo>
                  <a:lnTo>
                    <a:pt x="645" y="278"/>
                  </a:lnTo>
                  <a:lnTo>
                    <a:pt x="612" y="332"/>
                  </a:lnTo>
                  <a:lnTo>
                    <a:pt x="600" y="354"/>
                  </a:lnTo>
                  <a:lnTo>
                    <a:pt x="594" y="362"/>
                  </a:lnTo>
                  <a:lnTo>
                    <a:pt x="592" y="367"/>
                  </a:lnTo>
                  <a:lnTo>
                    <a:pt x="592" y="367"/>
                  </a:lnTo>
                  <a:lnTo>
                    <a:pt x="399" y="700"/>
                  </a:lnTo>
                  <a:lnTo>
                    <a:pt x="395" y="710"/>
                  </a:lnTo>
                  <a:lnTo>
                    <a:pt x="383" y="715"/>
                  </a:lnTo>
                  <a:lnTo>
                    <a:pt x="383" y="715"/>
                  </a:lnTo>
                  <a:lnTo>
                    <a:pt x="369" y="721"/>
                  </a:lnTo>
                  <a:lnTo>
                    <a:pt x="352" y="727"/>
                  </a:lnTo>
                  <a:lnTo>
                    <a:pt x="340" y="729"/>
                  </a:lnTo>
                  <a:lnTo>
                    <a:pt x="328" y="731"/>
                  </a:lnTo>
                  <a:lnTo>
                    <a:pt x="315" y="731"/>
                  </a:lnTo>
                  <a:lnTo>
                    <a:pt x="303" y="727"/>
                  </a:lnTo>
                  <a:lnTo>
                    <a:pt x="293" y="725"/>
                  </a:lnTo>
                  <a:lnTo>
                    <a:pt x="285" y="719"/>
                  </a:lnTo>
                  <a:lnTo>
                    <a:pt x="285" y="719"/>
                  </a:lnTo>
                  <a:lnTo>
                    <a:pt x="274" y="710"/>
                  </a:lnTo>
                  <a:lnTo>
                    <a:pt x="264" y="698"/>
                  </a:lnTo>
                  <a:lnTo>
                    <a:pt x="258" y="686"/>
                  </a:lnTo>
                  <a:lnTo>
                    <a:pt x="252" y="672"/>
                  </a:lnTo>
                  <a:lnTo>
                    <a:pt x="252" y="672"/>
                  </a:lnTo>
                  <a:lnTo>
                    <a:pt x="229" y="672"/>
                  </a:lnTo>
                  <a:lnTo>
                    <a:pt x="209" y="667"/>
                  </a:lnTo>
                  <a:lnTo>
                    <a:pt x="188" y="661"/>
                  </a:lnTo>
                  <a:lnTo>
                    <a:pt x="170" y="653"/>
                  </a:lnTo>
                  <a:lnTo>
                    <a:pt x="170" y="653"/>
                  </a:lnTo>
                  <a:lnTo>
                    <a:pt x="152" y="641"/>
                  </a:lnTo>
                  <a:lnTo>
                    <a:pt x="135" y="624"/>
                  </a:lnTo>
                  <a:lnTo>
                    <a:pt x="119" y="606"/>
                  </a:lnTo>
                  <a:lnTo>
                    <a:pt x="107" y="586"/>
                  </a:lnTo>
                  <a:lnTo>
                    <a:pt x="107" y="586"/>
                  </a:lnTo>
                  <a:lnTo>
                    <a:pt x="90" y="588"/>
                  </a:lnTo>
                  <a:lnTo>
                    <a:pt x="76" y="588"/>
                  </a:lnTo>
                  <a:lnTo>
                    <a:pt x="61" y="586"/>
                  </a:lnTo>
                  <a:lnTo>
                    <a:pt x="49" y="581"/>
                  </a:lnTo>
                  <a:lnTo>
                    <a:pt x="49" y="581"/>
                  </a:lnTo>
                  <a:lnTo>
                    <a:pt x="39" y="577"/>
                  </a:lnTo>
                  <a:lnTo>
                    <a:pt x="29" y="569"/>
                  </a:lnTo>
                  <a:lnTo>
                    <a:pt x="23" y="561"/>
                  </a:lnTo>
                  <a:lnTo>
                    <a:pt x="14" y="551"/>
                  </a:lnTo>
                  <a:lnTo>
                    <a:pt x="10" y="538"/>
                  </a:lnTo>
                  <a:lnTo>
                    <a:pt x="6" y="526"/>
                  </a:lnTo>
                  <a:lnTo>
                    <a:pt x="2" y="510"/>
                  </a:lnTo>
                  <a:lnTo>
                    <a:pt x="2" y="491"/>
                  </a:lnTo>
                  <a:lnTo>
                    <a:pt x="0" y="481"/>
                  </a:lnTo>
                  <a:lnTo>
                    <a:pt x="6" y="473"/>
                  </a:lnTo>
                  <a:lnTo>
                    <a:pt x="199" y="139"/>
                  </a:lnTo>
                  <a:lnTo>
                    <a:pt x="199" y="139"/>
                  </a:lnTo>
                  <a:lnTo>
                    <a:pt x="205" y="127"/>
                  </a:lnTo>
                  <a:lnTo>
                    <a:pt x="219" y="104"/>
                  </a:lnTo>
                  <a:lnTo>
                    <a:pt x="219" y="104"/>
                  </a:lnTo>
                  <a:lnTo>
                    <a:pt x="250" y="51"/>
                  </a:lnTo>
                  <a:lnTo>
                    <a:pt x="250" y="51"/>
                  </a:lnTo>
                  <a:lnTo>
                    <a:pt x="250" y="51"/>
                  </a:lnTo>
                  <a:lnTo>
                    <a:pt x="262" y="33"/>
                  </a:lnTo>
                  <a:lnTo>
                    <a:pt x="276" y="21"/>
                  </a:lnTo>
                  <a:lnTo>
                    <a:pt x="293" y="10"/>
                  </a:lnTo>
                  <a:lnTo>
                    <a:pt x="311" y="2"/>
                  </a:lnTo>
                  <a:lnTo>
                    <a:pt x="311" y="2"/>
                  </a:lnTo>
                  <a:lnTo>
                    <a:pt x="311" y="2"/>
                  </a:lnTo>
                  <a:lnTo>
                    <a:pt x="332" y="0"/>
                  </a:lnTo>
                  <a:lnTo>
                    <a:pt x="352" y="0"/>
                  </a:lnTo>
                  <a:lnTo>
                    <a:pt x="371" y="4"/>
                  </a:lnTo>
                  <a:lnTo>
                    <a:pt x="389" y="12"/>
                  </a:lnTo>
                  <a:lnTo>
                    <a:pt x="606" y="137"/>
                  </a:lnTo>
                  <a:lnTo>
                    <a:pt x="606" y="137"/>
                  </a:lnTo>
                  <a:lnTo>
                    <a:pt x="623" y="150"/>
                  </a:lnTo>
                  <a:lnTo>
                    <a:pt x="637" y="164"/>
                  </a:lnTo>
                  <a:lnTo>
                    <a:pt x="647" y="182"/>
                  </a:lnTo>
                  <a:lnTo>
                    <a:pt x="653" y="201"/>
                  </a:lnTo>
                  <a:lnTo>
                    <a:pt x="653" y="201"/>
                  </a:lnTo>
                  <a:lnTo>
                    <a:pt x="657" y="219"/>
                  </a:lnTo>
                  <a:lnTo>
                    <a:pt x="657" y="240"/>
                  </a:lnTo>
                  <a:lnTo>
                    <a:pt x="653" y="258"/>
                  </a:lnTo>
                  <a:lnTo>
                    <a:pt x="643" y="278"/>
                  </a:lnTo>
                  <a:lnTo>
                    <a:pt x="643" y="278"/>
                  </a:lnTo>
                  <a:close/>
                  <a:moveTo>
                    <a:pt x="10" y="653"/>
                  </a:moveTo>
                  <a:lnTo>
                    <a:pt x="16" y="837"/>
                  </a:lnTo>
                  <a:lnTo>
                    <a:pt x="98" y="884"/>
                  </a:lnTo>
                  <a:lnTo>
                    <a:pt x="262" y="798"/>
                  </a:lnTo>
                  <a:lnTo>
                    <a:pt x="10" y="653"/>
                  </a:lnTo>
                  <a:close/>
                </a:path>
              </a:pathLst>
            </a:custGeom>
            <a:solidFill>
              <a:srgbClr val="0A4776"/>
            </a:solidFill>
            <a:ln>
              <a:noFill/>
            </a:ln>
          </p:spPr>
          <p:txBody>
            <a:bodyPr vert="horz" wrap="square" lIns="91440" tIns="45720" rIns="91440" bIns="45720" numCol="1" anchor="t" anchorCtr="0" compatLnSpc="1"/>
            <a:lstStyle/>
            <a:p>
              <a:endParaRPr lang="zh-CN" altLang="en-US"/>
            </a:p>
          </p:txBody>
        </p:sp>
      </p:grpSp>
      <p:grpSp>
        <p:nvGrpSpPr>
          <p:cNvPr id="3" name="组合 2"/>
          <p:cNvGrpSpPr/>
          <p:nvPr/>
        </p:nvGrpSpPr>
        <p:grpSpPr>
          <a:xfrm>
            <a:off x="311457" y="3911850"/>
            <a:ext cx="468000" cy="468000"/>
            <a:chOff x="1051006" y="3103530"/>
            <a:chExt cx="468000" cy="468000"/>
          </a:xfrm>
        </p:grpSpPr>
        <p:sp>
          <p:nvSpPr>
            <p:cNvPr id="26" name="PA_椭圆 25"/>
            <p:cNvSpPr/>
            <p:nvPr>
              <p:custDataLst>
                <p:tags r:id="rId7"/>
              </p:custDataLst>
            </p:nvPr>
          </p:nvSpPr>
          <p:spPr>
            <a:xfrm>
              <a:off x="1051006" y="3103530"/>
              <a:ext cx="468000" cy="468000"/>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bg1"/>
                </a:solidFill>
                <a:effectLst>
                  <a:outerShdw blurRad="38100" dist="38100" dir="2700000" algn="tl">
                    <a:srgbClr val="000000">
                      <a:alpha val="43137"/>
                    </a:srgbClr>
                  </a:outerShdw>
                </a:effectLst>
              </a:endParaRPr>
            </a:p>
          </p:txBody>
        </p:sp>
        <p:sp>
          <p:nvSpPr>
            <p:cNvPr id="61" name="PA_任意多边形 19"/>
            <p:cNvSpPr>
              <a:spLocks noEditPoints="1"/>
            </p:cNvSpPr>
            <p:nvPr>
              <p:custDataLst>
                <p:tags r:id="rId8"/>
              </p:custDataLst>
            </p:nvPr>
          </p:nvSpPr>
          <p:spPr bwMode="auto">
            <a:xfrm>
              <a:off x="1190343" y="3250729"/>
              <a:ext cx="189327" cy="173602"/>
            </a:xfrm>
            <a:custGeom>
              <a:avLst/>
              <a:gdLst>
                <a:gd name="T0" fmla="*/ 848 w 915"/>
                <a:gd name="T1" fmla="*/ 780 h 839"/>
                <a:gd name="T2" fmla="*/ 846 w 915"/>
                <a:gd name="T3" fmla="*/ 792 h 839"/>
                <a:gd name="T4" fmla="*/ 838 w 915"/>
                <a:gd name="T5" fmla="*/ 812 h 839"/>
                <a:gd name="T6" fmla="*/ 821 w 915"/>
                <a:gd name="T7" fmla="*/ 829 h 839"/>
                <a:gd name="T8" fmla="*/ 801 w 915"/>
                <a:gd name="T9" fmla="*/ 839 h 839"/>
                <a:gd name="T10" fmla="*/ 137 w 915"/>
                <a:gd name="T11" fmla="*/ 839 h 839"/>
                <a:gd name="T12" fmla="*/ 125 w 915"/>
                <a:gd name="T13" fmla="*/ 839 h 839"/>
                <a:gd name="T14" fmla="*/ 105 w 915"/>
                <a:gd name="T15" fmla="*/ 829 h 839"/>
                <a:gd name="T16" fmla="*/ 88 w 915"/>
                <a:gd name="T17" fmla="*/ 812 h 839"/>
                <a:gd name="T18" fmla="*/ 80 w 915"/>
                <a:gd name="T19" fmla="*/ 792 h 839"/>
                <a:gd name="T20" fmla="*/ 78 w 915"/>
                <a:gd name="T21" fmla="*/ 505 h 839"/>
                <a:gd name="T22" fmla="*/ 371 w 915"/>
                <a:gd name="T23" fmla="*/ 546 h 839"/>
                <a:gd name="T24" fmla="*/ 426 w 915"/>
                <a:gd name="T25" fmla="*/ 620 h 839"/>
                <a:gd name="T26" fmla="*/ 504 w 915"/>
                <a:gd name="T27" fmla="*/ 546 h 839"/>
                <a:gd name="T28" fmla="*/ 563 w 915"/>
                <a:gd name="T29" fmla="*/ 505 h 839"/>
                <a:gd name="T30" fmla="*/ 848 w 915"/>
                <a:gd name="T31" fmla="*/ 505 h 839"/>
                <a:gd name="T32" fmla="*/ 250 w 915"/>
                <a:gd name="T33" fmla="*/ 94 h 839"/>
                <a:gd name="T34" fmla="*/ 262 w 915"/>
                <a:gd name="T35" fmla="*/ 80 h 839"/>
                <a:gd name="T36" fmla="*/ 275 w 915"/>
                <a:gd name="T37" fmla="*/ 65 h 839"/>
                <a:gd name="T38" fmla="*/ 311 w 915"/>
                <a:gd name="T39" fmla="*/ 39 h 839"/>
                <a:gd name="T40" fmla="*/ 352 w 915"/>
                <a:gd name="T41" fmla="*/ 20 h 839"/>
                <a:gd name="T42" fmla="*/ 397 w 915"/>
                <a:gd name="T43" fmla="*/ 6 h 839"/>
                <a:gd name="T44" fmla="*/ 447 w 915"/>
                <a:gd name="T45" fmla="*/ 0 h 839"/>
                <a:gd name="T46" fmla="*/ 471 w 915"/>
                <a:gd name="T47" fmla="*/ 0 h 839"/>
                <a:gd name="T48" fmla="*/ 520 w 915"/>
                <a:gd name="T49" fmla="*/ 4 h 839"/>
                <a:gd name="T50" fmla="*/ 569 w 915"/>
                <a:gd name="T51" fmla="*/ 18 h 839"/>
                <a:gd name="T52" fmla="*/ 614 w 915"/>
                <a:gd name="T53" fmla="*/ 43 h 839"/>
                <a:gd name="T54" fmla="*/ 637 w 915"/>
                <a:gd name="T55" fmla="*/ 57 h 839"/>
                <a:gd name="T56" fmla="*/ 674 w 915"/>
                <a:gd name="T57" fmla="*/ 92 h 839"/>
                <a:gd name="T58" fmla="*/ 588 w 915"/>
                <a:gd name="T59" fmla="*/ 118 h 839"/>
                <a:gd name="T60" fmla="*/ 574 w 915"/>
                <a:gd name="T61" fmla="*/ 108 h 839"/>
                <a:gd name="T62" fmla="*/ 539 w 915"/>
                <a:gd name="T63" fmla="*/ 92 h 839"/>
                <a:gd name="T64" fmla="*/ 504 w 915"/>
                <a:gd name="T65" fmla="*/ 82 h 839"/>
                <a:gd name="T66" fmla="*/ 467 w 915"/>
                <a:gd name="T67" fmla="*/ 77 h 839"/>
                <a:gd name="T68" fmla="*/ 451 w 915"/>
                <a:gd name="T69" fmla="*/ 77 h 839"/>
                <a:gd name="T70" fmla="*/ 387 w 915"/>
                <a:gd name="T71" fmla="*/ 90 h 839"/>
                <a:gd name="T72" fmla="*/ 346 w 915"/>
                <a:gd name="T73" fmla="*/ 110 h 839"/>
                <a:gd name="T74" fmla="*/ 281 w 915"/>
                <a:gd name="T75" fmla="*/ 118 h 839"/>
                <a:gd name="T76" fmla="*/ 250 w 915"/>
                <a:gd name="T77" fmla="*/ 94 h 839"/>
                <a:gd name="T78" fmla="*/ 846 w 915"/>
                <a:gd name="T79" fmla="*/ 143 h 839"/>
                <a:gd name="T80" fmla="*/ 860 w 915"/>
                <a:gd name="T81" fmla="*/ 145 h 839"/>
                <a:gd name="T82" fmla="*/ 885 w 915"/>
                <a:gd name="T83" fmla="*/ 155 h 839"/>
                <a:gd name="T84" fmla="*/ 903 w 915"/>
                <a:gd name="T85" fmla="*/ 174 h 839"/>
                <a:gd name="T86" fmla="*/ 915 w 915"/>
                <a:gd name="T87" fmla="*/ 200 h 839"/>
                <a:gd name="T88" fmla="*/ 915 w 915"/>
                <a:gd name="T89" fmla="*/ 374 h 839"/>
                <a:gd name="T90" fmla="*/ 915 w 915"/>
                <a:gd name="T91" fmla="*/ 389 h 839"/>
                <a:gd name="T92" fmla="*/ 903 w 915"/>
                <a:gd name="T93" fmla="*/ 415 h 839"/>
                <a:gd name="T94" fmla="*/ 885 w 915"/>
                <a:gd name="T95" fmla="*/ 434 h 839"/>
                <a:gd name="T96" fmla="*/ 860 w 915"/>
                <a:gd name="T97" fmla="*/ 444 h 839"/>
                <a:gd name="T98" fmla="*/ 70 w 915"/>
                <a:gd name="T99" fmla="*/ 446 h 839"/>
                <a:gd name="T100" fmla="*/ 55 w 915"/>
                <a:gd name="T101" fmla="*/ 444 h 839"/>
                <a:gd name="T102" fmla="*/ 31 w 915"/>
                <a:gd name="T103" fmla="*/ 434 h 839"/>
                <a:gd name="T104" fmla="*/ 12 w 915"/>
                <a:gd name="T105" fmla="*/ 415 h 839"/>
                <a:gd name="T106" fmla="*/ 2 w 915"/>
                <a:gd name="T107" fmla="*/ 389 h 839"/>
                <a:gd name="T108" fmla="*/ 0 w 915"/>
                <a:gd name="T109" fmla="*/ 215 h 839"/>
                <a:gd name="T110" fmla="*/ 2 w 915"/>
                <a:gd name="T111" fmla="*/ 200 h 839"/>
                <a:gd name="T112" fmla="*/ 12 w 915"/>
                <a:gd name="T113" fmla="*/ 174 h 839"/>
                <a:gd name="T114" fmla="*/ 31 w 915"/>
                <a:gd name="T115" fmla="*/ 155 h 839"/>
                <a:gd name="T116" fmla="*/ 55 w 915"/>
                <a:gd name="T117" fmla="*/ 145 h 839"/>
                <a:gd name="T118" fmla="*/ 70 w 915"/>
                <a:gd name="T119" fmla="*/ 143 h 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15" h="839">
                  <a:moveTo>
                    <a:pt x="848" y="505"/>
                  </a:moveTo>
                  <a:lnTo>
                    <a:pt x="848" y="780"/>
                  </a:lnTo>
                  <a:lnTo>
                    <a:pt x="848" y="780"/>
                  </a:lnTo>
                  <a:lnTo>
                    <a:pt x="846" y="792"/>
                  </a:lnTo>
                  <a:lnTo>
                    <a:pt x="844" y="804"/>
                  </a:lnTo>
                  <a:lnTo>
                    <a:pt x="838" y="812"/>
                  </a:lnTo>
                  <a:lnTo>
                    <a:pt x="829" y="823"/>
                  </a:lnTo>
                  <a:lnTo>
                    <a:pt x="821" y="829"/>
                  </a:lnTo>
                  <a:lnTo>
                    <a:pt x="811" y="835"/>
                  </a:lnTo>
                  <a:lnTo>
                    <a:pt x="801" y="839"/>
                  </a:lnTo>
                  <a:lnTo>
                    <a:pt x="789" y="839"/>
                  </a:lnTo>
                  <a:lnTo>
                    <a:pt x="137" y="839"/>
                  </a:lnTo>
                  <a:lnTo>
                    <a:pt x="137" y="839"/>
                  </a:lnTo>
                  <a:lnTo>
                    <a:pt x="125" y="839"/>
                  </a:lnTo>
                  <a:lnTo>
                    <a:pt x="115" y="835"/>
                  </a:lnTo>
                  <a:lnTo>
                    <a:pt x="105" y="829"/>
                  </a:lnTo>
                  <a:lnTo>
                    <a:pt x="96" y="823"/>
                  </a:lnTo>
                  <a:lnTo>
                    <a:pt x="88" y="812"/>
                  </a:lnTo>
                  <a:lnTo>
                    <a:pt x="82" y="804"/>
                  </a:lnTo>
                  <a:lnTo>
                    <a:pt x="80" y="792"/>
                  </a:lnTo>
                  <a:lnTo>
                    <a:pt x="78" y="780"/>
                  </a:lnTo>
                  <a:lnTo>
                    <a:pt x="78" y="505"/>
                  </a:lnTo>
                  <a:lnTo>
                    <a:pt x="371" y="505"/>
                  </a:lnTo>
                  <a:lnTo>
                    <a:pt x="371" y="546"/>
                  </a:lnTo>
                  <a:lnTo>
                    <a:pt x="426" y="546"/>
                  </a:lnTo>
                  <a:lnTo>
                    <a:pt x="426" y="620"/>
                  </a:lnTo>
                  <a:lnTo>
                    <a:pt x="504" y="620"/>
                  </a:lnTo>
                  <a:lnTo>
                    <a:pt x="504" y="546"/>
                  </a:lnTo>
                  <a:lnTo>
                    <a:pt x="563" y="546"/>
                  </a:lnTo>
                  <a:lnTo>
                    <a:pt x="563" y="505"/>
                  </a:lnTo>
                  <a:lnTo>
                    <a:pt x="846" y="505"/>
                  </a:lnTo>
                  <a:lnTo>
                    <a:pt x="848" y="505"/>
                  </a:lnTo>
                  <a:lnTo>
                    <a:pt x="848" y="505"/>
                  </a:lnTo>
                  <a:close/>
                  <a:moveTo>
                    <a:pt x="250" y="94"/>
                  </a:moveTo>
                  <a:lnTo>
                    <a:pt x="250" y="94"/>
                  </a:lnTo>
                  <a:lnTo>
                    <a:pt x="262" y="80"/>
                  </a:lnTo>
                  <a:lnTo>
                    <a:pt x="275" y="65"/>
                  </a:lnTo>
                  <a:lnTo>
                    <a:pt x="275" y="65"/>
                  </a:lnTo>
                  <a:lnTo>
                    <a:pt x="291" y="53"/>
                  </a:lnTo>
                  <a:lnTo>
                    <a:pt x="311" y="39"/>
                  </a:lnTo>
                  <a:lnTo>
                    <a:pt x="330" y="28"/>
                  </a:lnTo>
                  <a:lnTo>
                    <a:pt x="352" y="20"/>
                  </a:lnTo>
                  <a:lnTo>
                    <a:pt x="375" y="12"/>
                  </a:lnTo>
                  <a:lnTo>
                    <a:pt x="397" y="6"/>
                  </a:lnTo>
                  <a:lnTo>
                    <a:pt x="422" y="2"/>
                  </a:lnTo>
                  <a:lnTo>
                    <a:pt x="447" y="0"/>
                  </a:lnTo>
                  <a:lnTo>
                    <a:pt x="447" y="0"/>
                  </a:lnTo>
                  <a:lnTo>
                    <a:pt x="471" y="0"/>
                  </a:lnTo>
                  <a:lnTo>
                    <a:pt x="496" y="2"/>
                  </a:lnTo>
                  <a:lnTo>
                    <a:pt x="520" y="4"/>
                  </a:lnTo>
                  <a:lnTo>
                    <a:pt x="545" y="10"/>
                  </a:lnTo>
                  <a:lnTo>
                    <a:pt x="569" y="18"/>
                  </a:lnTo>
                  <a:lnTo>
                    <a:pt x="592" y="28"/>
                  </a:lnTo>
                  <a:lnTo>
                    <a:pt x="614" y="43"/>
                  </a:lnTo>
                  <a:lnTo>
                    <a:pt x="637" y="57"/>
                  </a:lnTo>
                  <a:lnTo>
                    <a:pt x="637" y="57"/>
                  </a:lnTo>
                  <a:lnTo>
                    <a:pt x="655" y="73"/>
                  </a:lnTo>
                  <a:lnTo>
                    <a:pt x="674" y="92"/>
                  </a:lnTo>
                  <a:lnTo>
                    <a:pt x="643" y="118"/>
                  </a:lnTo>
                  <a:lnTo>
                    <a:pt x="588" y="118"/>
                  </a:lnTo>
                  <a:lnTo>
                    <a:pt x="588" y="118"/>
                  </a:lnTo>
                  <a:lnTo>
                    <a:pt x="574" y="108"/>
                  </a:lnTo>
                  <a:lnTo>
                    <a:pt x="557" y="98"/>
                  </a:lnTo>
                  <a:lnTo>
                    <a:pt x="539" y="92"/>
                  </a:lnTo>
                  <a:lnTo>
                    <a:pt x="522" y="86"/>
                  </a:lnTo>
                  <a:lnTo>
                    <a:pt x="504" y="82"/>
                  </a:lnTo>
                  <a:lnTo>
                    <a:pt x="485" y="77"/>
                  </a:lnTo>
                  <a:lnTo>
                    <a:pt x="467" y="77"/>
                  </a:lnTo>
                  <a:lnTo>
                    <a:pt x="451" y="77"/>
                  </a:lnTo>
                  <a:lnTo>
                    <a:pt x="451" y="77"/>
                  </a:lnTo>
                  <a:lnTo>
                    <a:pt x="418" y="82"/>
                  </a:lnTo>
                  <a:lnTo>
                    <a:pt x="387" y="90"/>
                  </a:lnTo>
                  <a:lnTo>
                    <a:pt x="359" y="102"/>
                  </a:lnTo>
                  <a:lnTo>
                    <a:pt x="346" y="110"/>
                  </a:lnTo>
                  <a:lnTo>
                    <a:pt x="334" y="118"/>
                  </a:lnTo>
                  <a:lnTo>
                    <a:pt x="281" y="118"/>
                  </a:lnTo>
                  <a:lnTo>
                    <a:pt x="250" y="94"/>
                  </a:lnTo>
                  <a:lnTo>
                    <a:pt x="250" y="94"/>
                  </a:lnTo>
                  <a:close/>
                  <a:moveTo>
                    <a:pt x="70" y="143"/>
                  </a:moveTo>
                  <a:lnTo>
                    <a:pt x="846" y="143"/>
                  </a:lnTo>
                  <a:lnTo>
                    <a:pt x="846" y="143"/>
                  </a:lnTo>
                  <a:lnTo>
                    <a:pt x="860" y="145"/>
                  </a:lnTo>
                  <a:lnTo>
                    <a:pt x="872" y="149"/>
                  </a:lnTo>
                  <a:lnTo>
                    <a:pt x="885" y="155"/>
                  </a:lnTo>
                  <a:lnTo>
                    <a:pt x="895" y="163"/>
                  </a:lnTo>
                  <a:lnTo>
                    <a:pt x="903" y="174"/>
                  </a:lnTo>
                  <a:lnTo>
                    <a:pt x="911" y="186"/>
                  </a:lnTo>
                  <a:lnTo>
                    <a:pt x="915" y="200"/>
                  </a:lnTo>
                  <a:lnTo>
                    <a:pt x="915" y="215"/>
                  </a:lnTo>
                  <a:lnTo>
                    <a:pt x="915" y="374"/>
                  </a:lnTo>
                  <a:lnTo>
                    <a:pt x="915" y="374"/>
                  </a:lnTo>
                  <a:lnTo>
                    <a:pt x="915" y="389"/>
                  </a:lnTo>
                  <a:lnTo>
                    <a:pt x="911" y="403"/>
                  </a:lnTo>
                  <a:lnTo>
                    <a:pt x="903" y="415"/>
                  </a:lnTo>
                  <a:lnTo>
                    <a:pt x="895" y="425"/>
                  </a:lnTo>
                  <a:lnTo>
                    <a:pt x="885" y="434"/>
                  </a:lnTo>
                  <a:lnTo>
                    <a:pt x="872" y="440"/>
                  </a:lnTo>
                  <a:lnTo>
                    <a:pt x="860" y="444"/>
                  </a:lnTo>
                  <a:lnTo>
                    <a:pt x="846" y="446"/>
                  </a:lnTo>
                  <a:lnTo>
                    <a:pt x="70" y="446"/>
                  </a:lnTo>
                  <a:lnTo>
                    <a:pt x="70" y="446"/>
                  </a:lnTo>
                  <a:lnTo>
                    <a:pt x="55" y="444"/>
                  </a:lnTo>
                  <a:lnTo>
                    <a:pt x="43" y="440"/>
                  </a:lnTo>
                  <a:lnTo>
                    <a:pt x="31" y="434"/>
                  </a:lnTo>
                  <a:lnTo>
                    <a:pt x="21" y="425"/>
                  </a:lnTo>
                  <a:lnTo>
                    <a:pt x="12" y="415"/>
                  </a:lnTo>
                  <a:lnTo>
                    <a:pt x="6" y="403"/>
                  </a:lnTo>
                  <a:lnTo>
                    <a:pt x="2" y="389"/>
                  </a:lnTo>
                  <a:lnTo>
                    <a:pt x="0" y="374"/>
                  </a:lnTo>
                  <a:lnTo>
                    <a:pt x="0" y="215"/>
                  </a:lnTo>
                  <a:lnTo>
                    <a:pt x="0" y="215"/>
                  </a:lnTo>
                  <a:lnTo>
                    <a:pt x="2" y="200"/>
                  </a:lnTo>
                  <a:lnTo>
                    <a:pt x="6" y="186"/>
                  </a:lnTo>
                  <a:lnTo>
                    <a:pt x="12" y="174"/>
                  </a:lnTo>
                  <a:lnTo>
                    <a:pt x="21" y="163"/>
                  </a:lnTo>
                  <a:lnTo>
                    <a:pt x="31" y="155"/>
                  </a:lnTo>
                  <a:lnTo>
                    <a:pt x="43" y="149"/>
                  </a:lnTo>
                  <a:lnTo>
                    <a:pt x="55" y="145"/>
                  </a:lnTo>
                  <a:lnTo>
                    <a:pt x="70" y="143"/>
                  </a:lnTo>
                  <a:lnTo>
                    <a:pt x="70" y="143"/>
                  </a:lnTo>
                  <a:close/>
                </a:path>
              </a:pathLst>
            </a:custGeom>
            <a:solidFill>
              <a:srgbClr val="0A4776"/>
            </a:solidFill>
            <a:ln>
              <a:noFill/>
            </a:ln>
          </p:spPr>
          <p:txBody>
            <a:bodyPr vert="horz" wrap="square" lIns="91440" tIns="45720" rIns="91440" bIns="45720" numCol="1" anchor="t" anchorCtr="0" compatLnSpc="1"/>
            <a:lstStyle/>
            <a:p>
              <a:endParaRPr lang="zh-CN" altLang="en-US"/>
            </a:p>
          </p:txBody>
        </p:sp>
      </p:grpSp>
      <p:grpSp>
        <p:nvGrpSpPr>
          <p:cNvPr id="13" name="组合 12"/>
          <p:cNvGrpSpPr/>
          <p:nvPr/>
        </p:nvGrpSpPr>
        <p:grpSpPr>
          <a:xfrm>
            <a:off x="4558837" y="3994387"/>
            <a:ext cx="476529" cy="476529"/>
            <a:chOff x="5228971" y="1773814"/>
            <a:chExt cx="476529" cy="476529"/>
          </a:xfrm>
        </p:grpSpPr>
        <p:sp>
          <p:nvSpPr>
            <p:cNvPr id="39" name="PA_椭圆 43"/>
            <p:cNvSpPr/>
            <p:nvPr>
              <p:custDataLst>
                <p:tags r:id="rId5"/>
              </p:custDataLst>
            </p:nvPr>
          </p:nvSpPr>
          <p:spPr>
            <a:xfrm>
              <a:off x="5228971" y="1773814"/>
              <a:ext cx="476529" cy="476529"/>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bg1"/>
                </a:solidFill>
                <a:effectLst>
                  <a:outerShdw blurRad="38100" dist="38100" dir="2700000" algn="tl">
                    <a:srgbClr val="000000">
                      <a:alpha val="43137"/>
                    </a:srgbClr>
                  </a:outerShdw>
                </a:effectLst>
              </a:endParaRPr>
            </a:p>
          </p:txBody>
        </p:sp>
        <p:sp>
          <p:nvSpPr>
            <p:cNvPr id="40" name="PA_任意多边形 10"/>
            <p:cNvSpPr>
              <a:spLocks noEditPoints="1"/>
            </p:cNvSpPr>
            <p:nvPr>
              <p:custDataLst>
                <p:tags r:id="rId6"/>
              </p:custDataLst>
            </p:nvPr>
          </p:nvSpPr>
          <p:spPr bwMode="auto">
            <a:xfrm>
              <a:off x="5388611" y="1927668"/>
              <a:ext cx="152696" cy="189516"/>
            </a:xfrm>
            <a:custGeom>
              <a:avLst/>
              <a:gdLst>
                <a:gd name="T0" fmla="*/ 336 w 564"/>
                <a:gd name="T1" fmla="*/ 333 h 700"/>
                <a:gd name="T2" fmla="*/ 17 w 564"/>
                <a:gd name="T3" fmla="*/ 331 h 700"/>
                <a:gd name="T4" fmla="*/ 0 w 564"/>
                <a:gd name="T5" fmla="*/ 306 h 700"/>
                <a:gd name="T6" fmla="*/ 2 w 564"/>
                <a:gd name="T7" fmla="*/ 204 h 700"/>
                <a:gd name="T8" fmla="*/ 27 w 564"/>
                <a:gd name="T9" fmla="*/ 187 h 700"/>
                <a:gd name="T10" fmla="*/ 564 w 564"/>
                <a:gd name="T11" fmla="*/ 623 h 700"/>
                <a:gd name="T12" fmla="*/ 403 w 564"/>
                <a:gd name="T13" fmla="*/ 623 h 700"/>
                <a:gd name="T14" fmla="*/ 370 w 564"/>
                <a:gd name="T15" fmla="*/ 700 h 700"/>
                <a:gd name="T16" fmla="*/ 0 w 564"/>
                <a:gd name="T17" fmla="*/ 682 h 700"/>
                <a:gd name="T18" fmla="*/ 205 w 564"/>
                <a:gd name="T19" fmla="*/ 604 h 700"/>
                <a:gd name="T20" fmla="*/ 27 w 564"/>
                <a:gd name="T21" fmla="*/ 523 h 700"/>
                <a:gd name="T22" fmla="*/ 7 w 564"/>
                <a:gd name="T23" fmla="*/ 515 h 700"/>
                <a:gd name="T24" fmla="*/ 0 w 564"/>
                <a:gd name="T25" fmla="*/ 404 h 700"/>
                <a:gd name="T26" fmla="*/ 7 w 564"/>
                <a:gd name="T27" fmla="*/ 383 h 700"/>
                <a:gd name="T28" fmla="*/ 336 w 564"/>
                <a:gd name="T29" fmla="*/ 375 h 700"/>
                <a:gd name="T30" fmla="*/ 307 w 564"/>
                <a:gd name="T31" fmla="*/ 604 h 700"/>
                <a:gd name="T32" fmla="*/ 370 w 564"/>
                <a:gd name="T33" fmla="*/ 682 h 700"/>
                <a:gd name="T34" fmla="*/ 336 w 564"/>
                <a:gd name="T35" fmla="*/ 0 h 700"/>
                <a:gd name="T36" fmla="*/ 27 w 564"/>
                <a:gd name="T37" fmla="*/ 146 h 700"/>
                <a:gd name="T38" fmla="*/ 2 w 564"/>
                <a:gd name="T39" fmla="*/ 129 h 700"/>
                <a:gd name="T40" fmla="*/ 0 w 564"/>
                <a:gd name="T41" fmla="*/ 27 h 700"/>
                <a:gd name="T42" fmla="*/ 17 w 564"/>
                <a:gd name="T43" fmla="*/ 2 h 700"/>
                <a:gd name="T44" fmla="*/ 367 w 564"/>
                <a:gd name="T45" fmla="*/ 375 h 700"/>
                <a:gd name="T46" fmla="*/ 534 w 564"/>
                <a:gd name="T47" fmla="*/ 523 h 700"/>
                <a:gd name="T48" fmla="*/ 561 w 564"/>
                <a:gd name="T49" fmla="*/ 506 h 700"/>
                <a:gd name="T50" fmla="*/ 564 w 564"/>
                <a:gd name="T51" fmla="*/ 404 h 700"/>
                <a:gd name="T52" fmla="*/ 547 w 564"/>
                <a:gd name="T53" fmla="*/ 377 h 700"/>
                <a:gd name="T54" fmla="*/ 367 w 564"/>
                <a:gd name="T55" fmla="*/ 375 h 700"/>
                <a:gd name="T56" fmla="*/ 480 w 564"/>
                <a:gd name="T57" fmla="*/ 87 h 700"/>
                <a:gd name="T58" fmla="*/ 411 w 564"/>
                <a:gd name="T59" fmla="*/ 56 h 700"/>
                <a:gd name="T60" fmla="*/ 480 w 564"/>
                <a:gd name="T61" fmla="*/ 465 h 700"/>
                <a:gd name="T62" fmla="*/ 411 w 564"/>
                <a:gd name="T63" fmla="*/ 433 h 700"/>
                <a:gd name="T64" fmla="*/ 480 w 564"/>
                <a:gd name="T65" fmla="*/ 277 h 700"/>
                <a:gd name="T66" fmla="*/ 411 w 564"/>
                <a:gd name="T67" fmla="*/ 246 h 700"/>
                <a:gd name="T68" fmla="*/ 534 w 564"/>
                <a:gd name="T69" fmla="*/ 146 h 700"/>
                <a:gd name="T70" fmla="*/ 555 w 564"/>
                <a:gd name="T71" fmla="*/ 139 h 700"/>
                <a:gd name="T72" fmla="*/ 564 w 564"/>
                <a:gd name="T73" fmla="*/ 27 h 700"/>
                <a:gd name="T74" fmla="*/ 555 w 564"/>
                <a:gd name="T75" fmla="*/ 8 h 700"/>
                <a:gd name="T76" fmla="*/ 367 w 564"/>
                <a:gd name="T77" fmla="*/ 0 h 700"/>
                <a:gd name="T78" fmla="*/ 367 w 564"/>
                <a:gd name="T79" fmla="*/ 333 h 700"/>
                <a:gd name="T80" fmla="*/ 547 w 564"/>
                <a:gd name="T81" fmla="*/ 331 h 700"/>
                <a:gd name="T82" fmla="*/ 564 w 564"/>
                <a:gd name="T83" fmla="*/ 306 h 700"/>
                <a:gd name="T84" fmla="*/ 561 w 564"/>
                <a:gd name="T85" fmla="*/ 204 h 700"/>
                <a:gd name="T86" fmla="*/ 534 w 564"/>
                <a:gd name="T87" fmla="*/ 187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64" h="700">
                  <a:moveTo>
                    <a:pt x="27" y="187"/>
                  </a:moveTo>
                  <a:lnTo>
                    <a:pt x="336" y="187"/>
                  </a:lnTo>
                  <a:lnTo>
                    <a:pt x="336" y="333"/>
                  </a:lnTo>
                  <a:lnTo>
                    <a:pt x="27" y="333"/>
                  </a:lnTo>
                  <a:lnTo>
                    <a:pt x="27" y="333"/>
                  </a:lnTo>
                  <a:lnTo>
                    <a:pt x="17" y="331"/>
                  </a:lnTo>
                  <a:lnTo>
                    <a:pt x="7" y="325"/>
                  </a:lnTo>
                  <a:lnTo>
                    <a:pt x="2" y="317"/>
                  </a:lnTo>
                  <a:lnTo>
                    <a:pt x="0" y="306"/>
                  </a:lnTo>
                  <a:lnTo>
                    <a:pt x="0" y="214"/>
                  </a:lnTo>
                  <a:lnTo>
                    <a:pt x="0" y="214"/>
                  </a:lnTo>
                  <a:lnTo>
                    <a:pt x="2" y="204"/>
                  </a:lnTo>
                  <a:lnTo>
                    <a:pt x="7" y="196"/>
                  </a:lnTo>
                  <a:lnTo>
                    <a:pt x="17" y="189"/>
                  </a:lnTo>
                  <a:lnTo>
                    <a:pt x="27" y="187"/>
                  </a:lnTo>
                  <a:lnTo>
                    <a:pt x="27" y="187"/>
                  </a:lnTo>
                  <a:close/>
                  <a:moveTo>
                    <a:pt x="403" y="623"/>
                  </a:moveTo>
                  <a:lnTo>
                    <a:pt x="564" y="623"/>
                  </a:lnTo>
                  <a:lnTo>
                    <a:pt x="564" y="682"/>
                  </a:lnTo>
                  <a:lnTo>
                    <a:pt x="403" y="682"/>
                  </a:lnTo>
                  <a:lnTo>
                    <a:pt x="403" y="623"/>
                  </a:lnTo>
                  <a:lnTo>
                    <a:pt x="403" y="623"/>
                  </a:lnTo>
                  <a:close/>
                  <a:moveTo>
                    <a:pt x="370" y="682"/>
                  </a:moveTo>
                  <a:lnTo>
                    <a:pt x="370" y="700"/>
                  </a:lnTo>
                  <a:lnTo>
                    <a:pt x="205" y="700"/>
                  </a:lnTo>
                  <a:lnTo>
                    <a:pt x="205" y="682"/>
                  </a:lnTo>
                  <a:lnTo>
                    <a:pt x="0" y="682"/>
                  </a:lnTo>
                  <a:lnTo>
                    <a:pt x="0" y="623"/>
                  </a:lnTo>
                  <a:lnTo>
                    <a:pt x="205" y="623"/>
                  </a:lnTo>
                  <a:lnTo>
                    <a:pt x="205" y="604"/>
                  </a:lnTo>
                  <a:lnTo>
                    <a:pt x="265" y="604"/>
                  </a:lnTo>
                  <a:lnTo>
                    <a:pt x="265" y="523"/>
                  </a:lnTo>
                  <a:lnTo>
                    <a:pt x="27" y="523"/>
                  </a:lnTo>
                  <a:lnTo>
                    <a:pt x="27" y="523"/>
                  </a:lnTo>
                  <a:lnTo>
                    <a:pt x="17" y="521"/>
                  </a:lnTo>
                  <a:lnTo>
                    <a:pt x="7" y="515"/>
                  </a:lnTo>
                  <a:lnTo>
                    <a:pt x="2" y="506"/>
                  </a:lnTo>
                  <a:lnTo>
                    <a:pt x="0" y="496"/>
                  </a:lnTo>
                  <a:lnTo>
                    <a:pt x="0" y="404"/>
                  </a:lnTo>
                  <a:lnTo>
                    <a:pt x="0" y="404"/>
                  </a:lnTo>
                  <a:lnTo>
                    <a:pt x="2" y="392"/>
                  </a:lnTo>
                  <a:lnTo>
                    <a:pt x="7" y="383"/>
                  </a:lnTo>
                  <a:lnTo>
                    <a:pt x="17" y="377"/>
                  </a:lnTo>
                  <a:lnTo>
                    <a:pt x="27" y="375"/>
                  </a:lnTo>
                  <a:lnTo>
                    <a:pt x="336" y="375"/>
                  </a:lnTo>
                  <a:lnTo>
                    <a:pt x="336" y="523"/>
                  </a:lnTo>
                  <a:lnTo>
                    <a:pt x="307" y="523"/>
                  </a:lnTo>
                  <a:lnTo>
                    <a:pt x="307" y="604"/>
                  </a:lnTo>
                  <a:lnTo>
                    <a:pt x="370" y="604"/>
                  </a:lnTo>
                  <a:lnTo>
                    <a:pt x="370" y="623"/>
                  </a:lnTo>
                  <a:lnTo>
                    <a:pt x="370" y="682"/>
                  </a:lnTo>
                  <a:lnTo>
                    <a:pt x="370" y="682"/>
                  </a:lnTo>
                  <a:close/>
                  <a:moveTo>
                    <a:pt x="27" y="0"/>
                  </a:moveTo>
                  <a:lnTo>
                    <a:pt x="336" y="0"/>
                  </a:lnTo>
                  <a:lnTo>
                    <a:pt x="336" y="146"/>
                  </a:lnTo>
                  <a:lnTo>
                    <a:pt x="27" y="146"/>
                  </a:lnTo>
                  <a:lnTo>
                    <a:pt x="27" y="146"/>
                  </a:lnTo>
                  <a:lnTo>
                    <a:pt x="17" y="144"/>
                  </a:lnTo>
                  <a:lnTo>
                    <a:pt x="7" y="139"/>
                  </a:lnTo>
                  <a:lnTo>
                    <a:pt x="2" y="129"/>
                  </a:lnTo>
                  <a:lnTo>
                    <a:pt x="0" y="118"/>
                  </a:lnTo>
                  <a:lnTo>
                    <a:pt x="0" y="27"/>
                  </a:lnTo>
                  <a:lnTo>
                    <a:pt x="0" y="27"/>
                  </a:lnTo>
                  <a:lnTo>
                    <a:pt x="2" y="16"/>
                  </a:lnTo>
                  <a:lnTo>
                    <a:pt x="7" y="8"/>
                  </a:lnTo>
                  <a:lnTo>
                    <a:pt x="17" y="2"/>
                  </a:lnTo>
                  <a:lnTo>
                    <a:pt x="27" y="0"/>
                  </a:lnTo>
                  <a:lnTo>
                    <a:pt x="27" y="0"/>
                  </a:lnTo>
                  <a:close/>
                  <a:moveTo>
                    <a:pt x="367" y="375"/>
                  </a:moveTo>
                  <a:lnTo>
                    <a:pt x="367" y="523"/>
                  </a:lnTo>
                  <a:lnTo>
                    <a:pt x="534" y="523"/>
                  </a:lnTo>
                  <a:lnTo>
                    <a:pt x="534" y="523"/>
                  </a:lnTo>
                  <a:lnTo>
                    <a:pt x="547" y="521"/>
                  </a:lnTo>
                  <a:lnTo>
                    <a:pt x="555" y="515"/>
                  </a:lnTo>
                  <a:lnTo>
                    <a:pt x="561" y="506"/>
                  </a:lnTo>
                  <a:lnTo>
                    <a:pt x="564" y="496"/>
                  </a:lnTo>
                  <a:lnTo>
                    <a:pt x="564" y="404"/>
                  </a:lnTo>
                  <a:lnTo>
                    <a:pt x="564" y="404"/>
                  </a:lnTo>
                  <a:lnTo>
                    <a:pt x="561" y="392"/>
                  </a:lnTo>
                  <a:lnTo>
                    <a:pt x="555" y="383"/>
                  </a:lnTo>
                  <a:lnTo>
                    <a:pt x="547" y="377"/>
                  </a:lnTo>
                  <a:lnTo>
                    <a:pt x="534" y="375"/>
                  </a:lnTo>
                  <a:lnTo>
                    <a:pt x="367" y="375"/>
                  </a:lnTo>
                  <a:lnTo>
                    <a:pt x="367" y="375"/>
                  </a:lnTo>
                  <a:close/>
                  <a:moveTo>
                    <a:pt x="411" y="56"/>
                  </a:moveTo>
                  <a:lnTo>
                    <a:pt x="480" y="56"/>
                  </a:lnTo>
                  <a:lnTo>
                    <a:pt x="480" y="87"/>
                  </a:lnTo>
                  <a:lnTo>
                    <a:pt x="411" y="87"/>
                  </a:lnTo>
                  <a:lnTo>
                    <a:pt x="411" y="56"/>
                  </a:lnTo>
                  <a:lnTo>
                    <a:pt x="411" y="56"/>
                  </a:lnTo>
                  <a:close/>
                  <a:moveTo>
                    <a:pt x="411" y="433"/>
                  </a:moveTo>
                  <a:lnTo>
                    <a:pt x="480" y="433"/>
                  </a:lnTo>
                  <a:lnTo>
                    <a:pt x="480" y="465"/>
                  </a:lnTo>
                  <a:lnTo>
                    <a:pt x="411" y="465"/>
                  </a:lnTo>
                  <a:lnTo>
                    <a:pt x="411" y="433"/>
                  </a:lnTo>
                  <a:lnTo>
                    <a:pt x="411" y="433"/>
                  </a:lnTo>
                  <a:close/>
                  <a:moveTo>
                    <a:pt x="411" y="246"/>
                  </a:moveTo>
                  <a:lnTo>
                    <a:pt x="480" y="246"/>
                  </a:lnTo>
                  <a:lnTo>
                    <a:pt x="480" y="277"/>
                  </a:lnTo>
                  <a:lnTo>
                    <a:pt x="411" y="277"/>
                  </a:lnTo>
                  <a:lnTo>
                    <a:pt x="411" y="246"/>
                  </a:lnTo>
                  <a:lnTo>
                    <a:pt x="411" y="246"/>
                  </a:lnTo>
                  <a:close/>
                  <a:moveTo>
                    <a:pt x="367" y="0"/>
                  </a:moveTo>
                  <a:lnTo>
                    <a:pt x="367" y="146"/>
                  </a:lnTo>
                  <a:lnTo>
                    <a:pt x="534" y="146"/>
                  </a:lnTo>
                  <a:lnTo>
                    <a:pt x="534" y="146"/>
                  </a:lnTo>
                  <a:lnTo>
                    <a:pt x="547" y="144"/>
                  </a:lnTo>
                  <a:lnTo>
                    <a:pt x="555" y="139"/>
                  </a:lnTo>
                  <a:lnTo>
                    <a:pt x="561" y="129"/>
                  </a:lnTo>
                  <a:lnTo>
                    <a:pt x="564" y="118"/>
                  </a:lnTo>
                  <a:lnTo>
                    <a:pt x="564" y="27"/>
                  </a:lnTo>
                  <a:lnTo>
                    <a:pt x="564" y="27"/>
                  </a:lnTo>
                  <a:lnTo>
                    <a:pt x="561" y="16"/>
                  </a:lnTo>
                  <a:lnTo>
                    <a:pt x="555" y="8"/>
                  </a:lnTo>
                  <a:lnTo>
                    <a:pt x="547" y="2"/>
                  </a:lnTo>
                  <a:lnTo>
                    <a:pt x="534" y="0"/>
                  </a:lnTo>
                  <a:lnTo>
                    <a:pt x="367" y="0"/>
                  </a:lnTo>
                  <a:lnTo>
                    <a:pt x="367" y="0"/>
                  </a:lnTo>
                  <a:close/>
                  <a:moveTo>
                    <a:pt x="367" y="187"/>
                  </a:moveTo>
                  <a:lnTo>
                    <a:pt x="367" y="333"/>
                  </a:lnTo>
                  <a:lnTo>
                    <a:pt x="534" y="333"/>
                  </a:lnTo>
                  <a:lnTo>
                    <a:pt x="534" y="333"/>
                  </a:lnTo>
                  <a:lnTo>
                    <a:pt x="547" y="331"/>
                  </a:lnTo>
                  <a:lnTo>
                    <a:pt x="555" y="325"/>
                  </a:lnTo>
                  <a:lnTo>
                    <a:pt x="561" y="317"/>
                  </a:lnTo>
                  <a:lnTo>
                    <a:pt x="564" y="306"/>
                  </a:lnTo>
                  <a:lnTo>
                    <a:pt x="564" y="214"/>
                  </a:lnTo>
                  <a:lnTo>
                    <a:pt x="564" y="214"/>
                  </a:lnTo>
                  <a:lnTo>
                    <a:pt x="561" y="204"/>
                  </a:lnTo>
                  <a:lnTo>
                    <a:pt x="555" y="196"/>
                  </a:lnTo>
                  <a:lnTo>
                    <a:pt x="547" y="189"/>
                  </a:lnTo>
                  <a:lnTo>
                    <a:pt x="534" y="187"/>
                  </a:lnTo>
                  <a:lnTo>
                    <a:pt x="367" y="187"/>
                  </a:lnTo>
                  <a:close/>
                </a:path>
              </a:pathLst>
            </a:custGeom>
            <a:solidFill>
              <a:srgbClr val="0A4776"/>
            </a:solidFill>
            <a:ln>
              <a:noFill/>
            </a:ln>
          </p:spPr>
          <p:txBody>
            <a:bodyPr vert="horz" wrap="square" lIns="91440" tIns="45720" rIns="91440" bIns="45720" numCol="1" anchor="t" anchorCtr="0" compatLnSpc="1"/>
            <a:lstStyle/>
            <a:p>
              <a:endParaRPr lang="zh-CN" altLang="en-US"/>
            </a:p>
          </p:txBody>
        </p:sp>
      </p:grpSp>
      <p:grpSp>
        <p:nvGrpSpPr>
          <p:cNvPr id="8" name="组合 7"/>
          <p:cNvGrpSpPr/>
          <p:nvPr/>
        </p:nvGrpSpPr>
        <p:grpSpPr>
          <a:xfrm>
            <a:off x="4572000" y="2246298"/>
            <a:ext cx="476529" cy="476529"/>
            <a:chOff x="5228971" y="858592"/>
            <a:chExt cx="476529" cy="476529"/>
          </a:xfrm>
        </p:grpSpPr>
        <p:sp>
          <p:nvSpPr>
            <p:cNvPr id="38" name="PA_椭圆 42"/>
            <p:cNvSpPr/>
            <p:nvPr>
              <p:custDataLst>
                <p:tags r:id="rId3"/>
              </p:custDataLst>
            </p:nvPr>
          </p:nvSpPr>
          <p:spPr>
            <a:xfrm>
              <a:off x="5228971" y="858592"/>
              <a:ext cx="476529" cy="476529"/>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bg1"/>
                </a:solidFill>
                <a:effectLst>
                  <a:outerShdw blurRad="38100" dist="38100" dir="2700000" algn="tl">
                    <a:srgbClr val="000000">
                      <a:alpha val="43137"/>
                    </a:srgbClr>
                  </a:outerShdw>
                </a:effectLst>
              </a:endParaRPr>
            </a:p>
          </p:txBody>
        </p:sp>
        <p:sp>
          <p:nvSpPr>
            <p:cNvPr id="41" name="PA_任意多边形 15"/>
            <p:cNvSpPr>
              <a:spLocks noEditPoints="1"/>
            </p:cNvSpPr>
            <p:nvPr>
              <p:custDataLst>
                <p:tags r:id="rId4"/>
              </p:custDataLst>
            </p:nvPr>
          </p:nvSpPr>
          <p:spPr bwMode="auto">
            <a:xfrm>
              <a:off x="5394473" y="995837"/>
              <a:ext cx="166504" cy="228231"/>
            </a:xfrm>
            <a:custGeom>
              <a:avLst/>
              <a:gdLst>
                <a:gd name="T0" fmla="*/ 611 w 615"/>
                <a:gd name="T1" fmla="*/ 809 h 843"/>
                <a:gd name="T2" fmla="*/ 2 w 615"/>
                <a:gd name="T3" fmla="*/ 799 h 843"/>
                <a:gd name="T4" fmla="*/ 198 w 615"/>
                <a:gd name="T5" fmla="*/ 169 h 843"/>
                <a:gd name="T6" fmla="*/ 146 w 615"/>
                <a:gd name="T7" fmla="*/ 127 h 843"/>
                <a:gd name="T8" fmla="*/ 177 w 615"/>
                <a:gd name="T9" fmla="*/ 148 h 843"/>
                <a:gd name="T10" fmla="*/ 177 w 615"/>
                <a:gd name="T11" fmla="*/ 204 h 843"/>
                <a:gd name="T12" fmla="*/ 140 w 615"/>
                <a:gd name="T13" fmla="*/ 213 h 843"/>
                <a:gd name="T14" fmla="*/ 204 w 615"/>
                <a:gd name="T15" fmla="*/ 215 h 843"/>
                <a:gd name="T16" fmla="*/ 498 w 615"/>
                <a:gd name="T17" fmla="*/ 131 h 843"/>
                <a:gd name="T18" fmla="*/ 438 w 615"/>
                <a:gd name="T19" fmla="*/ 200 h 843"/>
                <a:gd name="T20" fmla="*/ 496 w 615"/>
                <a:gd name="T21" fmla="*/ 227 h 843"/>
                <a:gd name="T22" fmla="*/ 469 w 615"/>
                <a:gd name="T23" fmla="*/ 140 h 843"/>
                <a:gd name="T24" fmla="*/ 475 w 615"/>
                <a:gd name="T25" fmla="*/ 152 h 843"/>
                <a:gd name="T26" fmla="*/ 384 w 615"/>
                <a:gd name="T27" fmla="*/ 123 h 843"/>
                <a:gd name="T28" fmla="*/ 379 w 615"/>
                <a:gd name="T29" fmla="*/ 236 h 843"/>
                <a:gd name="T30" fmla="*/ 427 w 615"/>
                <a:gd name="T31" fmla="*/ 161 h 843"/>
                <a:gd name="T32" fmla="*/ 390 w 615"/>
                <a:gd name="T33" fmla="*/ 219 h 843"/>
                <a:gd name="T34" fmla="*/ 313 w 615"/>
                <a:gd name="T35" fmla="*/ 173 h 843"/>
                <a:gd name="T36" fmla="*/ 323 w 615"/>
                <a:gd name="T37" fmla="*/ 219 h 843"/>
                <a:gd name="T38" fmla="*/ 300 w 615"/>
                <a:gd name="T39" fmla="*/ 234 h 843"/>
                <a:gd name="T40" fmla="*/ 352 w 615"/>
                <a:gd name="T41" fmla="*/ 183 h 843"/>
                <a:gd name="T42" fmla="*/ 273 w 615"/>
                <a:gd name="T43" fmla="*/ 123 h 843"/>
                <a:gd name="T44" fmla="*/ 231 w 615"/>
                <a:gd name="T45" fmla="*/ 196 h 843"/>
                <a:gd name="T46" fmla="*/ 106 w 615"/>
                <a:gd name="T47" fmla="*/ 398 h 843"/>
                <a:gd name="T48" fmla="*/ 185 w 615"/>
                <a:gd name="T49" fmla="*/ 382 h 843"/>
                <a:gd name="T50" fmla="*/ 121 w 615"/>
                <a:gd name="T51" fmla="*/ 565 h 843"/>
                <a:gd name="T52" fmla="*/ 144 w 615"/>
                <a:gd name="T53" fmla="*/ 638 h 843"/>
                <a:gd name="T54" fmla="*/ 160 w 615"/>
                <a:gd name="T55" fmla="*/ 561 h 843"/>
                <a:gd name="T56" fmla="*/ 331 w 615"/>
                <a:gd name="T57" fmla="*/ 607 h 843"/>
                <a:gd name="T58" fmla="*/ 411 w 615"/>
                <a:gd name="T59" fmla="*/ 607 h 843"/>
                <a:gd name="T60" fmla="*/ 244 w 615"/>
                <a:gd name="T61" fmla="*/ 561 h 843"/>
                <a:gd name="T62" fmla="*/ 258 w 615"/>
                <a:gd name="T63" fmla="*/ 638 h 843"/>
                <a:gd name="T64" fmla="*/ 281 w 615"/>
                <a:gd name="T65" fmla="*/ 565 h 843"/>
                <a:gd name="T66" fmla="*/ 104 w 615"/>
                <a:gd name="T67" fmla="*/ 709 h 843"/>
                <a:gd name="T68" fmla="*/ 181 w 615"/>
                <a:gd name="T69" fmla="*/ 726 h 843"/>
                <a:gd name="T70" fmla="*/ 523 w 615"/>
                <a:gd name="T71" fmla="*/ 599 h 843"/>
                <a:gd name="T72" fmla="*/ 448 w 615"/>
                <a:gd name="T73" fmla="*/ 576 h 843"/>
                <a:gd name="T74" fmla="*/ 482 w 615"/>
                <a:gd name="T75" fmla="*/ 751 h 843"/>
                <a:gd name="T76" fmla="*/ 356 w 615"/>
                <a:gd name="T77" fmla="*/ 672 h 843"/>
                <a:gd name="T78" fmla="*/ 371 w 615"/>
                <a:gd name="T79" fmla="*/ 751 h 843"/>
                <a:gd name="T80" fmla="*/ 394 w 615"/>
                <a:gd name="T81" fmla="*/ 676 h 843"/>
                <a:gd name="T82" fmla="*/ 219 w 615"/>
                <a:gd name="T83" fmla="*/ 709 h 843"/>
                <a:gd name="T84" fmla="*/ 296 w 615"/>
                <a:gd name="T85" fmla="*/ 726 h 843"/>
                <a:gd name="T86" fmla="*/ 135 w 615"/>
                <a:gd name="T87" fmla="*/ 453 h 843"/>
                <a:gd name="T88" fmla="*/ 135 w 615"/>
                <a:gd name="T89" fmla="*/ 532 h 843"/>
                <a:gd name="T90" fmla="*/ 173 w 615"/>
                <a:gd name="T91" fmla="*/ 465 h 843"/>
                <a:gd name="T92" fmla="*/ 442 w 615"/>
                <a:gd name="T93" fmla="*/ 492 h 843"/>
                <a:gd name="T94" fmla="*/ 515 w 615"/>
                <a:gd name="T95" fmla="*/ 515 h 843"/>
                <a:gd name="T96" fmla="*/ 371 w 615"/>
                <a:gd name="T97" fmla="*/ 453 h 843"/>
                <a:gd name="T98" fmla="*/ 356 w 615"/>
                <a:gd name="T99" fmla="*/ 530 h 843"/>
                <a:gd name="T100" fmla="*/ 404 w 615"/>
                <a:gd name="T101" fmla="*/ 469 h 843"/>
                <a:gd name="T102" fmla="*/ 219 w 615"/>
                <a:gd name="T103" fmla="*/ 484 h 843"/>
                <a:gd name="T104" fmla="*/ 288 w 615"/>
                <a:gd name="T105" fmla="*/ 521 h 843"/>
                <a:gd name="T106" fmla="*/ 482 w 615"/>
                <a:gd name="T107" fmla="*/ 342 h 843"/>
                <a:gd name="T108" fmla="*/ 461 w 615"/>
                <a:gd name="T109" fmla="*/ 415 h 843"/>
                <a:gd name="T110" fmla="*/ 519 w 615"/>
                <a:gd name="T111" fmla="*/ 367 h 843"/>
                <a:gd name="T112" fmla="*/ 334 w 615"/>
                <a:gd name="T113" fmla="*/ 367 h 843"/>
                <a:gd name="T114" fmla="*/ 394 w 615"/>
                <a:gd name="T115" fmla="*/ 415 h 843"/>
                <a:gd name="T116" fmla="*/ 371 w 615"/>
                <a:gd name="T117" fmla="*/ 342 h 843"/>
                <a:gd name="T118" fmla="*/ 231 w 615"/>
                <a:gd name="T119" fmla="*/ 411 h 843"/>
                <a:gd name="T120" fmla="*/ 298 w 615"/>
                <a:gd name="T121" fmla="*/ 373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15" h="843">
                  <a:moveTo>
                    <a:pt x="56" y="0"/>
                  </a:moveTo>
                  <a:lnTo>
                    <a:pt x="561" y="0"/>
                  </a:lnTo>
                  <a:lnTo>
                    <a:pt x="561" y="0"/>
                  </a:lnTo>
                  <a:lnTo>
                    <a:pt x="571" y="0"/>
                  </a:lnTo>
                  <a:lnTo>
                    <a:pt x="582" y="4"/>
                  </a:lnTo>
                  <a:lnTo>
                    <a:pt x="592" y="8"/>
                  </a:lnTo>
                  <a:lnTo>
                    <a:pt x="601" y="17"/>
                  </a:lnTo>
                  <a:lnTo>
                    <a:pt x="607" y="25"/>
                  </a:lnTo>
                  <a:lnTo>
                    <a:pt x="611" y="33"/>
                  </a:lnTo>
                  <a:lnTo>
                    <a:pt x="615" y="44"/>
                  </a:lnTo>
                  <a:lnTo>
                    <a:pt x="615" y="54"/>
                  </a:lnTo>
                  <a:lnTo>
                    <a:pt x="615" y="788"/>
                  </a:lnTo>
                  <a:lnTo>
                    <a:pt x="615" y="788"/>
                  </a:lnTo>
                  <a:lnTo>
                    <a:pt x="615" y="799"/>
                  </a:lnTo>
                  <a:lnTo>
                    <a:pt x="611" y="809"/>
                  </a:lnTo>
                  <a:lnTo>
                    <a:pt x="607" y="818"/>
                  </a:lnTo>
                  <a:lnTo>
                    <a:pt x="601" y="826"/>
                  </a:lnTo>
                  <a:lnTo>
                    <a:pt x="592" y="834"/>
                  </a:lnTo>
                  <a:lnTo>
                    <a:pt x="582" y="838"/>
                  </a:lnTo>
                  <a:lnTo>
                    <a:pt x="571" y="843"/>
                  </a:lnTo>
                  <a:lnTo>
                    <a:pt x="561" y="843"/>
                  </a:lnTo>
                  <a:lnTo>
                    <a:pt x="56" y="843"/>
                  </a:lnTo>
                  <a:lnTo>
                    <a:pt x="56" y="843"/>
                  </a:lnTo>
                  <a:lnTo>
                    <a:pt x="44" y="843"/>
                  </a:lnTo>
                  <a:lnTo>
                    <a:pt x="33" y="838"/>
                  </a:lnTo>
                  <a:lnTo>
                    <a:pt x="25" y="834"/>
                  </a:lnTo>
                  <a:lnTo>
                    <a:pt x="16" y="826"/>
                  </a:lnTo>
                  <a:lnTo>
                    <a:pt x="10" y="818"/>
                  </a:lnTo>
                  <a:lnTo>
                    <a:pt x="4" y="809"/>
                  </a:lnTo>
                  <a:lnTo>
                    <a:pt x="2" y="799"/>
                  </a:lnTo>
                  <a:lnTo>
                    <a:pt x="0" y="788"/>
                  </a:lnTo>
                  <a:lnTo>
                    <a:pt x="0" y="54"/>
                  </a:lnTo>
                  <a:lnTo>
                    <a:pt x="0" y="54"/>
                  </a:lnTo>
                  <a:lnTo>
                    <a:pt x="2" y="44"/>
                  </a:lnTo>
                  <a:lnTo>
                    <a:pt x="4" y="33"/>
                  </a:lnTo>
                  <a:lnTo>
                    <a:pt x="10" y="25"/>
                  </a:lnTo>
                  <a:lnTo>
                    <a:pt x="16" y="17"/>
                  </a:lnTo>
                  <a:lnTo>
                    <a:pt x="25" y="8"/>
                  </a:lnTo>
                  <a:lnTo>
                    <a:pt x="33" y="4"/>
                  </a:lnTo>
                  <a:lnTo>
                    <a:pt x="44" y="0"/>
                  </a:lnTo>
                  <a:lnTo>
                    <a:pt x="56" y="0"/>
                  </a:lnTo>
                  <a:lnTo>
                    <a:pt x="56" y="0"/>
                  </a:lnTo>
                  <a:close/>
                  <a:moveTo>
                    <a:pt x="192" y="173"/>
                  </a:moveTo>
                  <a:lnTo>
                    <a:pt x="192" y="173"/>
                  </a:lnTo>
                  <a:lnTo>
                    <a:pt x="198" y="169"/>
                  </a:lnTo>
                  <a:lnTo>
                    <a:pt x="202" y="165"/>
                  </a:lnTo>
                  <a:lnTo>
                    <a:pt x="202" y="165"/>
                  </a:lnTo>
                  <a:lnTo>
                    <a:pt x="202" y="158"/>
                  </a:lnTo>
                  <a:lnTo>
                    <a:pt x="204" y="150"/>
                  </a:lnTo>
                  <a:lnTo>
                    <a:pt x="204" y="150"/>
                  </a:lnTo>
                  <a:lnTo>
                    <a:pt x="202" y="138"/>
                  </a:lnTo>
                  <a:lnTo>
                    <a:pt x="196" y="129"/>
                  </a:lnTo>
                  <a:lnTo>
                    <a:pt x="196" y="129"/>
                  </a:lnTo>
                  <a:lnTo>
                    <a:pt x="192" y="125"/>
                  </a:lnTo>
                  <a:lnTo>
                    <a:pt x="185" y="123"/>
                  </a:lnTo>
                  <a:lnTo>
                    <a:pt x="169" y="121"/>
                  </a:lnTo>
                  <a:lnTo>
                    <a:pt x="169" y="121"/>
                  </a:lnTo>
                  <a:lnTo>
                    <a:pt x="156" y="123"/>
                  </a:lnTo>
                  <a:lnTo>
                    <a:pt x="146" y="127"/>
                  </a:lnTo>
                  <a:lnTo>
                    <a:pt x="146" y="127"/>
                  </a:lnTo>
                  <a:lnTo>
                    <a:pt x="144" y="131"/>
                  </a:lnTo>
                  <a:lnTo>
                    <a:pt x="142" y="136"/>
                  </a:lnTo>
                  <a:lnTo>
                    <a:pt x="140" y="148"/>
                  </a:lnTo>
                  <a:lnTo>
                    <a:pt x="140" y="158"/>
                  </a:lnTo>
                  <a:lnTo>
                    <a:pt x="167" y="158"/>
                  </a:lnTo>
                  <a:lnTo>
                    <a:pt x="167" y="148"/>
                  </a:lnTo>
                  <a:lnTo>
                    <a:pt x="167" y="148"/>
                  </a:lnTo>
                  <a:lnTo>
                    <a:pt x="169" y="140"/>
                  </a:lnTo>
                  <a:lnTo>
                    <a:pt x="169" y="140"/>
                  </a:lnTo>
                  <a:lnTo>
                    <a:pt x="169" y="140"/>
                  </a:lnTo>
                  <a:lnTo>
                    <a:pt x="171" y="138"/>
                  </a:lnTo>
                  <a:lnTo>
                    <a:pt x="171" y="138"/>
                  </a:lnTo>
                  <a:lnTo>
                    <a:pt x="175" y="140"/>
                  </a:lnTo>
                  <a:lnTo>
                    <a:pt x="175" y="140"/>
                  </a:lnTo>
                  <a:lnTo>
                    <a:pt x="177" y="148"/>
                  </a:lnTo>
                  <a:lnTo>
                    <a:pt x="177" y="154"/>
                  </a:lnTo>
                  <a:lnTo>
                    <a:pt x="177" y="154"/>
                  </a:lnTo>
                  <a:lnTo>
                    <a:pt x="175" y="163"/>
                  </a:lnTo>
                  <a:lnTo>
                    <a:pt x="175" y="163"/>
                  </a:lnTo>
                  <a:lnTo>
                    <a:pt x="173" y="165"/>
                  </a:lnTo>
                  <a:lnTo>
                    <a:pt x="173" y="165"/>
                  </a:lnTo>
                  <a:lnTo>
                    <a:pt x="160" y="167"/>
                  </a:lnTo>
                  <a:lnTo>
                    <a:pt x="160" y="183"/>
                  </a:lnTo>
                  <a:lnTo>
                    <a:pt x="160" y="183"/>
                  </a:lnTo>
                  <a:lnTo>
                    <a:pt x="171" y="183"/>
                  </a:lnTo>
                  <a:lnTo>
                    <a:pt x="171" y="183"/>
                  </a:lnTo>
                  <a:lnTo>
                    <a:pt x="175" y="188"/>
                  </a:lnTo>
                  <a:lnTo>
                    <a:pt x="175" y="188"/>
                  </a:lnTo>
                  <a:lnTo>
                    <a:pt x="177" y="198"/>
                  </a:lnTo>
                  <a:lnTo>
                    <a:pt x="177" y="204"/>
                  </a:lnTo>
                  <a:lnTo>
                    <a:pt x="177" y="204"/>
                  </a:lnTo>
                  <a:lnTo>
                    <a:pt x="175" y="219"/>
                  </a:lnTo>
                  <a:lnTo>
                    <a:pt x="175" y="219"/>
                  </a:lnTo>
                  <a:lnTo>
                    <a:pt x="175" y="219"/>
                  </a:lnTo>
                  <a:lnTo>
                    <a:pt x="171" y="221"/>
                  </a:lnTo>
                  <a:lnTo>
                    <a:pt x="171" y="221"/>
                  </a:lnTo>
                  <a:lnTo>
                    <a:pt x="169" y="219"/>
                  </a:lnTo>
                  <a:lnTo>
                    <a:pt x="167" y="219"/>
                  </a:lnTo>
                  <a:lnTo>
                    <a:pt x="167" y="219"/>
                  </a:lnTo>
                  <a:lnTo>
                    <a:pt x="167" y="209"/>
                  </a:lnTo>
                  <a:lnTo>
                    <a:pt x="167" y="192"/>
                  </a:lnTo>
                  <a:lnTo>
                    <a:pt x="140" y="192"/>
                  </a:lnTo>
                  <a:lnTo>
                    <a:pt x="140" y="200"/>
                  </a:lnTo>
                  <a:lnTo>
                    <a:pt x="140" y="200"/>
                  </a:lnTo>
                  <a:lnTo>
                    <a:pt x="140" y="213"/>
                  </a:lnTo>
                  <a:lnTo>
                    <a:pt x="142" y="223"/>
                  </a:lnTo>
                  <a:lnTo>
                    <a:pt x="142" y="223"/>
                  </a:lnTo>
                  <a:lnTo>
                    <a:pt x="146" y="227"/>
                  </a:lnTo>
                  <a:lnTo>
                    <a:pt x="152" y="234"/>
                  </a:lnTo>
                  <a:lnTo>
                    <a:pt x="152" y="234"/>
                  </a:lnTo>
                  <a:lnTo>
                    <a:pt x="160" y="236"/>
                  </a:lnTo>
                  <a:lnTo>
                    <a:pt x="173" y="238"/>
                  </a:lnTo>
                  <a:lnTo>
                    <a:pt x="173" y="238"/>
                  </a:lnTo>
                  <a:lnTo>
                    <a:pt x="183" y="238"/>
                  </a:lnTo>
                  <a:lnTo>
                    <a:pt x="192" y="234"/>
                  </a:lnTo>
                  <a:lnTo>
                    <a:pt x="192" y="234"/>
                  </a:lnTo>
                  <a:lnTo>
                    <a:pt x="198" y="229"/>
                  </a:lnTo>
                  <a:lnTo>
                    <a:pt x="202" y="223"/>
                  </a:lnTo>
                  <a:lnTo>
                    <a:pt x="202" y="223"/>
                  </a:lnTo>
                  <a:lnTo>
                    <a:pt x="204" y="215"/>
                  </a:lnTo>
                  <a:lnTo>
                    <a:pt x="204" y="202"/>
                  </a:lnTo>
                  <a:lnTo>
                    <a:pt x="204" y="202"/>
                  </a:lnTo>
                  <a:lnTo>
                    <a:pt x="204" y="188"/>
                  </a:lnTo>
                  <a:lnTo>
                    <a:pt x="202" y="179"/>
                  </a:lnTo>
                  <a:lnTo>
                    <a:pt x="202" y="179"/>
                  </a:lnTo>
                  <a:lnTo>
                    <a:pt x="198" y="175"/>
                  </a:lnTo>
                  <a:lnTo>
                    <a:pt x="192" y="173"/>
                  </a:lnTo>
                  <a:lnTo>
                    <a:pt x="192" y="173"/>
                  </a:lnTo>
                  <a:close/>
                  <a:moveTo>
                    <a:pt x="505" y="161"/>
                  </a:moveTo>
                  <a:lnTo>
                    <a:pt x="505" y="161"/>
                  </a:lnTo>
                  <a:lnTo>
                    <a:pt x="502" y="142"/>
                  </a:lnTo>
                  <a:lnTo>
                    <a:pt x="502" y="142"/>
                  </a:lnTo>
                  <a:lnTo>
                    <a:pt x="500" y="138"/>
                  </a:lnTo>
                  <a:lnTo>
                    <a:pt x="498" y="131"/>
                  </a:lnTo>
                  <a:lnTo>
                    <a:pt x="498" y="131"/>
                  </a:lnTo>
                  <a:lnTo>
                    <a:pt x="492" y="127"/>
                  </a:lnTo>
                  <a:lnTo>
                    <a:pt x="486" y="125"/>
                  </a:lnTo>
                  <a:lnTo>
                    <a:pt x="486" y="125"/>
                  </a:lnTo>
                  <a:lnTo>
                    <a:pt x="480" y="123"/>
                  </a:lnTo>
                  <a:lnTo>
                    <a:pt x="471" y="121"/>
                  </a:lnTo>
                  <a:lnTo>
                    <a:pt x="471" y="121"/>
                  </a:lnTo>
                  <a:lnTo>
                    <a:pt x="461" y="123"/>
                  </a:lnTo>
                  <a:lnTo>
                    <a:pt x="450" y="125"/>
                  </a:lnTo>
                  <a:lnTo>
                    <a:pt x="450" y="125"/>
                  </a:lnTo>
                  <a:lnTo>
                    <a:pt x="444" y="131"/>
                  </a:lnTo>
                  <a:lnTo>
                    <a:pt x="440" y="138"/>
                  </a:lnTo>
                  <a:lnTo>
                    <a:pt x="440" y="138"/>
                  </a:lnTo>
                  <a:lnTo>
                    <a:pt x="438" y="148"/>
                  </a:lnTo>
                  <a:lnTo>
                    <a:pt x="438" y="161"/>
                  </a:lnTo>
                  <a:lnTo>
                    <a:pt x="438" y="200"/>
                  </a:lnTo>
                  <a:lnTo>
                    <a:pt x="438" y="200"/>
                  </a:lnTo>
                  <a:lnTo>
                    <a:pt x="440" y="217"/>
                  </a:lnTo>
                  <a:lnTo>
                    <a:pt x="440" y="217"/>
                  </a:lnTo>
                  <a:lnTo>
                    <a:pt x="444" y="227"/>
                  </a:lnTo>
                  <a:lnTo>
                    <a:pt x="444" y="227"/>
                  </a:lnTo>
                  <a:lnTo>
                    <a:pt x="450" y="231"/>
                  </a:lnTo>
                  <a:lnTo>
                    <a:pt x="457" y="236"/>
                  </a:lnTo>
                  <a:lnTo>
                    <a:pt x="457" y="236"/>
                  </a:lnTo>
                  <a:lnTo>
                    <a:pt x="463" y="238"/>
                  </a:lnTo>
                  <a:lnTo>
                    <a:pt x="473" y="238"/>
                  </a:lnTo>
                  <a:lnTo>
                    <a:pt x="473" y="238"/>
                  </a:lnTo>
                  <a:lnTo>
                    <a:pt x="486" y="236"/>
                  </a:lnTo>
                  <a:lnTo>
                    <a:pt x="486" y="236"/>
                  </a:lnTo>
                  <a:lnTo>
                    <a:pt x="492" y="231"/>
                  </a:lnTo>
                  <a:lnTo>
                    <a:pt x="496" y="227"/>
                  </a:lnTo>
                  <a:lnTo>
                    <a:pt x="496" y="227"/>
                  </a:lnTo>
                  <a:lnTo>
                    <a:pt x="500" y="223"/>
                  </a:lnTo>
                  <a:lnTo>
                    <a:pt x="502" y="217"/>
                  </a:lnTo>
                  <a:lnTo>
                    <a:pt x="502" y="217"/>
                  </a:lnTo>
                  <a:lnTo>
                    <a:pt x="505" y="198"/>
                  </a:lnTo>
                  <a:lnTo>
                    <a:pt x="505" y="161"/>
                  </a:lnTo>
                  <a:lnTo>
                    <a:pt x="505" y="161"/>
                  </a:lnTo>
                  <a:close/>
                  <a:moveTo>
                    <a:pt x="475" y="152"/>
                  </a:moveTo>
                  <a:lnTo>
                    <a:pt x="475" y="152"/>
                  </a:lnTo>
                  <a:lnTo>
                    <a:pt x="475" y="142"/>
                  </a:lnTo>
                  <a:lnTo>
                    <a:pt x="475" y="142"/>
                  </a:lnTo>
                  <a:lnTo>
                    <a:pt x="473" y="140"/>
                  </a:lnTo>
                  <a:lnTo>
                    <a:pt x="471" y="138"/>
                  </a:lnTo>
                  <a:lnTo>
                    <a:pt x="471" y="138"/>
                  </a:lnTo>
                  <a:lnTo>
                    <a:pt x="469" y="140"/>
                  </a:lnTo>
                  <a:lnTo>
                    <a:pt x="467" y="142"/>
                  </a:lnTo>
                  <a:lnTo>
                    <a:pt x="467" y="142"/>
                  </a:lnTo>
                  <a:lnTo>
                    <a:pt x="465" y="152"/>
                  </a:lnTo>
                  <a:lnTo>
                    <a:pt x="465" y="206"/>
                  </a:lnTo>
                  <a:lnTo>
                    <a:pt x="465" y="206"/>
                  </a:lnTo>
                  <a:lnTo>
                    <a:pt x="467" y="219"/>
                  </a:lnTo>
                  <a:lnTo>
                    <a:pt x="467" y="219"/>
                  </a:lnTo>
                  <a:lnTo>
                    <a:pt x="469" y="219"/>
                  </a:lnTo>
                  <a:lnTo>
                    <a:pt x="471" y="221"/>
                  </a:lnTo>
                  <a:lnTo>
                    <a:pt x="471" y="221"/>
                  </a:lnTo>
                  <a:lnTo>
                    <a:pt x="473" y="219"/>
                  </a:lnTo>
                  <a:lnTo>
                    <a:pt x="475" y="219"/>
                  </a:lnTo>
                  <a:lnTo>
                    <a:pt x="475" y="219"/>
                  </a:lnTo>
                  <a:lnTo>
                    <a:pt x="475" y="206"/>
                  </a:lnTo>
                  <a:lnTo>
                    <a:pt x="475" y="152"/>
                  </a:lnTo>
                  <a:lnTo>
                    <a:pt x="475" y="152"/>
                  </a:lnTo>
                  <a:close/>
                  <a:moveTo>
                    <a:pt x="427" y="161"/>
                  </a:moveTo>
                  <a:lnTo>
                    <a:pt x="427" y="161"/>
                  </a:lnTo>
                  <a:lnTo>
                    <a:pt x="427" y="142"/>
                  </a:lnTo>
                  <a:lnTo>
                    <a:pt x="427" y="142"/>
                  </a:lnTo>
                  <a:lnTo>
                    <a:pt x="425" y="138"/>
                  </a:lnTo>
                  <a:lnTo>
                    <a:pt x="421" y="131"/>
                  </a:lnTo>
                  <a:lnTo>
                    <a:pt x="421" y="131"/>
                  </a:lnTo>
                  <a:lnTo>
                    <a:pt x="417" y="127"/>
                  </a:lnTo>
                  <a:lnTo>
                    <a:pt x="411" y="125"/>
                  </a:lnTo>
                  <a:lnTo>
                    <a:pt x="411" y="125"/>
                  </a:lnTo>
                  <a:lnTo>
                    <a:pt x="402" y="123"/>
                  </a:lnTo>
                  <a:lnTo>
                    <a:pt x="394" y="121"/>
                  </a:lnTo>
                  <a:lnTo>
                    <a:pt x="394" y="121"/>
                  </a:lnTo>
                  <a:lnTo>
                    <a:pt x="384" y="123"/>
                  </a:lnTo>
                  <a:lnTo>
                    <a:pt x="375" y="125"/>
                  </a:lnTo>
                  <a:lnTo>
                    <a:pt x="375" y="125"/>
                  </a:lnTo>
                  <a:lnTo>
                    <a:pt x="369" y="131"/>
                  </a:lnTo>
                  <a:lnTo>
                    <a:pt x="365" y="138"/>
                  </a:lnTo>
                  <a:lnTo>
                    <a:pt x="365" y="138"/>
                  </a:lnTo>
                  <a:lnTo>
                    <a:pt x="363" y="148"/>
                  </a:lnTo>
                  <a:lnTo>
                    <a:pt x="363" y="161"/>
                  </a:lnTo>
                  <a:lnTo>
                    <a:pt x="363" y="200"/>
                  </a:lnTo>
                  <a:lnTo>
                    <a:pt x="363" y="200"/>
                  </a:lnTo>
                  <a:lnTo>
                    <a:pt x="363" y="217"/>
                  </a:lnTo>
                  <a:lnTo>
                    <a:pt x="363" y="217"/>
                  </a:lnTo>
                  <a:lnTo>
                    <a:pt x="369" y="227"/>
                  </a:lnTo>
                  <a:lnTo>
                    <a:pt x="369" y="227"/>
                  </a:lnTo>
                  <a:lnTo>
                    <a:pt x="373" y="231"/>
                  </a:lnTo>
                  <a:lnTo>
                    <a:pt x="379" y="236"/>
                  </a:lnTo>
                  <a:lnTo>
                    <a:pt x="379" y="236"/>
                  </a:lnTo>
                  <a:lnTo>
                    <a:pt x="388" y="238"/>
                  </a:lnTo>
                  <a:lnTo>
                    <a:pt x="396" y="238"/>
                  </a:lnTo>
                  <a:lnTo>
                    <a:pt x="396" y="238"/>
                  </a:lnTo>
                  <a:lnTo>
                    <a:pt x="411" y="236"/>
                  </a:lnTo>
                  <a:lnTo>
                    <a:pt x="411" y="236"/>
                  </a:lnTo>
                  <a:lnTo>
                    <a:pt x="415" y="231"/>
                  </a:lnTo>
                  <a:lnTo>
                    <a:pt x="421" y="227"/>
                  </a:lnTo>
                  <a:lnTo>
                    <a:pt x="421" y="227"/>
                  </a:lnTo>
                  <a:lnTo>
                    <a:pt x="423" y="223"/>
                  </a:lnTo>
                  <a:lnTo>
                    <a:pt x="425" y="217"/>
                  </a:lnTo>
                  <a:lnTo>
                    <a:pt x="425" y="217"/>
                  </a:lnTo>
                  <a:lnTo>
                    <a:pt x="427" y="198"/>
                  </a:lnTo>
                  <a:lnTo>
                    <a:pt x="427" y="161"/>
                  </a:lnTo>
                  <a:lnTo>
                    <a:pt x="427" y="161"/>
                  </a:lnTo>
                  <a:close/>
                  <a:moveTo>
                    <a:pt x="400" y="152"/>
                  </a:moveTo>
                  <a:lnTo>
                    <a:pt x="400" y="152"/>
                  </a:lnTo>
                  <a:lnTo>
                    <a:pt x="398" y="142"/>
                  </a:lnTo>
                  <a:lnTo>
                    <a:pt x="398" y="142"/>
                  </a:lnTo>
                  <a:lnTo>
                    <a:pt x="398" y="140"/>
                  </a:lnTo>
                  <a:lnTo>
                    <a:pt x="394" y="138"/>
                  </a:lnTo>
                  <a:lnTo>
                    <a:pt x="394" y="138"/>
                  </a:lnTo>
                  <a:lnTo>
                    <a:pt x="392" y="140"/>
                  </a:lnTo>
                  <a:lnTo>
                    <a:pt x="390" y="142"/>
                  </a:lnTo>
                  <a:lnTo>
                    <a:pt x="390" y="142"/>
                  </a:lnTo>
                  <a:lnTo>
                    <a:pt x="390" y="152"/>
                  </a:lnTo>
                  <a:lnTo>
                    <a:pt x="390" y="206"/>
                  </a:lnTo>
                  <a:lnTo>
                    <a:pt x="390" y="206"/>
                  </a:lnTo>
                  <a:lnTo>
                    <a:pt x="390" y="219"/>
                  </a:lnTo>
                  <a:lnTo>
                    <a:pt x="390" y="219"/>
                  </a:lnTo>
                  <a:lnTo>
                    <a:pt x="392" y="219"/>
                  </a:lnTo>
                  <a:lnTo>
                    <a:pt x="394" y="221"/>
                  </a:lnTo>
                  <a:lnTo>
                    <a:pt x="394" y="221"/>
                  </a:lnTo>
                  <a:lnTo>
                    <a:pt x="398" y="219"/>
                  </a:lnTo>
                  <a:lnTo>
                    <a:pt x="398" y="219"/>
                  </a:lnTo>
                  <a:lnTo>
                    <a:pt x="398" y="219"/>
                  </a:lnTo>
                  <a:lnTo>
                    <a:pt x="400" y="206"/>
                  </a:lnTo>
                  <a:lnTo>
                    <a:pt x="400" y="152"/>
                  </a:lnTo>
                  <a:lnTo>
                    <a:pt x="400" y="152"/>
                  </a:lnTo>
                  <a:close/>
                  <a:moveTo>
                    <a:pt x="346" y="123"/>
                  </a:moveTo>
                  <a:lnTo>
                    <a:pt x="288" y="123"/>
                  </a:lnTo>
                  <a:lnTo>
                    <a:pt x="286" y="179"/>
                  </a:lnTo>
                  <a:lnTo>
                    <a:pt x="313" y="179"/>
                  </a:lnTo>
                  <a:lnTo>
                    <a:pt x="313" y="179"/>
                  </a:lnTo>
                  <a:lnTo>
                    <a:pt x="313" y="173"/>
                  </a:lnTo>
                  <a:lnTo>
                    <a:pt x="313" y="173"/>
                  </a:lnTo>
                  <a:lnTo>
                    <a:pt x="315" y="171"/>
                  </a:lnTo>
                  <a:lnTo>
                    <a:pt x="315" y="171"/>
                  </a:lnTo>
                  <a:lnTo>
                    <a:pt x="319" y="171"/>
                  </a:lnTo>
                  <a:lnTo>
                    <a:pt x="319" y="171"/>
                  </a:lnTo>
                  <a:lnTo>
                    <a:pt x="321" y="171"/>
                  </a:lnTo>
                  <a:lnTo>
                    <a:pt x="323" y="173"/>
                  </a:lnTo>
                  <a:lnTo>
                    <a:pt x="323" y="173"/>
                  </a:lnTo>
                  <a:lnTo>
                    <a:pt x="325" y="181"/>
                  </a:lnTo>
                  <a:lnTo>
                    <a:pt x="325" y="202"/>
                  </a:lnTo>
                  <a:lnTo>
                    <a:pt x="325" y="202"/>
                  </a:lnTo>
                  <a:lnTo>
                    <a:pt x="323" y="217"/>
                  </a:lnTo>
                  <a:lnTo>
                    <a:pt x="323" y="217"/>
                  </a:lnTo>
                  <a:lnTo>
                    <a:pt x="323" y="219"/>
                  </a:lnTo>
                  <a:lnTo>
                    <a:pt x="323" y="219"/>
                  </a:lnTo>
                  <a:lnTo>
                    <a:pt x="319" y="221"/>
                  </a:lnTo>
                  <a:lnTo>
                    <a:pt x="319" y="221"/>
                  </a:lnTo>
                  <a:lnTo>
                    <a:pt x="315" y="219"/>
                  </a:lnTo>
                  <a:lnTo>
                    <a:pt x="315" y="215"/>
                  </a:lnTo>
                  <a:lnTo>
                    <a:pt x="315" y="215"/>
                  </a:lnTo>
                  <a:lnTo>
                    <a:pt x="313" y="200"/>
                  </a:lnTo>
                  <a:lnTo>
                    <a:pt x="313" y="194"/>
                  </a:lnTo>
                  <a:lnTo>
                    <a:pt x="286" y="194"/>
                  </a:lnTo>
                  <a:lnTo>
                    <a:pt x="286" y="200"/>
                  </a:lnTo>
                  <a:lnTo>
                    <a:pt x="286" y="200"/>
                  </a:lnTo>
                  <a:lnTo>
                    <a:pt x="286" y="213"/>
                  </a:lnTo>
                  <a:lnTo>
                    <a:pt x="290" y="223"/>
                  </a:lnTo>
                  <a:lnTo>
                    <a:pt x="290" y="223"/>
                  </a:lnTo>
                  <a:lnTo>
                    <a:pt x="294" y="229"/>
                  </a:lnTo>
                  <a:lnTo>
                    <a:pt x="300" y="234"/>
                  </a:lnTo>
                  <a:lnTo>
                    <a:pt x="300" y="234"/>
                  </a:lnTo>
                  <a:lnTo>
                    <a:pt x="308" y="236"/>
                  </a:lnTo>
                  <a:lnTo>
                    <a:pt x="319" y="238"/>
                  </a:lnTo>
                  <a:lnTo>
                    <a:pt x="319" y="238"/>
                  </a:lnTo>
                  <a:lnTo>
                    <a:pt x="329" y="238"/>
                  </a:lnTo>
                  <a:lnTo>
                    <a:pt x="336" y="236"/>
                  </a:lnTo>
                  <a:lnTo>
                    <a:pt x="336" y="236"/>
                  </a:lnTo>
                  <a:lnTo>
                    <a:pt x="342" y="231"/>
                  </a:lnTo>
                  <a:lnTo>
                    <a:pt x="346" y="227"/>
                  </a:lnTo>
                  <a:lnTo>
                    <a:pt x="346" y="227"/>
                  </a:lnTo>
                  <a:lnTo>
                    <a:pt x="350" y="223"/>
                  </a:lnTo>
                  <a:lnTo>
                    <a:pt x="350" y="217"/>
                  </a:lnTo>
                  <a:lnTo>
                    <a:pt x="350" y="217"/>
                  </a:lnTo>
                  <a:lnTo>
                    <a:pt x="352" y="200"/>
                  </a:lnTo>
                  <a:lnTo>
                    <a:pt x="352" y="183"/>
                  </a:lnTo>
                  <a:lnTo>
                    <a:pt x="352" y="183"/>
                  </a:lnTo>
                  <a:lnTo>
                    <a:pt x="350" y="169"/>
                  </a:lnTo>
                  <a:lnTo>
                    <a:pt x="348" y="163"/>
                  </a:lnTo>
                  <a:lnTo>
                    <a:pt x="346" y="158"/>
                  </a:lnTo>
                  <a:lnTo>
                    <a:pt x="346" y="158"/>
                  </a:lnTo>
                  <a:lnTo>
                    <a:pt x="340" y="154"/>
                  </a:lnTo>
                  <a:lnTo>
                    <a:pt x="329" y="152"/>
                  </a:lnTo>
                  <a:lnTo>
                    <a:pt x="329" y="152"/>
                  </a:lnTo>
                  <a:lnTo>
                    <a:pt x="319" y="154"/>
                  </a:lnTo>
                  <a:lnTo>
                    <a:pt x="313" y="161"/>
                  </a:lnTo>
                  <a:lnTo>
                    <a:pt x="313" y="142"/>
                  </a:lnTo>
                  <a:lnTo>
                    <a:pt x="346" y="142"/>
                  </a:lnTo>
                  <a:lnTo>
                    <a:pt x="346" y="123"/>
                  </a:lnTo>
                  <a:lnTo>
                    <a:pt x="346" y="123"/>
                  </a:lnTo>
                  <a:close/>
                  <a:moveTo>
                    <a:pt x="273" y="123"/>
                  </a:moveTo>
                  <a:lnTo>
                    <a:pt x="235" y="123"/>
                  </a:lnTo>
                  <a:lnTo>
                    <a:pt x="210" y="196"/>
                  </a:lnTo>
                  <a:lnTo>
                    <a:pt x="210" y="215"/>
                  </a:lnTo>
                  <a:lnTo>
                    <a:pt x="244" y="215"/>
                  </a:lnTo>
                  <a:lnTo>
                    <a:pt x="244" y="236"/>
                  </a:lnTo>
                  <a:lnTo>
                    <a:pt x="273" y="236"/>
                  </a:lnTo>
                  <a:lnTo>
                    <a:pt x="273" y="215"/>
                  </a:lnTo>
                  <a:lnTo>
                    <a:pt x="279" y="215"/>
                  </a:lnTo>
                  <a:lnTo>
                    <a:pt x="279" y="196"/>
                  </a:lnTo>
                  <a:lnTo>
                    <a:pt x="273" y="196"/>
                  </a:lnTo>
                  <a:lnTo>
                    <a:pt x="273" y="123"/>
                  </a:lnTo>
                  <a:lnTo>
                    <a:pt x="273" y="123"/>
                  </a:lnTo>
                  <a:close/>
                  <a:moveTo>
                    <a:pt x="244" y="196"/>
                  </a:moveTo>
                  <a:lnTo>
                    <a:pt x="244" y="148"/>
                  </a:lnTo>
                  <a:lnTo>
                    <a:pt x="231" y="196"/>
                  </a:lnTo>
                  <a:lnTo>
                    <a:pt x="244" y="196"/>
                  </a:lnTo>
                  <a:lnTo>
                    <a:pt x="244" y="196"/>
                  </a:lnTo>
                  <a:close/>
                  <a:moveTo>
                    <a:pt x="144" y="342"/>
                  </a:moveTo>
                  <a:lnTo>
                    <a:pt x="144" y="342"/>
                  </a:lnTo>
                  <a:lnTo>
                    <a:pt x="135" y="342"/>
                  </a:lnTo>
                  <a:lnTo>
                    <a:pt x="129" y="344"/>
                  </a:lnTo>
                  <a:lnTo>
                    <a:pt x="121" y="348"/>
                  </a:lnTo>
                  <a:lnTo>
                    <a:pt x="114" y="352"/>
                  </a:lnTo>
                  <a:lnTo>
                    <a:pt x="110" y="359"/>
                  </a:lnTo>
                  <a:lnTo>
                    <a:pt x="106" y="367"/>
                  </a:lnTo>
                  <a:lnTo>
                    <a:pt x="104" y="373"/>
                  </a:lnTo>
                  <a:lnTo>
                    <a:pt x="104" y="382"/>
                  </a:lnTo>
                  <a:lnTo>
                    <a:pt x="104" y="382"/>
                  </a:lnTo>
                  <a:lnTo>
                    <a:pt x="104" y="390"/>
                  </a:lnTo>
                  <a:lnTo>
                    <a:pt x="106" y="398"/>
                  </a:lnTo>
                  <a:lnTo>
                    <a:pt x="110" y="405"/>
                  </a:lnTo>
                  <a:lnTo>
                    <a:pt x="114" y="411"/>
                  </a:lnTo>
                  <a:lnTo>
                    <a:pt x="121" y="415"/>
                  </a:lnTo>
                  <a:lnTo>
                    <a:pt x="129" y="419"/>
                  </a:lnTo>
                  <a:lnTo>
                    <a:pt x="135" y="421"/>
                  </a:lnTo>
                  <a:lnTo>
                    <a:pt x="144" y="423"/>
                  </a:lnTo>
                  <a:lnTo>
                    <a:pt x="144" y="423"/>
                  </a:lnTo>
                  <a:lnTo>
                    <a:pt x="152" y="421"/>
                  </a:lnTo>
                  <a:lnTo>
                    <a:pt x="160" y="419"/>
                  </a:lnTo>
                  <a:lnTo>
                    <a:pt x="167" y="415"/>
                  </a:lnTo>
                  <a:lnTo>
                    <a:pt x="173" y="411"/>
                  </a:lnTo>
                  <a:lnTo>
                    <a:pt x="177" y="405"/>
                  </a:lnTo>
                  <a:lnTo>
                    <a:pt x="181" y="398"/>
                  </a:lnTo>
                  <a:lnTo>
                    <a:pt x="183" y="390"/>
                  </a:lnTo>
                  <a:lnTo>
                    <a:pt x="185" y="382"/>
                  </a:lnTo>
                  <a:lnTo>
                    <a:pt x="185" y="382"/>
                  </a:lnTo>
                  <a:lnTo>
                    <a:pt x="183" y="373"/>
                  </a:lnTo>
                  <a:lnTo>
                    <a:pt x="181" y="367"/>
                  </a:lnTo>
                  <a:lnTo>
                    <a:pt x="177" y="359"/>
                  </a:lnTo>
                  <a:lnTo>
                    <a:pt x="173" y="352"/>
                  </a:lnTo>
                  <a:lnTo>
                    <a:pt x="167" y="348"/>
                  </a:lnTo>
                  <a:lnTo>
                    <a:pt x="160" y="344"/>
                  </a:lnTo>
                  <a:lnTo>
                    <a:pt x="152" y="342"/>
                  </a:lnTo>
                  <a:lnTo>
                    <a:pt x="144" y="342"/>
                  </a:lnTo>
                  <a:lnTo>
                    <a:pt x="144" y="342"/>
                  </a:lnTo>
                  <a:close/>
                  <a:moveTo>
                    <a:pt x="144" y="557"/>
                  </a:moveTo>
                  <a:lnTo>
                    <a:pt x="144" y="557"/>
                  </a:lnTo>
                  <a:lnTo>
                    <a:pt x="135" y="559"/>
                  </a:lnTo>
                  <a:lnTo>
                    <a:pt x="129" y="561"/>
                  </a:lnTo>
                  <a:lnTo>
                    <a:pt x="121" y="565"/>
                  </a:lnTo>
                  <a:lnTo>
                    <a:pt x="114" y="569"/>
                  </a:lnTo>
                  <a:lnTo>
                    <a:pt x="110" y="576"/>
                  </a:lnTo>
                  <a:lnTo>
                    <a:pt x="106" y="582"/>
                  </a:lnTo>
                  <a:lnTo>
                    <a:pt x="104" y="590"/>
                  </a:lnTo>
                  <a:lnTo>
                    <a:pt x="104" y="599"/>
                  </a:lnTo>
                  <a:lnTo>
                    <a:pt x="104" y="599"/>
                  </a:lnTo>
                  <a:lnTo>
                    <a:pt x="104" y="607"/>
                  </a:lnTo>
                  <a:lnTo>
                    <a:pt x="106" y="613"/>
                  </a:lnTo>
                  <a:lnTo>
                    <a:pt x="110" y="622"/>
                  </a:lnTo>
                  <a:lnTo>
                    <a:pt x="114" y="628"/>
                  </a:lnTo>
                  <a:lnTo>
                    <a:pt x="121" y="632"/>
                  </a:lnTo>
                  <a:lnTo>
                    <a:pt x="129" y="636"/>
                  </a:lnTo>
                  <a:lnTo>
                    <a:pt x="135" y="638"/>
                  </a:lnTo>
                  <a:lnTo>
                    <a:pt x="144" y="638"/>
                  </a:lnTo>
                  <a:lnTo>
                    <a:pt x="144" y="638"/>
                  </a:lnTo>
                  <a:lnTo>
                    <a:pt x="152" y="638"/>
                  </a:lnTo>
                  <a:lnTo>
                    <a:pt x="160" y="636"/>
                  </a:lnTo>
                  <a:lnTo>
                    <a:pt x="167" y="632"/>
                  </a:lnTo>
                  <a:lnTo>
                    <a:pt x="173" y="628"/>
                  </a:lnTo>
                  <a:lnTo>
                    <a:pt x="177" y="622"/>
                  </a:lnTo>
                  <a:lnTo>
                    <a:pt x="181" y="613"/>
                  </a:lnTo>
                  <a:lnTo>
                    <a:pt x="183" y="607"/>
                  </a:lnTo>
                  <a:lnTo>
                    <a:pt x="185" y="599"/>
                  </a:lnTo>
                  <a:lnTo>
                    <a:pt x="185" y="599"/>
                  </a:lnTo>
                  <a:lnTo>
                    <a:pt x="183" y="590"/>
                  </a:lnTo>
                  <a:lnTo>
                    <a:pt x="181" y="582"/>
                  </a:lnTo>
                  <a:lnTo>
                    <a:pt x="177" y="576"/>
                  </a:lnTo>
                  <a:lnTo>
                    <a:pt x="173" y="569"/>
                  </a:lnTo>
                  <a:lnTo>
                    <a:pt x="167" y="565"/>
                  </a:lnTo>
                  <a:lnTo>
                    <a:pt x="160" y="561"/>
                  </a:lnTo>
                  <a:lnTo>
                    <a:pt x="152" y="559"/>
                  </a:lnTo>
                  <a:lnTo>
                    <a:pt x="144" y="557"/>
                  </a:lnTo>
                  <a:lnTo>
                    <a:pt x="144" y="557"/>
                  </a:lnTo>
                  <a:close/>
                  <a:moveTo>
                    <a:pt x="371" y="557"/>
                  </a:moveTo>
                  <a:lnTo>
                    <a:pt x="371" y="557"/>
                  </a:lnTo>
                  <a:lnTo>
                    <a:pt x="363" y="559"/>
                  </a:lnTo>
                  <a:lnTo>
                    <a:pt x="356" y="561"/>
                  </a:lnTo>
                  <a:lnTo>
                    <a:pt x="348" y="565"/>
                  </a:lnTo>
                  <a:lnTo>
                    <a:pt x="342" y="569"/>
                  </a:lnTo>
                  <a:lnTo>
                    <a:pt x="338" y="576"/>
                  </a:lnTo>
                  <a:lnTo>
                    <a:pt x="334" y="582"/>
                  </a:lnTo>
                  <a:lnTo>
                    <a:pt x="331" y="590"/>
                  </a:lnTo>
                  <a:lnTo>
                    <a:pt x="331" y="599"/>
                  </a:lnTo>
                  <a:lnTo>
                    <a:pt x="331" y="599"/>
                  </a:lnTo>
                  <a:lnTo>
                    <a:pt x="331" y="607"/>
                  </a:lnTo>
                  <a:lnTo>
                    <a:pt x="334" y="613"/>
                  </a:lnTo>
                  <a:lnTo>
                    <a:pt x="338" y="622"/>
                  </a:lnTo>
                  <a:lnTo>
                    <a:pt x="342" y="628"/>
                  </a:lnTo>
                  <a:lnTo>
                    <a:pt x="348" y="632"/>
                  </a:lnTo>
                  <a:lnTo>
                    <a:pt x="356" y="636"/>
                  </a:lnTo>
                  <a:lnTo>
                    <a:pt x="363" y="638"/>
                  </a:lnTo>
                  <a:lnTo>
                    <a:pt x="371" y="638"/>
                  </a:lnTo>
                  <a:lnTo>
                    <a:pt x="371" y="638"/>
                  </a:lnTo>
                  <a:lnTo>
                    <a:pt x="379" y="638"/>
                  </a:lnTo>
                  <a:lnTo>
                    <a:pt x="388" y="636"/>
                  </a:lnTo>
                  <a:lnTo>
                    <a:pt x="394" y="632"/>
                  </a:lnTo>
                  <a:lnTo>
                    <a:pt x="400" y="628"/>
                  </a:lnTo>
                  <a:lnTo>
                    <a:pt x="404" y="622"/>
                  </a:lnTo>
                  <a:lnTo>
                    <a:pt x="409" y="613"/>
                  </a:lnTo>
                  <a:lnTo>
                    <a:pt x="411" y="607"/>
                  </a:lnTo>
                  <a:lnTo>
                    <a:pt x="413" y="599"/>
                  </a:lnTo>
                  <a:lnTo>
                    <a:pt x="413" y="599"/>
                  </a:lnTo>
                  <a:lnTo>
                    <a:pt x="411" y="590"/>
                  </a:lnTo>
                  <a:lnTo>
                    <a:pt x="409" y="582"/>
                  </a:lnTo>
                  <a:lnTo>
                    <a:pt x="404" y="576"/>
                  </a:lnTo>
                  <a:lnTo>
                    <a:pt x="400" y="569"/>
                  </a:lnTo>
                  <a:lnTo>
                    <a:pt x="394" y="565"/>
                  </a:lnTo>
                  <a:lnTo>
                    <a:pt x="388" y="561"/>
                  </a:lnTo>
                  <a:lnTo>
                    <a:pt x="379" y="559"/>
                  </a:lnTo>
                  <a:lnTo>
                    <a:pt x="371" y="557"/>
                  </a:lnTo>
                  <a:lnTo>
                    <a:pt x="371" y="557"/>
                  </a:lnTo>
                  <a:close/>
                  <a:moveTo>
                    <a:pt x="258" y="557"/>
                  </a:moveTo>
                  <a:lnTo>
                    <a:pt x="258" y="557"/>
                  </a:lnTo>
                  <a:lnTo>
                    <a:pt x="250" y="559"/>
                  </a:lnTo>
                  <a:lnTo>
                    <a:pt x="244" y="561"/>
                  </a:lnTo>
                  <a:lnTo>
                    <a:pt x="238" y="565"/>
                  </a:lnTo>
                  <a:lnTo>
                    <a:pt x="231" y="569"/>
                  </a:lnTo>
                  <a:lnTo>
                    <a:pt x="225" y="576"/>
                  </a:lnTo>
                  <a:lnTo>
                    <a:pt x="223" y="582"/>
                  </a:lnTo>
                  <a:lnTo>
                    <a:pt x="219" y="590"/>
                  </a:lnTo>
                  <a:lnTo>
                    <a:pt x="219" y="599"/>
                  </a:lnTo>
                  <a:lnTo>
                    <a:pt x="219" y="599"/>
                  </a:lnTo>
                  <a:lnTo>
                    <a:pt x="219" y="607"/>
                  </a:lnTo>
                  <a:lnTo>
                    <a:pt x="223" y="613"/>
                  </a:lnTo>
                  <a:lnTo>
                    <a:pt x="225" y="622"/>
                  </a:lnTo>
                  <a:lnTo>
                    <a:pt x="231" y="628"/>
                  </a:lnTo>
                  <a:lnTo>
                    <a:pt x="238" y="632"/>
                  </a:lnTo>
                  <a:lnTo>
                    <a:pt x="244" y="636"/>
                  </a:lnTo>
                  <a:lnTo>
                    <a:pt x="250" y="638"/>
                  </a:lnTo>
                  <a:lnTo>
                    <a:pt x="258" y="638"/>
                  </a:lnTo>
                  <a:lnTo>
                    <a:pt x="258" y="638"/>
                  </a:lnTo>
                  <a:lnTo>
                    <a:pt x="267" y="638"/>
                  </a:lnTo>
                  <a:lnTo>
                    <a:pt x="275" y="636"/>
                  </a:lnTo>
                  <a:lnTo>
                    <a:pt x="281" y="632"/>
                  </a:lnTo>
                  <a:lnTo>
                    <a:pt x="288" y="628"/>
                  </a:lnTo>
                  <a:lnTo>
                    <a:pt x="292" y="622"/>
                  </a:lnTo>
                  <a:lnTo>
                    <a:pt x="296" y="613"/>
                  </a:lnTo>
                  <a:lnTo>
                    <a:pt x="298" y="607"/>
                  </a:lnTo>
                  <a:lnTo>
                    <a:pt x="300" y="599"/>
                  </a:lnTo>
                  <a:lnTo>
                    <a:pt x="300" y="599"/>
                  </a:lnTo>
                  <a:lnTo>
                    <a:pt x="298" y="590"/>
                  </a:lnTo>
                  <a:lnTo>
                    <a:pt x="296" y="582"/>
                  </a:lnTo>
                  <a:lnTo>
                    <a:pt x="292" y="576"/>
                  </a:lnTo>
                  <a:lnTo>
                    <a:pt x="288" y="569"/>
                  </a:lnTo>
                  <a:lnTo>
                    <a:pt x="281" y="565"/>
                  </a:lnTo>
                  <a:lnTo>
                    <a:pt x="275" y="561"/>
                  </a:lnTo>
                  <a:lnTo>
                    <a:pt x="267" y="559"/>
                  </a:lnTo>
                  <a:lnTo>
                    <a:pt x="258" y="557"/>
                  </a:lnTo>
                  <a:lnTo>
                    <a:pt x="258" y="557"/>
                  </a:lnTo>
                  <a:close/>
                  <a:moveTo>
                    <a:pt x="144" y="669"/>
                  </a:moveTo>
                  <a:lnTo>
                    <a:pt x="144" y="669"/>
                  </a:lnTo>
                  <a:lnTo>
                    <a:pt x="135" y="669"/>
                  </a:lnTo>
                  <a:lnTo>
                    <a:pt x="129" y="672"/>
                  </a:lnTo>
                  <a:lnTo>
                    <a:pt x="121" y="676"/>
                  </a:lnTo>
                  <a:lnTo>
                    <a:pt x="114" y="682"/>
                  </a:lnTo>
                  <a:lnTo>
                    <a:pt x="110" y="686"/>
                  </a:lnTo>
                  <a:lnTo>
                    <a:pt x="106" y="695"/>
                  </a:lnTo>
                  <a:lnTo>
                    <a:pt x="104" y="701"/>
                  </a:lnTo>
                  <a:lnTo>
                    <a:pt x="104" y="709"/>
                  </a:lnTo>
                  <a:lnTo>
                    <a:pt x="104" y="709"/>
                  </a:lnTo>
                  <a:lnTo>
                    <a:pt x="104" y="717"/>
                  </a:lnTo>
                  <a:lnTo>
                    <a:pt x="106" y="726"/>
                  </a:lnTo>
                  <a:lnTo>
                    <a:pt x="110" y="732"/>
                  </a:lnTo>
                  <a:lnTo>
                    <a:pt x="114" y="738"/>
                  </a:lnTo>
                  <a:lnTo>
                    <a:pt x="121" y="742"/>
                  </a:lnTo>
                  <a:lnTo>
                    <a:pt x="129" y="747"/>
                  </a:lnTo>
                  <a:lnTo>
                    <a:pt x="135" y="749"/>
                  </a:lnTo>
                  <a:lnTo>
                    <a:pt x="144" y="751"/>
                  </a:lnTo>
                  <a:lnTo>
                    <a:pt x="144" y="751"/>
                  </a:lnTo>
                  <a:lnTo>
                    <a:pt x="152" y="749"/>
                  </a:lnTo>
                  <a:lnTo>
                    <a:pt x="160" y="747"/>
                  </a:lnTo>
                  <a:lnTo>
                    <a:pt x="167" y="742"/>
                  </a:lnTo>
                  <a:lnTo>
                    <a:pt x="173" y="738"/>
                  </a:lnTo>
                  <a:lnTo>
                    <a:pt x="177" y="732"/>
                  </a:lnTo>
                  <a:lnTo>
                    <a:pt x="181" y="726"/>
                  </a:lnTo>
                  <a:lnTo>
                    <a:pt x="183" y="717"/>
                  </a:lnTo>
                  <a:lnTo>
                    <a:pt x="185" y="709"/>
                  </a:lnTo>
                  <a:lnTo>
                    <a:pt x="185" y="709"/>
                  </a:lnTo>
                  <a:lnTo>
                    <a:pt x="183" y="701"/>
                  </a:lnTo>
                  <a:lnTo>
                    <a:pt x="181" y="695"/>
                  </a:lnTo>
                  <a:lnTo>
                    <a:pt x="177" y="686"/>
                  </a:lnTo>
                  <a:lnTo>
                    <a:pt x="173" y="682"/>
                  </a:lnTo>
                  <a:lnTo>
                    <a:pt x="167" y="676"/>
                  </a:lnTo>
                  <a:lnTo>
                    <a:pt x="160" y="672"/>
                  </a:lnTo>
                  <a:lnTo>
                    <a:pt x="152" y="669"/>
                  </a:lnTo>
                  <a:lnTo>
                    <a:pt x="144" y="669"/>
                  </a:lnTo>
                  <a:lnTo>
                    <a:pt x="144" y="669"/>
                  </a:lnTo>
                  <a:close/>
                  <a:moveTo>
                    <a:pt x="523" y="709"/>
                  </a:moveTo>
                  <a:lnTo>
                    <a:pt x="523" y="709"/>
                  </a:lnTo>
                  <a:lnTo>
                    <a:pt x="523" y="599"/>
                  </a:lnTo>
                  <a:lnTo>
                    <a:pt x="523" y="599"/>
                  </a:lnTo>
                  <a:lnTo>
                    <a:pt x="521" y="590"/>
                  </a:lnTo>
                  <a:lnTo>
                    <a:pt x="519" y="582"/>
                  </a:lnTo>
                  <a:lnTo>
                    <a:pt x="515" y="576"/>
                  </a:lnTo>
                  <a:lnTo>
                    <a:pt x="511" y="569"/>
                  </a:lnTo>
                  <a:lnTo>
                    <a:pt x="505" y="565"/>
                  </a:lnTo>
                  <a:lnTo>
                    <a:pt x="498" y="561"/>
                  </a:lnTo>
                  <a:lnTo>
                    <a:pt x="490" y="559"/>
                  </a:lnTo>
                  <a:lnTo>
                    <a:pt x="482" y="557"/>
                  </a:lnTo>
                  <a:lnTo>
                    <a:pt x="482" y="557"/>
                  </a:lnTo>
                  <a:lnTo>
                    <a:pt x="473" y="559"/>
                  </a:lnTo>
                  <a:lnTo>
                    <a:pt x="467" y="561"/>
                  </a:lnTo>
                  <a:lnTo>
                    <a:pt x="461" y="565"/>
                  </a:lnTo>
                  <a:lnTo>
                    <a:pt x="455" y="569"/>
                  </a:lnTo>
                  <a:lnTo>
                    <a:pt x="448" y="576"/>
                  </a:lnTo>
                  <a:lnTo>
                    <a:pt x="446" y="582"/>
                  </a:lnTo>
                  <a:lnTo>
                    <a:pt x="442" y="590"/>
                  </a:lnTo>
                  <a:lnTo>
                    <a:pt x="442" y="599"/>
                  </a:lnTo>
                  <a:lnTo>
                    <a:pt x="442" y="709"/>
                  </a:lnTo>
                  <a:lnTo>
                    <a:pt x="442" y="709"/>
                  </a:lnTo>
                  <a:lnTo>
                    <a:pt x="442" y="709"/>
                  </a:lnTo>
                  <a:lnTo>
                    <a:pt x="442" y="709"/>
                  </a:lnTo>
                  <a:lnTo>
                    <a:pt x="442" y="717"/>
                  </a:lnTo>
                  <a:lnTo>
                    <a:pt x="446" y="726"/>
                  </a:lnTo>
                  <a:lnTo>
                    <a:pt x="448" y="732"/>
                  </a:lnTo>
                  <a:lnTo>
                    <a:pt x="455" y="738"/>
                  </a:lnTo>
                  <a:lnTo>
                    <a:pt x="461" y="742"/>
                  </a:lnTo>
                  <a:lnTo>
                    <a:pt x="467" y="747"/>
                  </a:lnTo>
                  <a:lnTo>
                    <a:pt x="473" y="749"/>
                  </a:lnTo>
                  <a:lnTo>
                    <a:pt x="482" y="751"/>
                  </a:lnTo>
                  <a:lnTo>
                    <a:pt x="482" y="751"/>
                  </a:lnTo>
                  <a:lnTo>
                    <a:pt x="490" y="749"/>
                  </a:lnTo>
                  <a:lnTo>
                    <a:pt x="498" y="747"/>
                  </a:lnTo>
                  <a:lnTo>
                    <a:pt x="505" y="742"/>
                  </a:lnTo>
                  <a:lnTo>
                    <a:pt x="511" y="738"/>
                  </a:lnTo>
                  <a:lnTo>
                    <a:pt x="515" y="732"/>
                  </a:lnTo>
                  <a:lnTo>
                    <a:pt x="519" y="726"/>
                  </a:lnTo>
                  <a:lnTo>
                    <a:pt x="521" y="717"/>
                  </a:lnTo>
                  <a:lnTo>
                    <a:pt x="523" y="709"/>
                  </a:lnTo>
                  <a:lnTo>
                    <a:pt x="523" y="709"/>
                  </a:lnTo>
                  <a:lnTo>
                    <a:pt x="523" y="709"/>
                  </a:lnTo>
                  <a:close/>
                  <a:moveTo>
                    <a:pt x="371" y="669"/>
                  </a:moveTo>
                  <a:lnTo>
                    <a:pt x="371" y="669"/>
                  </a:lnTo>
                  <a:lnTo>
                    <a:pt x="363" y="669"/>
                  </a:lnTo>
                  <a:lnTo>
                    <a:pt x="356" y="672"/>
                  </a:lnTo>
                  <a:lnTo>
                    <a:pt x="348" y="676"/>
                  </a:lnTo>
                  <a:lnTo>
                    <a:pt x="342" y="682"/>
                  </a:lnTo>
                  <a:lnTo>
                    <a:pt x="338" y="686"/>
                  </a:lnTo>
                  <a:lnTo>
                    <a:pt x="334" y="695"/>
                  </a:lnTo>
                  <a:lnTo>
                    <a:pt x="331" y="701"/>
                  </a:lnTo>
                  <a:lnTo>
                    <a:pt x="331" y="709"/>
                  </a:lnTo>
                  <a:lnTo>
                    <a:pt x="331" y="709"/>
                  </a:lnTo>
                  <a:lnTo>
                    <a:pt x="331" y="717"/>
                  </a:lnTo>
                  <a:lnTo>
                    <a:pt x="334" y="726"/>
                  </a:lnTo>
                  <a:lnTo>
                    <a:pt x="338" y="732"/>
                  </a:lnTo>
                  <a:lnTo>
                    <a:pt x="342" y="738"/>
                  </a:lnTo>
                  <a:lnTo>
                    <a:pt x="348" y="742"/>
                  </a:lnTo>
                  <a:lnTo>
                    <a:pt x="356" y="747"/>
                  </a:lnTo>
                  <a:lnTo>
                    <a:pt x="363" y="749"/>
                  </a:lnTo>
                  <a:lnTo>
                    <a:pt x="371" y="751"/>
                  </a:lnTo>
                  <a:lnTo>
                    <a:pt x="371" y="751"/>
                  </a:lnTo>
                  <a:lnTo>
                    <a:pt x="379" y="749"/>
                  </a:lnTo>
                  <a:lnTo>
                    <a:pt x="388" y="747"/>
                  </a:lnTo>
                  <a:lnTo>
                    <a:pt x="394" y="742"/>
                  </a:lnTo>
                  <a:lnTo>
                    <a:pt x="400" y="738"/>
                  </a:lnTo>
                  <a:lnTo>
                    <a:pt x="404" y="732"/>
                  </a:lnTo>
                  <a:lnTo>
                    <a:pt x="409" y="726"/>
                  </a:lnTo>
                  <a:lnTo>
                    <a:pt x="411" y="717"/>
                  </a:lnTo>
                  <a:lnTo>
                    <a:pt x="413" y="709"/>
                  </a:lnTo>
                  <a:lnTo>
                    <a:pt x="413" y="709"/>
                  </a:lnTo>
                  <a:lnTo>
                    <a:pt x="411" y="701"/>
                  </a:lnTo>
                  <a:lnTo>
                    <a:pt x="409" y="695"/>
                  </a:lnTo>
                  <a:lnTo>
                    <a:pt x="404" y="686"/>
                  </a:lnTo>
                  <a:lnTo>
                    <a:pt x="400" y="682"/>
                  </a:lnTo>
                  <a:lnTo>
                    <a:pt x="394" y="676"/>
                  </a:lnTo>
                  <a:lnTo>
                    <a:pt x="388" y="672"/>
                  </a:lnTo>
                  <a:lnTo>
                    <a:pt x="379" y="669"/>
                  </a:lnTo>
                  <a:lnTo>
                    <a:pt x="371" y="669"/>
                  </a:lnTo>
                  <a:lnTo>
                    <a:pt x="371" y="669"/>
                  </a:lnTo>
                  <a:close/>
                  <a:moveTo>
                    <a:pt x="258" y="669"/>
                  </a:moveTo>
                  <a:lnTo>
                    <a:pt x="258" y="669"/>
                  </a:lnTo>
                  <a:lnTo>
                    <a:pt x="250" y="669"/>
                  </a:lnTo>
                  <a:lnTo>
                    <a:pt x="244" y="672"/>
                  </a:lnTo>
                  <a:lnTo>
                    <a:pt x="238" y="676"/>
                  </a:lnTo>
                  <a:lnTo>
                    <a:pt x="231" y="682"/>
                  </a:lnTo>
                  <a:lnTo>
                    <a:pt x="225" y="686"/>
                  </a:lnTo>
                  <a:lnTo>
                    <a:pt x="223" y="695"/>
                  </a:lnTo>
                  <a:lnTo>
                    <a:pt x="219" y="701"/>
                  </a:lnTo>
                  <a:lnTo>
                    <a:pt x="219" y="709"/>
                  </a:lnTo>
                  <a:lnTo>
                    <a:pt x="219" y="709"/>
                  </a:lnTo>
                  <a:lnTo>
                    <a:pt x="219" y="717"/>
                  </a:lnTo>
                  <a:lnTo>
                    <a:pt x="223" y="726"/>
                  </a:lnTo>
                  <a:lnTo>
                    <a:pt x="225" y="732"/>
                  </a:lnTo>
                  <a:lnTo>
                    <a:pt x="231" y="738"/>
                  </a:lnTo>
                  <a:lnTo>
                    <a:pt x="238" y="742"/>
                  </a:lnTo>
                  <a:lnTo>
                    <a:pt x="244" y="747"/>
                  </a:lnTo>
                  <a:lnTo>
                    <a:pt x="250" y="749"/>
                  </a:lnTo>
                  <a:lnTo>
                    <a:pt x="258" y="751"/>
                  </a:lnTo>
                  <a:lnTo>
                    <a:pt x="258" y="751"/>
                  </a:lnTo>
                  <a:lnTo>
                    <a:pt x="267" y="749"/>
                  </a:lnTo>
                  <a:lnTo>
                    <a:pt x="275" y="747"/>
                  </a:lnTo>
                  <a:lnTo>
                    <a:pt x="281" y="742"/>
                  </a:lnTo>
                  <a:lnTo>
                    <a:pt x="288" y="738"/>
                  </a:lnTo>
                  <a:lnTo>
                    <a:pt x="292" y="732"/>
                  </a:lnTo>
                  <a:lnTo>
                    <a:pt x="296" y="726"/>
                  </a:lnTo>
                  <a:lnTo>
                    <a:pt x="298" y="717"/>
                  </a:lnTo>
                  <a:lnTo>
                    <a:pt x="300" y="709"/>
                  </a:lnTo>
                  <a:lnTo>
                    <a:pt x="300" y="709"/>
                  </a:lnTo>
                  <a:lnTo>
                    <a:pt x="298" y="701"/>
                  </a:lnTo>
                  <a:lnTo>
                    <a:pt x="296" y="695"/>
                  </a:lnTo>
                  <a:lnTo>
                    <a:pt x="292" y="686"/>
                  </a:lnTo>
                  <a:lnTo>
                    <a:pt x="288" y="682"/>
                  </a:lnTo>
                  <a:lnTo>
                    <a:pt x="281" y="676"/>
                  </a:lnTo>
                  <a:lnTo>
                    <a:pt x="275" y="672"/>
                  </a:lnTo>
                  <a:lnTo>
                    <a:pt x="267" y="669"/>
                  </a:lnTo>
                  <a:lnTo>
                    <a:pt x="258" y="669"/>
                  </a:lnTo>
                  <a:lnTo>
                    <a:pt x="258" y="669"/>
                  </a:lnTo>
                  <a:close/>
                  <a:moveTo>
                    <a:pt x="144" y="453"/>
                  </a:moveTo>
                  <a:lnTo>
                    <a:pt x="144" y="453"/>
                  </a:lnTo>
                  <a:lnTo>
                    <a:pt x="135" y="453"/>
                  </a:lnTo>
                  <a:lnTo>
                    <a:pt x="129" y="455"/>
                  </a:lnTo>
                  <a:lnTo>
                    <a:pt x="121" y="459"/>
                  </a:lnTo>
                  <a:lnTo>
                    <a:pt x="114" y="465"/>
                  </a:lnTo>
                  <a:lnTo>
                    <a:pt x="110" y="469"/>
                  </a:lnTo>
                  <a:lnTo>
                    <a:pt x="106" y="478"/>
                  </a:lnTo>
                  <a:lnTo>
                    <a:pt x="104" y="484"/>
                  </a:lnTo>
                  <a:lnTo>
                    <a:pt x="104" y="492"/>
                  </a:lnTo>
                  <a:lnTo>
                    <a:pt x="104" y="492"/>
                  </a:lnTo>
                  <a:lnTo>
                    <a:pt x="104" y="501"/>
                  </a:lnTo>
                  <a:lnTo>
                    <a:pt x="106" y="509"/>
                  </a:lnTo>
                  <a:lnTo>
                    <a:pt x="110" y="515"/>
                  </a:lnTo>
                  <a:lnTo>
                    <a:pt x="114" y="521"/>
                  </a:lnTo>
                  <a:lnTo>
                    <a:pt x="121" y="526"/>
                  </a:lnTo>
                  <a:lnTo>
                    <a:pt x="129" y="530"/>
                  </a:lnTo>
                  <a:lnTo>
                    <a:pt x="135" y="532"/>
                  </a:lnTo>
                  <a:lnTo>
                    <a:pt x="144" y="534"/>
                  </a:lnTo>
                  <a:lnTo>
                    <a:pt x="144" y="534"/>
                  </a:lnTo>
                  <a:lnTo>
                    <a:pt x="152" y="532"/>
                  </a:lnTo>
                  <a:lnTo>
                    <a:pt x="160" y="530"/>
                  </a:lnTo>
                  <a:lnTo>
                    <a:pt x="167" y="526"/>
                  </a:lnTo>
                  <a:lnTo>
                    <a:pt x="173" y="521"/>
                  </a:lnTo>
                  <a:lnTo>
                    <a:pt x="177" y="515"/>
                  </a:lnTo>
                  <a:lnTo>
                    <a:pt x="181" y="509"/>
                  </a:lnTo>
                  <a:lnTo>
                    <a:pt x="183" y="501"/>
                  </a:lnTo>
                  <a:lnTo>
                    <a:pt x="185" y="492"/>
                  </a:lnTo>
                  <a:lnTo>
                    <a:pt x="185" y="492"/>
                  </a:lnTo>
                  <a:lnTo>
                    <a:pt x="183" y="484"/>
                  </a:lnTo>
                  <a:lnTo>
                    <a:pt x="181" y="478"/>
                  </a:lnTo>
                  <a:lnTo>
                    <a:pt x="177" y="469"/>
                  </a:lnTo>
                  <a:lnTo>
                    <a:pt x="173" y="465"/>
                  </a:lnTo>
                  <a:lnTo>
                    <a:pt x="167" y="459"/>
                  </a:lnTo>
                  <a:lnTo>
                    <a:pt x="160" y="455"/>
                  </a:lnTo>
                  <a:lnTo>
                    <a:pt x="152" y="453"/>
                  </a:lnTo>
                  <a:lnTo>
                    <a:pt x="144" y="453"/>
                  </a:lnTo>
                  <a:lnTo>
                    <a:pt x="144" y="453"/>
                  </a:lnTo>
                  <a:close/>
                  <a:moveTo>
                    <a:pt x="482" y="453"/>
                  </a:moveTo>
                  <a:lnTo>
                    <a:pt x="482" y="453"/>
                  </a:lnTo>
                  <a:lnTo>
                    <a:pt x="473" y="453"/>
                  </a:lnTo>
                  <a:lnTo>
                    <a:pt x="467" y="455"/>
                  </a:lnTo>
                  <a:lnTo>
                    <a:pt x="461" y="459"/>
                  </a:lnTo>
                  <a:lnTo>
                    <a:pt x="455" y="465"/>
                  </a:lnTo>
                  <a:lnTo>
                    <a:pt x="448" y="469"/>
                  </a:lnTo>
                  <a:lnTo>
                    <a:pt x="446" y="478"/>
                  </a:lnTo>
                  <a:lnTo>
                    <a:pt x="442" y="484"/>
                  </a:lnTo>
                  <a:lnTo>
                    <a:pt x="442" y="492"/>
                  </a:lnTo>
                  <a:lnTo>
                    <a:pt x="442" y="492"/>
                  </a:lnTo>
                  <a:lnTo>
                    <a:pt x="442" y="501"/>
                  </a:lnTo>
                  <a:lnTo>
                    <a:pt x="446" y="509"/>
                  </a:lnTo>
                  <a:lnTo>
                    <a:pt x="448" y="515"/>
                  </a:lnTo>
                  <a:lnTo>
                    <a:pt x="455" y="521"/>
                  </a:lnTo>
                  <a:lnTo>
                    <a:pt x="461" y="526"/>
                  </a:lnTo>
                  <a:lnTo>
                    <a:pt x="467" y="530"/>
                  </a:lnTo>
                  <a:lnTo>
                    <a:pt x="473" y="532"/>
                  </a:lnTo>
                  <a:lnTo>
                    <a:pt x="482" y="534"/>
                  </a:lnTo>
                  <a:lnTo>
                    <a:pt x="482" y="534"/>
                  </a:lnTo>
                  <a:lnTo>
                    <a:pt x="490" y="532"/>
                  </a:lnTo>
                  <a:lnTo>
                    <a:pt x="498" y="530"/>
                  </a:lnTo>
                  <a:lnTo>
                    <a:pt x="505" y="526"/>
                  </a:lnTo>
                  <a:lnTo>
                    <a:pt x="511" y="521"/>
                  </a:lnTo>
                  <a:lnTo>
                    <a:pt x="515" y="515"/>
                  </a:lnTo>
                  <a:lnTo>
                    <a:pt x="519" y="509"/>
                  </a:lnTo>
                  <a:lnTo>
                    <a:pt x="521" y="501"/>
                  </a:lnTo>
                  <a:lnTo>
                    <a:pt x="523" y="492"/>
                  </a:lnTo>
                  <a:lnTo>
                    <a:pt x="523" y="492"/>
                  </a:lnTo>
                  <a:lnTo>
                    <a:pt x="521" y="484"/>
                  </a:lnTo>
                  <a:lnTo>
                    <a:pt x="519" y="478"/>
                  </a:lnTo>
                  <a:lnTo>
                    <a:pt x="515" y="469"/>
                  </a:lnTo>
                  <a:lnTo>
                    <a:pt x="511" y="465"/>
                  </a:lnTo>
                  <a:lnTo>
                    <a:pt x="505" y="459"/>
                  </a:lnTo>
                  <a:lnTo>
                    <a:pt x="498" y="455"/>
                  </a:lnTo>
                  <a:lnTo>
                    <a:pt x="490" y="453"/>
                  </a:lnTo>
                  <a:lnTo>
                    <a:pt x="482" y="453"/>
                  </a:lnTo>
                  <a:lnTo>
                    <a:pt x="482" y="453"/>
                  </a:lnTo>
                  <a:close/>
                  <a:moveTo>
                    <a:pt x="371" y="453"/>
                  </a:moveTo>
                  <a:lnTo>
                    <a:pt x="371" y="453"/>
                  </a:lnTo>
                  <a:lnTo>
                    <a:pt x="363" y="453"/>
                  </a:lnTo>
                  <a:lnTo>
                    <a:pt x="356" y="455"/>
                  </a:lnTo>
                  <a:lnTo>
                    <a:pt x="348" y="459"/>
                  </a:lnTo>
                  <a:lnTo>
                    <a:pt x="342" y="465"/>
                  </a:lnTo>
                  <a:lnTo>
                    <a:pt x="338" y="469"/>
                  </a:lnTo>
                  <a:lnTo>
                    <a:pt x="334" y="478"/>
                  </a:lnTo>
                  <a:lnTo>
                    <a:pt x="331" y="484"/>
                  </a:lnTo>
                  <a:lnTo>
                    <a:pt x="331" y="492"/>
                  </a:lnTo>
                  <a:lnTo>
                    <a:pt x="331" y="492"/>
                  </a:lnTo>
                  <a:lnTo>
                    <a:pt x="331" y="501"/>
                  </a:lnTo>
                  <a:lnTo>
                    <a:pt x="334" y="509"/>
                  </a:lnTo>
                  <a:lnTo>
                    <a:pt x="338" y="515"/>
                  </a:lnTo>
                  <a:lnTo>
                    <a:pt x="342" y="521"/>
                  </a:lnTo>
                  <a:lnTo>
                    <a:pt x="348" y="526"/>
                  </a:lnTo>
                  <a:lnTo>
                    <a:pt x="356" y="530"/>
                  </a:lnTo>
                  <a:lnTo>
                    <a:pt x="363" y="532"/>
                  </a:lnTo>
                  <a:lnTo>
                    <a:pt x="371" y="534"/>
                  </a:lnTo>
                  <a:lnTo>
                    <a:pt x="371" y="534"/>
                  </a:lnTo>
                  <a:lnTo>
                    <a:pt x="379" y="532"/>
                  </a:lnTo>
                  <a:lnTo>
                    <a:pt x="388" y="530"/>
                  </a:lnTo>
                  <a:lnTo>
                    <a:pt x="394" y="526"/>
                  </a:lnTo>
                  <a:lnTo>
                    <a:pt x="400" y="521"/>
                  </a:lnTo>
                  <a:lnTo>
                    <a:pt x="404" y="515"/>
                  </a:lnTo>
                  <a:lnTo>
                    <a:pt x="409" y="509"/>
                  </a:lnTo>
                  <a:lnTo>
                    <a:pt x="411" y="501"/>
                  </a:lnTo>
                  <a:lnTo>
                    <a:pt x="413" y="492"/>
                  </a:lnTo>
                  <a:lnTo>
                    <a:pt x="413" y="492"/>
                  </a:lnTo>
                  <a:lnTo>
                    <a:pt x="411" y="484"/>
                  </a:lnTo>
                  <a:lnTo>
                    <a:pt x="409" y="478"/>
                  </a:lnTo>
                  <a:lnTo>
                    <a:pt x="404" y="469"/>
                  </a:lnTo>
                  <a:lnTo>
                    <a:pt x="400" y="465"/>
                  </a:lnTo>
                  <a:lnTo>
                    <a:pt x="394" y="459"/>
                  </a:lnTo>
                  <a:lnTo>
                    <a:pt x="388" y="455"/>
                  </a:lnTo>
                  <a:lnTo>
                    <a:pt x="379" y="453"/>
                  </a:lnTo>
                  <a:lnTo>
                    <a:pt x="371" y="453"/>
                  </a:lnTo>
                  <a:lnTo>
                    <a:pt x="371" y="453"/>
                  </a:lnTo>
                  <a:close/>
                  <a:moveTo>
                    <a:pt x="258" y="453"/>
                  </a:moveTo>
                  <a:lnTo>
                    <a:pt x="258" y="453"/>
                  </a:lnTo>
                  <a:lnTo>
                    <a:pt x="250" y="453"/>
                  </a:lnTo>
                  <a:lnTo>
                    <a:pt x="244" y="455"/>
                  </a:lnTo>
                  <a:lnTo>
                    <a:pt x="238" y="459"/>
                  </a:lnTo>
                  <a:lnTo>
                    <a:pt x="231" y="465"/>
                  </a:lnTo>
                  <a:lnTo>
                    <a:pt x="225" y="469"/>
                  </a:lnTo>
                  <a:lnTo>
                    <a:pt x="223" y="478"/>
                  </a:lnTo>
                  <a:lnTo>
                    <a:pt x="219" y="484"/>
                  </a:lnTo>
                  <a:lnTo>
                    <a:pt x="219" y="492"/>
                  </a:lnTo>
                  <a:lnTo>
                    <a:pt x="219" y="492"/>
                  </a:lnTo>
                  <a:lnTo>
                    <a:pt x="219" y="501"/>
                  </a:lnTo>
                  <a:lnTo>
                    <a:pt x="223" y="509"/>
                  </a:lnTo>
                  <a:lnTo>
                    <a:pt x="225" y="515"/>
                  </a:lnTo>
                  <a:lnTo>
                    <a:pt x="231" y="521"/>
                  </a:lnTo>
                  <a:lnTo>
                    <a:pt x="238" y="526"/>
                  </a:lnTo>
                  <a:lnTo>
                    <a:pt x="244" y="530"/>
                  </a:lnTo>
                  <a:lnTo>
                    <a:pt x="250" y="532"/>
                  </a:lnTo>
                  <a:lnTo>
                    <a:pt x="258" y="534"/>
                  </a:lnTo>
                  <a:lnTo>
                    <a:pt x="258" y="534"/>
                  </a:lnTo>
                  <a:lnTo>
                    <a:pt x="267" y="532"/>
                  </a:lnTo>
                  <a:lnTo>
                    <a:pt x="275" y="530"/>
                  </a:lnTo>
                  <a:lnTo>
                    <a:pt x="281" y="526"/>
                  </a:lnTo>
                  <a:lnTo>
                    <a:pt x="288" y="521"/>
                  </a:lnTo>
                  <a:lnTo>
                    <a:pt x="292" y="515"/>
                  </a:lnTo>
                  <a:lnTo>
                    <a:pt x="296" y="509"/>
                  </a:lnTo>
                  <a:lnTo>
                    <a:pt x="298" y="501"/>
                  </a:lnTo>
                  <a:lnTo>
                    <a:pt x="300" y="492"/>
                  </a:lnTo>
                  <a:lnTo>
                    <a:pt x="300" y="492"/>
                  </a:lnTo>
                  <a:lnTo>
                    <a:pt x="298" y="484"/>
                  </a:lnTo>
                  <a:lnTo>
                    <a:pt x="296" y="478"/>
                  </a:lnTo>
                  <a:lnTo>
                    <a:pt x="292" y="469"/>
                  </a:lnTo>
                  <a:lnTo>
                    <a:pt x="288" y="465"/>
                  </a:lnTo>
                  <a:lnTo>
                    <a:pt x="281" y="459"/>
                  </a:lnTo>
                  <a:lnTo>
                    <a:pt x="275" y="455"/>
                  </a:lnTo>
                  <a:lnTo>
                    <a:pt x="267" y="453"/>
                  </a:lnTo>
                  <a:lnTo>
                    <a:pt x="258" y="453"/>
                  </a:lnTo>
                  <a:lnTo>
                    <a:pt x="258" y="453"/>
                  </a:lnTo>
                  <a:close/>
                  <a:moveTo>
                    <a:pt x="482" y="342"/>
                  </a:moveTo>
                  <a:lnTo>
                    <a:pt x="482" y="342"/>
                  </a:lnTo>
                  <a:lnTo>
                    <a:pt x="473" y="342"/>
                  </a:lnTo>
                  <a:lnTo>
                    <a:pt x="467" y="344"/>
                  </a:lnTo>
                  <a:lnTo>
                    <a:pt x="461" y="348"/>
                  </a:lnTo>
                  <a:lnTo>
                    <a:pt x="455" y="352"/>
                  </a:lnTo>
                  <a:lnTo>
                    <a:pt x="448" y="359"/>
                  </a:lnTo>
                  <a:lnTo>
                    <a:pt x="446" y="367"/>
                  </a:lnTo>
                  <a:lnTo>
                    <a:pt x="442" y="373"/>
                  </a:lnTo>
                  <a:lnTo>
                    <a:pt x="442" y="382"/>
                  </a:lnTo>
                  <a:lnTo>
                    <a:pt x="442" y="382"/>
                  </a:lnTo>
                  <a:lnTo>
                    <a:pt x="442" y="390"/>
                  </a:lnTo>
                  <a:lnTo>
                    <a:pt x="446" y="398"/>
                  </a:lnTo>
                  <a:lnTo>
                    <a:pt x="448" y="405"/>
                  </a:lnTo>
                  <a:lnTo>
                    <a:pt x="455" y="411"/>
                  </a:lnTo>
                  <a:lnTo>
                    <a:pt x="461" y="415"/>
                  </a:lnTo>
                  <a:lnTo>
                    <a:pt x="467" y="419"/>
                  </a:lnTo>
                  <a:lnTo>
                    <a:pt x="473" y="421"/>
                  </a:lnTo>
                  <a:lnTo>
                    <a:pt x="482" y="423"/>
                  </a:lnTo>
                  <a:lnTo>
                    <a:pt x="482" y="423"/>
                  </a:lnTo>
                  <a:lnTo>
                    <a:pt x="490" y="421"/>
                  </a:lnTo>
                  <a:lnTo>
                    <a:pt x="498" y="419"/>
                  </a:lnTo>
                  <a:lnTo>
                    <a:pt x="505" y="415"/>
                  </a:lnTo>
                  <a:lnTo>
                    <a:pt x="511" y="411"/>
                  </a:lnTo>
                  <a:lnTo>
                    <a:pt x="515" y="405"/>
                  </a:lnTo>
                  <a:lnTo>
                    <a:pt x="519" y="398"/>
                  </a:lnTo>
                  <a:lnTo>
                    <a:pt x="521" y="390"/>
                  </a:lnTo>
                  <a:lnTo>
                    <a:pt x="523" y="382"/>
                  </a:lnTo>
                  <a:lnTo>
                    <a:pt x="523" y="382"/>
                  </a:lnTo>
                  <a:lnTo>
                    <a:pt x="521" y="373"/>
                  </a:lnTo>
                  <a:lnTo>
                    <a:pt x="519" y="367"/>
                  </a:lnTo>
                  <a:lnTo>
                    <a:pt x="515" y="359"/>
                  </a:lnTo>
                  <a:lnTo>
                    <a:pt x="511" y="352"/>
                  </a:lnTo>
                  <a:lnTo>
                    <a:pt x="505" y="348"/>
                  </a:lnTo>
                  <a:lnTo>
                    <a:pt x="498" y="344"/>
                  </a:lnTo>
                  <a:lnTo>
                    <a:pt x="490" y="342"/>
                  </a:lnTo>
                  <a:lnTo>
                    <a:pt x="482" y="342"/>
                  </a:lnTo>
                  <a:lnTo>
                    <a:pt x="482" y="342"/>
                  </a:lnTo>
                  <a:close/>
                  <a:moveTo>
                    <a:pt x="371" y="342"/>
                  </a:moveTo>
                  <a:lnTo>
                    <a:pt x="371" y="342"/>
                  </a:lnTo>
                  <a:lnTo>
                    <a:pt x="363" y="342"/>
                  </a:lnTo>
                  <a:lnTo>
                    <a:pt x="356" y="344"/>
                  </a:lnTo>
                  <a:lnTo>
                    <a:pt x="348" y="348"/>
                  </a:lnTo>
                  <a:lnTo>
                    <a:pt x="342" y="352"/>
                  </a:lnTo>
                  <a:lnTo>
                    <a:pt x="338" y="359"/>
                  </a:lnTo>
                  <a:lnTo>
                    <a:pt x="334" y="367"/>
                  </a:lnTo>
                  <a:lnTo>
                    <a:pt x="331" y="373"/>
                  </a:lnTo>
                  <a:lnTo>
                    <a:pt x="331" y="382"/>
                  </a:lnTo>
                  <a:lnTo>
                    <a:pt x="331" y="382"/>
                  </a:lnTo>
                  <a:lnTo>
                    <a:pt x="331" y="390"/>
                  </a:lnTo>
                  <a:lnTo>
                    <a:pt x="334" y="398"/>
                  </a:lnTo>
                  <a:lnTo>
                    <a:pt x="338" y="405"/>
                  </a:lnTo>
                  <a:lnTo>
                    <a:pt x="342" y="411"/>
                  </a:lnTo>
                  <a:lnTo>
                    <a:pt x="348" y="415"/>
                  </a:lnTo>
                  <a:lnTo>
                    <a:pt x="356" y="419"/>
                  </a:lnTo>
                  <a:lnTo>
                    <a:pt x="363" y="421"/>
                  </a:lnTo>
                  <a:lnTo>
                    <a:pt x="371" y="423"/>
                  </a:lnTo>
                  <a:lnTo>
                    <a:pt x="371" y="423"/>
                  </a:lnTo>
                  <a:lnTo>
                    <a:pt x="379" y="421"/>
                  </a:lnTo>
                  <a:lnTo>
                    <a:pt x="388" y="419"/>
                  </a:lnTo>
                  <a:lnTo>
                    <a:pt x="394" y="415"/>
                  </a:lnTo>
                  <a:lnTo>
                    <a:pt x="400" y="411"/>
                  </a:lnTo>
                  <a:lnTo>
                    <a:pt x="404" y="405"/>
                  </a:lnTo>
                  <a:lnTo>
                    <a:pt x="409" y="398"/>
                  </a:lnTo>
                  <a:lnTo>
                    <a:pt x="411" y="390"/>
                  </a:lnTo>
                  <a:lnTo>
                    <a:pt x="413" y="382"/>
                  </a:lnTo>
                  <a:lnTo>
                    <a:pt x="413" y="382"/>
                  </a:lnTo>
                  <a:lnTo>
                    <a:pt x="411" y="373"/>
                  </a:lnTo>
                  <a:lnTo>
                    <a:pt x="409" y="367"/>
                  </a:lnTo>
                  <a:lnTo>
                    <a:pt x="404" y="359"/>
                  </a:lnTo>
                  <a:lnTo>
                    <a:pt x="400" y="352"/>
                  </a:lnTo>
                  <a:lnTo>
                    <a:pt x="394" y="348"/>
                  </a:lnTo>
                  <a:lnTo>
                    <a:pt x="388" y="344"/>
                  </a:lnTo>
                  <a:lnTo>
                    <a:pt x="379" y="342"/>
                  </a:lnTo>
                  <a:lnTo>
                    <a:pt x="371" y="342"/>
                  </a:lnTo>
                  <a:lnTo>
                    <a:pt x="371" y="342"/>
                  </a:lnTo>
                  <a:close/>
                  <a:moveTo>
                    <a:pt x="258" y="342"/>
                  </a:moveTo>
                  <a:lnTo>
                    <a:pt x="258" y="342"/>
                  </a:lnTo>
                  <a:lnTo>
                    <a:pt x="250" y="342"/>
                  </a:lnTo>
                  <a:lnTo>
                    <a:pt x="244" y="344"/>
                  </a:lnTo>
                  <a:lnTo>
                    <a:pt x="238" y="348"/>
                  </a:lnTo>
                  <a:lnTo>
                    <a:pt x="231" y="352"/>
                  </a:lnTo>
                  <a:lnTo>
                    <a:pt x="225" y="359"/>
                  </a:lnTo>
                  <a:lnTo>
                    <a:pt x="223" y="367"/>
                  </a:lnTo>
                  <a:lnTo>
                    <a:pt x="219" y="373"/>
                  </a:lnTo>
                  <a:lnTo>
                    <a:pt x="219" y="382"/>
                  </a:lnTo>
                  <a:lnTo>
                    <a:pt x="219" y="382"/>
                  </a:lnTo>
                  <a:lnTo>
                    <a:pt x="219" y="390"/>
                  </a:lnTo>
                  <a:lnTo>
                    <a:pt x="223" y="398"/>
                  </a:lnTo>
                  <a:lnTo>
                    <a:pt x="225" y="405"/>
                  </a:lnTo>
                  <a:lnTo>
                    <a:pt x="231" y="411"/>
                  </a:lnTo>
                  <a:lnTo>
                    <a:pt x="238" y="415"/>
                  </a:lnTo>
                  <a:lnTo>
                    <a:pt x="244" y="419"/>
                  </a:lnTo>
                  <a:lnTo>
                    <a:pt x="250" y="421"/>
                  </a:lnTo>
                  <a:lnTo>
                    <a:pt x="258" y="423"/>
                  </a:lnTo>
                  <a:lnTo>
                    <a:pt x="258" y="423"/>
                  </a:lnTo>
                  <a:lnTo>
                    <a:pt x="267" y="421"/>
                  </a:lnTo>
                  <a:lnTo>
                    <a:pt x="275" y="419"/>
                  </a:lnTo>
                  <a:lnTo>
                    <a:pt x="281" y="415"/>
                  </a:lnTo>
                  <a:lnTo>
                    <a:pt x="288" y="411"/>
                  </a:lnTo>
                  <a:lnTo>
                    <a:pt x="292" y="405"/>
                  </a:lnTo>
                  <a:lnTo>
                    <a:pt x="296" y="398"/>
                  </a:lnTo>
                  <a:lnTo>
                    <a:pt x="298" y="390"/>
                  </a:lnTo>
                  <a:lnTo>
                    <a:pt x="300" y="382"/>
                  </a:lnTo>
                  <a:lnTo>
                    <a:pt x="300" y="382"/>
                  </a:lnTo>
                  <a:lnTo>
                    <a:pt x="298" y="373"/>
                  </a:lnTo>
                  <a:lnTo>
                    <a:pt x="296" y="367"/>
                  </a:lnTo>
                  <a:lnTo>
                    <a:pt x="292" y="359"/>
                  </a:lnTo>
                  <a:lnTo>
                    <a:pt x="288" y="352"/>
                  </a:lnTo>
                  <a:lnTo>
                    <a:pt x="281" y="348"/>
                  </a:lnTo>
                  <a:lnTo>
                    <a:pt x="275" y="344"/>
                  </a:lnTo>
                  <a:lnTo>
                    <a:pt x="267" y="342"/>
                  </a:lnTo>
                  <a:lnTo>
                    <a:pt x="258" y="342"/>
                  </a:lnTo>
                  <a:lnTo>
                    <a:pt x="258" y="342"/>
                  </a:lnTo>
                  <a:close/>
                  <a:moveTo>
                    <a:pt x="81" y="79"/>
                  </a:moveTo>
                  <a:lnTo>
                    <a:pt x="81" y="275"/>
                  </a:lnTo>
                  <a:lnTo>
                    <a:pt x="544" y="275"/>
                  </a:lnTo>
                  <a:lnTo>
                    <a:pt x="544" y="79"/>
                  </a:lnTo>
                  <a:lnTo>
                    <a:pt x="81" y="79"/>
                  </a:lnTo>
                  <a:close/>
                </a:path>
              </a:pathLst>
            </a:custGeom>
            <a:solidFill>
              <a:srgbClr val="0A4776"/>
            </a:solidFill>
            <a:ln>
              <a:noFill/>
            </a:ln>
          </p:spPr>
          <p:txBody>
            <a:bodyPr vert="horz" wrap="square" lIns="91440" tIns="45720" rIns="91440" bIns="45720" numCol="1" anchor="t" anchorCtr="0" compatLnSpc="1"/>
            <a:lstStyle/>
            <a:p>
              <a:endParaRPr lang="zh-CN" altLang="en-US"/>
            </a:p>
          </p:txBody>
        </p:sp>
      </p:grpSp>
      <p:sp>
        <p:nvSpPr>
          <p:cNvPr id="18" name="文本框 17"/>
          <p:cNvSpPr txBox="1"/>
          <p:nvPr/>
        </p:nvSpPr>
        <p:spPr>
          <a:xfrm>
            <a:off x="2798903" y="1169530"/>
            <a:ext cx="3062027" cy="523220"/>
          </a:xfrm>
          <a:prstGeom prst="rect">
            <a:avLst/>
          </a:prstGeom>
          <a:noFill/>
        </p:spPr>
        <p:txBody>
          <a:bodyPr wrap="square" rtlCol="0">
            <a:spAutoFit/>
          </a:bodyPr>
          <a:lstStyle/>
          <a:p>
            <a:r>
              <a:rPr lang="zh-CN" altLang="en-US" sz="2800" b="1" dirty="0">
                <a:solidFill>
                  <a:srgbClr val="0000FF"/>
                </a:solidFill>
                <a:latin typeface="微软雅黑" panose="020B0503020204020204" pitchFamily="34" charset="-122"/>
                <a:ea typeface="微软雅黑" panose="020B0503020204020204" pitchFamily="34" charset="-122"/>
              </a:rPr>
              <a:t>光的干涉的应用</a:t>
            </a:r>
          </a:p>
        </p:txBody>
      </p:sp>
      <p:sp>
        <p:nvSpPr>
          <p:cNvPr id="19" name="矩形 18"/>
          <p:cNvSpPr/>
          <p:nvPr/>
        </p:nvSpPr>
        <p:spPr>
          <a:xfrm>
            <a:off x="879375" y="2261424"/>
            <a:ext cx="3262432" cy="461665"/>
          </a:xfrm>
          <a:prstGeom prst="rect">
            <a:avLst/>
          </a:prstGeom>
        </p:spPr>
        <p:txBody>
          <a:bodyPr wrap="none">
            <a:spAutoFit/>
          </a:bodyPr>
          <a:lstStyle/>
          <a:p>
            <a:pPr algn="ctr">
              <a:defRPr/>
            </a:pPr>
            <a:r>
              <a:rPr lang="zh-CN" altLang="en-US" sz="2400" b="1" dirty="0">
                <a:latin typeface="微软雅黑" panose="020B0503020204020204" pitchFamily="34" charset="-122"/>
                <a:ea typeface="微软雅黑" panose="020B0503020204020204" pitchFamily="34" charset="-122"/>
              </a:rPr>
              <a:t>对光学表面磨光的检验</a:t>
            </a:r>
          </a:p>
        </p:txBody>
      </p:sp>
      <p:sp>
        <p:nvSpPr>
          <p:cNvPr id="20" name="矩形 19"/>
          <p:cNvSpPr/>
          <p:nvPr/>
        </p:nvSpPr>
        <p:spPr>
          <a:xfrm>
            <a:off x="867602" y="3063903"/>
            <a:ext cx="2954655" cy="461665"/>
          </a:xfrm>
          <a:prstGeom prst="rect">
            <a:avLst/>
          </a:prstGeom>
        </p:spPr>
        <p:txBody>
          <a:bodyPr wrap="none">
            <a:spAutoFit/>
          </a:bodyPr>
          <a:lstStyle/>
          <a:p>
            <a:pPr algn="ctr">
              <a:defRPr/>
            </a:pPr>
            <a:r>
              <a:rPr lang="zh-CN" altLang="en-US" sz="2400" b="1" dirty="0">
                <a:latin typeface="微软雅黑" panose="020B0503020204020204" pitchFamily="34" charset="-122"/>
                <a:ea typeface="微软雅黑" panose="020B0503020204020204" pitchFamily="34" charset="-122"/>
              </a:rPr>
              <a:t>光学部件的精密测量</a:t>
            </a:r>
          </a:p>
        </p:txBody>
      </p:sp>
      <p:sp>
        <p:nvSpPr>
          <p:cNvPr id="21" name="矩形 20"/>
          <p:cNvSpPr/>
          <p:nvPr/>
        </p:nvSpPr>
        <p:spPr>
          <a:xfrm>
            <a:off x="859934" y="3934413"/>
            <a:ext cx="3570208" cy="461665"/>
          </a:xfrm>
          <a:prstGeom prst="rect">
            <a:avLst/>
          </a:prstGeom>
        </p:spPr>
        <p:txBody>
          <a:bodyPr wrap="none">
            <a:spAutoFit/>
          </a:bodyPr>
          <a:lstStyle/>
          <a:p>
            <a:pPr algn="ctr">
              <a:defRPr/>
            </a:pPr>
            <a:r>
              <a:rPr lang="zh-CN" altLang="en-US" sz="2400" b="1" dirty="0">
                <a:latin typeface="微软雅黑" panose="020B0503020204020204" pitchFamily="34" charset="-122"/>
                <a:ea typeface="微软雅黑" panose="020B0503020204020204" pitchFamily="34" charset="-122"/>
              </a:rPr>
              <a:t>长度微小改变的精密测定</a:t>
            </a:r>
          </a:p>
        </p:txBody>
      </p:sp>
      <p:sp>
        <p:nvSpPr>
          <p:cNvPr id="22" name="矩形 21"/>
          <p:cNvSpPr/>
          <p:nvPr/>
        </p:nvSpPr>
        <p:spPr>
          <a:xfrm>
            <a:off x="867601" y="4767365"/>
            <a:ext cx="2646878" cy="461665"/>
          </a:xfrm>
          <a:prstGeom prst="rect">
            <a:avLst/>
          </a:prstGeom>
        </p:spPr>
        <p:txBody>
          <a:bodyPr wrap="none">
            <a:spAutoFit/>
          </a:bodyPr>
          <a:lstStyle/>
          <a:p>
            <a:pPr algn="ctr">
              <a:defRPr/>
            </a:pPr>
            <a:r>
              <a:rPr lang="zh-CN" altLang="en-US" sz="2400" b="1" dirty="0">
                <a:latin typeface="微软雅黑" panose="020B0503020204020204" pitchFamily="34" charset="-122"/>
                <a:ea typeface="微软雅黑" panose="020B0503020204020204" pitchFamily="34" charset="-122"/>
              </a:rPr>
              <a:t>增透光薄膜的制备</a:t>
            </a:r>
          </a:p>
        </p:txBody>
      </p:sp>
      <p:sp>
        <p:nvSpPr>
          <p:cNvPr id="30" name="矩形 29"/>
          <p:cNvSpPr/>
          <p:nvPr/>
        </p:nvSpPr>
        <p:spPr>
          <a:xfrm>
            <a:off x="4246210" y="4875850"/>
            <a:ext cx="4572000" cy="461665"/>
          </a:xfrm>
          <a:prstGeom prst="rect">
            <a:avLst/>
          </a:prstGeom>
        </p:spPr>
        <p:txBody>
          <a:bodyPr>
            <a:spAutoFit/>
          </a:bodyPr>
          <a:lstStyle/>
          <a:p>
            <a:pPr algn="ctr">
              <a:defRPr/>
            </a:pPr>
            <a:r>
              <a:rPr lang="zh-CN" altLang="en-US" sz="2400" b="1" dirty="0">
                <a:latin typeface="微软雅黑" panose="020B0503020204020204" pitchFamily="34" charset="-122"/>
                <a:ea typeface="微软雅黑" panose="020B0503020204020204" pitchFamily="34" charset="-122"/>
              </a:rPr>
              <a:t>测定物质的折射率</a:t>
            </a:r>
          </a:p>
        </p:txBody>
      </p:sp>
      <p:sp>
        <p:nvSpPr>
          <p:cNvPr id="31" name="矩形 30"/>
          <p:cNvSpPr/>
          <p:nvPr/>
        </p:nvSpPr>
        <p:spPr>
          <a:xfrm>
            <a:off x="5208772" y="2288638"/>
            <a:ext cx="2646879" cy="461665"/>
          </a:xfrm>
          <a:prstGeom prst="rect">
            <a:avLst/>
          </a:prstGeom>
        </p:spPr>
        <p:txBody>
          <a:bodyPr wrap="none">
            <a:spAutoFit/>
          </a:bodyPr>
          <a:lstStyle/>
          <a:p>
            <a:pPr algn="ctr">
              <a:defRPr/>
            </a:pPr>
            <a:r>
              <a:rPr lang="zh-CN" altLang="en-US" sz="2400" b="1" dirty="0">
                <a:latin typeface="微软雅黑" panose="020B0503020204020204" pitchFamily="34" charset="-122"/>
                <a:ea typeface="微软雅黑" panose="020B0503020204020204" pitchFamily="34" charset="-122"/>
              </a:rPr>
              <a:t>干涉滤光片的制作</a:t>
            </a:r>
          </a:p>
        </p:txBody>
      </p:sp>
      <p:sp>
        <p:nvSpPr>
          <p:cNvPr id="42" name="矩形 41"/>
          <p:cNvSpPr/>
          <p:nvPr/>
        </p:nvSpPr>
        <p:spPr>
          <a:xfrm>
            <a:off x="5218428" y="3147816"/>
            <a:ext cx="3262432" cy="461665"/>
          </a:xfrm>
          <a:prstGeom prst="rect">
            <a:avLst/>
          </a:prstGeom>
        </p:spPr>
        <p:txBody>
          <a:bodyPr wrap="none">
            <a:spAutoFit/>
          </a:bodyPr>
          <a:lstStyle/>
          <a:p>
            <a:pPr algn="ctr">
              <a:defRPr/>
            </a:pPr>
            <a:r>
              <a:rPr lang="zh-CN" altLang="en-US" sz="2400" b="1" dirty="0">
                <a:latin typeface="微软雅黑" panose="020B0503020204020204" pitchFamily="34" charset="-122"/>
                <a:ea typeface="微软雅黑" panose="020B0503020204020204" pitchFamily="34" charset="-122"/>
              </a:rPr>
              <a:t>轴承滚珠的分类和检验</a:t>
            </a:r>
          </a:p>
        </p:txBody>
      </p:sp>
      <p:sp>
        <p:nvSpPr>
          <p:cNvPr id="47" name="矩形 46"/>
          <p:cNvSpPr/>
          <p:nvPr/>
        </p:nvSpPr>
        <p:spPr>
          <a:xfrm>
            <a:off x="5218429" y="4072765"/>
            <a:ext cx="3570209" cy="461665"/>
          </a:xfrm>
          <a:prstGeom prst="rect">
            <a:avLst/>
          </a:prstGeom>
        </p:spPr>
        <p:txBody>
          <a:bodyPr wrap="none">
            <a:spAutoFit/>
          </a:bodyPr>
          <a:lstStyle/>
          <a:p>
            <a:pPr algn="ctr">
              <a:defRPr/>
            </a:pPr>
            <a:r>
              <a:rPr lang="zh-CN" altLang="en-US" sz="2400" b="1" dirty="0">
                <a:latin typeface="微软雅黑" panose="020B0503020204020204" pitchFamily="34" charset="-122"/>
                <a:ea typeface="微软雅黑" panose="020B0503020204020204" pitchFamily="34" charset="-122"/>
              </a:rPr>
              <a:t>研究光谱谱线的精细结构</a:t>
            </a:r>
          </a:p>
        </p:txBody>
      </p:sp>
      <p:sp>
        <p:nvSpPr>
          <p:cNvPr id="4" name="WordArt 51">
            <a:extLst>
              <a:ext uri="{FF2B5EF4-FFF2-40B4-BE49-F238E27FC236}">
                <a16:creationId xmlns:a16="http://schemas.microsoft.com/office/drawing/2014/main" id="{09C75450-5BDE-64CB-6F6F-2899BE949FF7}"/>
              </a:ext>
            </a:extLst>
          </p:cNvPr>
          <p:cNvSpPr>
            <a:spLocks noChangeArrowheads="1" noChangeShapeType="1"/>
          </p:cNvSpPr>
          <p:nvPr/>
        </p:nvSpPr>
        <p:spPr bwMode="auto">
          <a:xfrm>
            <a:off x="142844" y="71414"/>
            <a:ext cx="1729499" cy="409097"/>
          </a:xfrm>
          <a:prstGeom prst="rect">
            <a:avLst/>
          </a:prstGeom>
        </p:spPr>
        <p:txBody>
          <a:bodyPr wrap="none" fromWordArt="1">
            <a:prstTxWarp prst="textPlain">
              <a:avLst>
                <a:gd name="adj" fmla="val 50000"/>
              </a:avLst>
            </a:prstTxWarp>
          </a:bodyPr>
          <a:lstStyle/>
          <a:p>
            <a:pPr algn="ctr"/>
            <a:r>
              <a:rPr lang="zh-CN" altLang="en-US" sz="3600" dirty="0">
                <a:ln w="9525">
                  <a:noFill/>
                  <a:round/>
                  <a:headEnd/>
                  <a:tailEnd/>
                </a:ln>
                <a:gradFill rotWithShape="0">
                  <a:gsLst>
                    <a:gs pos="0">
                      <a:schemeClr val="bg1"/>
                    </a:gs>
                    <a:gs pos="100000">
                      <a:srgbClr val="FFFE7D"/>
                    </a:gs>
                  </a:gsLst>
                  <a:lin ang="5400000" scaled="1"/>
                </a:gradFill>
                <a:effectLst>
                  <a:outerShdw dist="38100" dir="5400000" algn="ctr" rotWithShape="0">
                    <a:srgbClr val="4D4D4D">
                      <a:alpha val="76999"/>
                    </a:srgbClr>
                  </a:outerShdw>
                </a:effectLst>
                <a:latin typeface="华文琥珀"/>
                <a:ea typeface="华文琥珀"/>
              </a:rPr>
              <a:t>实验背景</a:t>
            </a:r>
          </a:p>
        </p:txBody>
      </p:sp>
    </p:spTree>
    <p:extLst>
      <p:ext uri="{BB962C8B-B14F-4D97-AF65-F5344CB8AC3E}">
        <p14:creationId xmlns:p14="http://schemas.microsoft.com/office/powerpoint/2010/main" val="3478636941"/>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Text Box 9"/>
          <p:cNvSpPr txBox="1">
            <a:spLocks noChangeArrowheads="1"/>
          </p:cNvSpPr>
          <p:nvPr/>
        </p:nvSpPr>
        <p:spPr bwMode="auto">
          <a:xfrm>
            <a:off x="1477159" y="1529545"/>
            <a:ext cx="7155211" cy="1557349"/>
          </a:xfrm>
          <a:prstGeom prst="rect">
            <a:avLst/>
          </a:prstGeom>
          <a:noFill/>
          <a:ln w="9525">
            <a:noFill/>
            <a:miter lim="800000"/>
            <a:headEnd/>
            <a:tailEnd/>
          </a:ln>
          <a:effectLst>
            <a:prstShdw prst="shdw17" dist="17961" dir="2700000">
              <a:schemeClr val="accent1">
                <a:gamma/>
                <a:shade val="60000"/>
                <a:invGamma/>
              </a:schemeClr>
            </a:prstShdw>
          </a:effectLst>
        </p:spPr>
        <p:txBody>
          <a:bodyPr wrap="square">
            <a:spAutoFit/>
          </a:bodyPr>
          <a:lstStyle/>
          <a:p>
            <a:pPr>
              <a:lnSpc>
                <a:spcPct val="80000"/>
              </a:lnSpc>
              <a:spcBef>
                <a:spcPct val="50000"/>
              </a:spcBef>
              <a:defRPr/>
            </a:pPr>
            <a:r>
              <a:rPr lang="zh-CN" altLang="en-US" sz="2800" dirty="0">
                <a:solidFill>
                  <a:srgbClr val="FF0000"/>
                </a:solidFill>
                <a:latin typeface="微软雅黑" panose="020B0503020204020204" pitchFamily="34" charset="-122"/>
                <a:ea typeface="微软雅黑" panose="020B0503020204020204" pitchFamily="34" charset="-122"/>
              </a:rPr>
              <a:t> </a:t>
            </a:r>
            <a:r>
              <a:rPr lang="zh-CN" altLang="en-US" sz="2800" b="1" dirty="0">
                <a:solidFill>
                  <a:srgbClr val="FF0000"/>
                </a:solidFill>
                <a:latin typeface="微软雅黑" panose="020B0503020204020204" pitchFamily="34" charset="-122"/>
                <a:ea typeface="微软雅黑" panose="020B0503020204020204" pitchFamily="34" charset="-122"/>
              </a:rPr>
              <a:t>相干光</a:t>
            </a:r>
            <a:r>
              <a:rPr lang="en-US" altLang="zh-CN" sz="2800" b="1" dirty="0">
                <a:solidFill>
                  <a:srgbClr val="FF0000"/>
                </a:solidFill>
                <a:latin typeface="微软雅黑" panose="020B0503020204020204" pitchFamily="34" charset="-122"/>
                <a:ea typeface="微软雅黑" panose="020B0503020204020204" pitchFamily="34" charset="-122"/>
              </a:rPr>
              <a:t>  </a:t>
            </a:r>
          </a:p>
          <a:p>
            <a:pPr>
              <a:lnSpc>
                <a:spcPct val="80000"/>
              </a:lnSpc>
              <a:spcBef>
                <a:spcPct val="50000"/>
              </a:spcBef>
              <a:defRPr/>
            </a:pPr>
            <a:r>
              <a:rPr kumimoji="1" lang="zh-CN" altLang="en-US" sz="2800" b="1" dirty="0">
                <a:solidFill>
                  <a:srgbClr val="002060"/>
                </a:solidFill>
                <a:latin typeface="微软雅黑" panose="020B0503020204020204" pitchFamily="34" charset="-122"/>
                <a:ea typeface="微软雅黑" panose="020B0503020204020204" pitchFamily="34" charset="-122"/>
              </a:rPr>
              <a:t> </a:t>
            </a:r>
            <a:r>
              <a:rPr kumimoji="1" lang="zh-CN" altLang="en-US" sz="2800" b="1" dirty="0">
                <a:latin typeface="微软雅黑" panose="020B0503020204020204" pitchFamily="34" charset="-122"/>
                <a:ea typeface="微软雅黑" panose="020B0503020204020204" pitchFamily="34" charset="-122"/>
              </a:rPr>
              <a:t>频率相同，振动方向平行，相位差恒定的两 </a:t>
            </a:r>
            <a:endParaRPr kumimoji="1" lang="en-US" altLang="zh-CN" sz="2800" b="1" dirty="0">
              <a:latin typeface="微软雅黑" panose="020B0503020204020204" pitchFamily="34" charset="-122"/>
              <a:ea typeface="微软雅黑" panose="020B0503020204020204" pitchFamily="34" charset="-122"/>
            </a:endParaRPr>
          </a:p>
          <a:p>
            <a:pPr>
              <a:lnSpc>
                <a:spcPct val="80000"/>
              </a:lnSpc>
              <a:spcBef>
                <a:spcPct val="50000"/>
              </a:spcBef>
              <a:defRPr/>
            </a:pPr>
            <a:r>
              <a:rPr kumimoji="1" lang="en-US" altLang="zh-CN" sz="2800" b="1" dirty="0">
                <a:latin typeface="微软雅黑" panose="020B0503020204020204" pitchFamily="34" charset="-122"/>
                <a:ea typeface="微软雅黑" panose="020B0503020204020204" pitchFamily="34" charset="-122"/>
              </a:rPr>
              <a:t> </a:t>
            </a:r>
            <a:r>
              <a:rPr kumimoji="1" lang="zh-CN" altLang="en-US" sz="2800" b="1" dirty="0">
                <a:latin typeface="微软雅黑" panose="020B0503020204020204" pitchFamily="34" charset="-122"/>
                <a:ea typeface="微软雅黑" panose="020B0503020204020204" pitchFamily="34" charset="-122"/>
              </a:rPr>
              <a:t>束光为相干光</a:t>
            </a:r>
            <a:endParaRPr lang="en-US" altLang="zh-CN" sz="2800" b="1" dirty="0">
              <a:latin typeface="微软雅黑" panose="020B0503020204020204" pitchFamily="34" charset="-122"/>
              <a:ea typeface="微软雅黑" panose="020B0503020204020204" pitchFamily="34" charset="-122"/>
            </a:endParaRPr>
          </a:p>
        </p:txBody>
      </p:sp>
      <p:sp>
        <p:nvSpPr>
          <p:cNvPr id="112" name="Text Box 21"/>
          <p:cNvSpPr txBox="1">
            <a:spLocks noChangeArrowheads="1"/>
          </p:cNvSpPr>
          <p:nvPr/>
        </p:nvSpPr>
        <p:spPr bwMode="auto">
          <a:xfrm>
            <a:off x="1596946" y="3439825"/>
            <a:ext cx="6373504" cy="565604"/>
          </a:xfrm>
          <a:prstGeom prst="rect">
            <a:avLst/>
          </a:prstGeom>
          <a:noFill/>
          <a:ln w="9525">
            <a:noFill/>
            <a:miter lim="800000"/>
            <a:headEnd/>
            <a:tailEnd/>
          </a:ln>
          <a:effectLst/>
        </p:spPr>
        <p:txBody>
          <a:bodyPr wrap="square">
            <a:spAutoFit/>
          </a:bodyPr>
          <a:lstStyle/>
          <a:p>
            <a:pPr algn="just">
              <a:lnSpc>
                <a:spcPct val="120000"/>
              </a:lnSpc>
              <a:spcBef>
                <a:spcPct val="50000"/>
              </a:spcBef>
            </a:pPr>
            <a:r>
              <a:rPr kumimoji="1" lang="zh-CN" altLang="en-US" sz="2800" b="1" dirty="0">
                <a:solidFill>
                  <a:srgbClr val="FF0000"/>
                </a:solidFill>
                <a:latin typeface="微软雅黑" panose="020B0503020204020204" pitchFamily="34" charset="-122"/>
                <a:ea typeface="微软雅黑" panose="020B0503020204020204" pitchFamily="34" charset="-122"/>
              </a:rPr>
              <a:t>如何获取相干光</a:t>
            </a:r>
            <a:endParaRPr kumimoji="1" lang="zh-CN" altLang="en-US" sz="2800" b="1" dirty="0">
              <a:latin typeface="微软雅黑" panose="020B0503020204020204" pitchFamily="34" charset="-122"/>
              <a:ea typeface="微软雅黑" panose="020B0503020204020204" pitchFamily="34" charset="-122"/>
            </a:endParaRPr>
          </a:p>
        </p:txBody>
      </p:sp>
      <p:sp>
        <p:nvSpPr>
          <p:cNvPr id="114" name="Text Box 77"/>
          <p:cNvSpPr txBox="1">
            <a:spLocks noChangeArrowheads="1"/>
          </p:cNvSpPr>
          <p:nvPr/>
        </p:nvSpPr>
        <p:spPr bwMode="auto">
          <a:xfrm>
            <a:off x="1876919" y="4013141"/>
            <a:ext cx="7602237" cy="497957"/>
          </a:xfrm>
          <a:prstGeom prst="rect">
            <a:avLst/>
          </a:prstGeom>
          <a:noFill/>
          <a:ln w="9525">
            <a:noFill/>
            <a:miter lim="800000"/>
            <a:headEnd/>
            <a:tailEnd/>
          </a:ln>
          <a:effectLst/>
        </p:spPr>
        <p:txBody>
          <a:bodyPr wrap="square">
            <a:spAutoFit/>
          </a:bodyPr>
          <a:lstStyle/>
          <a:p>
            <a:pPr>
              <a:lnSpc>
                <a:spcPct val="120000"/>
              </a:lnSpc>
              <a:spcBef>
                <a:spcPct val="50000"/>
              </a:spcBef>
            </a:pPr>
            <a:r>
              <a:rPr lang="en-US" altLang="zh-CN" sz="2400" b="1" dirty="0">
                <a:latin typeface="微软雅黑" panose="020B0503020204020204" pitchFamily="34" charset="-122"/>
                <a:ea typeface="微软雅黑" panose="020B0503020204020204" pitchFamily="34" charset="-122"/>
                <a:sym typeface="Wingdings" pitchFamily="2" charset="2"/>
              </a:rPr>
              <a:t>1.</a:t>
            </a:r>
            <a:r>
              <a:rPr lang="zh-CN" altLang="en-US" sz="2400" b="1" dirty="0">
                <a:latin typeface="微软雅黑" panose="020B0503020204020204" pitchFamily="34" charset="-122"/>
                <a:ea typeface="微软雅黑" panose="020B0503020204020204" pitchFamily="34" charset="-122"/>
                <a:sym typeface="Wingdings" pitchFamily="2" charset="2"/>
              </a:rPr>
              <a:t>分波阵面法                    </a:t>
            </a:r>
            <a:r>
              <a:rPr lang="en-US" altLang="zh-CN" sz="2400" b="1" dirty="0">
                <a:latin typeface="微软雅黑" panose="020B0503020204020204" pitchFamily="34" charset="-122"/>
                <a:ea typeface="微软雅黑" panose="020B0503020204020204" pitchFamily="34" charset="-122"/>
                <a:sym typeface="Wingdings" pitchFamily="2" charset="2"/>
              </a:rPr>
              <a:t>2.</a:t>
            </a:r>
            <a:r>
              <a:rPr lang="zh-CN" altLang="en-US" sz="2400" b="1" dirty="0">
                <a:latin typeface="微软雅黑" panose="020B0503020204020204" pitchFamily="34" charset="-122"/>
                <a:ea typeface="微软雅黑" panose="020B0503020204020204" pitchFamily="34" charset="-122"/>
                <a:sym typeface="Wingdings" pitchFamily="2" charset="2"/>
              </a:rPr>
              <a:t>分振幅法</a:t>
            </a:r>
            <a:endParaRPr lang="zh-CN" altLang="en-US" sz="2400" b="1" dirty="0">
              <a:latin typeface="微软雅黑" panose="020B0503020204020204" pitchFamily="34" charset="-122"/>
              <a:ea typeface="微软雅黑" panose="020B0503020204020204" pitchFamily="34" charset="-122"/>
            </a:endParaRPr>
          </a:p>
        </p:txBody>
      </p:sp>
      <p:grpSp>
        <p:nvGrpSpPr>
          <p:cNvPr id="3" name="组合 2"/>
          <p:cNvGrpSpPr/>
          <p:nvPr/>
        </p:nvGrpSpPr>
        <p:grpSpPr>
          <a:xfrm>
            <a:off x="1684800" y="4448069"/>
            <a:ext cx="2211195" cy="1503322"/>
            <a:chOff x="2951820" y="3291702"/>
            <a:chExt cx="1943101" cy="1247775"/>
          </a:xfrm>
        </p:grpSpPr>
        <p:sp>
          <p:nvSpPr>
            <p:cNvPr id="115" name="Line 22"/>
            <p:cNvSpPr>
              <a:spLocks noChangeShapeType="1"/>
            </p:cNvSpPr>
            <p:nvPr/>
          </p:nvSpPr>
          <p:spPr bwMode="auto">
            <a:xfrm>
              <a:off x="4703230" y="3291702"/>
              <a:ext cx="1190" cy="1247775"/>
            </a:xfrm>
            <a:prstGeom prst="line">
              <a:avLst/>
            </a:prstGeom>
            <a:noFill/>
            <a:ln w="25400">
              <a:solidFill>
                <a:srgbClr val="800080"/>
              </a:solidFill>
              <a:round/>
              <a:headEnd type="none" w="med" len="sm"/>
              <a:tailEnd type="none" w="med" len="sm"/>
            </a:ln>
            <a:effectLst/>
          </p:spPr>
          <p:txBody>
            <a:bodyPr/>
            <a:lstStyle/>
            <a:p>
              <a:endParaRPr lang="zh-CN" altLang="en-US" sz="1050"/>
            </a:p>
          </p:txBody>
        </p:sp>
        <p:grpSp>
          <p:nvGrpSpPr>
            <p:cNvPr id="116" name="Group 23"/>
            <p:cNvGrpSpPr>
              <a:grpSpLocks/>
            </p:cNvGrpSpPr>
            <p:nvPr/>
          </p:nvGrpSpPr>
          <p:grpSpPr bwMode="auto">
            <a:xfrm>
              <a:off x="3429262" y="3410765"/>
              <a:ext cx="1190" cy="1002506"/>
              <a:chOff x="1551" y="3102"/>
              <a:chExt cx="1" cy="842"/>
            </a:xfrm>
          </p:grpSpPr>
          <p:sp>
            <p:nvSpPr>
              <p:cNvPr id="117" name="Line 24"/>
              <p:cNvSpPr>
                <a:spLocks noChangeShapeType="1"/>
              </p:cNvSpPr>
              <p:nvPr/>
            </p:nvSpPr>
            <p:spPr bwMode="auto">
              <a:xfrm>
                <a:off x="1551" y="3102"/>
                <a:ext cx="1" cy="399"/>
              </a:xfrm>
              <a:prstGeom prst="line">
                <a:avLst/>
              </a:prstGeom>
              <a:noFill/>
              <a:ln w="25400">
                <a:solidFill>
                  <a:srgbClr val="800080"/>
                </a:solidFill>
                <a:round/>
                <a:headEnd type="none" w="med" len="sm"/>
                <a:tailEnd type="none" w="med" len="sm"/>
              </a:ln>
              <a:effectLst/>
            </p:spPr>
            <p:txBody>
              <a:bodyPr/>
              <a:lstStyle/>
              <a:p>
                <a:endParaRPr lang="zh-CN" altLang="en-US" sz="1050"/>
              </a:p>
            </p:txBody>
          </p:sp>
          <p:sp>
            <p:nvSpPr>
              <p:cNvPr id="118" name="Line 25"/>
              <p:cNvSpPr>
                <a:spLocks noChangeShapeType="1"/>
              </p:cNvSpPr>
              <p:nvPr/>
            </p:nvSpPr>
            <p:spPr bwMode="auto">
              <a:xfrm>
                <a:off x="1551" y="3544"/>
                <a:ext cx="1" cy="400"/>
              </a:xfrm>
              <a:prstGeom prst="line">
                <a:avLst/>
              </a:prstGeom>
              <a:noFill/>
              <a:ln w="25400">
                <a:solidFill>
                  <a:srgbClr val="800080"/>
                </a:solidFill>
                <a:round/>
                <a:headEnd type="none" w="med" len="sm"/>
                <a:tailEnd type="none" w="med" len="sm"/>
              </a:ln>
              <a:effectLst/>
            </p:spPr>
            <p:txBody>
              <a:bodyPr/>
              <a:lstStyle/>
              <a:p>
                <a:endParaRPr lang="zh-CN" altLang="en-US" sz="1050"/>
              </a:p>
            </p:txBody>
          </p:sp>
        </p:grpSp>
        <p:grpSp>
          <p:nvGrpSpPr>
            <p:cNvPr id="119" name="Group 26"/>
            <p:cNvGrpSpPr>
              <a:grpSpLocks/>
            </p:cNvGrpSpPr>
            <p:nvPr/>
          </p:nvGrpSpPr>
          <p:grpSpPr bwMode="auto">
            <a:xfrm>
              <a:off x="3166133" y="3664367"/>
              <a:ext cx="216694" cy="476250"/>
              <a:chOff x="1330" y="3315"/>
              <a:chExt cx="182" cy="400"/>
            </a:xfrm>
          </p:grpSpPr>
          <p:sp>
            <p:nvSpPr>
              <p:cNvPr id="120" name="Arc 27"/>
              <p:cNvSpPr>
                <a:spLocks/>
              </p:cNvSpPr>
              <p:nvPr/>
            </p:nvSpPr>
            <p:spPr bwMode="auto">
              <a:xfrm flipV="1">
                <a:off x="1351" y="3500"/>
                <a:ext cx="161" cy="2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0000FF"/>
                </a:solidFill>
                <a:round/>
                <a:headEnd/>
                <a:tailEnd/>
              </a:ln>
              <a:effectLst/>
            </p:spPr>
            <p:txBody>
              <a:bodyPr/>
              <a:lstStyle/>
              <a:p>
                <a:endParaRPr lang="zh-CN" altLang="en-US" sz="1050"/>
              </a:p>
            </p:txBody>
          </p:sp>
          <p:sp>
            <p:nvSpPr>
              <p:cNvPr id="121" name="Arc 28"/>
              <p:cNvSpPr>
                <a:spLocks/>
              </p:cNvSpPr>
              <p:nvPr/>
            </p:nvSpPr>
            <p:spPr bwMode="auto">
              <a:xfrm>
                <a:off x="1351" y="3315"/>
                <a:ext cx="161" cy="21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0000FF"/>
                </a:solidFill>
                <a:round/>
                <a:headEnd/>
                <a:tailEnd/>
              </a:ln>
              <a:effectLst/>
            </p:spPr>
            <p:txBody>
              <a:bodyPr/>
              <a:lstStyle/>
              <a:p>
                <a:endParaRPr lang="zh-CN" altLang="en-US" sz="1050"/>
              </a:p>
            </p:txBody>
          </p:sp>
          <p:sp>
            <p:nvSpPr>
              <p:cNvPr id="122" name="Arc 29"/>
              <p:cNvSpPr>
                <a:spLocks/>
              </p:cNvSpPr>
              <p:nvPr/>
            </p:nvSpPr>
            <p:spPr bwMode="auto">
              <a:xfrm flipV="1">
                <a:off x="1330" y="3504"/>
                <a:ext cx="81" cy="11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0000FF"/>
                </a:solidFill>
                <a:round/>
                <a:headEnd/>
                <a:tailEnd/>
              </a:ln>
              <a:effectLst/>
            </p:spPr>
            <p:txBody>
              <a:bodyPr/>
              <a:lstStyle/>
              <a:p>
                <a:endParaRPr lang="zh-CN" altLang="en-US" sz="1050"/>
              </a:p>
            </p:txBody>
          </p:sp>
          <p:sp>
            <p:nvSpPr>
              <p:cNvPr id="123" name="Arc 30"/>
              <p:cNvSpPr>
                <a:spLocks/>
              </p:cNvSpPr>
              <p:nvPr/>
            </p:nvSpPr>
            <p:spPr bwMode="auto">
              <a:xfrm>
                <a:off x="1330" y="3408"/>
                <a:ext cx="81" cy="11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0000FF"/>
                </a:solidFill>
                <a:round/>
                <a:headEnd/>
                <a:tailEnd/>
              </a:ln>
              <a:effectLst/>
            </p:spPr>
            <p:txBody>
              <a:bodyPr/>
              <a:lstStyle/>
              <a:p>
                <a:endParaRPr lang="zh-CN" altLang="en-US" sz="1050"/>
              </a:p>
            </p:txBody>
          </p:sp>
        </p:grpSp>
        <p:grpSp>
          <p:nvGrpSpPr>
            <p:cNvPr id="124" name="Group 31"/>
            <p:cNvGrpSpPr>
              <a:grpSpLocks/>
            </p:cNvGrpSpPr>
            <p:nvPr/>
          </p:nvGrpSpPr>
          <p:grpSpPr bwMode="auto">
            <a:xfrm>
              <a:off x="3532845" y="3528636"/>
              <a:ext cx="351235" cy="722710"/>
              <a:chOff x="1638" y="3201"/>
              <a:chExt cx="295" cy="607"/>
            </a:xfrm>
          </p:grpSpPr>
          <p:sp>
            <p:nvSpPr>
              <p:cNvPr id="125" name="Arc 32"/>
              <p:cNvSpPr>
                <a:spLocks/>
              </p:cNvSpPr>
              <p:nvPr/>
            </p:nvSpPr>
            <p:spPr bwMode="auto">
              <a:xfrm flipV="1">
                <a:off x="1658" y="3500"/>
                <a:ext cx="161" cy="2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0000FF"/>
                </a:solidFill>
                <a:round/>
                <a:headEnd/>
                <a:tailEnd/>
              </a:ln>
              <a:effectLst/>
            </p:spPr>
            <p:txBody>
              <a:bodyPr/>
              <a:lstStyle/>
              <a:p>
                <a:endParaRPr lang="zh-CN" altLang="en-US" sz="1050"/>
              </a:p>
            </p:txBody>
          </p:sp>
          <p:sp>
            <p:nvSpPr>
              <p:cNvPr id="126" name="Arc 33"/>
              <p:cNvSpPr>
                <a:spLocks/>
              </p:cNvSpPr>
              <p:nvPr/>
            </p:nvSpPr>
            <p:spPr bwMode="auto">
              <a:xfrm>
                <a:off x="1658" y="3315"/>
                <a:ext cx="161" cy="21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0000FF"/>
                </a:solidFill>
                <a:round/>
                <a:headEnd/>
                <a:tailEnd/>
              </a:ln>
              <a:effectLst/>
            </p:spPr>
            <p:txBody>
              <a:bodyPr/>
              <a:lstStyle/>
              <a:p>
                <a:endParaRPr lang="zh-CN" altLang="en-US" sz="1050"/>
              </a:p>
            </p:txBody>
          </p:sp>
          <p:sp>
            <p:nvSpPr>
              <p:cNvPr id="127" name="Arc 34"/>
              <p:cNvSpPr>
                <a:spLocks/>
              </p:cNvSpPr>
              <p:nvPr/>
            </p:nvSpPr>
            <p:spPr bwMode="auto">
              <a:xfrm flipV="1">
                <a:off x="1638" y="3504"/>
                <a:ext cx="81" cy="11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0000FF"/>
                </a:solidFill>
                <a:round/>
                <a:headEnd/>
                <a:tailEnd/>
              </a:ln>
              <a:effectLst/>
            </p:spPr>
            <p:txBody>
              <a:bodyPr/>
              <a:lstStyle/>
              <a:p>
                <a:endParaRPr lang="zh-CN" altLang="en-US" sz="1050"/>
              </a:p>
            </p:txBody>
          </p:sp>
          <p:sp>
            <p:nvSpPr>
              <p:cNvPr id="128" name="Arc 35"/>
              <p:cNvSpPr>
                <a:spLocks/>
              </p:cNvSpPr>
              <p:nvPr/>
            </p:nvSpPr>
            <p:spPr bwMode="auto">
              <a:xfrm>
                <a:off x="1638" y="3408"/>
                <a:ext cx="81" cy="11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0000FF"/>
                </a:solidFill>
                <a:round/>
                <a:headEnd/>
                <a:tailEnd/>
              </a:ln>
              <a:effectLst/>
            </p:spPr>
            <p:txBody>
              <a:bodyPr/>
              <a:lstStyle/>
              <a:p>
                <a:endParaRPr lang="zh-CN" altLang="en-US" sz="1050"/>
              </a:p>
            </p:txBody>
          </p:sp>
          <p:sp>
            <p:nvSpPr>
              <p:cNvPr id="129" name="Arc 36"/>
              <p:cNvSpPr>
                <a:spLocks/>
              </p:cNvSpPr>
              <p:nvPr/>
            </p:nvSpPr>
            <p:spPr bwMode="auto">
              <a:xfrm flipV="1">
                <a:off x="1685" y="3481"/>
                <a:ext cx="248" cy="32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0000FF"/>
                </a:solidFill>
                <a:round/>
                <a:headEnd/>
                <a:tailEnd/>
              </a:ln>
              <a:effectLst/>
            </p:spPr>
            <p:txBody>
              <a:bodyPr/>
              <a:lstStyle/>
              <a:p>
                <a:endParaRPr lang="zh-CN" altLang="en-US" sz="1050"/>
              </a:p>
            </p:txBody>
          </p:sp>
          <p:sp>
            <p:nvSpPr>
              <p:cNvPr id="130" name="Arc 37"/>
              <p:cNvSpPr>
                <a:spLocks/>
              </p:cNvSpPr>
              <p:nvPr/>
            </p:nvSpPr>
            <p:spPr bwMode="auto">
              <a:xfrm>
                <a:off x="1685" y="3201"/>
                <a:ext cx="248" cy="32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0000FF"/>
                </a:solidFill>
                <a:round/>
                <a:headEnd/>
                <a:tailEnd/>
              </a:ln>
              <a:effectLst/>
            </p:spPr>
            <p:txBody>
              <a:bodyPr/>
              <a:lstStyle/>
              <a:p>
                <a:endParaRPr lang="zh-CN" altLang="en-US" sz="1050"/>
              </a:p>
            </p:txBody>
          </p:sp>
        </p:grpSp>
        <p:grpSp>
          <p:nvGrpSpPr>
            <p:cNvPr id="131" name="Group 38"/>
            <p:cNvGrpSpPr>
              <a:grpSpLocks/>
            </p:cNvGrpSpPr>
            <p:nvPr/>
          </p:nvGrpSpPr>
          <p:grpSpPr bwMode="auto">
            <a:xfrm>
              <a:off x="4034099" y="3410765"/>
              <a:ext cx="215503" cy="992981"/>
              <a:chOff x="2059" y="3102"/>
              <a:chExt cx="181" cy="834"/>
            </a:xfrm>
          </p:grpSpPr>
          <p:sp>
            <p:nvSpPr>
              <p:cNvPr id="132" name="Arc 39"/>
              <p:cNvSpPr>
                <a:spLocks/>
              </p:cNvSpPr>
              <p:nvPr/>
            </p:nvSpPr>
            <p:spPr bwMode="auto">
              <a:xfrm flipV="1">
                <a:off x="2079" y="3721"/>
                <a:ext cx="161" cy="2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0000FF"/>
                </a:solidFill>
                <a:round/>
                <a:headEnd/>
                <a:tailEnd/>
              </a:ln>
              <a:effectLst/>
            </p:spPr>
            <p:txBody>
              <a:bodyPr/>
              <a:lstStyle/>
              <a:p>
                <a:endParaRPr lang="zh-CN" altLang="en-US" sz="1050"/>
              </a:p>
            </p:txBody>
          </p:sp>
          <p:sp>
            <p:nvSpPr>
              <p:cNvPr id="133" name="Arc 40"/>
              <p:cNvSpPr>
                <a:spLocks/>
              </p:cNvSpPr>
              <p:nvPr/>
            </p:nvSpPr>
            <p:spPr bwMode="auto">
              <a:xfrm>
                <a:off x="2079" y="3537"/>
                <a:ext cx="161" cy="2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0000FF"/>
                </a:solidFill>
                <a:round/>
                <a:headEnd/>
                <a:tailEnd/>
              </a:ln>
              <a:effectLst/>
            </p:spPr>
            <p:txBody>
              <a:bodyPr/>
              <a:lstStyle/>
              <a:p>
                <a:endParaRPr lang="zh-CN" altLang="en-US" sz="1050"/>
              </a:p>
            </p:txBody>
          </p:sp>
          <p:sp>
            <p:nvSpPr>
              <p:cNvPr id="134" name="Arc 41"/>
              <p:cNvSpPr>
                <a:spLocks/>
              </p:cNvSpPr>
              <p:nvPr/>
            </p:nvSpPr>
            <p:spPr bwMode="auto">
              <a:xfrm flipV="1">
                <a:off x="2059" y="3725"/>
                <a:ext cx="81" cy="11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0000FF"/>
                </a:solidFill>
                <a:round/>
                <a:headEnd/>
                <a:tailEnd/>
              </a:ln>
              <a:effectLst/>
            </p:spPr>
            <p:txBody>
              <a:bodyPr/>
              <a:lstStyle/>
              <a:p>
                <a:endParaRPr lang="zh-CN" altLang="en-US" sz="1050"/>
              </a:p>
            </p:txBody>
          </p:sp>
          <p:sp>
            <p:nvSpPr>
              <p:cNvPr id="135" name="Arc 42"/>
              <p:cNvSpPr>
                <a:spLocks/>
              </p:cNvSpPr>
              <p:nvPr/>
            </p:nvSpPr>
            <p:spPr bwMode="auto">
              <a:xfrm>
                <a:off x="2059" y="3629"/>
                <a:ext cx="81" cy="11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0000FF"/>
                </a:solidFill>
                <a:round/>
                <a:headEnd/>
                <a:tailEnd/>
              </a:ln>
              <a:effectLst/>
            </p:spPr>
            <p:txBody>
              <a:bodyPr/>
              <a:lstStyle/>
              <a:p>
                <a:endParaRPr lang="zh-CN" altLang="en-US" sz="1050"/>
              </a:p>
            </p:txBody>
          </p:sp>
          <p:sp>
            <p:nvSpPr>
              <p:cNvPr id="136" name="Arc 43"/>
              <p:cNvSpPr>
                <a:spLocks/>
              </p:cNvSpPr>
              <p:nvPr/>
            </p:nvSpPr>
            <p:spPr bwMode="auto">
              <a:xfrm flipV="1">
                <a:off x="2079" y="3286"/>
                <a:ext cx="161" cy="2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0000FF"/>
                </a:solidFill>
                <a:round/>
                <a:headEnd/>
                <a:tailEnd/>
              </a:ln>
              <a:effectLst/>
            </p:spPr>
            <p:txBody>
              <a:bodyPr/>
              <a:lstStyle/>
              <a:p>
                <a:endParaRPr lang="zh-CN" altLang="en-US" sz="1050"/>
              </a:p>
            </p:txBody>
          </p:sp>
          <p:sp>
            <p:nvSpPr>
              <p:cNvPr id="137" name="Arc 44"/>
              <p:cNvSpPr>
                <a:spLocks/>
              </p:cNvSpPr>
              <p:nvPr/>
            </p:nvSpPr>
            <p:spPr bwMode="auto">
              <a:xfrm>
                <a:off x="2079" y="3102"/>
                <a:ext cx="161" cy="2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0000FF"/>
                </a:solidFill>
                <a:round/>
                <a:headEnd/>
                <a:tailEnd/>
              </a:ln>
              <a:effectLst/>
            </p:spPr>
            <p:txBody>
              <a:bodyPr/>
              <a:lstStyle/>
              <a:p>
                <a:endParaRPr lang="zh-CN" altLang="en-US" sz="1050"/>
              </a:p>
            </p:txBody>
          </p:sp>
          <p:sp>
            <p:nvSpPr>
              <p:cNvPr id="138" name="Arc 45"/>
              <p:cNvSpPr>
                <a:spLocks/>
              </p:cNvSpPr>
              <p:nvPr/>
            </p:nvSpPr>
            <p:spPr bwMode="auto">
              <a:xfrm flipV="1">
                <a:off x="2059" y="3290"/>
                <a:ext cx="81" cy="11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0000FF"/>
                </a:solidFill>
                <a:round/>
                <a:headEnd/>
                <a:tailEnd/>
              </a:ln>
              <a:effectLst/>
            </p:spPr>
            <p:txBody>
              <a:bodyPr/>
              <a:lstStyle/>
              <a:p>
                <a:endParaRPr lang="zh-CN" altLang="en-US" sz="1050"/>
              </a:p>
            </p:txBody>
          </p:sp>
          <p:sp>
            <p:nvSpPr>
              <p:cNvPr id="139" name="Arc 46"/>
              <p:cNvSpPr>
                <a:spLocks/>
              </p:cNvSpPr>
              <p:nvPr/>
            </p:nvSpPr>
            <p:spPr bwMode="auto">
              <a:xfrm>
                <a:off x="2059" y="3195"/>
                <a:ext cx="81" cy="11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0000FF"/>
                </a:solidFill>
                <a:round/>
                <a:headEnd/>
                <a:tailEnd/>
              </a:ln>
              <a:effectLst/>
            </p:spPr>
            <p:txBody>
              <a:bodyPr/>
              <a:lstStyle/>
              <a:p>
                <a:endParaRPr lang="zh-CN" altLang="en-US" sz="1050"/>
              </a:p>
            </p:txBody>
          </p:sp>
        </p:grpSp>
        <p:grpSp>
          <p:nvGrpSpPr>
            <p:cNvPr id="140" name="Group 47"/>
            <p:cNvGrpSpPr>
              <a:grpSpLocks/>
            </p:cNvGrpSpPr>
            <p:nvPr/>
          </p:nvGrpSpPr>
          <p:grpSpPr bwMode="auto">
            <a:xfrm>
              <a:off x="3970995" y="3367903"/>
              <a:ext cx="0" cy="1087040"/>
              <a:chOff x="2006" y="3066"/>
              <a:chExt cx="0" cy="913"/>
            </a:xfrm>
          </p:grpSpPr>
          <p:sp>
            <p:nvSpPr>
              <p:cNvPr id="141" name="Line 48"/>
              <p:cNvSpPr>
                <a:spLocks noChangeShapeType="1"/>
              </p:cNvSpPr>
              <p:nvPr/>
            </p:nvSpPr>
            <p:spPr bwMode="auto">
              <a:xfrm>
                <a:off x="2006" y="3066"/>
                <a:ext cx="0" cy="250"/>
              </a:xfrm>
              <a:prstGeom prst="line">
                <a:avLst/>
              </a:prstGeom>
              <a:noFill/>
              <a:ln w="25400">
                <a:solidFill>
                  <a:srgbClr val="800080"/>
                </a:solidFill>
                <a:round/>
                <a:headEnd type="none" w="med" len="sm"/>
                <a:tailEnd type="none" w="med" len="sm"/>
              </a:ln>
              <a:effectLst/>
            </p:spPr>
            <p:txBody>
              <a:bodyPr/>
              <a:lstStyle/>
              <a:p>
                <a:endParaRPr lang="zh-CN" altLang="en-US" sz="1050"/>
              </a:p>
            </p:txBody>
          </p:sp>
          <p:sp>
            <p:nvSpPr>
              <p:cNvPr id="142" name="Line 49"/>
              <p:cNvSpPr>
                <a:spLocks noChangeShapeType="1"/>
              </p:cNvSpPr>
              <p:nvPr/>
            </p:nvSpPr>
            <p:spPr bwMode="auto">
              <a:xfrm>
                <a:off x="2006" y="3358"/>
                <a:ext cx="0" cy="329"/>
              </a:xfrm>
              <a:prstGeom prst="line">
                <a:avLst/>
              </a:prstGeom>
              <a:noFill/>
              <a:ln w="25400">
                <a:solidFill>
                  <a:srgbClr val="800080"/>
                </a:solidFill>
                <a:round/>
                <a:headEnd type="none" w="med" len="sm"/>
                <a:tailEnd type="none" w="med" len="sm"/>
              </a:ln>
              <a:effectLst/>
            </p:spPr>
            <p:txBody>
              <a:bodyPr/>
              <a:lstStyle/>
              <a:p>
                <a:endParaRPr lang="zh-CN" altLang="en-US" sz="1050"/>
              </a:p>
            </p:txBody>
          </p:sp>
          <p:sp>
            <p:nvSpPr>
              <p:cNvPr id="143" name="Line 50"/>
              <p:cNvSpPr>
                <a:spLocks noChangeShapeType="1"/>
              </p:cNvSpPr>
              <p:nvPr/>
            </p:nvSpPr>
            <p:spPr bwMode="auto">
              <a:xfrm>
                <a:off x="2006" y="3729"/>
                <a:ext cx="0" cy="250"/>
              </a:xfrm>
              <a:prstGeom prst="line">
                <a:avLst/>
              </a:prstGeom>
              <a:noFill/>
              <a:ln w="25400">
                <a:solidFill>
                  <a:srgbClr val="800080"/>
                </a:solidFill>
                <a:round/>
                <a:headEnd type="none" w="med" len="sm"/>
                <a:tailEnd type="none" w="med" len="sm"/>
              </a:ln>
              <a:effectLst/>
            </p:spPr>
            <p:txBody>
              <a:bodyPr/>
              <a:lstStyle/>
              <a:p>
                <a:endParaRPr lang="zh-CN" altLang="en-US" sz="1050"/>
              </a:p>
            </p:txBody>
          </p:sp>
        </p:grpSp>
        <p:sp>
          <p:nvSpPr>
            <p:cNvPr id="144" name="Line 51"/>
            <p:cNvSpPr>
              <a:spLocks noChangeShapeType="1"/>
            </p:cNvSpPr>
            <p:nvPr/>
          </p:nvSpPr>
          <p:spPr bwMode="auto">
            <a:xfrm>
              <a:off x="3158989" y="3909636"/>
              <a:ext cx="1724025" cy="0"/>
            </a:xfrm>
            <a:prstGeom prst="line">
              <a:avLst/>
            </a:prstGeom>
            <a:noFill/>
            <a:ln w="9525">
              <a:solidFill>
                <a:srgbClr val="000000"/>
              </a:solidFill>
              <a:round/>
              <a:headEnd type="none" w="med" len="sm"/>
              <a:tailEnd type="triangle" w="med" len="sm"/>
            </a:ln>
            <a:effectLst/>
          </p:spPr>
          <p:txBody>
            <a:bodyPr/>
            <a:lstStyle/>
            <a:p>
              <a:endParaRPr lang="zh-CN" altLang="en-US" sz="1050"/>
            </a:p>
          </p:txBody>
        </p:sp>
        <p:grpSp>
          <p:nvGrpSpPr>
            <p:cNvPr id="145" name="Group 52"/>
            <p:cNvGrpSpPr>
              <a:grpSpLocks/>
            </p:cNvGrpSpPr>
            <p:nvPr/>
          </p:nvGrpSpPr>
          <p:grpSpPr bwMode="auto">
            <a:xfrm>
              <a:off x="3444739" y="3681037"/>
              <a:ext cx="541735" cy="441722"/>
              <a:chOff x="1551" y="3330"/>
              <a:chExt cx="455" cy="371"/>
            </a:xfrm>
          </p:grpSpPr>
          <p:sp>
            <p:nvSpPr>
              <p:cNvPr id="146" name="Line 53"/>
              <p:cNvSpPr>
                <a:spLocks noChangeShapeType="1"/>
              </p:cNvSpPr>
              <p:nvPr/>
            </p:nvSpPr>
            <p:spPr bwMode="auto">
              <a:xfrm flipV="1">
                <a:off x="1551" y="3330"/>
                <a:ext cx="448" cy="171"/>
              </a:xfrm>
              <a:prstGeom prst="line">
                <a:avLst/>
              </a:prstGeom>
              <a:noFill/>
              <a:ln w="19050">
                <a:solidFill>
                  <a:srgbClr val="0000FF"/>
                </a:solidFill>
                <a:round/>
                <a:headEnd type="none" w="med" len="sm"/>
                <a:tailEnd type="triangle" w="med" len="sm"/>
              </a:ln>
              <a:effectLst/>
            </p:spPr>
            <p:txBody>
              <a:bodyPr/>
              <a:lstStyle/>
              <a:p>
                <a:endParaRPr lang="zh-CN" altLang="en-US" sz="1050"/>
              </a:p>
            </p:txBody>
          </p:sp>
          <p:sp>
            <p:nvSpPr>
              <p:cNvPr id="147" name="Line 54"/>
              <p:cNvSpPr>
                <a:spLocks noChangeShapeType="1"/>
              </p:cNvSpPr>
              <p:nvPr/>
            </p:nvSpPr>
            <p:spPr bwMode="auto">
              <a:xfrm>
                <a:off x="1558" y="3529"/>
                <a:ext cx="448" cy="172"/>
              </a:xfrm>
              <a:prstGeom prst="line">
                <a:avLst/>
              </a:prstGeom>
              <a:noFill/>
              <a:ln w="19050">
                <a:solidFill>
                  <a:srgbClr val="0000FF"/>
                </a:solidFill>
                <a:round/>
                <a:headEnd type="none" w="med" len="sm"/>
                <a:tailEnd type="triangle" w="med" len="sm"/>
              </a:ln>
              <a:effectLst/>
            </p:spPr>
            <p:txBody>
              <a:bodyPr/>
              <a:lstStyle/>
              <a:p>
                <a:endParaRPr lang="zh-CN" altLang="en-US" sz="1050"/>
              </a:p>
            </p:txBody>
          </p:sp>
        </p:grpSp>
        <p:grpSp>
          <p:nvGrpSpPr>
            <p:cNvPr id="148" name="Group 55"/>
            <p:cNvGrpSpPr>
              <a:grpSpLocks/>
            </p:cNvGrpSpPr>
            <p:nvPr/>
          </p:nvGrpSpPr>
          <p:grpSpPr bwMode="auto">
            <a:xfrm>
              <a:off x="3969805" y="3579833"/>
              <a:ext cx="733425" cy="552450"/>
              <a:chOff x="2005" y="3244"/>
              <a:chExt cx="616" cy="464"/>
            </a:xfrm>
          </p:grpSpPr>
          <p:sp>
            <p:nvSpPr>
              <p:cNvPr id="149" name="Line 56"/>
              <p:cNvSpPr>
                <a:spLocks noChangeShapeType="1"/>
              </p:cNvSpPr>
              <p:nvPr/>
            </p:nvSpPr>
            <p:spPr bwMode="auto">
              <a:xfrm flipV="1">
                <a:off x="2005" y="3244"/>
                <a:ext cx="616" cy="86"/>
              </a:xfrm>
              <a:prstGeom prst="line">
                <a:avLst/>
              </a:prstGeom>
              <a:noFill/>
              <a:ln w="19050">
                <a:solidFill>
                  <a:srgbClr val="0000FF"/>
                </a:solidFill>
                <a:round/>
                <a:headEnd type="none" w="med" len="sm"/>
                <a:tailEnd type="triangle" w="med" len="sm"/>
              </a:ln>
              <a:effectLst/>
            </p:spPr>
            <p:txBody>
              <a:bodyPr/>
              <a:lstStyle/>
              <a:p>
                <a:endParaRPr lang="zh-CN" altLang="en-US" sz="1050"/>
              </a:p>
            </p:txBody>
          </p:sp>
          <p:sp>
            <p:nvSpPr>
              <p:cNvPr id="150" name="Line 57"/>
              <p:cNvSpPr>
                <a:spLocks noChangeShapeType="1"/>
              </p:cNvSpPr>
              <p:nvPr/>
            </p:nvSpPr>
            <p:spPr bwMode="auto">
              <a:xfrm flipV="1">
                <a:off x="2006" y="3245"/>
                <a:ext cx="614" cy="463"/>
              </a:xfrm>
              <a:prstGeom prst="line">
                <a:avLst/>
              </a:prstGeom>
              <a:noFill/>
              <a:ln w="19050">
                <a:solidFill>
                  <a:srgbClr val="0000FF"/>
                </a:solidFill>
                <a:round/>
                <a:headEnd type="none" w="med" len="sm"/>
                <a:tailEnd type="triangle" w="med" len="sm"/>
              </a:ln>
              <a:effectLst/>
            </p:spPr>
            <p:txBody>
              <a:bodyPr/>
              <a:lstStyle/>
              <a:p>
                <a:endParaRPr lang="zh-CN" altLang="en-US" sz="1050"/>
              </a:p>
            </p:txBody>
          </p:sp>
        </p:grpSp>
        <p:sp>
          <p:nvSpPr>
            <p:cNvPr id="151" name="Rectangle 58"/>
            <p:cNvSpPr>
              <a:spLocks noChangeArrowheads="1"/>
            </p:cNvSpPr>
            <p:nvPr/>
          </p:nvSpPr>
          <p:spPr bwMode="auto">
            <a:xfrm>
              <a:off x="4735377" y="3388143"/>
              <a:ext cx="159544" cy="269081"/>
            </a:xfrm>
            <a:prstGeom prst="rect">
              <a:avLst/>
            </a:prstGeom>
            <a:noFill/>
            <a:ln w="25400">
              <a:noFill/>
              <a:miter lim="800000"/>
              <a:headEnd/>
              <a:tailEnd/>
            </a:ln>
            <a:effectLst/>
          </p:spPr>
          <p:txBody>
            <a:bodyPr lIns="9525" tIns="9525" rIns="9525" bIns="9525"/>
            <a:lstStyle/>
            <a:p>
              <a:pPr algn="just"/>
              <a:r>
                <a:rPr kumimoji="1" lang="en-US" altLang="zh-CN" sz="1050" b="1" i="1">
                  <a:solidFill>
                    <a:srgbClr val="FF0000"/>
                  </a:solidFill>
                  <a:latin typeface="Times New Roman" pitchFamily="18" charset="0"/>
                </a:rPr>
                <a:t>p</a:t>
              </a:r>
              <a:endParaRPr kumimoji="1" lang="en-US" altLang="zh-CN" sz="1050" i="1">
                <a:latin typeface="Times New Roman" pitchFamily="18" charset="0"/>
              </a:endParaRPr>
            </a:p>
          </p:txBody>
        </p:sp>
        <p:sp>
          <p:nvSpPr>
            <p:cNvPr id="152" name="Rectangle 59"/>
            <p:cNvSpPr>
              <a:spLocks noChangeArrowheads="1"/>
            </p:cNvSpPr>
            <p:nvPr/>
          </p:nvSpPr>
          <p:spPr bwMode="auto">
            <a:xfrm>
              <a:off x="2951820" y="3787002"/>
              <a:ext cx="329804" cy="204788"/>
            </a:xfrm>
            <a:prstGeom prst="rect">
              <a:avLst/>
            </a:prstGeom>
            <a:noFill/>
            <a:ln w="25400">
              <a:noFill/>
              <a:miter lim="800000"/>
              <a:headEnd/>
              <a:tailEnd/>
            </a:ln>
            <a:effectLst/>
          </p:spPr>
          <p:txBody>
            <a:bodyPr lIns="9525" tIns="9525" rIns="9525" bIns="9525"/>
            <a:lstStyle/>
            <a:p>
              <a:pPr algn="just"/>
              <a:r>
                <a:rPr kumimoji="1" lang="en-US" altLang="zh-CN" sz="1050" b="1" i="1">
                  <a:solidFill>
                    <a:srgbClr val="0000FF"/>
                  </a:solidFill>
                  <a:latin typeface="Times New Roman" pitchFamily="18" charset="0"/>
                </a:rPr>
                <a:t>S</a:t>
              </a:r>
              <a:r>
                <a:rPr kumimoji="1" lang="en-US" altLang="zh-CN" sz="1200" b="1">
                  <a:solidFill>
                    <a:srgbClr val="0000FF"/>
                  </a:solidFill>
                  <a:latin typeface="Times New Roman" pitchFamily="18" charset="0"/>
                </a:rPr>
                <a:t> </a:t>
              </a:r>
              <a:r>
                <a:rPr kumimoji="1" lang="en-US" altLang="zh-CN" sz="1200" b="1">
                  <a:solidFill>
                    <a:srgbClr val="FF0000"/>
                  </a:solidFill>
                  <a:latin typeface="宋体" pitchFamily="2" charset="-122"/>
                </a:rPr>
                <a:t>*</a:t>
              </a:r>
              <a:endParaRPr kumimoji="1" lang="en-US" altLang="zh-CN" sz="750">
                <a:latin typeface="Times New Roman" pitchFamily="18" charset="0"/>
              </a:endParaRPr>
            </a:p>
          </p:txBody>
        </p:sp>
      </p:grpSp>
      <p:grpSp>
        <p:nvGrpSpPr>
          <p:cNvPr id="2" name="组合 1"/>
          <p:cNvGrpSpPr/>
          <p:nvPr/>
        </p:nvGrpSpPr>
        <p:grpSpPr>
          <a:xfrm>
            <a:off x="5556584" y="4528188"/>
            <a:ext cx="1885950" cy="1276350"/>
            <a:chOff x="5382090" y="3263127"/>
            <a:chExt cx="1885950" cy="1276350"/>
          </a:xfrm>
        </p:grpSpPr>
        <p:sp>
          <p:nvSpPr>
            <p:cNvPr id="155" name="Rectangle 62"/>
            <p:cNvSpPr>
              <a:spLocks noChangeArrowheads="1"/>
            </p:cNvSpPr>
            <p:nvPr/>
          </p:nvSpPr>
          <p:spPr bwMode="auto">
            <a:xfrm>
              <a:off x="5789284" y="4113233"/>
              <a:ext cx="1323975" cy="390525"/>
            </a:xfrm>
            <a:prstGeom prst="rect">
              <a:avLst/>
            </a:prstGeom>
            <a:solidFill>
              <a:srgbClr val="FFFF00"/>
            </a:solidFill>
            <a:ln w="19050">
              <a:solidFill>
                <a:srgbClr val="800080"/>
              </a:solidFill>
              <a:miter lim="800000"/>
              <a:headEnd/>
              <a:tailEnd/>
            </a:ln>
            <a:effectLst/>
          </p:spPr>
          <p:txBody>
            <a:bodyPr/>
            <a:lstStyle/>
            <a:p>
              <a:endParaRPr lang="zh-CN" altLang="en-US" sz="1050"/>
            </a:p>
          </p:txBody>
        </p:sp>
        <p:sp>
          <p:nvSpPr>
            <p:cNvPr id="156" name="Line 63"/>
            <p:cNvSpPr>
              <a:spLocks noChangeShapeType="1"/>
            </p:cNvSpPr>
            <p:nvPr/>
          </p:nvSpPr>
          <p:spPr bwMode="auto">
            <a:xfrm>
              <a:off x="6246484" y="4113233"/>
              <a:ext cx="152400" cy="381000"/>
            </a:xfrm>
            <a:prstGeom prst="line">
              <a:avLst/>
            </a:prstGeom>
            <a:noFill/>
            <a:ln w="19050">
              <a:solidFill>
                <a:srgbClr val="0000FF"/>
              </a:solidFill>
              <a:round/>
              <a:headEnd type="none" w="med" len="sm"/>
              <a:tailEnd type="triangle" w="med" len="sm"/>
            </a:ln>
            <a:effectLst/>
          </p:spPr>
          <p:txBody>
            <a:bodyPr/>
            <a:lstStyle/>
            <a:p>
              <a:endParaRPr lang="zh-CN" altLang="en-US" sz="1050"/>
            </a:p>
          </p:txBody>
        </p:sp>
        <p:sp>
          <p:nvSpPr>
            <p:cNvPr id="157" name="Line 64"/>
            <p:cNvSpPr>
              <a:spLocks noChangeShapeType="1"/>
            </p:cNvSpPr>
            <p:nvPr/>
          </p:nvSpPr>
          <p:spPr bwMode="auto">
            <a:xfrm flipH="1">
              <a:off x="6379834" y="4094183"/>
              <a:ext cx="159544" cy="409575"/>
            </a:xfrm>
            <a:prstGeom prst="line">
              <a:avLst/>
            </a:prstGeom>
            <a:noFill/>
            <a:ln w="19050">
              <a:solidFill>
                <a:srgbClr val="0000FF"/>
              </a:solidFill>
              <a:round/>
              <a:headEnd type="triangle" w="med" len="sm"/>
              <a:tailEnd type="none" w="med" len="sm"/>
            </a:ln>
            <a:effectLst/>
          </p:spPr>
          <p:txBody>
            <a:bodyPr/>
            <a:lstStyle/>
            <a:p>
              <a:endParaRPr lang="zh-CN" altLang="en-US" sz="1050"/>
            </a:p>
          </p:txBody>
        </p:sp>
        <p:sp>
          <p:nvSpPr>
            <p:cNvPr id="158" name="Line 65"/>
            <p:cNvSpPr>
              <a:spLocks noChangeShapeType="1"/>
            </p:cNvSpPr>
            <p:nvPr/>
          </p:nvSpPr>
          <p:spPr bwMode="auto">
            <a:xfrm>
              <a:off x="5696415" y="3634602"/>
              <a:ext cx="542925" cy="476250"/>
            </a:xfrm>
            <a:prstGeom prst="line">
              <a:avLst/>
            </a:prstGeom>
            <a:noFill/>
            <a:ln w="19050">
              <a:solidFill>
                <a:srgbClr val="0000FF"/>
              </a:solidFill>
              <a:round/>
              <a:headEnd type="none" w="med" len="sm"/>
              <a:tailEnd type="triangle" w="med" len="sm"/>
            </a:ln>
            <a:effectLst/>
          </p:spPr>
          <p:txBody>
            <a:bodyPr/>
            <a:lstStyle/>
            <a:p>
              <a:endParaRPr lang="zh-CN" altLang="en-US" sz="1050"/>
            </a:p>
          </p:txBody>
        </p:sp>
        <p:sp>
          <p:nvSpPr>
            <p:cNvPr id="159" name="Line 66"/>
            <p:cNvSpPr>
              <a:spLocks noChangeShapeType="1"/>
            </p:cNvSpPr>
            <p:nvPr/>
          </p:nvSpPr>
          <p:spPr bwMode="auto">
            <a:xfrm flipH="1">
              <a:off x="6227434" y="3627458"/>
              <a:ext cx="542925" cy="476250"/>
            </a:xfrm>
            <a:prstGeom prst="line">
              <a:avLst/>
            </a:prstGeom>
            <a:noFill/>
            <a:ln w="19050">
              <a:solidFill>
                <a:srgbClr val="0000FF"/>
              </a:solidFill>
              <a:round/>
              <a:headEnd type="triangle" w="med" len="sm"/>
              <a:tailEnd type="none" w="med" len="sm"/>
            </a:ln>
            <a:effectLst/>
          </p:spPr>
          <p:txBody>
            <a:bodyPr/>
            <a:lstStyle/>
            <a:p>
              <a:endParaRPr lang="zh-CN" altLang="en-US" sz="1050"/>
            </a:p>
          </p:txBody>
        </p:sp>
        <p:sp>
          <p:nvSpPr>
            <p:cNvPr id="160" name="Line 67"/>
            <p:cNvSpPr>
              <a:spLocks noChangeShapeType="1"/>
            </p:cNvSpPr>
            <p:nvPr/>
          </p:nvSpPr>
          <p:spPr bwMode="auto">
            <a:xfrm flipV="1">
              <a:off x="6522709" y="3779858"/>
              <a:ext cx="371475" cy="333375"/>
            </a:xfrm>
            <a:prstGeom prst="line">
              <a:avLst/>
            </a:prstGeom>
            <a:noFill/>
            <a:ln w="19050">
              <a:solidFill>
                <a:srgbClr val="0000FF"/>
              </a:solidFill>
              <a:round/>
              <a:headEnd type="none" w="med" len="sm"/>
              <a:tailEnd type="triangle" w="med" len="sm"/>
            </a:ln>
            <a:effectLst/>
          </p:spPr>
          <p:txBody>
            <a:bodyPr/>
            <a:lstStyle/>
            <a:p>
              <a:endParaRPr lang="zh-CN" altLang="en-US" sz="1050"/>
            </a:p>
          </p:txBody>
        </p:sp>
        <p:grpSp>
          <p:nvGrpSpPr>
            <p:cNvPr id="161" name="Group 68"/>
            <p:cNvGrpSpPr>
              <a:grpSpLocks/>
            </p:cNvGrpSpPr>
            <p:nvPr/>
          </p:nvGrpSpPr>
          <p:grpSpPr bwMode="auto">
            <a:xfrm>
              <a:off x="6758452" y="3575071"/>
              <a:ext cx="214313" cy="211931"/>
              <a:chOff x="4276" y="3270"/>
              <a:chExt cx="180" cy="178"/>
            </a:xfrm>
          </p:grpSpPr>
          <p:sp>
            <p:nvSpPr>
              <p:cNvPr id="162" name="Arc 69"/>
              <p:cNvSpPr>
                <a:spLocks/>
              </p:cNvSpPr>
              <p:nvPr/>
            </p:nvSpPr>
            <p:spPr bwMode="auto">
              <a:xfrm flipH="1" flipV="1">
                <a:off x="4276" y="3272"/>
                <a:ext cx="176" cy="17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0000"/>
                </a:solidFill>
                <a:round/>
                <a:headEnd/>
                <a:tailEnd/>
              </a:ln>
              <a:effectLst/>
            </p:spPr>
            <p:txBody>
              <a:bodyPr/>
              <a:lstStyle/>
              <a:p>
                <a:endParaRPr lang="zh-CN" altLang="en-US" sz="1050"/>
              </a:p>
            </p:txBody>
          </p:sp>
          <p:sp>
            <p:nvSpPr>
              <p:cNvPr id="163" name="Arc 70"/>
              <p:cNvSpPr>
                <a:spLocks/>
              </p:cNvSpPr>
              <p:nvPr/>
            </p:nvSpPr>
            <p:spPr bwMode="auto">
              <a:xfrm>
                <a:off x="4280" y="3270"/>
                <a:ext cx="176" cy="17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0000"/>
                </a:solidFill>
                <a:round/>
                <a:headEnd/>
                <a:tailEnd/>
              </a:ln>
              <a:effectLst/>
            </p:spPr>
            <p:txBody>
              <a:bodyPr/>
              <a:lstStyle/>
              <a:p>
                <a:endParaRPr lang="zh-CN" altLang="en-US" sz="1050"/>
              </a:p>
            </p:txBody>
          </p:sp>
        </p:grpSp>
        <p:sp>
          <p:nvSpPr>
            <p:cNvPr id="164" name="Line 71"/>
            <p:cNvSpPr>
              <a:spLocks noChangeShapeType="1"/>
            </p:cNvSpPr>
            <p:nvPr/>
          </p:nvSpPr>
          <p:spPr bwMode="auto">
            <a:xfrm flipV="1">
              <a:off x="6834653" y="3477440"/>
              <a:ext cx="228600" cy="104775"/>
            </a:xfrm>
            <a:prstGeom prst="line">
              <a:avLst/>
            </a:prstGeom>
            <a:noFill/>
            <a:ln w="19050">
              <a:solidFill>
                <a:srgbClr val="0000FF"/>
              </a:solidFill>
              <a:round/>
              <a:headEnd type="none" w="med" len="sm"/>
              <a:tailEnd type="none" w="med" len="sm"/>
            </a:ln>
            <a:effectLst/>
          </p:spPr>
          <p:txBody>
            <a:bodyPr/>
            <a:lstStyle/>
            <a:p>
              <a:endParaRPr lang="zh-CN" altLang="en-US" sz="1050"/>
            </a:p>
          </p:txBody>
        </p:sp>
        <p:sp>
          <p:nvSpPr>
            <p:cNvPr id="165" name="Line 72"/>
            <p:cNvSpPr>
              <a:spLocks noChangeShapeType="1"/>
            </p:cNvSpPr>
            <p:nvPr/>
          </p:nvSpPr>
          <p:spPr bwMode="auto">
            <a:xfrm flipV="1">
              <a:off x="6963240" y="3454818"/>
              <a:ext cx="119063" cy="260747"/>
            </a:xfrm>
            <a:prstGeom prst="line">
              <a:avLst/>
            </a:prstGeom>
            <a:noFill/>
            <a:ln w="19050">
              <a:solidFill>
                <a:srgbClr val="0000FF"/>
              </a:solidFill>
              <a:round/>
              <a:headEnd type="none" w="med" len="sm"/>
              <a:tailEnd type="none" w="med" len="sm"/>
            </a:ln>
            <a:effectLst/>
          </p:spPr>
          <p:txBody>
            <a:bodyPr/>
            <a:lstStyle/>
            <a:p>
              <a:endParaRPr lang="zh-CN" altLang="en-US" sz="1050"/>
            </a:p>
          </p:txBody>
        </p:sp>
        <p:sp>
          <p:nvSpPr>
            <p:cNvPr id="166" name="Rectangle 73"/>
            <p:cNvSpPr>
              <a:spLocks noChangeArrowheads="1"/>
            </p:cNvSpPr>
            <p:nvPr/>
          </p:nvSpPr>
          <p:spPr bwMode="auto">
            <a:xfrm>
              <a:off x="6327446" y="3284558"/>
              <a:ext cx="209550" cy="276225"/>
            </a:xfrm>
            <a:prstGeom prst="rect">
              <a:avLst/>
            </a:prstGeom>
            <a:noFill/>
            <a:ln w="25400">
              <a:noFill/>
              <a:miter lim="800000"/>
              <a:headEnd/>
              <a:tailEnd/>
            </a:ln>
            <a:effectLst/>
          </p:spPr>
          <p:txBody>
            <a:bodyPr lIns="9525" tIns="9525" rIns="9525" bIns="9525"/>
            <a:lstStyle/>
            <a:p>
              <a:pPr algn="just"/>
              <a:r>
                <a:rPr kumimoji="1" lang="en-US" altLang="zh-CN" sz="3000" b="1">
                  <a:solidFill>
                    <a:srgbClr val="FF0000"/>
                  </a:solidFill>
                  <a:latin typeface="Times New Roman" pitchFamily="18" charset="0"/>
                </a:rPr>
                <a:t>·</a:t>
              </a:r>
              <a:endParaRPr kumimoji="1" lang="en-US" altLang="zh-CN" sz="750">
                <a:latin typeface="Times New Roman" pitchFamily="18" charset="0"/>
              </a:endParaRPr>
            </a:p>
          </p:txBody>
        </p:sp>
        <p:sp>
          <p:nvSpPr>
            <p:cNvPr id="167" name="Rectangle 74"/>
            <p:cNvSpPr>
              <a:spLocks noChangeArrowheads="1"/>
            </p:cNvSpPr>
            <p:nvPr/>
          </p:nvSpPr>
          <p:spPr bwMode="auto">
            <a:xfrm>
              <a:off x="7113259" y="3263127"/>
              <a:ext cx="154781" cy="255985"/>
            </a:xfrm>
            <a:prstGeom prst="rect">
              <a:avLst/>
            </a:prstGeom>
            <a:noFill/>
            <a:ln w="25400">
              <a:noFill/>
              <a:miter lim="800000"/>
              <a:headEnd/>
              <a:tailEnd/>
            </a:ln>
            <a:effectLst/>
          </p:spPr>
          <p:txBody>
            <a:bodyPr lIns="9525" tIns="9525" rIns="9525" bIns="9525"/>
            <a:lstStyle/>
            <a:p>
              <a:pPr algn="just"/>
              <a:r>
                <a:rPr kumimoji="1" lang="en-US" altLang="zh-CN" sz="1050" b="1">
                  <a:solidFill>
                    <a:srgbClr val="FF0000"/>
                  </a:solidFill>
                  <a:latin typeface="Times New Roman" pitchFamily="18" charset="0"/>
                </a:rPr>
                <a:t>p</a:t>
              </a:r>
              <a:endParaRPr kumimoji="1" lang="en-US" altLang="zh-CN" sz="1050">
                <a:latin typeface="Times New Roman" pitchFamily="18" charset="0"/>
              </a:endParaRPr>
            </a:p>
          </p:txBody>
        </p:sp>
        <p:sp>
          <p:nvSpPr>
            <p:cNvPr id="168" name="Rectangle 75"/>
            <p:cNvSpPr>
              <a:spLocks noChangeArrowheads="1"/>
            </p:cNvSpPr>
            <p:nvPr/>
          </p:nvSpPr>
          <p:spPr bwMode="auto">
            <a:xfrm>
              <a:off x="6748928" y="4301352"/>
              <a:ext cx="409575" cy="238125"/>
            </a:xfrm>
            <a:prstGeom prst="rect">
              <a:avLst/>
            </a:prstGeom>
            <a:noFill/>
            <a:ln w="25400">
              <a:noFill/>
              <a:miter lim="800000"/>
              <a:headEnd/>
              <a:tailEnd/>
            </a:ln>
            <a:effectLst/>
          </p:spPr>
          <p:txBody>
            <a:bodyPr lIns="9525" tIns="9525" rIns="9525" bIns="9525"/>
            <a:lstStyle/>
            <a:p>
              <a:pPr algn="just"/>
              <a:r>
                <a:rPr kumimoji="1" lang="zh-CN" altLang="en-US" sz="1200" b="1">
                  <a:solidFill>
                    <a:srgbClr val="000000"/>
                  </a:solidFill>
                  <a:latin typeface="Times New Roman" pitchFamily="18" charset="0"/>
                </a:rPr>
                <a:t>薄膜</a:t>
              </a:r>
              <a:endParaRPr kumimoji="1" lang="zh-CN" altLang="en-US" sz="1200">
                <a:solidFill>
                  <a:srgbClr val="000000"/>
                </a:solidFill>
                <a:latin typeface="Times New Roman" pitchFamily="18" charset="0"/>
              </a:endParaRPr>
            </a:p>
          </p:txBody>
        </p:sp>
        <p:sp>
          <p:nvSpPr>
            <p:cNvPr id="169" name="Text Box 76"/>
            <p:cNvSpPr txBox="1">
              <a:spLocks noChangeArrowheads="1"/>
            </p:cNvSpPr>
            <p:nvPr/>
          </p:nvSpPr>
          <p:spPr bwMode="auto">
            <a:xfrm>
              <a:off x="5382090" y="3482202"/>
              <a:ext cx="457200" cy="257175"/>
            </a:xfrm>
            <a:prstGeom prst="rect">
              <a:avLst/>
            </a:prstGeom>
            <a:noFill/>
            <a:ln w="9525">
              <a:noFill/>
              <a:miter lim="800000"/>
              <a:headEnd/>
              <a:tailEnd/>
            </a:ln>
          </p:spPr>
          <p:txBody>
            <a:bodyPr/>
            <a:lstStyle/>
            <a:p>
              <a:pPr algn="just"/>
              <a:r>
                <a:rPr kumimoji="1" lang="en-US" altLang="zh-CN" sz="1500" b="1" i="1">
                  <a:solidFill>
                    <a:srgbClr val="0000FF"/>
                  </a:solidFill>
                  <a:latin typeface="宋体" pitchFamily="2" charset="-122"/>
                </a:rPr>
                <a:t>S </a:t>
              </a:r>
              <a:r>
                <a:rPr kumimoji="1" lang="en-US" altLang="zh-CN" sz="1500" b="1">
                  <a:solidFill>
                    <a:srgbClr val="FF0000"/>
                  </a:solidFill>
                  <a:latin typeface="宋体" pitchFamily="2" charset="-122"/>
                </a:rPr>
                <a:t>*</a:t>
              </a:r>
              <a:endParaRPr kumimoji="1" lang="en-US" altLang="zh-CN" sz="1500" b="1">
                <a:solidFill>
                  <a:srgbClr val="FF0000"/>
                </a:solidFill>
                <a:latin typeface="Times New Roman" pitchFamily="18" charset="0"/>
              </a:endParaRPr>
            </a:p>
          </p:txBody>
        </p:sp>
      </p:grpSp>
      <p:sp>
        <p:nvSpPr>
          <p:cNvPr id="64" name="文本框 63"/>
          <p:cNvSpPr txBox="1"/>
          <p:nvPr/>
        </p:nvSpPr>
        <p:spPr>
          <a:xfrm>
            <a:off x="99612" y="862446"/>
            <a:ext cx="3062027" cy="523220"/>
          </a:xfrm>
          <a:prstGeom prst="rect">
            <a:avLst/>
          </a:prstGeom>
          <a:noFill/>
        </p:spPr>
        <p:txBody>
          <a:bodyPr wrap="square" rtlCol="0">
            <a:spAutoFit/>
          </a:bodyPr>
          <a:lstStyle/>
          <a:p>
            <a:r>
              <a:rPr lang="zh-CN" altLang="en-US" sz="2800" b="1" dirty="0">
                <a:solidFill>
                  <a:srgbClr val="0000FF"/>
                </a:solidFill>
                <a:latin typeface="微软雅黑" panose="020B0503020204020204" pitchFamily="34" charset="-122"/>
                <a:ea typeface="微软雅黑" panose="020B0503020204020204" pitchFamily="34" charset="-122"/>
              </a:rPr>
              <a:t>光的干涉</a:t>
            </a:r>
          </a:p>
        </p:txBody>
      </p:sp>
      <p:grpSp>
        <p:nvGrpSpPr>
          <p:cNvPr id="72" name="组合 71"/>
          <p:cNvGrpSpPr/>
          <p:nvPr/>
        </p:nvGrpSpPr>
        <p:grpSpPr>
          <a:xfrm>
            <a:off x="893554" y="1529882"/>
            <a:ext cx="411476" cy="411476"/>
            <a:chOff x="1491548" y="2933574"/>
            <a:chExt cx="411476" cy="411476"/>
          </a:xfrm>
        </p:grpSpPr>
        <p:sp>
          <p:nvSpPr>
            <p:cNvPr id="73" name="PA_椭圆 46"/>
            <p:cNvSpPr/>
            <p:nvPr>
              <p:custDataLst>
                <p:tags r:id="rId3"/>
              </p:custDataLst>
            </p:nvPr>
          </p:nvSpPr>
          <p:spPr>
            <a:xfrm>
              <a:off x="1491548" y="2933574"/>
              <a:ext cx="411476" cy="411476"/>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bg1"/>
                </a:solidFill>
                <a:effectLst>
                  <a:outerShdw blurRad="38100" dist="38100" dir="2700000" algn="tl">
                    <a:srgbClr val="000000">
                      <a:alpha val="43137"/>
                    </a:srgbClr>
                  </a:outerShdw>
                </a:effectLst>
              </a:endParaRPr>
            </a:p>
          </p:txBody>
        </p:sp>
        <p:sp>
          <p:nvSpPr>
            <p:cNvPr id="74" name="PA_任意多边形 14"/>
            <p:cNvSpPr>
              <a:spLocks noEditPoints="1"/>
            </p:cNvSpPr>
            <p:nvPr>
              <p:custDataLst>
                <p:tags r:id="rId4"/>
              </p:custDataLst>
            </p:nvPr>
          </p:nvSpPr>
          <p:spPr bwMode="auto">
            <a:xfrm>
              <a:off x="1616670" y="3071774"/>
              <a:ext cx="161233" cy="135076"/>
            </a:xfrm>
            <a:custGeom>
              <a:avLst/>
              <a:gdLst>
                <a:gd name="T0" fmla="*/ 369 w 826"/>
                <a:gd name="T1" fmla="*/ 0 h 692"/>
                <a:gd name="T2" fmla="*/ 385 w 826"/>
                <a:gd name="T3" fmla="*/ 2 h 692"/>
                <a:gd name="T4" fmla="*/ 408 w 826"/>
                <a:gd name="T5" fmla="*/ 10 h 692"/>
                <a:gd name="T6" fmla="*/ 422 w 826"/>
                <a:gd name="T7" fmla="*/ 28 h 692"/>
                <a:gd name="T8" fmla="*/ 430 w 826"/>
                <a:gd name="T9" fmla="*/ 52 h 692"/>
                <a:gd name="T10" fmla="*/ 623 w 826"/>
                <a:gd name="T11" fmla="*/ 67 h 692"/>
                <a:gd name="T12" fmla="*/ 633 w 826"/>
                <a:gd name="T13" fmla="*/ 67 h 692"/>
                <a:gd name="T14" fmla="*/ 653 w 826"/>
                <a:gd name="T15" fmla="*/ 75 h 692"/>
                <a:gd name="T16" fmla="*/ 668 w 826"/>
                <a:gd name="T17" fmla="*/ 87 h 692"/>
                <a:gd name="T18" fmla="*/ 680 w 826"/>
                <a:gd name="T19" fmla="*/ 105 h 692"/>
                <a:gd name="T20" fmla="*/ 150 w 826"/>
                <a:gd name="T21" fmla="*/ 115 h 692"/>
                <a:gd name="T22" fmla="*/ 132 w 826"/>
                <a:gd name="T23" fmla="*/ 117 h 692"/>
                <a:gd name="T24" fmla="*/ 99 w 826"/>
                <a:gd name="T25" fmla="*/ 129 h 692"/>
                <a:gd name="T26" fmla="*/ 71 w 826"/>
                <a:gd name="T27" fmla="*/ 154 h 692"/>
                <a:gd name="T28" fmla="*/ 52 w 826"/>
                <a:gd name="T29" fmla="*/ 184 h 692"/>
                <a:gd name="T30" fmla="*/ 0 w 826"/>
                <a:gd name="T31" fmla="*/ 511 h 692"/>
                <a:gd name="T32" fmla="*/ 0 w 826"/>
                <a:gd name="T33" fmla="*/ 67 h 692"/>
                <a:gd name="T34" fmla="*/ 6 w 826"/>
                <a:gd name="T35" fmla="*/ 40 h 692"/>
                <a:gd name="T36" fmla="*/ 18 w 826"/>
                <a:gd name="T37" fmla="*/ 20 h 692"/>
                <a:gd name="T38" fmla="*/ 38 w 826"/>
                <a:gd name="T39" fmla="*/ 6 h 692"/>
                <a:gd name="T40" fmla="*/ 61 w 826"/>
                <a:gd name="T41" fmla="*/ 0 h 692"/>
                <a:gd name="T42" fmla="*/ 205 w 826"/>
                <a:gd name="T43" fmla="*/ 188 h 692"/>
                <a:gd name="T44" fmla="*/ 188 w 826"/>
                <a:gd name="T45" fmla="*/ 190 h 692"/>
                <a:gd name="T46" fmla="*/ 154 w 826"/>
                <a:gd name="T47" fmla="*/ 205 h 692"/>
                <a:gd name="T48" fmla="*/ 128 w 826"/>
                <a:gd name="T49" fmla="*/ 227 h 692"/>
                <a:gd name="T50" fmla="*/ 109 w 826"/>
                <a:gd name="T51" fmla="*/ 259 h 692"/>
                <a:gd name="T52" fmla="*/ 38 w 826"/>
                <a:gd name="T53" fmla="*/ 692 h 692"/>
                <a:gd name="T54" fmla="*/ 826 w 826"/>
                <a:gd name="T55" fmla="*/ 276 h 692"/>
                <a:gd name="T56" fmla="*/ 826 w 826"/>
                <a:gd name="T57" fmla="*/ 259 h 692"/>
                <a:gd name="T58" fmla="*/ 818 w 826"/>
                <a:gd name="T59" fmla="*/ 227 h 692"/>
                <a:gd name="T60" fmla="*/ 797 w 826"/>
                <a:gd name="T61" fmla="*/ 205 h 692"/>
                <a:gd name="T62" fmla="*/ 769 w 826"/>
                <a:gd name="T63" fmla="*/ 190 h 692"/>
                <a:gd name="T64" fmla="*/ 205 w 826"/>
                <a:gd name="T65" fmla="*/ 188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26" h="692">
                  <a:moveTo>
                    <a:pt x="61" y="0"/>
                  </a:moveTo>
                  <a:lnTo>
                    <a:pt x="369" y="0"/>
                  </a:lnTo>
                  <a:lnTo>
                    <a:pt x="369" y="0"/>
                  </a:lnTo>
                  <a:lnTo>
                    <a:pt x="385" y="2"/>
                  </a:lnTo>
                  <a:lnTo>
                    <a:pt x="398" y="6"/>
                  </a:lnTo>
                  <a:lnTo>
                    <a:pt x="408" y="10"/>
                  </a:lnTo>
                  <a:lnTo>
                    <a:pt x="416" y="18"/>
                  </a:lnTo>
                  <a:lnTo>
                    <a:pt x="422" y="28"/>
                  </a:lnTo>
                  <a:lnTo>
                    <a:pt x="426" y="38"/>
                  </a:lnTo>
                  <a:lnTo>
                    <a:pt x="430" y="52"/>
                  </a:lnTo>
                  <a:lnTo>
                    <a:pt x="432" y="67"/>
                  </a:lnTo>
                  <a:lnTo>
                    <a:pt x="623" y="67"/>
                  </a:lnTo>
                  <a:lnTo>
                    <a:pt x="623" y="67"/>
                  </a:lnTo>
                  <a:lnTo>
                    <a:pt x="633" y="67"/>
                  </a:lnTo>
                  <a:lnTo>
                    <a:pt x="643" y="69"/>
                  </a:lnTo>
                  <a:lnTo>
                    <a:pt x="653" y="75"/>
                  </a:lnTo>
                  <a:lnTo>
                    <a:pt x="661" y="81"/>
                  </a:lnTo>
                  <a:lnTo>
                    <a:pt x="668" y="87"/>
                  </a:lnTo>
                  <a:lnTo>
                    <a:pt x="674" y="95"/>
                  </a:lnTo>
                  <a:lnTo>
                    <a:pt x="680" y="105"/>
                  </a:lnTo>
                  <a:lnTo>
                    <a:pt x="682" y="115"/>
                  </a:lnTo>
                  <a:lnTo>
                    <a:pt x="150" y="115"/>
                  </a:lnTo>
                  <a:lnTo>
                    <a:pt x="150" y="115"/>
                  </a:lnTo>
                  <a:lnTo>
                    <a:pt x="132" y="117"/>
                  </a:lnTo>
                  <a:lnTo>
                    <a:pt x="115" y="121"/>
                  </a:lnTo>
                  <a:lnTo>
                    <a:pt x="99" y="129"/>
                  </a:lnTo>
                  <a:lnTo>
                    <a:pt x="85" y="140"/>
                  </a:lnTo>
                  <a:lnTo>
                    <a:pt x="71" y="154"/>
                  </a:lnTo>
                  <a:lnTo>
                    <a:pt x="61" y="168"/>
                  </a:lnTo>
                  <a:lnTo>
                    <a:pt x="52" y="184"/>
                  </a:lnTo>
                  <a:lnTo>
                    <a:pt x="48" y="203"/>
                  </a:lnTo>
                  <a:lnTo>
                    <a:pt x="0" y="511"/>
                  </a:lnTo>
                  <a:lnTo>
                    <a:pt x="0" y="67"/>
                  </a:lnTo>
                  <a:lnTo>
                    <a:pt x="0" y="67"/>
                  </a:lnTo>
                  <a:lnTo>
                    <a:pt x="2" y="52"/>
                  </a:lnTo>
                  <a:lnTo>
                    <a:pt x="6" y="40"/>
                  </a:lnTo>
                  <a:lnTo>
                    <a:pt x="10" y="30"/>
                  </a:lnTo>
                  <a:lnTo>
                    <a:pt x="18" y="20"/>
                  </a:lnTo>
                  <a:lnTo>
                    <a:pt x="28" y="12"/>
                  </a:lnTo>
                  <a:lnTo>
                    <a:pt x="38" y="6"/>
                  </a:lnTo>
                  <a:lnTo>
                    <a:pt x="48" y="2"/>
                  </a:lnTo>
                  <a:lnTo>
                    <a:pt x="61" y="0"/>
                  </a:lnTo>
                  <a:lnTo>
                    <a:pt x="61" y="0"/>
                  </a:lnTo>
                  <a:close/>
                  <a:moveTo>
                    <a:pt x="205" y="188"/>
                  </a:moveTo>
                  <a:lnTo>
                    <a:pt x="205" y="188"/>
                  </a:lnTo>
                  <a:lnTo>
                    <a:pt x="188" y="190"/>
                  </a:lnTo>
                  <a:lnTo>
                    <a:pt x="170" y="196"/>
                  </a:lnTo>
                  <a:lnTo>
                    <a:pt x="154" y="205"/>
                  </a:lnTo>
                  <a:lnTo>
                    <a:pt x="140" y="215"/>
                  </a:lnTo>
                  <a:lnTo>
                    <a:pt x="128" y="227"/>
                  </a:lnTo>
                  <a:lnTo>
                    <a:pt x="115" y="243"/>
                  </a:lnTo>
                  <a:lnTo>
                    <a:pt x="109" y="259"/>
                  </a:lnTo>
                  <a:lnTo>
                    <a:pt x="103" y="276"/>
                  </a:lnTo>
                  <a:lnTo>
                    <a:pt x="38" y="692"/>
                  </a:lnTo>
                  <a:lnTo>
                    <a:pt x="759" y="692"/>
                  </a:lnTo>
                  <a:lnTo>
                    <a:pt x="826" y="276"/>
                  </a:lnTo>
                  <a:lnTo>
                    <a:pt x="826" y="276"/>
                  </a:lnTo>
                  <a:lnTo>
                    <a:pt x="826" y="259"/>
                  </a:lnTo>
                  <a:lnTo>
                    <a:pt x="824" y="243"/>
                  </a:lnTo>
                  <a:lnTo>
                    <a:pt x="818" y="227"/>
                  </a:lnTo>
                  <a:lnTo>
                    <a:pt x="810" y="215"/>
                  </a:lnTo>
                  <a:lnTo>
                    <a:pt x="797" y="205"/>
                  </a:lnTo>
                  <a:lnTo>
                    <a:pt x="785" y="196"/>
                  </a:lnTo>
                  <a:lnTo>
                    <a:pt x="769" y="190"/>
                  </a:lnTo>
                  <a:lnTo>
                    <a:pt x="751" y="188"/>
                  </a:lnTo>
                  <a:lnTo>
                    <a:pt x="205" y="188"/>
                  </a:lnTo>
                  <a:close/>
                </a:path>
              </a:pathLst>
            </a:custGeom>
            <a:solidFill>
              <a:srgbClr val="0A4776"/>
            </a:solidFill>
            <a:ln>
              <a:noFill/>
            </a:ln>
          </p:spPr>
          <p:txBody>
            <a:bodyPr vert="horz" wrap="square" lIns="91440" tIns="45720" rIns="91440" bIns="45720" numCol="1" anchor="t" anchorCtr="0" compatLnSpc="1"/>
            <a:lstStyle/>
            <a:p>
              <a:endParaRPr lang="zh-CN" altLang="en-US"/>
            </a:p>
          </p:txBody>
        </p:sp>
      </p:grpSp>
      <p:grpSp>
        <p:nvGrpSpPr>
          <p:cNvPr id="75" name="组合 74"/>
          <p:cNvGrpSpPr/>
          <p:nvPr/>
        </p:nvGrpSpPr>
        <p:grpSpPr>
          <a:xfrm>
            <a:off x="893554" y="3560700"/>
            <a:ext cx="411476" cy="411476"/>
            <a:chOff x="2497106" y="2933574"/>
            <a:chExt cx="411476" cy="411476"/>
          </a:xfrm>
        </p:grpSpPr>
        <p:sp>
          <p:nvSpPr>
            <p:cNvPr id="76" name="PA_椭圆 47"/>
            <p:cNvSpPr/>
            <p:nvPr>
              <p:custDataLst>
                <p:tags r:id="rId1"/>
              </p:custDataLst>
            </p:nvPr>
          </p:nvSpPr>
          <p:spPr>
            <a:xfrm>
              <a:off x="2497106" y="2933574"/>
              <a:ext cx="411476" cy="411476"/>
            </a:xfrm>
            <a:prstGeom prst="ellipse">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bg1"/>
                </a:solidFill>
                <a:effectLst>
                  <a:outerShdw blurRad="38100" dist="38100" dir="2700000" algn="tl">
                    <a:srgbClr val="000000">
                      <a:alpha val="43137"/>
                    </a:srgbClr>
                  </a:outerShdw>
                </a:effectLst>
              </a:endParaRPr>
            </a:p>
          </p:txBody>
        </p:sp>
        <p:sp>
          <p:nvSpPr>
            <p:cNvPr id="77" name="PA_任意多边形 17"/>
            <p:cNvSpPr>
              <a:spLocks noEditPoints="1"/>
            </p:cNvSpPr>
            <p:nvPr>
              <p:custDataLst>
                <p:tags r:id="rId2"/>
              </p:custDataLst>
            </p:nvPr>
          </p:nvSpPr>
          <p:spPr bwMode="auto">
            <a:xfrm>
              <a:off x="2619593" y="3050303"/>
              <a:ext cx="166502" cy="178019"/>
            </a:xfrm>
            <a:custGeom>
              <a:avLst/>
              <a:gdLst>
                <a:gd name="T0" fmla="*/ 526 w 853"/>
                <a:gd name="T1" fmla="*/ 173 h 912"/>
                <a:gd name="T2" fmla="*/ 597 w 853"/>
                <a:gd name="T3" fmla="*/ 213 h 912"/>
                <a:gd name="T4" fmla="*/ 660 w 853"/>
                <a:gd name="T5" fmla="*/ 286 h 912"/>
                <a:gd name="T6" fmla="*/ 684 w 853"/>
                <a:gd name="T7" fmla="*/ 351 h 912"/>
                <a:gd name="T8" fmla="*/ 691 w 853"/>
                <a:gd name="T9" fmla="*/ 443 h 912"/>
                <a:gd name="T10" fmla="*/ 676 w 853"/>
                <a:gd name="T11" fmla="*/ 510 h 912"/>
                <a:gd name="T12" fmla="*/ 599 w 853"/>
                <a:gd name="T13" fmla="*/ 489 h 912"/>
                <a:gd name="T14" fmla="*/ 613 w 853"/>
                <a:gd name="T15" fmla="*/ 418 h 912"/>
                <a:gd name="T16" fmla="*/ 605 w 853"/>
                <a:gd name="T17" fmla="*/ 353 h 912"/>
                <a:gd name="T18" fmla="*/ 583 w 853"/>
                <a:gd name="T19" fmla="*/ 311 h 912"/>
                <a:gd name="T20" fmla="*/ 532 w 853"/>
                <a:gd name="T21" fmla="*/ 262 h 912"/>
                <a:gd name="T22" fmla="*/ 461 w 853"/>
                <a:gd name="T23" fmla="*/ 232 h 912"/>
                <a:gd name="T24" fmla="*/ 611 w 853"/>
                <a:gd name="T25" fmla="*/ 828 h 912"/>
                <a:gd name="T26" fmla="*/ 581 w 853"/>
                <a:gd name="T27" fmla="*/ 741 h 912"/>
                <a:gd name="T28" fmla="*/ 490 w 853"/>
                <a:gd name="T29" fmla="*/ 603 h 912"/>
                <a:gd name="T30" fmla="*/ 437 w 853"/>
                <a:gd name="T31" fmla="*/ 589 h 912"/>
                <a:gd name="T32" fmla="*/ 319 w 853"/>
                <a:gd name="T33" fmla="*/ 650 h 912"/>
                <a:gd name="T34" fmla="*/ 256 w 853"/>
                <a:gd name="T35" fmla="*/ 544 h 912"/>
                <a:gd name="T36" fmla="*/ 183 w 853"/>
                <a:gd name="T37" fmla="*/ 370 h 912"/>
                <a:gd name="T38" fmla="*/ 317 w 853"/>
                <a:gd name="T39" fmla="*/ 301 h 912"/>
                <a:gd name="T40" fmla="*/ 299 w 853"/>
                <a:gd name="T41" fmla="*/ 207 h 912"/>
                <a:gd name="T42" fmla="*/ 226 w 853"/>
                <a:gd name="T43" fmla="*/ 51 h 912"/>
                <a:gd name="T44" fmla="*/ 132 w 853"/>
                <a:gd name="T45" fmla="*/ 67 h 912"/>
                <a:gd name="T46" fmla="*/ 67 w 853"/>
                <a:gd name="T47" fmla="*/ 102 h 912"/>
                <a:gd name="T48" fmla="*/ 8 w 853"/>
                <a:gd name="T49" fmla="*/ 169 h 912"/>
                <a:gd name="T50" fmla="*/ 2 w 853"/>
                <a:gd name="T51" fmla="*/ 232 h 912"/>
                <a:gd name="T52" fmla="*/ 23 w 853"/>
                <a:gd name="T53" fmla="*/ 325 h 912"/>
                <a:gd name="T54" fmla="*/ 80 w 853"/>
                <a:gd name="T55" fmla="*/ 498 h 912"/>
                <a:gd name="T56" fmla="*/ 159 w 853"/>
                <a:gd name="T57" fmla="*/ 658 h 912"/>
                <a:gd name="T58" fmla="*/ 262 w 853"/>
                <a:gd name="T59" fmla="*/ 806 h 912"/>
                <a:gd name="T60" fmla="*/ 341 w 853"/>
                <a:gd name="T61" fmla="*/ 891 h 912"/>
                <a:gd name="T62" fmla="*/ 421 w 853"/>
                <a:gd name="T63" fmla="*/ 912 h 912"/>
                <a:gd name="T64" fmla="*/ 520 w 853"/>
                <a:gd name="T65" fmla="*/ 875 h 912"/>
                <a:gd name="T66" fmla="*/ 469 w 853"/>
                <a:gd name="T67" fmla="*/ 345 h 912"/>
                <a:gd name="T68" fmla="*/ 427 w 853"/>
                <a:gd name="T69" fmla="*/ 343 h 912"/>
                <a:gd name="T70" fmla="*/ 382 w 853"/>
                <a:gd name="T71" fmla="*/ 380 h 912"/>
                <a:gd name="T72" fmla="*/ 374 w 853"/>
                <a:gd name="T73" fmla="*/ 420 h 912"/>
                <a:gd name="T74" fmla="*/ 400 w 853"/>
                <a:gd name="T75" fmla="*/ 471 h 912"/>
                <a:gd name="T76" fmla="*/ 439 w 853"/>
                <a:gd name="T77" fmla="*/ 487 h 912"/>
                <a:gd name="T78" fmla="*/ 492 w 853"/>
                <a:gd name="T79" fmla="*/ 471 h 912"/>
                <a:gd name="T80" fmla="*/ 516 w 853"/>
                <a:gd name="T81" fmla="*/ 437 h 912"/>
                <a:gd name="T82" fmla="*/ 512 w 853"/>
                <a:gd name="T83" fmla="*/ 380 h 912"/>
                <a:gd name="T84" fmla="*/ 469 w 853"/>
                <a:gd name="T85" fmla="*/ 345 h 912"/>
                <a:gd name="T86" fmla="*/ 510 w 853"/>
                <a:gd name="T87" fmla="*/ 75 h 912"/>
                <a:gd name="T88" fmla="*/ 581 w 853"/>
                <a:gd name="T89" fmla="*/ 102 h 912"/>
                <a:gd name="T90" fmla="*/ 678 w 853"/>
                <a:gd name="T91" fmla="*/ 169 h 912"/>
                <a:gd name="T92" fmla="*/ 731 w 853"/>
                <a:gd name="T93" fmla="*/ 240 h 912"/>
                <a:gd name="T94" fmla="*/ 772 w 853"/>
                <a:gd name="T95" fmla="*/ 358 h 912"/>
                <a:gd name="T96" fmla="*/ 766 w 853"/>
                <a:gd name="T97" fmla="*/ 496 h 912"/>
                <a:gd name="T98" fmla="*/ 825 w 853"/>
                <a:gd name="T99" fmla="*/ 581 h 912"/>
                <a:gd name="T100" fmla="*/ 843 w 853"/>
                <a:gd name="T101" fmla="*/ 512 h 912"/>
                <a:gd name="T102" fmla="*/ 849 w 853"/>
                <a:gd name="T103" fmla="*/ 345 h 912"/>
                <a:gd name="T104" fmla="*/ 800 w 853"/>
                <a:gd name="T105" fmla="*/ 201 h 912"/>
                <a:gd name="T106" fmla="*/ 733 w 853"/>
                <a:gd name="T107" fmla="*/ 114 h 912"/>
                <a:gd name="T108" fmla="*/ 615 w 853"/>
                <a:gd name="T109" fmla="*/ 31 h 912"/>
                <a:gd name="T110" fmla="*/ 534 w 853"/>
                <a:gd name="T111" fmla="*/ 0 h 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53" h="912">
                  <a:moveTo>
                    <a:pt x="486" y="159"/>
                  </a:moveTo>
                  <a:lnTo>
                    <a:pt x="486" y="159"/>
                  </a:lnTo>
                  <a:lnTo>
                    <a:pt x="506" y="165"/>
                  </a:lnTo>
                  <a:lnTo>
                    <a:pt x="526" y="173"/>
                  </a:lnTo>
                  <a:lnTo>
                    <a:pt x="526" y="173"/>
                  </a:lnTo>
                  <a:lnTo>
                    <a:pt x="553" y="185"/>
                  </a:lnTo>
                  <a:lnTo>
                    <a:pt x="577" y="199"/>
                  </a:lnTo>
                  <a:lnTo>
                    <a:pt x="597" y="213"/>
                  </a:lnTo>
                  <a:lnTo>
                    <a:pt x="617" y="230"/>
                  </a:lnTo>
                  <a:lnTo>
                    <a:pt x="634" y="248"/>
                  </a:lnTo>
                  <a:lnTo>
                    <a:pt x="648" y="266"/>
                  </a:lnTo>
                  <a:lnTo>
                    <a:pt x="660" y="286"/>
                  </a:lnTo>
                  <a:lnTo>
                    <a:pt x="670" y="307"/>
                  </a:lnTo>
                  <a:lnTo>
                    <a:pt x="670" y="307"/>
                  </a:lnTo>
                  <a:lnTo>
                    <a:pt x="678" y="329"/>
                  </a:lnTo>
                  <a:lnTo>
                    <a:pt x="684" y="351"/>
                  </a:lnTo>
                  <a:lnTo>
                    <a:pt x="689" y="374"/>
                  </a:lnTo>
                  <a:lnTo>
                    <a:pt x="691" y="396"/>
                  </a:lnTo>
                  <a:lnTo>
                    <a:pt x="691" y="418"/>
                  </a:lnTo>
                  <a:lnTo>
                    <a:pt x="691" y="443"/>
                  </a:lnTo>
                  <a:lnTo>
                    <a:pt x="686" y="465"/>
                  </a:lnTo>
                  <a:lnTo>
                    <a:pt x="682" y="489"/>
                  </a:lnTo>
                  <a:lnTo>
                    <a:pt x="682" y="489"/>
                  </a:lnTo>
                  <a:lnTo>
                    <a:pt x="676" y="510"/>
                  </a:lnTo>
                  <a:lnTo>
                    <a:pt x="668" y="532"/>
                  </a:lnTo>
                  <a:lnTo>
                    <a:pt x="593" y="508"/>
                  </a:lnTo>
                  <a:lnTo>
                    <a:pt x="593" y="508"/>
                  </a:lnTo>
                  <a:lnTo>
                    <a:pt x="599" y="489"/>
                  </a:lnTo>
                  <a:lnTo>
                    <a:pt x="605" y="471"/>
                  </a:lnTo>
                  <a:lnTo>
                    <a:pt x="605" y="471"/>
                  </a:lnTo>
                  <a:lnTo>
                    <a:pt x="611" y="437"/>
                  </a:lnTo>
                  <a:lnTo>
                    <a:pt x="613" y="418"/>
                  </a:lnTo>
                  <a:lnTo>
                    <a:pt x="613" y="402"/>
                  </a:lnTo>
                  <a:lnTo>
                    <a:pt x="611" y="386"/>
                  </a:lnTo>
                  <a:lnTo>
                    <a:pt x="609" y="370"/>
                  </a:lnTo>
                  <a:lnTo>
                    <a:pt x="605" y="353"/>
                  </a:lnTo>
                  <a:lnTo>
                    <a:pt x="599" y="339"/>
                  </a:lnTo>
                  <a:lnTo>
                    <a:pt x="599" y="339"/>
                  </a:lnTo>
                  <a:lnTo>
                    <a:pt x="591" y="325"/>
                  </a:lnTo>
                  <a:lnTo>
                    <a:pt x="583" y="311"/>
                  </a:lnTo>
                  <a:lnTo>
                    <a:pt x="573" y="297"/>
                  </a:lnTo>
                  <a:lnTo>
                    <a:pt x="561" y="284"/>
                  </a:lnTo>
                  <a:lnTo>
                    <a:pt x="548" y="274"/>
                  </a:lnTo>
                  <a:lnTo>
                    <a:pt x="532" y="262"/>
                  </a:lnTo>
                  <a:lnTo>
                    <a:pt x="516" y="254"/>
                  </a:lnTo>
                  <a:lnTo>
                    <a:pt x="498" y="244"/>
                  </a:lnTo>
                  <a:lnTo>
                    <a:pt x="498" y="244"/>
                  </a:lnTo>
                  <a:lnTo>
                    <a:pt x="461" y="232"/>
                  </a:lnTo>
                  <a:lnTo>
                    <a:pt x="486" y="159"/>
                  </a:lnTo>
                  <a:lnTo>
                    <a:pt x="486" y="159"/>
                  </a:lnTo>
                  <a:close/>
                  <a:moveTo>
                    <a:pt x="569" y="849"/>
                  </a:moveTo>
                  <a:lnTo>
                    <a:pt x="611" y="828"/>
                  </a:lnTo>
                  <a:lnTo>
                    <a:pt x="611" y="828"/>
                  </a:lnTo>
                  <a:lnTo>
                    <a:pt x="605" y="806"/>
                  </a:lnTo>
                  <a:lnTo>
                    <a:pt x="599" y="784"/>
                  </a:lnTo>
                  <a:lnTo>
                    <a:pt x="581" y="741"/>
                  </a:lnTo>
                  <a:lnTo>
                    <a:pt x="559" y="701"/>
                  </a:lnTo>
                  <a:lnTo>
                    <a:pt x="534" y="662"/>
                  </a:lnTo>
                  <a:lnTo>
                    <a:pt x="510" y="630"/>
                  </a:lnTo>
                  <a:lnTo>
                    <a:pt x="490" y="603"/>
                  </a:lnTo>
                  <a:lnTo>
                    <a:pt x="471" y="585"/>
                  </a:lnTo>
                  <a:lnTo>
                    <a:pt x="463" y="581"/>
                  </a:lnTo>
                  <a:lnTo>
                    <a:pt x="459" y="577"/>
                  </a:lnTo>
                  <a:lnTo>
                    <a:pt x="437" y="589"/>
                  </a:lnTo>
                  <a:lnTo>
                    <a:pt x="412" y="601"/>
                  </a:lnTo>
                  <a:lnTo>
                    <a:pt x="378" y="617"/>
                  </a:lnTo>
                  <a:lnTo>
                    <a:pt x="372" y="621"/>
                  </a:lnTo>
                  <a:lnTo>
                    <a:pt x="319" y="650"/>
                  </a:lnTo>
                  <a:lnTo>
                    <a:pt x="319" y="650"/>
                  </a:lnTo>
                  <a:lnTo>
                    <a:pt x="293" y="609"/>
                  </a:lnTo>
                  <a:lnTo>
                    <a:pt x="272" y="577"/>
                  </a:lnTo>
                  <a:lnTo>
                    <a:pt x="256" y="544"/>
                  </a:lnTo>
                  <a:lnTo>
                    <a:pt x="242" y="516"/>
                  </a:lnTo>
                  <a:lnTo>
                    <a:pt x="228" y="485"/>
                  </a:lnTo>
                  <a:lnTo>
                    <a:pt x="213" y="451"/>
                  </a:lnTo>
                  <a:lnTo>
                    <a:pt x="183" y="370"/>
                  </a:lnTo>
                  <a:lnTo>
                    <a:pt x="230" y="345"/>
                  </a:lnTo>
                  <a:lnTo>
                    <a:pt x="297" y="311"/>
                  </a:lnTo>
                  <a:lnTo>
                    <a:pt x="317" y="301"/>
                  </a:lnTo>
                  <a:lnTo>
                    <a:pt x="317" y="301"/>
                  </a:lnTo>
                  <a:lnTo>
                    <a:pt x="317" y="291"/>
                  </a:lnTo>
                  <a:lnTo>
                    <a:pt x="317" y="278"/>
                  </a:lnTo>
                  <a:lnTo>
                    <a:pt x="311" y="246"/>
                  </a:lnTo>
                  <a:lnTo>
                    <a:pt x="299" y="207"/>
                  </a:lnTo>
                  <a:lnTo>
                    <a:pt x="285" y="165"/>
                  </a:lnTo>
                  <a:lnTo>
                    <a:pt x="266" y="124"/>
                  </a:lnTo>
                  <a:lnTo>
                    <a:pt x="246" y="84"/>
                  </a:lnTo>
                  <a:lnTo>
                    <a:pt x="226" y="51"/>
                  </a:lnTo>
                  <a:lnTo>
                    <a:pt x="216" y="39"/>
                  </a:lnTo>
                  <a:lnTo>
                    <a:pt x="205" y="29"/>
                  </a:lnTo>
                  <a:lnTo>
                    <a:pt x="167" y="49"/>
                  </a:lnTo>
                  <a:lnTo>
                    <a:pt x="132" y="67"/>
                  </a:lnTo>
                  <a:lnTo>
                    <a:pt x="112" y="77"/>
                  </a:lnTo>
                  <a:lnTo>
                    <a:pt x="92" y="88"/>
                  </a:lnTo>
                  <a:lnTo>
                    <a:pt x="92" y="88"/>
                  </a:lnTo>
                  <a:lnTo>
                    <a:pt x="67" y="102"/>
                  </a:lnTo>
                  <a:lnTo>
                    <a:pt x="47" y="116"/>
                  </a:lnTo>
                  <a:lnTo>
                    <a:pt x="31" y="132"/>
                  </a:lnTo>
                  <a:lnTo>
                    <a:pt x="19" y="150"/>
                  </a:lnTo>
                  <a:lnTo>
                    <a:pt x="8" y="169"/>
                  </a:lnTo>
                  <a:lnTo>
                    <a:pt x="2" y="187"/>
                  </a:lnTo>
                  <a:lnTo>
                    <a:pt x="0" y="207"/>
                  </a:lnTo>
                  <a:lnTo>
                    <a:pt x="0" y="230"/>
                  </a:lnTo>
                  <a:lnTo>
                    <a:pt x="2" y="232"/>
                  </a:lnTo>
                  <a:lnTo>
                    <a:pt x="2" y="232"/>
                  </a:lnTo>
                  <a:lnTo>
                    <a:pt x="2" y="232"/>
                  </a:lnTo>
                  <a:lnTo>
                    <a:pt x="10" y="278"/>
                  </a:lnTo>
                  <a:lnTo>
                    <a:pt x="23" y="325"/>
                  </a:lnTo>
                  <a:lnTo>
                    <a:pt x="35" y="370"/>
                  </a:lnTo>
                  <a:lnTo>
                    <a:pt x="49" y="414"/>
                  </a:lnTo>
                  <a:lnTo>
                    <a:pt x="63" y="457"/>
                  </a:lnTo>
                  <a:lnTo>
                    <a:pt x="80" y="498"/>
                  </a:lnTo>
                  <a:lnTo>
                    <a:pt x="98" y="540"/>
                  </a:lnTo>
                  <a:lnTo>
                    <a:pt x="116" y="579"/>
                  </a:lnTo>
                  <a:lnTo>
                    <a:pt x="136" y="619"/>
                  </a:lnTo>
                  <a:lnTo>
                    <a:pt x="159" y="658"/>
                  </a:lnTo>
                  <a:lnTo>
                    <a:pt x="181" y="697"/>
                  </a:lnTo>
                  <a:lnTo>
                    <a:pt x="207" y="733"/>
                  </a:lnTo>
                  <a:lnTo>
                    <a:pt x="234" y="770"/>
                  </a:lnTo>
                  <a:lnTo>
                    <a:pt x="262" y="806"/>
                  </a:lnTo>
                  <a:lnTo>
                    <a:pt x="293" y="843"/>
                  </a:lnTo>
                  <a:lnTo>
                    <a:pt x="325" y="879"/>
                  </a:lnTo>
                  <a:lnTo>
                    <a:pt x="325" y="879"/>
                  </a:lnTo>
                  <a:lnTo>
                    <a:pt x="341" y="891"/>
                  </a:lnTo>
                  <a:lnTo>
                    <a:pt x="358" y="902"/>
                  </a:lnTo>
                  <a:lnTo>
                    <a:pt x="378" y="908"/>
                  </a:lnTo>
                  <a:lnTo>
                    <a:pt x="398" y="912"/>
                  </a:lnTo>
                  <a:lnTo>
                    <a:pt x="421" y="912"/>
                  </a:lnTo>
                  <a:lnTo>
                    <a:pt x="443" y="908"/>
                  </a:lnTo>
                  <a:lnTo>
                    <a:pt x="467" y="899"/>
                  </a:lnTo>
                  <a:lnTo>
                    <a:pt x="492" y="887"/>
                  </a:lnTo>
                  <a:lnTo>
                    <a:pt x="520" y="875"/>
                  </a:lnTo>
                  <a:lnTo>
                    <a:pt x="569" y="849"/>
                  </a:lnTo>
                  <a:lnTo>
                    <a:pt x="569" y="849"/>
                  </a:lnTo>
                  <a:lnTo>
                    <a:pt x="569" y="849"/>
                  </a:lnTo>
                  <a:close/>
                  <a:moveTo>
                    <a:pt x="469" y="345"/>
                  </a:moveTo>
                  <a:lnTo>
                    <a:pt x="469" y="345"/>
                  </a:lnTo>
                  <a:lnTo>
                    <a:pt x="455" y="341"/>
                  </a:lnTo>
                  <a:lnTo>
                    <a:pt x="441" y="341"/>
                  </a:lnTo>
                  <a:lnTo>
                    <a:pt x="427" y="343"/>
                  </a:lnTo>
                  <a:lnTo>
                    <a:pt x="412" y="349"/>
                  </a:lnTo>
                  <a:lnTo>
                    <a:pt x="402" y="358"/>
                  </a:lnTo>
                  <a:lnTo>
                    <a:pt x="392" y="368"/>
                  </a:lnTo>
                  <a:lnTo>
                    <a:pt x="382" y="380"/>
                  </a:lnTo>
                  <a:lnTo>
                    <a:pt x="378" y="392"/>
                  </a:lnTo>
                  <a:lnTo>
                    <a:pt x="378" y="392"/>
                  </a:lnTo>
                  <a:lnTo>
                    <a:pt x="374" y="406"/>
                  </a:lnTo>
                  <a:lnTo>
                    <a:pt x="374" y="420"/>
                  </a:lnTo>
                  <a:lnTo>
                    <a:pt x="376" y="435"/>
                  </a:lnTo>
                  <a:lnTo>
                    <a:pt x="382" y="449"/>
                  </a:lnTo>
                  <a:lnTo>
                    <a:pt x="390" y="461"/>
                  </a:lnTo>
                  <a:lnTo>
                    <a:pt x="400" y="471"/>
                  </a:lnTo>
                  <a:lnTo>
                    <a:pt x="410" y="479"/>
                  </a:lnTo>
                  <a:lnTo>
                    <a:pt x="425" y="483"/>
                  </a:lnTo>
                  <a:lnTo>
                    <a:pt x="425" y="483"/>
                  </a:lnTo>
                  <a:lnTo>
                    <a:pt x="439" y="487"/>
                  </a:lnTo>
                  <a:lnTo>
                    <a:pt x="453" y="487"/>
                  </a:lnTo>
                  <a:lnTo>
                    <a:pt x="467" y="485"/>
                  </a:lnTo>
                  <a:lnTo>
                    <a:pt x="481" y="479"/>
                  </a:lnTo>
                  <a:lnTo>
                    <a:pt x="492" y="471"/>
                  </a:lnTo>
                  <a:lnTo>
                    <a:pt x="502" y="461"/>
                  </a:lnTo>
                  <a:lnTo>
                    <a:pt x="510" y="451"/>
                  </a:lnTo>
                  <a:lnTo>
                    <a:pt x="516" y="437"/>
                  </a:lnTo>
                  <a:lnTo>
                    <a:pt x="516" y="437"/>
                  </a:lnTo>
                  <a:lnTo>
                    <a:pt x="520" y="422"/>
                  </a:lnTo>
                  <a:lnTo>
                    <a:pt x="520" y="408"/>
                  </a:lnTo>
                  <a:lnTo>
                    <a:pt x="518" y="394"/>
                  </a:lnTo>
                  <a:lnTo>
                    <a:pt x="512" y="380"/>
                  </a:lnTo>
                  <a:lnTo>
                    <a:pt x="504" y="370"/>
                  </a:lnTo>
                  <a:lnTo>
                    <a:pt x="494" y="360"/>
                  </a:lnTo>
                  <a:lnTo>
                    <a:pt x="483" y="351"/>
                  </a:lnTo>
                  <a:lnTo>
                    <a:pt x="469" y="345"/>
                  </a:lnTo>
                  <a:lnTo>
                    <a:pt x="469" y="345"/>
                  </a:lnTo>
                  <a:close/>
                  <a:moveTo>
                    <a:pt x="534" y="0"/>
                  </a:moveTo>
                  <a:lnTo>
                    <a:pt x="510" y="75"/>
                  </a:lnTo>
                  <a:lnTo>
                    <a:pt x="510" y="75"/>
                  </a:lnTo>
                  <a:lnTo>
                    <a:pt x="532" y="81"/>
                  </a:lnTo>
                  <a:lnTo>
                    <a:pt x="555" y="90"/>
                  </a:lnTo>
                  <a:lnTo>
                    <a:pt x="555" y="90"/>
                  </a:lnTo>
                  <a:lnTo>
                    <a:pt x="581" y="102"/>
                  </a:lnTo>
                  <a:lnTo>
                    <a:pt x="607" y="114"/>
                  </a:lnTo>
                  <a:lnTo>
                    <a:pt x="632" y="130"/>
                  </a:lnTo>
                  <a:lnTo>
                    <a:pt x="656" y="148"/>
                  </a:lnTo>
                  <a:lnTo>
                    <a:pt x="678" y="169"/>
                  </a:lnTo>
                  <a:lnTo>
                    <a:pt x="697" y="191"/>
                  </a:lnTo>
                  <a:lnTo>
                    <a:pt x="715" y="215"/>
                  </a:lnTo>
                  <a:lnTo>
                    <a:pt x="731" y="240"/>
                  </a:lnTo>
                  <a:lnTo>
                    <a:pt x="731" y="240"/>
                  </a:lnTo>
                  <a:lnTo>
                    <a:pt x="745" y="268"/>
                  </a:lnTo>
                  <a:lnTo>
                    <a:pt x="758" y="297"/>
                  </a:lnTo>
                  <a:lnTo>
                    <a:pt x="766" y="327"/>
                  </a:lnTo>
                  <a:lnTo>
                    <a:pt x="772" y="358"/>
                  </a:lnTo>
                  <a:lnTo>
                    <a:pt x="776" y="390"/>
                  </a:lnTo>
                  <a:lnTo>
                    <a:pt x="776" y="425"/>
                  </a:lnTo>
                  <a:lnTo>
                    <a:pt x="772" y="459"/>
                  </a:lnTo>
                  <a:lnTo>
                    <a:pt x="766" y="496"/>
                  </a:lnTo>
                  <a:lnTo>
                    <a:pt x="766" y="496"/>
                  </a:lnTo>
                  <a:lnTo>
                    <a:pt x="760" y="526"/>
                  </a:lnTo>
                  <a:lnTo>
                    <a:pt x="749" y="558"/>
                  </a:lnTo>
                  <a:lnTo>
                    <a:pt x="825" y="581"/>
                  </a:lnTo>
                  <a:lnTo>
                    <a:pt x="825" y="581"/>
                  </a:lnTo>
                  <a:lnTo>
                    <a:pt x="835" y="546"/>
                  </a:lnTo>
                  <a:lnTo>
                    <a:pt x="843" y="512"/>
                  </a:lnTo>
                  <a:lnTo>
                    <a:pt x="843" y="512"/>
                  </a:lnTo>
                  <a:lnTo>
                    <a:pt x="851" y="469"/>
                  </a:lnTo>
                  <a:lnTo>
                    <a:pt x="853" y="427"/>
                  </a:lnTo>
                  <a:lnTo>
                    <a:pt x="853" y="384"/>
                  </a:lnTo>
                  <a:lnTo>
                    <a:pt x="849" y="345"/>
                  </a:lnTo>
                  <a:lnTo>
                    <a:pt x="841" y="307"/>
                  </a:lnTo>
                  <a:lnTo>
                    <a:pt x="831" y="270"/>
                  </a:lnTo>
                  <a:lnTo>
                    <a:pt x="816" y="236"/>
                  </a:lnTo>
                  <a:lnTo>
                    <a:pt x="800" y="201"/>
                  </a:lnTo>
                  <a:lnTo>
                    <a:pt x="800" y="201"/>
                  </a:lnTo>
                  <a:lnTo>
                    <a:pt x="780" y="171"/>
                  </a:lnTo>
                  <a:lnTo>
                    <a:pt x="758" y="140"/>
                  </a:lnTo>
                  <a:lnTo>
                    <a:pt x="733" y="114"/>
                  </a:lnTo>
                  <a:lnTo>
                    <a:pt x="707" y="90"/>
                  </a:lnTo>
                  <a:lnTo>
                    <a:pt x="678" y="67"/>
                  </a:lnTo>
                  <a:lnTo>
                    <a:pt x="648" y="47"/>
                  </a:lnTo>
                  <a:lnTo>
                    <a:pt x="615" y="31"/>
                  </a:lnTo>
                  <a:lnTo>
                    <a:pt x="583" y="17"/>
                  </a:lnTo>
                  <a:lnTo>
                    <a:pt x="583" y="17"/>
                  </a:lnTo>
                  <a:lnTo>
                    <a:pt x="559" y="8"/>
                  </a:lnTo>
                  <a:lnTo>
                    <a:pt x="534" y="0"/>
                  </a:lnTo>
                  <a:lnTo>
                    <a:pt x="534" y="0"/>
                  </a:lnTo>
                  <a:close/>
                </a:path>
              </a:pathLst>
            </a:custGeom>
            <a:solidFill>
              <a:srgbClr val="0A4776"/>
            </a:solidFill>
            <a:ln>
              <a:noFill/>
            </a:ln>
          </p:spPr>
          <p:txBody>
            <a:bodyPr vert="horz" wrap="square" lIns="91440" tIns="45720" rIns="91440" bIns="45720" numCol="1" anchor="t" anchorCtr="0" compatLnSpc="1"/>
            <a:lstStyle/>
            <a:p>
              <a:endParaRPr lang="zh-CN" altLang="en-US"/>
            </a:p>
          </p:txBody>
        </p:sp>
      </p:grpSp>
      <p:sp>
        <p:nvSpPr>
          <p:cNvPr id="4" name="WordArt 51">
            <a:extLst>
              <a:ext uri="{FF2B5EF4-FFF2-40B4-BE49-F238E27FC236}">
                <a16:creationId xmlns:a16="http://schemas.microsoft.com/office/drawing/2014/main" id="{53129BC0-EC6C-8070-8F7E-364576067430}"/>
              </a:ext>
            </a:extLst>
          </p:cNvPr>
          <p:cNvSpPr>
            <a:spLocks noChangeArrowheads="1" noChangeShapeType="1"/>
          </p:cNvSpPr>
          <p:nvPr/>
        </p:nvSpPr>
        <p:spPr bwMode="auto">
          <a:xfrm>
            <a:off x="142844" y="71414"/>
            <a:ext cx="1729499" cy="409097"/>
          </a:xfrm>
          <a:prstGeom prst="rect">
            <a:avLst/>
          </a:prstGeom>
        </p:spPr>
        <p:txBody>
          <a:bodyPr wrap="none" fromWordArt="1">
            <a:prstTxWarp prst="textPlain">
              <a:avLst>
                <a:gd name="adj" fmla="val 50000"/>
              </a:avLst>
            </a:prstTxWarp>
          </a:bodyPr>
          <a:lstStyle/>
          <a:p>
            <a:pPr algn="ctr"/>
            <a:r>
              <a:rPr lang="zh-CN" altLang="en-US" sz="3600" dirty="0">
                <a:ln w="9525">
                  <a:noFill/>
                  <a:round/>
                  <a:headEnd/>
                  <a:tailEnd/>
                </a:ln>
                <a:gradFill rotWithShape="0">
                  <a:gsLst>
                    <a:gs pos="0">
                      <a:schemeClr val="bg1"/>
                    </a:gs>
                    <a:gs pos="100000">
                      <a:srgbClr val="FFFE7D"/>
                    </a:gs>
                  </a:gsLst>
                  <a:lin ang="5400000" scaled="1"/>
                </a:gradFill>
                <a:effectLst>
                  <a:outerShdw dist="38100" dir="5400000" algn="ctr" rotWithShape="0">
                    <a:srgbClr val="4D4D4D">
                      <a:alpha val="76999"/>
                    </a:srgbClr>
                  </a:outerShdw>
                </a:effectLst>
                <a:latin typeface="华文琥珀"/>
                <a:ea typeface="华文琥珀"/>
              </a:rPr>
              <a:t>实验背景</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A_圆角矩形 111"/>
          <p:cNvSpPr/>
          <p:nvPr>
            <p:custDataLst>
              <p:tags r:id="rId1"/>
            </p:custDataLst>
          </p:nvPr>
        </p:nvSpPr>
        <p:spPr>
          <a:xfrm>
            <a:off x="1056314" y="5047577"/>
            <a:ext cx="6917515" cy="691185"/>
          </a:xfrm>
          <a:prstGeom prst="roundRect">
            <a:avLst>
              <a:gd name="adj" fmla="val 0"/>
            </a:avLst>
          </a:prstGeom>
          <a:solidFill>
            <a:srgbClr val="0A4776"/>
          </a:solidFill>
          <a:ln>
            <a:noFill/>
          </a:ln>
        </p:spPr>
        <p:style>
          <a:lnRef idx="2">
            <a:schemeClr val="accent1">
              <a:shade val="50000"/>
            </a:schemeClr>
          </a:lnRef>
          <a:fillRef idx="1">
            <a:schemeClr val="accent1"/>
          </a:fillRef>
          <a:effectRef idx="0">
            <a:schemeClr val="accent1"/>
          </a:effectRef>
          <a:fontRef idx="minor">
            <a:schemeClr val="lt1"/>
          </a:fontRef>
        </p:style>
        <p:txBody>
          <a:bodyPr lIns="134997" tIns="34289" rIns="134997" bIns="34289" rtlCol="0" anchor="ctr"/>
          <a:lstStyle/>
          <a:p>
            <a:pPr defTabSz="685165">
              <a:lnSpc>
                <a:spcPct val="130000"/>
              </a:lnSpc>
            </a:pPr>
            <a:endParaRPr lang="en-US" sz="800" dirty="0">
              <a:solidFill>
                <a:srgbClr val="FFFF00"/>
              </a:solidFill>
            </a:endParaRPr>
          </a:p>
        </p:txBody>
      </p:sp>
      <p:sp>
        <p:nvSpPr>
          <p:cNvPr id="13" name="Rectangle 3"/>
          <p:cNvSpPr txBox="1">
            <a:spLocks noChangeArrowheads="1"/>
          </p:cNvSpPr>
          <p:nvPr/>
        </p:nvSpPr>
        <p:spPr>
          <a:xfrm>
            <a:off x="0" y="1806597"/>
            <a:ext cx="8980057" cy="3369264"/>
          </a:xfrm>
          <a:prstGeom prst="rect">
            <a:avLst/>
          </a:prstGeom>
        </p:spPr>
        <p:txBody>
          <a:bodyPr/>
          <a:lstStyle/>
          <a:p>
            <a:pPr marL="257175" indent="600075">
              <a:lnSpc>
                <a:spcPct val="150000"/>
              </a:lnSpc>
              <a:spcBef>
                <a:spcPct val="20000"/>
              </a:spcBef>
              <a:defRPr/>
            </a:pPr>
            <a:r>
              <a:rPr lang="zh-CN" altLang="en-US" sz="2800" b="1" dirty="0">
                <a:latin typeface="微软雅黑" panose="020B0503020204020204" pitchFamily="34" charset="-122"/>
                <a:ea typeface="微软雅黑" panose="020B0503020204020204" pitchFamily="34" charset="-122"/>
              </a:rPr>
              <a:t>平行光照射到薄介质上，介质上下表面反射的光会在膜表面处发生干涉。介质</a:t>
            </a:r>
            <a:r>
              <a:rPr lang="zh-CN" altLang="en-US" sz="2800" b="1" dirty="0">
                <a:solidFill>
                  <a:srgbClr val="FF0000"/>
                </a:solidFill>
                <a:latin typeface="微软雅黑" panose="020B0503020204020204" pitchFamily="34" charset="-122"/>
                <a:ea typeface="微软雅黑" panose="020B0503020204020204" pitchFamily="34" charset="-122"/>
              </a:rPr>
              <a:t>厚度相等处</a:t>
            </a:r>
            <a:r>
              <a:rPr lang="zh-CN" altLang="en-US" sz="2800" b="1" dirty="0">
                <a:latin typeface="微软雅黑" panose="020B0503020204020204" pitchFamily="34" charset="-122"/>
                <a:ea typeface="微软雅黑" panose="020B0503020204020204" pitchFamily="34" charset="-122"/>
              </a:rPr>
              <a:t>的两束反射光有相同的相位差，也就具有相同的干涉光强度，这就是等厚干涉</a:t>
            </a:r>
            <a:r>
              <a:rPr lang="zh-CN" altLang="en-US" sz="2800" dirty="0">
                <a:latin typeface="微软雅黑" panose="020B0503020204020204" pitchFamily="34" charset="-122"/>
                <a:ea typeface="微软雅黑" panose="020B0503020204020204" pitchFamily="34" charset="-122"/>
              </a:rPr>
              <a:t>。</a:t>
            </a:r>
            <a:endParaRPr lang="en-US" altLang="zh-CN" sz="28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163942" y="811332"/>
            <a:ext cx="3062027" cy="523220"/>
          </a:xfrm>
          <a:prstGeom prst="rect">
            <a:avLst/>
          </a:prstGeom>
          <a:noFill/>
        </p:spPr>
        <p:txBody>
          <a:bodyPr wrap="square" rtlCol="0">
            <a:spAutoFit/>
          </a:bodyPr>
          <a:lstStyle/>
          <a:p>
            <a:r>
              <a:rPr lang="zh-CN" altLang="en-US" sz="2800" b="1" dirty="0">
                <a:solidFill>
                  <a:srgbClr val="0000FF"/>
                </a:solidFill>
                <a:latin typeface="微软雅黑" panose="020B0503020204020204" pitchFamily="34" charset="-122"/>
                <a:ea typeface="微软雅黑" panose="020B0503020204020204" pitchFamily="34" charset="-122"/>
              </a:rPr>
              <a:t>等厚干涉</a:t>
            </a:r>
          </a:p>
        </p:txBody>
      </p:sp>
      <p:sp>
        <p:nvSpPr>
          <p:cNvPr id="2" name="矩形 1"/>
          <p:cNvSpPr/>
          <p:nvPr/>
        </p:nvSpPr>
        <p:spPr>
          <a:xfrm>
            <a:off x="163942" y="5088470"/>
            <a:ext cx="8345146" cy="565604"/>
          </a:xfrm>
          <a:prstGeom prst="rect">
            <a:avLst/>
          </a:prstGeom>
        </p:spPr>
        <p:txBody>
          <a:bodyPr wrap="square">
            <a:spAutoFit/>
          </a:bodyPr>
          <a:lstStyle/>
          <a:p>
            <a:pPr marL="257175" indent="600075">
              <a:lnSpc>
                <a:spcPct val="120000"/>
              </a:lnSpc>
              <a:spcBef>
                <a:spcPct val="20000"/>
              </a:spcBef>
              <a:defRPr/>
            </a:pPr>
            <a:r>
              <a:rPr lang="zh-CN" altLang="en-US" sz="2800" b="1" dirty="0">
                <a:solidFill>
                  <a:srgbClr val="FF0000"/>
                </a:solidFill>
                <a:latin typeface="微软雅黑" panose="020B0503020204020204" pitchFamily="34" charset="-122"/>
                <a:ea typeface="微软雅黑" panose="020B0503020204020204" pitchFamily="34" charset="-122"/>
              </a:rPr>
              <a:t>干涉条纹的形状分布由厚度相等的轨迹决定 </a:t>
            </a:r>
          </a:p>
        </p:txBody>
      </p:sp>
      <p:sp>
        <p:nvSpPr>
          <p:cNvPr id="3" name="WordArt 51">
            <a:extLst>
              <a:ext uri="{FF2B5EF4-FFF2-40B4-BE49-F238E27FC236}">
                <a16:creationId xmlns:a16="http://schemas.microsoft.com/office/drawing/2014/main" id="{AEDEA973-29BE-BA0F-9C4E-170FB0B3D32E}"/>
              </a:ext>
            </a:extLst>
          </p:cNvPr>
          <p:cNvSpPr>
            <a:spLocks noChangeArrowheads="1" noChangeShapeType="1"/>
          </p:cNvSpPr>
          <p:nvPr/>
        </p:nvSpPr>
        <p:spPr bwMode="auto">
          <a:xfrm>
            <a:off x="142844" y="71414"/>
            <a:ext cx="1729499" cy="409097"/>
          </a:xfrm>
          <a:prstGeom prst="rect">
            <a:avLst/>
          </a:prstGeom>
        </p:spPr>
        <p:txBody>
          <a:bodyPr wrap="none" fromWordArt="1">
            <a:prstTxWarp prst="textPlain">
              <a:avLst>
                <a:gd name="adj" fmla="val 50000"/>
              </a:avLst>
            </a:prstTxWarp>
          </a:bodyPr>
          <a:lstStyle/>
          <a:p>
            <a:pPr algn="ctr"/>
            <a:r>
              <a:rPr lang="zh-CN" altLang="en-US" sz="3600" dirty="0">
                <a:ln w="9525">
                  <a:noFill/>
                  <a:round/>
                  <a:headEnd/>
                  <a:tailEnd/>
                </a:ln>
                <a:gradFill rotWithShape="0">
                  <a:gsLst>
                    <a:gs pos="0">
                      <a:schemeClr val="bg1"/>
                    </a:gs>
                    <a:gs pos="100000">
                      <a:srgbClr val="FFFE7D"/>
                    </a:gs>
                  </a:gsLst>
                  <a:lin ang="5400000" scaled="1"/>
                </a:gradFill>
                <a:effectLst>
                  <a:outerShdw dist="38100" dir="5400000" algn="ctr" rotWithShape="0">
                    <a:srgbClr val="4D4D4D">
                      <a:alpha val="76999"/>
                    </a:srgbClr>
                  </a:outerShdw>
                </a:effectLst>
                <a:latin typeface="华文琥珀"/>
                <a:ea typeface="华文琥珀"/>
              </a:rPr>
              <a:t>实验背景</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671101" y="1682928"/>
            <a:ext cx="7966017" cy="2308324"/>
          </a:xfrm>
          <a:prstGeom prst="rect">
            <a:avLst/>
          </a:prstGeom>
          <a:noFill/>
        </p:spPr>
        <p:txBody>
          <a:bodyPr wrap="square" rtlCol="0">
            <a:spAutoFit/>
          </a:bodyPr>
          <a:lstStyle/>
          <a:p>
            <a:pPr>
              <a:lnSpc>
                <a:spcPct val="120000"/>
              </a:lnSpc>
            </a:pPr>
            <a:r>
              <a:rPr lang="en-US" altLang="zh-CN" sz="2400" b="1" dirty="0">
                <a:latin typeface="微软雅黑" panose="020B0503020204020204" pitchFamily="34" charset="-122"/>
                <a:ea typeface="微软雅黑" panose="020B0503020204020204" pitchFamily="34" charset="-122"/>
              </a:rPr>
              <a:t>17</a:t>
            </a:r>
            <a:r>
              <a:rPr lang="zh-CN" altLang="en-US" sz="2400" b="1" dirty="0">
                <a:latin typeface="微软雅黑" panose="020B0503020204020204" pitchFamily="34" charset="-122"/>
                <a:ea typeface="微软雅黑" panose="020B0503020204020204" pitchFamily="34" charset="-122"/>
              </a:rPr>
              <a:t>世纪，牛顿在考察肥皂泡及其他薄膜干涉现象时，利用一个曲率半径大的凸透镜和一个平面玻璃相接触，用白光接触时，其接触点出现明暗相间的同心彩色圆环，用单色光照射，则出现明暗相间的单色圆环。这种光学现象最早是牛顿发现的，被称为</a:t>
            </a:r>
            <a:r>
              <a:rPr lang="zh-CN" altLang="en-US" sz="2400" b="1" dirty="0">
                <a:solidFill>
                  <a:srgbClr val="FF0000"/>
                </a:solidFill>
                <a:latin typeface="微软雅黑" panose="020B0503020204020204" pitchFamily="34" charset="-122"/>
                <a:ea typeface="微软雅黑" panose="020B0503020204020204" pitchFamily="34" charset="-122"/>
              </a:rPr>
              <a:t>“牛顿环”。</a:t>
            </a:r>
          </a:p>
        </p:txBody>
      </p:sp>
      <p:pic>
        <p:nvPicPr>
          <p:cNvPr id="45057" name="Picture 1"/>
          <p:cNvPicPr>
            <a:picLocks noChangeAspect="1" noChangeArrowheads="1"/>
          </p:cNvPicPr>
          <p:nvPr/>
        </p:nvPicPr>
        <p:blipFill>
          <a:blip r:embed="rId3" cstate="print"/>
          <a:srcRect/>
          <a:stretch>
            <a:fillRect/>
          </a:stretch>
        </p:blipFill>
        <p:spPr bwMode="auto">
          <a:xfrm>
            <a:off x="671101" y="4002026"/>
            <a:ext cx="1585913" cy="1678781"/>
          </a:xfrm>
          <a:prstGeom prst="rect">
            <a:avLst/>
          </a:prstGeom>
          <a:noFill/>
          <a:ln w="9525">
            <a:noFill/>
            <a:miter lim="800000"/>
            <a:headEnd/>
            <a:tailEnd/>
          </a:ln>
        </p:spPr>
      </p:pic>
      <p:pic>
        <p:nvPicPr>
          <p:cNvPr id="45058" name="Picture 2"/>
          <p:cNvPicPr>
            <a:picLocks noChangeAspect="1" noChangeArrowheads="1"/>
          </p:cNvPicPr>
          <p:nvPr/>
        </p:nvPicPr>
        <p:blipFill>
          <a:blip r:embed="rId4" cstate="print"/>
          <a:srcRect/>
          <a:stretch>
            <a:fillRect/>
          </a:stretch>
        </p:blipFill>
        <p:spPr bwMode="auto">
          <a:xfrm>
            <a:off x="7101428" y="4002453"/>
            <a:ext cx="1743075" cy="1693069"/>
          </a:xfrm>
          <a:prstGeom prst="rect">
            <a:avLst/>
          </a:prstGeom>
          <a:noFill/>
          <a:ln w="9525">
            <a:noFill/>
            <a:miter lim="800000"/>
            <a:headEnd/>
            <a:tailEnd/>
          </a:ln>
        </p:spPr>
      </p:pic>
      <p:pic>
        <p:nvPicPr>
          <p:cNvPr id="45059" name="Picture 3"/>
          <p:cNvPicPr>
            <a:picLocks noChangeAspect="1" noChangeArrowheads="1"/>
          </p:cNvPicPr>
          <p:nvPr/>
        </p:nvPicPr>
        <p:blipFill>
          <a:blip r:embed="rId5" cstate="print"/>
          <a:srcRect/>
          <a:stretch>
            <a:fillRect/>
          </a:stretch>
        </p:blipFill>
        <p:spPr bwMode="auto">
          <a:xfrm>
            <a:off x="4800601" y="4002025"/>
            <a:ext cx="1924089" cy="1692900"/>
          </a:xfrm>
          <a:prstGeom prst="rect">
            <a:avLst/>
          </a:prstGeom>
          <a:noFill/>
          <a:ln w="9525">
            <a:noFill/>
            <a:miter lim="800000"/>
            <a:headEnd/>
            <a:tailEnd/>
          </a:ln>
        </p:spPr>
      </p:pic>
      <p:pic>
        <p:nvPicPr>
          <p:cNvPr id="45060" name="Picture 4"/>
          <p:cNvPicPr>
            <a:picLocks noChangeAspect="1" noChangeArrowheads="1"/>
          </p:cNvPicPr>
          <p:nvPr/>
        </p:nvPicPr>
        <p:blipFill>
          <a:blip r:embed="rId6" cstate="print"/>
          <a:srcRect/>
          <a:stretch>
            <a:fillRect/>
          </a:stretch>
        </p:blipFill>
        <p:spPr bwMode="auto">
          <a:xfrm>
            <a:off x="2826569" y="4002025"/>
            <a:ext cx="1785662" cy="1692900"/>
          </a:xfrm>
          <a:prstGeom prst="rect">
            <a:avLst/>
          </a:prstGeom>
          <a:noFill/>
          <a:ln w="9525">
            <a:noFill/>
            <a:miter lim="800000"/>
            <a:headEnd/>
            <a:tailEnd/>
          </a:ln>
        </p:spPr>
      </p:pic>
      <p:sp>
        <p:nvSpPr>
          <p:cNvPr id="24" name="TextBox 23"/>
          <p:cNvSpPr txBox="1"/>
          <p:nvPr/>
        </p:nvSpPr>
        <p:spPr>
          <a:xfrm>
            <a:off x="5516421" y="5659309"/>
            <a:ext cx="1005403" cy="338554"/>
          </a:xfrm>
          <a:prstGeom prst="rect">
            <a:avLst/>
          </a:prstGeom>
          <a:noFill/>
        </p:spPr>
        <p:txBody>
          <a:bodyPr wrap="none" rtlCol="0">
            <a:spAutoFit/>
          </a:bodyPr>
          <a:lstStyle/>
          <a:p>
            <a:r>
              <a:rPr lang="zh-CN" altLang="en-US" sz="1600" b="1" dirty="0">
                <a:solidFill>
                  <a:srgbClr val="002060"/>
                </a:solidFill>
                <a:latin typeface="微软雅黑" panose="020B0503020204020204" pitchFamily="34" charset="-122"/>
                <a:ea typeface="微软雅黑" panose="020B0503020204020204" pitchFamily="34" charset="-122"/>
              </a:rPr>
              <a:t>白光照射</a:t>
            </a:r>
          </a:p>
        </p:txBody>
      </p:sp>
      <p:sp>
        <p:nvSpPr>
          <p:cNvPr id="25" name="TextBox 24"/>
          <p:cNvSpPr txBox="1"/>
          <p:nvPr/>
        </p:nvSpPr>
        <p:spPr>
          <a:xfrm>
            <a:off x="7426529" y="5659309"/>
            <a:ext cx="1210588" cy="338554"/>
          </a:xfrm>
          <a:prstGeom prst="rect">
            <a:avLst/>
          </a:prstGeom>
          <a:no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rPr>
              <a:t>单色光</a:t>
            </a:r>
            <a:r>
              <a:rPr lang="zh-CN" altLang="en-US" sz="1600" b="1" dirty="0">
                <a:solidFill>
                  <a:srgbClr val="002060"/>
                </a:solidFill>
                <a:latin typeface="微软雅黑" panose="020B0503020204020204" pitchFamily="34" charset="-122"/>
                <a:ea typeface="微软雅黑" panose="020B0503020204020204" pitchFamily="34" charset="-122"/>
              </a:rPr>
              <a:t>照射</a:t>
            </a:r>
          </a:p>
        </p:txBody>
      </p:sp>
      <p:sp>
        <p:nvSpPr>
          <p:cNvPr id="10" name="矩形 9"/>
          <p:cNvSpPr/>
          <p:nvPr/>
        </p:nvSpPr>
        <p:spPr>
          <a:xfrm>
            <a:off x="29257" y="876679"/>
            <a:ext cx="2339102" cy="523220"/>
          </a:xfrm>
          <a:prstGeom prst="rect">
            <a:avLst/>
          </a:prstGeom>
        </p:spPr>
        <p:txBody>
          <a:bodyPr wrap="none">
            <a:spAutoFit/>
          </a:bodyPr>
          <a:lstStyle/>
          <a:p>
            <a:r>
              <a:rPr lang="zh-CN" altLang="en-US" sz="2800" b="1" dirty="0">
                <a:solidFill>
                  <a:srgbClr val="0000FF"/>
                </a:solidFill>
                <a:latin typeface="微软雅黑" panose="020B0503020204020204" pitchFamily="34" charset="-122"/>
                <a:ea typeface="微软雅黑" panose="020B0503020204020204" pitchFamily="34" charset="-122"/>
              </a:rPr>
              <a:t>牛顿环的由来</a:t>
            </a:r>
            <a:endParaRPr lang="zh-CN" altLang="en-US" sz="2800" dirty="0">
              <a:solidFill>
                <a:srgbClr val="0000FF"/>
              </a:solidFill>
            </a:endParaRPr>
          </a:p>
        </p:txBody>
      </p:sp>
      <p:sp>
        <p:nvSpPr>
          <p:cNvPr id="2" name="WordArt 51">
            <a:extLst>
              <a:ext uri="{FF2B5EF4-FFF2-40B4-BE49-F238E27FC236}">
                <a16:creationId xmlns:a16="http://schemas.microsoft.com/office/drawing/2014/main" id="{BD26A667-4DC7-A4A8-9FB6-BBACE2260453}"/>
              </a:ext>
            </a:extLst>
          </p:cNvPr>
          <p:cNvSpPr>
            <a:spLocks noChangeArrowheads="1" noChangeShapeType="1"/>
          </p:cNvSpPr>
          <p:nvPr/>
        </p:nvSpPr>
        <p:spPr bwMode="auto">
          <a:xfrm>
            <a:off x="142844" y="71414"/>
            <a:ext cx="1729499" cy="409097"/>
          </a:xfrm>
          <a:prstGeom prst="rect">
            <a:avLst/>
          </a:prstGeom>
        </p:spPr>
        <p:txBody>
          <a:bodyPr wrap="none" fromWordArt="1">
            <a:prstTxWarp prst="textPlain">
              <a:avLst>
                <a:gd name="adj" fmla="val 50000"/>
              </a:avLst>
            </a:prstTxWarp>
          </a:bodyPr>
          <a:lstStyle/>
          <a:p>
            <a:pPr algn="ctr"/>
            <a:r>
              <a:rPr lang="zh-CN" altLang="en-US" sz="3600" dirty="0">
                <a:ln w="9525">
                  <a:noFill/>
                  <a:round/>
                  <a:headEnd/>
                  <a:tailEnd/>
                </a:ln>
                <a:gradFill rotWithShape="0">
                  <a:gsLst>
                    <a:gs pos="0">
                      <a:schemeClr val="bg1"/>
                    </a:gs>
                    <a:gs pos="100000">
                      <a:srgbClr val="FFFE7D"/>
                    </a:gs>
                  </a:gsLst>
                  <a:lin ang="5400000" scaled="1"/>
                </a:gradFill>
                <a:effectLst>
                  <a:outerShdw dist="38100" dir="5400000" algn="ctr" rotWithShape="0">
                    <a:srgbClr val="4D4D4D">
                      <a:alpha val="76999"/>
                    </a:srgbClr>
                  </a:outerShdw>
                </a:effectLst>
                <a:latin typeface="华文琥珀"/>
                <a:ea typeface="华文琥珀"/>
              </a:rPr>
              <a:t>实验介绍</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4"/>
          <p:cNvSpPr>
            <a:spLocks noChangeArrowheads="1"/>
          </p:cNvSpPr>
          <p:nvPr/>
        </p:nvSpPr>
        <p:spPr bwMode="auto">
          <a:xfrm>
            <a:off x="598382" y="1936730"/>
            <a:ext cx="7920372" cy="523220"/>
          </a:xfrm>
          <a:prstGeom prst="rect">
            <a:avLst/>
          </a:prstGeom>
          <a:noFill/>
          <a:ln w="9525">
            <a:noFill/>
            <a:miter lim="800000"/>
            <a:headEnd/>
            <a:tailEnd/>
          </a:ln>
        </p:spPr>
        <p:txBody>
          <a:bodyPr wrap="square">
            <a:spAutoFit/>
          </a:bodyPr>
          <a:lstStyle/>
          <a:p>
            <a:pPr algn="just"/>
            <a:r>
              <a:rPr lang="en-US" altLang="zh-CN" sz="2800" dirty="0">
                <a:latin typeface="微软雅黑" panose="020B0503020204020204" pitchFamily="34" charset="-122"/>
                <a:ea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rPr>
              <a:t>平凸透镜与平板玻璃组合成牛顿环实验样品。</a:t>
            </a:r>
          </a:p>
        </p:txBody>
      </p:sp>
      <p:grpSp>
        <p:nvGrpSpPr>
          <p:cNvPr id="18" name="Group 6"/>
          <p:cNvGrpSpPr>
            <a:grpSpLocks/>
          </p:cNvGrpSpPr>
          <p:nvPr/>
        </p:nvGrpSpPr>
        <p:grpSpPr bwMode="auto">
          <a:xfrm>
            <a:off x="1458046" y="3331706"/>
            <a:ext cx="2130029" cy="1306116"/>
            <a:chOff x="4768" y="12900"/>
            <a:chExt cx="1736" cy="1020"/>
          </a:xfrm>
        </p:grpSpPr>
        <p:sp>
          <p:nvSpPr>
            <p:cNvPr id="19" name="Oval 7"/>
            <p:cNvSpPr>
              <a:spLocks noChangeArrowheads="1"/>
            </p:cNvSpPr>
            <p:nvPr/>
          </p:nvSpPr>
          <p:spPr bwMode="auto">
            <a:xfrm>
              <a:off x="4768" y="13200"/>
              <a:ext cx="1728" cy="330"/>
            </a:xfrm>
            <a:prstGeom prst="ellipse">
              <a:avLst/>
            </a:prstGeom>
            <a:solidFill>
              <a:srgbClr val="808080"/>
            </a:solidFill>
            <a:ln w="9525">
              <a:solidFill>
                <a:srgbClr val="000000"/>
              </a:solidFill>
              <a:round/>
              <a:headEnd/>
              <a:tailEnd/>
            </a:ln>
          </p:spPr>
          <p:txBody>
            <a:bodyPr/>
            <a:lstStyle/>
            <a:p>
              <a:endParaRPr lang="zh-CN" altLang="en-US" sz="1050"/>
            </a:p>
          </p:txBody>
        </p:sp>
        <p:sp>
          <p:nvSpPr>
            <p:cNvPr id="20" name="Freeform 8"/>
            <p:cNvSpPr>
              <a:spLocks/>
            </p:cNvSpPr>
            <p:nvPr/>
          </p:nvSpPr>
          <p:spPr bwMode="auto">
            <a:xfrm>
              <a:off x="4768" y="13380"/>
              <a:ext cx="1736" cy="540"/>
            </a:xfrm>
            <a:custGeom>
              <a:avLst/>
              <a:gdLst>
                <a:gd name="T0" fmla="*/ 4 w 1740"/>
                <a:gd name="T1" fmla="*/ 6 h 540"/>
                <a:gd name="T2" fmla="*/ 104 w 1740"/>
                <a:gd name="T3" fmla="*/ 66 h 540"/>
                <a:gd name="T4" fmla="*/ 276 w 1740"/>
                <a:gd name="T5" fmla="*/ 108 h 540"/>
                <a:gd name="T6" fmla="*/ 472 w 1740"/>
                <a:gd name="T7" fmla="*/ 138 h 540"/>
                <a:gd name="T8" fmla="*/ 704 w 1740"/>
                <a:gd name="T9" fmla="*/ 150 h 540"/>
                <a:gd name="T10" fmla="*/ 960 w 1740"/>
                <a:gd name="T11" fmla="*/ 156 h 540"/>
                <a:gd name="T12" fmla="*/ 1220 w 1740"/>
                <a:gd name="T13" fmla="*/ 138 h 540"/>
                <a:gd name="T14" fmla="*/ 1476 w 1740"/>
                <a:gd name="T15" fmla="*/ 108 h 540"/>
                <a:gd name="T16" fmla="*/ 1656 w 1740"/>
                <a:gd name="T17" fmla="*/ 66 h 540"/>
                <a:gd name="T18" fmla="*/ 1708 w 1740"/>
                <a:gd name="T19" fmla="*/ 36 h 540"/>
                <a:gd name="T20" fmla="*/ 1740 w 1740"/>
                <a:gd name="T21" fmla="*/ 0 h 540"/>
                <a:gd name="T22" fmla="*/ 1740 w 1740"/>
                <a:gd name="T23" fmla="*/ 378 h 540"/>
                <a:gd name="T24" fmla="*/ 1656 w 1740"/>
                <a:gd name="T25" fmla="*/ 432 h 540"/>
                <a:gd name="T26" fmla="*/ 1528 w 1740"/>
                <a:gd name="T27" fmla="*/ 480 h 540"/>
                <a:gd name="T28" fmla="*/ 1288 w 1740"/>
                <a:gd name="T29" fmla="*/ 516 h 540"/>
                <a:gd name="T30" fmla="*/ 1084 w 1740"/>
                <a:gd name="T31" fmla="*/ 522 h 540"/>
                <a:gd name="T32" fmla="*/ 900 w 1740"/>
                <a:gd name="T33" fmla="*/ 540 h 540"/>
                <a:gd name="T34" fmla="*/ 636 w 1740"/>
                <a:gd name="T35" fmla="*/ 528 h 540"/>
                <a:gd name="T36" fmla="*/ 424 w 1740"/>
                <a:gd name="T37" fmla="*/ 510 h 540"/>
                <a:gd name="T38" fmla="*/ 184 w 1740"/>
                <a:gd name="T39" fmla="*/ 462 h 540"/>
                <a:gd name="T40" fmla="*/ 60 w 1740"/>
                <a:gd name="T41" fmla="*/ 426 h 540"/>
                <a:gd name="T42" fmla="*/ 0 w 1740"/>
                <a:gd name="T43" fmla="*/ 360 h 540"/>
                <a:gd name="T44" fmla="*/ 4 w 1740"/>
                <a:gd name="T45" fmla="*/ 6 h 54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740"/>
                <a:gd name="T70" fmla="*/ 0 h 540"/>
                <a:gd name="T71" fmla="*/ 1740 w 1740"/>
                <a:gd name="T72" fmla="*/ 540 h 54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740" h="540">
                  <a:moveTo>
                    <a:pt x="4" y="6"/>
                  </a:moveTo>
                  <a:lnTo>
                    <a:pt x="104" y="66"/>
                  </a:lnTo>
                  <a:lnTo>
                    <a:pt x="276" y="108"/>
                  </a:lnTo>
                  <a:lnTo>
                    <a:pt x="472" y="138"/>
                  </a:lnTo>
                  <a:lnTo>
                    <a:pt x="704" y="150"/>
                  </a:lnTo>
                  <a:lnTo>
                    <a:pt x="960" y="156"/>
                  </a:lnTo>
                  <a:lnTo>
                    <a:pt x="1220" y="138"/>
                  </a:lnTo>
                  <a:lnTo>
                    <a:pt x="1476" y="108"/>
                  </a:lnTo>
                  <a:lnTo>
                    <a:pt x="1656" y="66"/>
                  </a:lnTo>
                  <a:lnTo>
                    <a:pt x="1708" y="36"/>
                  </a:lnTo>
                  <a:lnTo>
                    <a:pt x="1740" y="0"/>
                  </a:lnTo>
                  <a:lnTo>
                    <a:pt x="1740" y="378"/>
                  </a:lnTo>
                  <a:lnTo>
                    <a:pt x="1656" y="432"/>
                  </a:lnTo>
                  <a:lnTo>
                    <a:pt x="1528" y="480"/>
                  </a:lnTo>
                  <a:lnTo>
                    <a:pt x="1288" y="516"/>
                  </a:lnTo>
                  <a:lnTo>
                    <a:pt x="1084" y="522"/>
                  </a:lnTo>
                  <a:lnTo>
                    <a:pt x="900" y="540"/>
                  </a:lnTo>
                  <a:lnTo>
                    <a:pt x="636" y="528"/>
                  </a:lnTo>
                  <a:lnTo>
                    <a:pt x="424" y="510"/>
                  </a:lnTo>
                  <a:lnTo>
                    <a:pt x="184" y="462"/>
                  </a:lnTo>
                  <a:lnTo>
                    <a:pt x="60" y="426"/>
                  </a:lnTo>
                  <a:lnTo>
                    <a:pt x="0" y="360"/>
                  </a:lnTo>
                  <a:lnTo>
                    <a:pt x="4" y="6"/>
                  </a:lnTo>
                  <a:close/>
                </a:path>
              </a:pathLst>
            </a:custGeom>
            <a:gradFill rotWithShape="0">
              <a:gsLst>
                <a:gs pos="0">
                  <a:srgbClr val="454545"/>
                </a:gs>
                <a:gs pos="50000">
                  <a:srgbClr val="969696"/>
                </a:gs>
                <a:gs pos="100000">
                  <a:srgbClr val="454545"/>
                </a:gs>
              </a:gsLst>
              <a:lin ang="0" scaled="1"/>
            </a:gradFill>
            <a:ln w="9525">
              <a:solidFill>
                <a:srgbClr val="000000"/>
              </a:solidFill>
              <a:round/>
              <a:headEnd/>
              <a:tailEnd/>
            </a:ln>
          </p:spPr>
          <p:txBody>
            <a:bodyPr/>
            <a:lstStyle/>
            <a:p>
              <a:endParaRPr lang="zh-CN" altLang="en-US" sz="1050"/>
            </a:p>
          </p:txBody>
        </p:sp>
        <p:sp>
          <p:nvSpPr>
            <p:cNvPr id="21" name="Oval 9"/>
            <p:cNvSpPr>
              <a:spLocks noChangeArrowheads="1"/>
            </p:cNvSpPr>
            <p:nvPr/>
          </p:nvSpPr>
          <p:spPr bwMode="auto">
            <a:xfrm>
              <a:off x="5064" y="13296"/>
              <a:ext cx="1160" cy="120"/>
            </a:xfrm>
            <a:prstGeom prst="ellipse">
              <a:avLst/>
            </a:prstGeom>
            <a:solidFill>
              <a:srgbClr val="CCFFFF"/>
            </a:solidFill>
            <a:ln w="9525">
              <a:solidFill>
                <a:srgbClr val="000000"/>
              </a:solidFill>
              <a:round/>
              <a:headEnd/>
              <a:tailEnd/>
            </a:ln>
          </p:spPr>
          <p:txBody>
            <a:bodyPr/>
            <a:lstStyle/>
            <a:p>
              <a:endParaRPr lang="zh-CN" altLang="en-US" sz="1050"/>
            </a:p>
          </p:txBody>
        </p:sp>
        <p:sp>
          <p:nvSpPr>
            <p:cNvPr id="22" name="Freeform 10" descr="浅色竖线"/>
            <p:cNvSpPr>
              <a:spLocks/>
            </p:cNvSpPr>
            <p:nvPr/>
          </p:nvSpPr>
          <p:spPr bwMode="auto">
            <a:xfrm>
              <a:off x="4880" y="12990"/>
              <a:ext cx="152" cy="348"/>
            </a:xfrm>
            <a:custGeom>
              <a:avLst/>
              <a:gdLst>
                <a:gd name="T0" fmla="*/ 0 w 121"/>
                <a:gd name="T1" fmla="*/ 397 h 397"/>
                <a:gd name="T2" fmla="*/ 1 w 121"/>
                <a:gd name="T3" fmla="*/ 19 h 397"/>
                <a:gd name="T4" fmla="*/ 53 w 121"/>
                <a:gd name="T5" fmla="*/ 0 h 397"/>
                <a:gd name="T6" fmla="*/ 113 w 121"/>
                <a:gd name="T7" fmla="*/ 22 h 397"/>
                <a:gd name="T8" fmla="*/ 121 w 121"/>
                <a:gd name="T9" fmla="*/ 397 h 397"/>
                <a:gd name="T10" fmla="*/ 0 w 121"/>
                <a:gd name="T11" fmla="*/ 397 h 397"/>
                <a:gd name="T12" fmla="*/ 0 60000 65536"/>
                <a:gd name="T13" fmla="*/ 0 60000 65536"/>
                <a:gd name="T14" fmla="*/ 0 60000 65536"/>
                <a:gd name="T15" fmla="*/ 0 60000 65536"/>
                <a:gd name="T16" fmla="*/ 0 60000 65536"/>
                <a:gd name="T17" fmla="*/ 0 60000 65536"/>
                <a:gd name="T18" fmla="*/ 0 w 121"/>
                <a:gd name="T19" fmla="*/ 0 h 397"/>
                <a:gd name="T20" fmla="*/ 121 w 121"/>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121" h="397">
                  <a:moveTo>
                    <a:pt x="0" y="397"/>
                  </a:moveTo>
                  <a:lnTo>
                    <a:pt x="1" y="19"/>
                  </a:lnTo>
                  <a:lnTo>
                    <a:pt x="53" y="0"/>
                  </a:lnTo>
                  <a:lnTo>
                    <a:pt x="113" y="22"/>
                  </a:lnTo>
                  <a:lnTo>
                    <a:pt x="121" y="397"/>
                  </a:lnTo>
                  <a:lnTo>
                    <a:pt x="0" y="397"/>
                  </a:lnTo>
                  <a:close/>
                </a:path>
              </a:pathLst>
            </a:custGeom>
            <a:pattFill prst="ltVert">
              <a:fgClr>
                <a:srgbClr val="000000"/>
              </a:fgClr>
              <a:bgClr>
                <a:srgbClr val="FFFFFF"/>
              </a:bgClr>
            </a:pattFill>
            <a:ln w="9525">
              <a:solidFill>
                <a:srgbClr val="000000"/>
              </a:solidFill>
              <a:round/>
              <a:headEnd/>
              <a:tailEnd/>
            </a:ln>
          </p:spPr>
          <p:txBody>
            <a:bodyPr/>
            <a:lstStyle/>
            <a:p>
              <a:endParaRPr lang="zh-CN" altLang="en-US" sz="1050"/>
            </a:p>
          </p:txBody>
        </p:sp>
        <p:sp>
          <p:nvSpPr>
            <p:cNvPr id="26" name="Freeform 11" descr="浅色竖线"/>
            <p:cNvSpPr>
              <a:spLocks/>
            </p:cNvSpPr>
            <p:nvPr/>
          </p:nvSpPr>
          <p:spPr bwMode="auto">
            <a:xfrm>
              <a:off x="5788" y="13128"/>
              <a:ext cx="152" cy="348"/>
            </a:xfrm>
            <a:custGeom>
              <a:avLst/>
              <a:gdLst>
                <a:gd name="T0" fmla="*/ 0 w 121"/>
                <a:gd name="T1" fmla="*/ 397 h 397"/>
                <a:gd name="T2" fmla="*/ 1 w 121"/>
                <a:gd name="T3" fmla="*/ 19 h 397"/>
                <a:gd name="T4" fmla="*/ 53 w 121"/>
                <a:gd name="T5" fmla="*/ 0 h 397"/>
                <a:gd name="T6" fmla="*/ 113 w 121"/>
                <a:gd name="T7" fmla="*/ 22 h 397"/>
                <a:gd name="T8" fmla="*/ 121 w 121"/>
                <a:gd name="T9" fmla="*/ 397 h 397"/>
                <a:gd name="T10" fmla="*/ 0 w 121"/>
                <a:gd name="T11" fmla="*/ 397 h 397"/>
                <a:gd name="T12" fmla="*/ 0 60000 65536"/>
                <a:gd name="T13" fmla="*/ 0 60000 65536"/>
                <a:gd name="T14" fmla="*/ 0 60000 65536"/>
                <a:gd name="T15" fmla="*/ 0 60000 65536"/>
                <a:gd name="T16" fmla="*/ 0 60000 65536"/>
                <a:gd name="T17" fmla="*/ 0 60000 65536"/>
                <a:gd name="T18" fmla="*/ 0 w 121"/>
                <a:gd name="T19" fmla="*/ 0 h 397"/>
                <a:gd name="T20" fmla="*/ 121 w 121"/>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121" h="397">
                  <a:moveTo>
                    <a:pt x="0" y="397"/>
                  </a:moveTo>
                  <a:lnTo>
                    <a:pt x="1" y="19"/>
                  </a:lnTo>
                  <a:lnTo>
                    <a:pt x="53" y="0"/>
                  </a:lnTo>
                  <a:lnTo>
                    <a:pt x="113" y="22"/>
                  </a:lnTo>
                  <a:lnTo>
                    <a:pt x="121" y="397"/>
                  </a:lnTo>
                  <a:lnTo>
                    <a:pt x="0" y="397"/>
                  </a:lnTo>
                  <a:close/>
                </a:path>
              </a:pathLst>
            </a:custGeom>
            <a:pattFill prst="ltVert">
              <a:fgClr>
                <a:srgbClr val="000000"/>
              </a:fgClr>
              <a:bgClr>
                <a:srgbClr val="FFFFFF"/>
              </a:bgClr>
            </a:pattFill>
            <a:ln w="9525">
              <a:solidFill>
                <a:srgbClr val="000000"/>
              </a:solidFill>
              <a:round/>
              <a:headEnd/>
              <a:tailEnd/>
            </a:ln>
          </p:spPr>
          <p:txBody>
            <a:bodyPr/>
            <a:lstStyle/>
            <a:p>
              <a:endParaRPr lang="zh-CN" altLang="en-US" sz="1050"/>
            </a:p>
          </p:txBody>
        </p:sp>
        <p:sp>
          <p:nvSpPr>
            <p:cNvPr id="27" name="Freeform 12" descr="浅色竖线"/>
            <p:cNvSpPr>
              <a:spLocks/>
            </p:cNvSpPr>
            <p:nvPr/>
          </p:nvSpPr>
          <p:spPr bwMode="auto">
            <a:xfrm>
              <a:off x="5988" y="12900"/>
              <a:ext cx="152" cy="348"/>
            </a:xfrm>
            <a:custGeom>
              <a:avLst/>
              <a:gdLst>
                <a:gd name="T0" fmla="*/ 0 w 121"/>
                <a:gd name="T1" fmla="*/ 397 h 397"/>
                <a:gd name="T2" fmla="*/ 1 w 121"/>
                <a:gd name="T3" fmla="*/ 19 h 397"/>
                <a:gd name="T4" fmla="*/ 53 w 121"/>
                <a:gd name="T5" fmla="*/ 0 h 397"/>
                <a:gd name="T6" fmla="*/ 113 w 121"/>
                <a:gd name="T7" fmla="*/ 22 h 397"/>
                <a:gd name="T8" fmla="*/ 121 w 121"/>
                <a:gd name="T9" fmla="*/ 397 h 397"/>
                <a:gd name="T10" fmla="*/ 0 w 121"/>
                <a:gd name="T11" fmla="*/ 397 h 397"/>
                <a:gd name="T12" fmla="*/ 0 60000 65536"/>
                <a:gd name="T13" fmla="*/ 0 60000 65536"/>
                <a:gd name="T14" fmla="*/ 0 60000 65536"/>
                <a:gd name="T15" fmla="*/ 0 60000 65536"/>
                <a:gd name="T16" fmla="*/ 0 60000 65536"/>
                <a:gd name="T17" fmla="*/ 0 60000 65536"/>
                <a:gd name="T18" fmla="*/ 0 w 121"/>
                <a:gd name="T19" fmla="*/ 0 h 397"/>
                <a:gd name="T20" fmla="*/ 121 w 121"/>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121" h="397">
                  <a:moveTo>
                    <a:pt x="0" y="397"/>
                  </a:moveTo>
                  <a:lnTo>
                    <a:pt x="1" y="19"/>
                  </a:lnTo>
                  <a:lnTo>
                    <a:pt x="53" y="0"/>
                  </a:lnTo>
                  <a:lnTo>
                    <a:pt x="113" y="22"/>
                  </a:lnTo>
                  <a:lnTo>
                    <a:pt x="121" y="397"/>
                  </a:lnTo>
                  <a:lnTo>
                    <a:pt x="0" y="397"/>
                  </a:lnTo>
                  <a:close/>
                </a:path>
              </a:pathLst>
            </a:custGeom>
            <a:pattFill prst="ltVert">
              <a:fgClr>
                <a:srgbClr val="000000"/>
              </a:fgClr>
              <a:bgClr>
                <a:srgbClr val="FFFFFF"/>
              </a:bgClr>
            </a:pattFill>
            <a:ln w="9525">
              <a:solidFill>
                <a:srgbClr val="000000"/>
              </a:solidFill>
              <a:round/>
              <a:headEnd/>
              <a:tailEnd/>
            </a:ln>
          </p:spPr>
          <p:txBody>
            <a:bodyPr/>
            <a:lstStyle/>
            <a:p>
              <a:endParaRPr lang="zh-CN" altLang="en-US" sz="1050"/>
            </a:p>
          </p:txBody>
        </p:sp>
      </p:grpSp>
      <p:grpSp>
        <p:nvGrpSpPr>
          <p:cNvPr id="28" name="Group 49"/>
          <p:cNvGrpSpPr>
            <a:grpSpLocks/>
          </p:cNvGrpSpPr>
          <p:nvPr/>
        </p:nvGrpSpPr>
        <p:grpSpPr bwMode="auto">
          <a:xfrm>
            <a:off x="4698929" y="2988211"/>
            <a:ext cx="3158729" cy="2163366"/>
            <a:chOff x="2928" y="1488"/>
            <a:chExt cx="2653" cy="1817"/>
          </a:xfrm>
        </p:grpSpPr>
        <p:sp>
          <p:nvSpPr>
            <p:cNvPr id="29" name="Rectangle 41"/>
            <p:cNvSpPr>
              <a:spLocks noChangeArrowheads="1"/>
            </p:cNvSpPr>
            <p:nvPr/>
          </p:nvSpPr>
          <p:spPr bwMode="auto">
            <a:xfrm>
              <a:off x="2928" y="2292"/>
              <a:ext cx="1473" cy="566"/>
            </a:xfrm>
            <a:prstGeom prst="rect">
              <a:avLst/>
            </a:prstGeom>
            <a:solidFill>
              <a:srgbClr val="969696"/>
            </a:solidFill>
            <a:ln w="9525">
              <a:solidFill>
                <a:schemeClr val="folHlink"/>
              </a:solidFill>
              <a:miter lim="800000"/>
              <a:headEnd/>
              <a:tailEnd/>
            </a:ln>
          </p:spPr>
          <p:txBody>
            <a:bodyPr/>
            <a:lstStyle/>
            <a:p>
              <a:endParaRPr lang="zh-CN" altLang="en-US" sz="2800">
                <a:latin typeface="微软雅黑" panose="020B0503020204020204" pitchFamily="34" charset="-122"/>
                <a:ea typeface="微软雅黑" panose="020B0503020204020204" pitchFamily="34" charset="-122"/>
              </a:endParaRPr>
            </a:p>
          </p:txBody>
        </p:sp>
        <p:sp>
          <p:nvSpPr>
            <p:cNvPr id="30" name="Rectangle 42"/>
            <p:cNvSpPr>
              <a:spLocks noChangeArrowheads="1"/>
            </p:cNvSpPr>
            <p:nvPr/>
          </p:nvSpPr>
          <p:spPr bwMode="auto">
            <a:xfrm>
              <a:off x="3302" y="2298"/>
              <a:ext cx="752" cy="54"/>
            </a:xfrm>
            <a:prstGeom prst="rect">
              <a:avLst/>
            </a:prstGeom>
            <a:noFill/>
            <a:ln w="9525">
              <a:solidFill>
                <a:schemeClr val="folHlink"/>
              </a:solidFill>
              <a:miter lim="800000"/>
              <a:headEnd/>
              <a:tailEnd/>
            </a:ln>
          </p:spPr>
          <p:txBody>
            <a:bodyPr/>
            <a:lstStyle/>
            <a:p>
              <a:endParaRPr lang="zh-CN" altLang="en-US" sz="2800">
                <a:latin typeface="微软雅黑" panose="020B0503020204020204" pitchFamily="34" charset="-122"/>
                <a:ea typeface="微软雅黑" panose="020B0503020204020204" pitchFamily="34" charset="-122"/>
              </a:endParaRPr>
            </a:p>
          </p:txBody>
        </p:sp>
        <p:sp>
          <p:nvSpPr>
            <p:cNvPr id="31" name="Rectangle 43"/>
            <p:cNvSpPr>
              <a:spLocks noChangeArrowheads="1"/>
            </p:cNvSpPr>
            <p:nvPr/>
          </p:nvSpPr>
          <p:spPr bwMode="auto">
            <a:xfrm>
              <a:off x="3042" y="2679"/>
              <a:ext cx="1257" cy="179"/>
            </a:xfrm>
            <a:prstGeom prst="rect">
              <a:avLst/>
            </a:prstGeom>
            <a:noFill/>
            <a:ln w="9525">
              <a:solidFill>
                <a:schemeClr val="folHlink"/>
              </a:solidFill>
              <a:miter lim="800000"/>
              <a:headEnd/>
              <a:tailEnd/>
            </a:ln>
          </p:spPr>
          <p:txBody>
            <a:bodyPr/>
            <a:lstStyle/>
            <a:p>
              <a:endParaRPr lang="zh-CN" altLang="en-US" sz="2800">
                <a:latin typeface="微软雅黑" panose="020B0503020204020204" pitchFamily="34" charset="-122"/>
                <a:ea typeface="微软雅黑" panose="020B0503020204020204" pitchFamily="34" charset="-122"/>
              </a:endParaRPr>
            </a:p>
          </p:txBody>
        </p:sp>
        <p:sp>
          <p:nvSpPr>
            <p:cNvPr id="32" name="Rectangle 44"/>
            <p:cNvSpPr>
              <a:spLocks noChangeArrowheads="1"/>
            </p:cNvSpPr>
            <p:nvPr/>
          </p:nvSpPr>
          <p:spPr bwMode="auto">
            <a:xfrm>
              <a:off x="3045" y="2471"/>
              <a:ext cx="1257" cy="197"/>
            </a:xfrm>
            <a:prstGeom prst="rect">
              <a:avLst/>
            </a:prstGeom>
            <a:solidFill>
              <a:schemeClr val="folHlink"/>
            </a:solidFill>
            <a:ln w="9525">
              <a:solidFill>
                <a:schemeClr val="folHlink"/>
              </a:solidFill>
              <a:miter lim="800000"/>
              <a:headEnd/>
              <a:tailEnd/>
            </a:ln>
          </p:spPr>
          <p:txBody>
            <a:bodyPr/>
            <a:lstStyle/>
            <a:p>
              <a:endParaRPr lang="zh-CN" altLang="en-US" sz="2800">
                <a:latin typeface="微软雅黑" panose="020B0503020204020204" pitchFamily="34" charset="-122"/>
                <a:ea typeface="微软雅黑" panose="020B0503020204020204" pitchFamily="34" charset="-122"/>
              </a:endParaRPr>
            </a:p>
          </p:txBody>
        </p:sp>
        <p:sp>
          <p:nvSpPr>
            <p:cNvPr id="33" name="Rectangle 45"/>
            <p:cNvSpPr>
              <a:spLocks noChangeArrowheads="1"/>
            </p:cNvSpPr>
            <p:nvPr/>
          </p:nvSpPr>
          <p:spPr bwMode="auto">
            <a:xfrm>
              <a:off x="3233" y="2566"/>
              <a:ext cx="899" cy="197"/>
            </a:xfrm>
            <a:prstGeom prst="rect">
              <a:avLst/>
            </a:prstGeom>
            <a:solidFill>
              <a:srgbClr val="66FFFF"/>
            </a:solidFill>
            <a:ln w="9525">
              <a:solidFill>
                <a:schemeClr val="bg1"/>
              </a:solidFill>
              <a:miter lim="800000"/>
              <a:headEnd/>
              <a:tailEnd/>
            </a:ln>
          </p:spPr>
          <p:txBody>
            <a:bodyPr/>
            <a:lstStyle/>
            <a:p>
              <a:endParaRPr lang="zh-CN" altLang="en-US" sz="2800">
                <a:latin typeface="微软雅黑" panose="020B0503020204020204" pitchFamily="34" charset="-122"/>
                <a:ea typeface="微软雅黑" panose="020B0503020204020204" pitchFamily="34" charset="-122"/>
              </a:endParaRPr>
            </a:p>
          </p:txBody>
        </p:sp>
        <p:sp>
          <p:nvSpPr>
            <p:cNvPr id="34" name="Freeform 46"/>
            <p:cNvSpPr>
              <a:spLocks/>
            </p:cNvSpPr>
            <p:nvPr/>
          </p:nvSpPr>
          <p:spPr bwMode="auto">
            <a:xfrm>
              <a:off x="3233" y="2358"/>
              <a:ext cx="893" cy="208"/>
            </a:xfrm>
            <a:custGeom>
              <a:avLst/>
              <a:gdLst>
                <a:gd name="T0" fmla="*/ 8 w 1192"/>
                <a:gd name="T1" fmla="*/ 168 h 210"/>
                <a:gd name="T2" fmla="*/ 148 w 1192"/>
                <a:gd name="T3" fmla="*/ 186 h 210"/>
                <a:gd name="T4" fmla="*/ 336 w 1192"/>
                <a:gd name="T5" fmla="*/ 198 h 210"/>
                <a:gd name="T6" fmla="*/ 552 w 1192"/>
                <a:gd name="T7" fmla="*/ 198 h 210"/>
                <a:gd name="T8" fmla="*/ 712 w 1192"/>
                <a:gd name="T9" fmla="*/ 210 h 210"/>
                <a:gd name="T10" fmla="*/ 944 w 1192"/>
                <a:gd name="T11" fmla="*/ 198 h 210"/>
                <a:gd name="T12" fmla="*/ 1080 w 1192"/>
                <a:gd name="T13" fmla="*/ 180 h 210"/>
                <a:gd name="T14" fmla="*/ 1192 w 1192"/>
                <a:gd name="T15" fmla="*/ 156 h 210"/>
                <a:gd name="T16" fmla="*/ 1192 w 1192"/>
                <a:gd name="T17" fmla="*/ 0 h 210"/>
                <a:gd name="T18" fmla="*/ 0 w 1192"/>
                <a:gd name="T19" fmla="*/ 0 h 210"/>
                <a:gd name="T20" fmla="*/ 8 w 1192"/>
                <a:gd name="T21" fmla="*/ 168 h 2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92"/>
                <a:gd name="T34" fmla="*/ 0 h 210"/>
                <a:gd name="T35" fmla="*/ 1192 w 1192"/>
                <a:gd name="T36" fmla="*/ 210 h 21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92" h="210">
                  <a:moveTo>
                    <a:pt x="8" y="168"/>
                  </a:moveTo>
                  <a:lnTo>
                    <a:pt x="148" y="186"/>
                  </a:lnTo>
                  <a:lnTo>
                    <a:pt x="336" y="198"/>
                  </a:lnTo>
                  <a:lnTo>
                    <a:pt x="552" y="198"/>
                  </a:lnTo>
                  <a:lnTo>
                    <a:pt x="712" y="210"/>
                  </a:lnTo>
                  <a:lnTo>
                    <a:pt x="944" y="198"/>
                  </a:lnTo>
                  <a:lnTo>
                    <a:pt x="1080" y="180"/>
                  </a:lnTo>
                  <a:lnTo>
                    <a:pt x="1192" y="156"/>
                  </a:lnTo>
                  <a:lnTo>
                    <a:pt x="1192" y="0"/>
                  </a:lnTo>
                  <a:lnTo>
                    <a:pt x="0" y="0"/>
                  </a:lnTo>
                  <a:lnTo>
                    <a:pt x="8" y="168"/>
                  </a:lnTo>
                  <a:close/>
                </a:path>
              </a:pathLst>
            </a:custGeom>
            <a:solidFill>
              <a:srgbClr val="66FFFF"/>
            </a:solidFill>
            <a:ln w="9525">
              <a:solidFill>
                <a:schemeClr val="bg2"/>
              </a:solidFill>
              <a:round/>
              <a:headEnd/>
              <a:tailEnd/>
            </a:ln>
          </p:spPr>
          <p:txBody>
            <a:bodyPr/>
            <a:lstStyle/>
            <a:p>
              <a:endParaRPr lang="zh-CN" altLang="en-US" sz="2800">
                <a:latin typeface="微软雅黑" panose="020B0503020204020204" pitchFamily="34" charset="-122"/>
                <a:ea typeface="微软雅黑" panose="020B0503020204020204" pitchFamily="34" charset="-122"/>
              </a:endParaRPr>
            </a:p>
          </p:txBody>
        </p:sp>
        <p:sp>
          <p:nvSpPr>
            <p:cNvPr id="35" name="AutoShape 47"/>
            <p:cNvSpPr>
              <a:spLocks/>
            </p:cNvSpPr>
            <p:nvPr/>
          </p:nvSpPr>
          <p:spPr bwMode="auto">
            <a:xfrm>
              <a:off x="4050" y="1488"/>
              <a:ext cx="1100" cy="584"/>
            </a:xfrm>
            <a:prstGeom prst="callout2">
              <a:avLst>
                <a:gd name="adj1" fmla="val 30611"/>
                <a:gd name="adj2" fmla="val -8167"/>
                <a:gd name="adj3" fmla="val 30611"/>
                <a:gd name="adj4" fmla="val -23894"/>
                <a:gd name="adj5" fmla="val 171431"/>
                <a:gd name="adj6" fmla="val -39824"/>
              </a:avLst>
            </a:prstGeom>
            <a:noFill/>
            <a:ln w="9525">
              <a:solidFill>
                <a:schemeClr val="folHlink"/>
              </a:solidFill>
              <a:miter lim="800000"/>
              <a:headEnd/>
              <a:tailEnd/>
            </a:ln>
          </p:spPr>
          <p:txBody>
            <a:bodyPr lIns="0" tIns="0" rIns="0" bIns="0"/>
            <a:lstStyle/>
            <a:p>
              <a:pPr algn="just" eaLnBrk="0" hangingPunct="0"/>
              <a:r>
                <a:rPr lang="zh-CN" altLang="en-US" sz="2400" b="1" dirty="0">
                  <a:latin typeface="微软雅黑" panose="020B0503020204020204" pitchFamily="34" charset="-122"/>
                  <a:ea typeface="微软雅黑" panose="020B0503020204020204" pitchFamily="34" charset="-122"/>
                </a:rPr>
                <a:t>平凸透镜</a:t>
              </a:r>
            </a:p>
          </p:txBody>
        </p:sp>
        <p:sp>
          <p:nvSpPr>
            <p:cNvPr id="36" name="AutoShape 48"/>
            <p:cNvSpPr>
              <a:spLocks/>
            </p:cNvSpPr>
            <p:nvPr/>
          </p:nvSpPr>
          <p:spPr bwMode="auto">
            <a:xfrm>
              <a:off x="4457" y="2846"/>
              <a:ext cx="1124" cy="459"/>
            </a:xfrm>
            <a:prstGeom prst="callout2">
              <a:avLst>
                <a:gd name="adj1" fmla="val 38963"/>
                <a:gd name="adj2" fmla="val -7991"/>
                <a:gd name="adj3" fmla="val 38963"/>
                <a:gd name="adj4" fmla="val -35218"/>
                <a:gd name="adj5" fmla="val -29222"/>
                <a:gd name="adj6" fmla="val -62917"/>
              </a:avLst>
            </a:prstGeom>
            <a:noFill/>
            <a:ln w="9525">
              <a:solidFill>
                <a:schemeClr val="folHlink"/>
              </a:solidFill>
              <a:miter lim="800000"/>
              <a:headEnd/>
              <a:tailEnd/>
            </a:ln>
          </p:spPr>
          <p:txBody>
            <a:bodyPr lIns="0" tIns="0" rIns="0" bIns="0"/>
            <a:lstStyle/>
            <a:p>
              <a:pPr algn="just" eaLnBrk="0" hangingPunct="0"/>
              <a:r>
                <a:rPr lang="zh-CN" altLang="en-US" sz="2400" b="1">
                  <a:latin typeface="微软雅黑" panose="020B0503020204020204" pitchFamily="34" charset="-122"/>
                  <a:ea typeface="微软雅黑" panose="020B0503020204020204" pitchFamily="34" charset="-122"/>
                </a:rPr>
                <a:t>平板玻璃</a:t>
              </a:r>
            </a:p>
          </p:txBody>
        </p:sp>
      </p:grpSp>
      <p:sp>
        <p:nvSpPr>
          <p:cNvPr id="24" name="矩形 23"/>
          <p:cNvSpPr/>
          <p:nvPr/>
        </p:nvSpPr>
        <p:spPr>
          <a:xfrm>
            <a:off x="0" y="846855"/>
            <a:ext cx="1980029" cy="523220"/>
          </a:xfrm>
          <a:prstGeom prst="rect">
            <a:avLst/>
          </a:prstGeom>
        </p:spPr>
        <p:txBody>
          <a:bodyPr wrap="none">
            <a:spAutoFit/>
          </a:bodyPr>
          <a:lstStyle/>
          <a:p>
            <a:r>
              <a:rPr lang="zh-CN" altLang="en-US" sz="2800" b="1" dirty="0">
                <a:solidFill>
                  <a:srgbClr val="0000FF"/>
                </a:solidFill>
                <a:latin typeface="微软雅黑" panose="020B0503020204020204" pitchFamily="34" charset="-122"/>
                <a:ea typeface="微软雅黑" panose="020B0503020204020204" pitchFamily="34" charset="-122"/>
              </a:rPr>
              <a:t>牛顿环模型</a:t>
            </a:r>
            <a:endParaRPr lang="zh-CN" altLang="en-US" sz="2800" dirty="0">
              <a:solidFill>
                <a:srgbClr val="0000FF"/>
              </a:solidFill>
            </a:endParaRPr>
          </a:p>
        </p:txBody>
      </p:sp>
      <p:sp>
        <p:nvSpPr>
          <p:cNvPr id="2" name="WordArt 51">
            <a:extLst>
              <a:ext uri="{FF2B5EF4-FFF2-40B4-BE49-F238E27FC236}">
                <a16:creationId xmlns:a16="http://schemas.microsoft.com/office/drawing/2014/main" id="{1ED01B08-F55F-322D-1C18-6E9185F5EF9B}"/>
              </a:ext>
            </a:extLst>
          </p:cNvPr>
          <p:cNvSpPr>
            <a:spLocks noChangeArrowheads="1" noChangeShapeType="1"/>
          </p:cNvSpPr>
          <p:nvPr/>
        </p:nvSpPr>
        <p:spPr bwMode="auto">
          <a:xfrm>
            <a:off x="142844" y="71414"/>
            <a:ext cx="1729499" cy="409097"/>
          </a:xfrm>
          <a:prstGeom prst="rect">
            <a:avLst/>
          </a:prstGeom>
        </p:spPr>
        <p:txBody>
          <a:bodyPr wrap="none" fromWordArt="1">
            <a:prstTxWarp prst="textPlain">
              <a:avLst>
                <a:gd name="adj" fmla="val 50000"/>
              </a:avLst>
            </a:prstTxWarp>
          </a:bodyPr>
          <a:lstStyle/>
          <a:p>
            <a:pPr algn="ctr"/>
            <a:r>
              <a:rPr lang="zh-CN" altLang="en-US" sz="3600" dirty="0">
                <a:ln w="9525">
                  <a:noFill/>
                  <a:round/>
                  <a:headEnd/>
                  <a:tailEnd/>
                </a:ln>
                <a:gradFill rotWithShape="0">
                  <a:gsLst>
                    <a:gs pos="0">
                      <a:schemeClr val="bg1"/>
                    </a:gs>
                    <a:gs pos="100000">
                      <a:srgbClr val="FFFE7D"/>
                    </a:gs>
                  </a:gsLst>
                  <a:lin ang="5400000" scaled="1"/>
                </a:gradFill>
                <a:effectLst>
                  <a:outerShdw dist="38100" dir="5400000" algn="ctr" rotWithShape="0">
                    <a:srgbClr val="4D4D4D">
                      <a:alpha val="76999"/>
                    </a:srgbClr>
                  </a:outerShdw>
                </a:effectLst>
                <a:latin typeface="华文琥珀"/>
                <a:ea typeface="华文琥珀"/>
              </a:rPr>
              <a:t>实验介绍</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678331" y="5264647"/>
            <a:ext cx="3714750" cy="461665"/>
          </a:xfrm>
          <a:prstGeom prst="rect">
            <a:avLst/>
          </a:prstGeom>
          <a:noFill/>
          <a:ln w="9525">
            <a:noFill/>
            <a:miter lim="800000"/>
            <a:headEnd/>
            <a:tailEnd/>
          </a:ln>
          <a:effectLst/>
        </p:spPr>
        <p:txBody>
          <a:bodyPr>
            <a:spAutoFit/>
          </a:bodyPr>
          <a:lstStyle/>
          <a:p>
            <a:pPr algn="ctr">
              <a:spcBef>
                <a:spcPct val="50000"/>
              </a:spcBef>
            </a:pPr>
            <a:r>
              <a:rPr lang="en-US" altLang="zh-CN" sz="2000" b="1" dirty="0">
                <a:solidFill>
                  <a:srgbClr val="002060"/>
                </a:solidFill>
                <a:latin typeface="Times New Roman" pitchFamily="18" charset="0"/>
                <a:ea typeface="黑体" pitchFamily="2" charset="-122"/>
              </a:rPr>
              <a:t>     </a:t>
            </a:r>
            <a:r>
              <a:rPr lang="zh-CN" altLang="en-US" sz="2400" b="1" dirty="0">
                <a:solidFill>
                  <a:srgbClr val="002060"/>
                </a:solidFill>
                <a:latin typeface="微软雅黑" panose="020B0503020204020204" pitchFamily="34" charset="-122"/>
                <a:ea typeface="微软雅黑" panose="020B0503020204020204" pitchFamily="34" charset="-122"/>
              </a:rPr>
              <a:t>牛顿环实验装置</a:t>
            </a:r>
          </a:p>
        </p:txBody>
      </p:sp>
      <p:sp>
        <p:nvSpPr>
          <p:cNvPr id="39939" name="Text Box 3"/>
          <p:cNvSpPr txBox="1">
            <a:spLocks noChangeArrowheads="1"/>
          </p:cNvSpPr>
          <p:nvPr/>
        </p:nvSpPr>
        <p:spPr bwMode="auto">
          <a:xfrm>
            <a:off x="5178371" y="1849935"/>
            <a:ext cx="3602060" cy="3323987"/>
          </a:xfrm>
          <a:prstGeom prst="rect">
            <a:avLst/>
          </a:prstGeom>
          <a:noFill/>
          <a:ln w="9525">
            <a:noFill/>
            <a:miter lim="800000"/>
            <a:headEnd/>
            <a:tailEnd/>
          </a:ln>
          <a:effectLst/>
        </p:spPr>
        <p:txBody>
          <a:bodyPr wrap="square">
            <a:spAutoFit/>
          </a:bodyPr>
          <a:lstStyle/>
          <a:p>
            <a:pPr>
              <a:lnSpc>
                <a:spcPct val="150000"/>
              </a:lnSpc>
              <a:spcBef>
                <a:spcPct val="50000"/>
              </a:spcBef>
            </a:pPr>
            <a:r>
              <a:rPr lang="en-US" altLang="zh-CN" sz="2800" b="1" dirty="0">
                <a:latin typeface="微软雅黑" panose="020B0503020204020204" pitchFamily="34" charset="-122"/>
                <a:ea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rPr>
              <a:t>干涉条纹是以平玻璃与平凸透镜的接触点为圆心的</a:t>
            </a:r>
            <a:r>
              <a:rPr kumimoji="1" lang="zh-CN" altLang="en-US" sz="2800" b="1" dirty="0">
                <a:solidFill>
                  <a:srgbClr val="FF0000"/>
                </a:solidFill>
                <a:latin typeface="微软雅黑" panose="020B0503020204020204" pitchFamily="34" charset="-122"/>
                <a:ea typeface="微软雅黑" panose="020B0503020204020204" pitchFamily="34" charset="-122"/>
              </a:rPr>
              <a:t>明暗相间逐渐变密的</a:t>
            </a:r>
            <a:r>
              <a:rPr lang="zh-CN" altLang="en-US" sz="2800" b="1" dirty="0">
                <a:latin typeface="微软雅黑" panose="020B0503020204020204" pitchFamily="34" charset="-122"/>
                <a:ea typeface="微软雅黑" panose="020B0503020204020204" pitchFamily="34" charset="-122"/>
              </a:rPr>
              <a:t>一组同心圆。</a:t>
            </a:r>
            <a:r>
              <a:rPr lang="en-US" altLang="zh-CN" sz="2800" b="1" dirty="0">
                <a:solidFill>
                  <a:srgbClr val="FF0000"/>
                </a:solidFill>
                <a:latin typeface="微软雅黑" panose="020B0503020204020204" pitchFamily="34" charset="-122"/>
                <a:ea typeface="微软雅黑" panose="020B0503020204020204" pitchFamily="34" charset="-122"/>
              </a:rPr>
              <a:t>——</a:t>
            </a:r>
            <a:r>
              <a:rPr lang="zh-CN" altLang="en-US" sz="2800" b="1" dirty="0">
                <a:solidFill>
                  <a:srgbClr val="FF0000"/>
                </a:solidFill>
                <a:latin typeface="微软雅黑" panose="020B0503020204020204" pitchFamily="34" charset="-122"/>
                <a:ea typeface="微软雅黑" panose="020B0503020204020204" pitchFamily="34" charset="-122"/>
              </a:rPr>
              <a:t>牛顿环</a:t>
            </a:r>
          </a:p>
        </p:txBody>
      </p:sp>
      <p:grpSp>
        <p:nvGrpSpPr>
          <p:cNvPr id="2" name="Group 4"/>
          <p:cNvGrpSpPr>
            <a:grpSpLocks/>
          </p:cNvGrpSpPr>
          <p:nvPr/>
        </p:nvGrpSpPr>
        <p:grpSpPr bwMode="auto">
          <a:xfrm>
            <a:off x="769686" y="1953201"/>
            <a:ext cx="4017860" cy="3155980"/>
            <a:chOff x="22" y="435"/>
            <a:chExt cx="3629" cy="3031"/>
          </a:xfrm>
        </p:grpSpPr>
        <p:sp>
          <p:nvSpPr>
            <p:cNvPr id="39941" name="Rectangle 5"/>
            <p:cNvSpPr>
              <a:spLocks noChangeArrowheads="1"/>
            </p:cNvSpPr>
            <p:nvPr/>
          </p:nvSpPr>
          <p:spPr bwMode="auto">
            <a:xfrm>
              <a:off x="126" y="435"/>
              <a:ext cx="3421" cy="2975"/>
            </a:xfrm>
            <a:prstGeom prst="rect">
              <a:avLst/>
            </a:prstGeom>
            <a:solidFill>
              <a:schemeClr val="bg1"/>
            </a:solidFill>
            <a:ln w="28575">
              <a:solidFill>
                <a:srgbClr val="008080"/>
              </a:solidFill>
              <a:miter lim="800000"/>
              <a:headEnd/>
              <a:tailEnd/>
            </a:ln>
            <a:effectLst/>
          </p:spPr>
          <p:txBody>
            <a:bodyPr wrap="none" anchor="ctr"/>
            <a:lstStyle/>
            <a:p>
              <a:pPr algn="ctr"/>
              <a:endParaRPr lang="zh-CN" altLang="zh-CN" sz="2100" b="1">
                <a:solidFill>
                  <a:srgbClr val="1C1C1C"/>
                </a:solidFill>
                <a:latin typeface="Times New Roman" pitchFamily="18" charset="0"/>
                <a:ea typeface="黑体" pitchFamily="2" charset="-122"/>
              </a:endParaRPr>
            </a:p>
          </p:txBody>
        </p:sp>
        <p:sp>
          <p:nvSpPr>
            <p:cNvPr id="39942" name="Text Box 6"/>
            <p:cNvSpPr txBox="1">
              <a:spLocks noChangeArrowheads="1"/>
            </p:cNvSpPr>
            <p:nvPr/>
          </p:nvSpPr>
          <p:spPr bwMode="auto">
            <a:xfrm>
              <a:off x="758" y="569"/>
              <a:ext cx="1866" cy="384"/>
            </a:xfrm>
            <a:prstGeom prst="rect">
              <a:avLst/>
            </a:prstGeom>
            <a:noFill/>
            <a:ln w="9525">
              <a:noFill/>
              <a:miter lim="800000"/>
              <a:headEnd/>
              <a:tailEnd/>
            </a:ln>
            <a:effectLst/>
          </p:spPr>
          <p:txBody>
            <a:bodyPr>
              <a:spAutoFit/>
            </a:bodyPr>
            <a:lstStyle/>
            <a:p>
              <a:pPr>
                <a:spcBef>
                  <a:spcPct val="50000"/>
                </a:spcBef>
              </a:pPr>
              <a:r>
                <a:rPr lang="zh-CN" altLang="en-US" sz="2000" b="1" dirty="0">
                  <a:solidFill>
                    <a:srgbClr val="000000"/>
                  </a:solidFill>
                  <a:latin typeface="微软雅黑" panose="020B0503020204020204" pitchFamily="34" charset="-122"/>
                  <a:ea typeface="微软雅黑" panose="020B0503020204020204" pitchFamily="34" charset="-122"/>
                </a:rPr>
                <a:t>显微镜</a:t>
              </a:r>
              <a:endParaRPr lang="zh-CN" altLang="zh-CN" sz="2000" b="1" dirty="0">
                <a:solidFill>
                  <a:srgbClr val="000000"/>
                </a:solidFill>
                <a:latin typeface="微软雅黑" panose="020B0503020204020204" pitchFamily="34" charset="-122"/>
                <a:ea typeface="微软雅黑" panose="020B0503020204020204" pitchFamily="34" charset="-122"/>
              </a:endParaRPr>
            </a:p>
          </p:txBody>
        </p:sp>
        <p:sp>
          <p:nvSpPr>
            <p:cNvPr id="39943" name="AutoShape 7"/>
            <p:cNvSpPr>
              <a:spLocks noChangeArrowheads="1"/>
            </p:cNvSpPr>
            <p:nvPr/>
          </p:nvSpPr>
          <p:spPr bwMode="auto">
            <a:xfrm>
              <a:off x="1412" y="2791"/>
              <a:ext cx="1270" cy="371"/>
            </a:xfrm>
            <a:custGeom>
              <a:avLst/>
              <a:gdLst>
                <a:gd name="G0" fmla="+- 164 0 0"/>
                <a:gd name="G1" fmla="+- 0 0 0"/>
                <a:gd name="G2" fmla="+- 0 0 0"/>
                <a:gd name="T0" fmla="*/ 0 256 1"/>
                <a:gd name="T1" fmla="*/ 180 256 1"/>
                <a:gd name="G3" fmla="+- 0 T0 T1"/>
                <a:gd name="T2" fmla="*/ 0 256 1"/>
                <a:gd name="T3" fmla="*/ 90 256 1"/>
                <a:gd name="G4" fmla="+- 0 T2 T3"/>
                <a:gd name="G5" fmla="*/ G4 2 1"/>
                <a:gd name="T4" fmla="*/ 90 256 1"/>
                <a:gd name="T5" fmla="*/ 0 256 1"/>
                <a:gd name="G6" fmla="+- 0 T4 T5"/>
                <a:gd name="G7" fmla="*/ G6 2 1"/>
                <a:gd name="G8" fmla="abs 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64"/>
                <a:gd name="G18" fmla="*/ 164 1 2"/>
                <a:gd name="G19" fmla="+- G18 5400 0"/>
                <a:gd name="G20" fmla="cos G19 0"/>
                <a:gd name="G21" fmla="sin G19 0"/>
                <a:gd name="G22" fmla="+- G20 10800 0"/>
                <a:gd name="G23" fmla="+- G21 10800 0"/>
                <a:gd name="G24" fmla="+- 10800 0 G20"/>
                <a:gd name="G25" fmla="+- 164 10800 0"/>
                <a:gd name="G26" fmla="?: G9 G17 G25"/>
                <a:gd name="G27" fmla="?: G9 0 21600"/>
                <a:gd name="G28" fmla="cos 10800 0"/>
                <a:gd name="G29" fmla="sin 10800 0"/>
                <a:gd name="G30" fmla="sin 164 0"/>
                <a:gd name="G31" fmla="+- G28 10800 0"/>
                <a:gd name="G32" fmla="+- G29 10800 0"/>
                <a:gd name="G33" fmla="+- G30 10800 0"/>
                <a:gd name="G34" fmla="?: G4 0 G31"/>
                <a:gd name="G35" fmla="?: 0 G34 0"/>
                <a:gd name="G36" fmla="?: G6 G35 G31"/>
                <a:gd name="G37" fmla="+- 21600 0 G36"/>
                <a:gd name="G38" fmla="?: G4 0 G33"/>
                <a:gd name="G39" fmla="?: 0 G38 G32"/>
                <a:gd name="G40" fmla="?: G6 G39 0"/>
                <a:gd name="G41" fmla="?: G4 G32 21600"/>
                <a:gd name="G42" fmla="?: G6 G41 G33"/>
                <a:gd name="T12" fmla="*/ 10800 w 21600"/>
                <a:gd name="T13" fmla="*/ 21600 h 21600"/>
                <a:gd name="T14" fmla="*/ 16282 w 21600"/>
                <a:gd name="T15" fmla="*/ 10800 h 21600"/>
                <a:gd name="T16" fmla="*/ 10800 w 21600"/>
                <a:gd name="T17" fmla="*/ 10964 h 21600"/>
                <a:gd name="T18" fmla="*/ 531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964" y="10800"/>
                  </a:moveTo>
                  <a:cubicBezTo>
                    <a:pt x="10964" y="10890"/>
                    <a:pt x="10890" y="10964"/>
                    <a:pt x="10800" y="10964"/>
                  </a:cubicBezTo>
                  <a:cubicBezTo>
                    <a:pt x="10709" y="10964"/>
                    <a:pt x="10636" y="10890"/>
                    <a:pt x="10636" y="10800"/>
                  </a:cubicBezTo>
                  <a:lnTo>
                    <a:pt x="0" y="10800"/>
                  </a:lnTo>
                  <a:cubicBezTo>
                    <a:pt x="0" y="16764"/>
                    <a:pt x="4835" y="21600"/>
                    <a:pt x="10800" y="21600"/>
                  </a:cubicBezTo>
                  <a:cubicBezTo>
                    <a:pt x="16764" y="21600"/>
                    <a:pt x="21600" y="16764"/>
                    <a:pt x="21600" y="10800"/>
                  </a:cubicBezTo>
                  <a:close/>
                </a:path>
              </a:pathLst>
            </a:custGeom>
            <a:solidFill>
              <a:srgbClr val="00FFCC">
                <a:alpha val="50000"/>
              </a:srgbClr>
            </a:solidFill>
            <a:ln w="38100">
              <a:solidFill>
                <a:srgbClr val="008080"/>
              </a:solidFill>
              <a:miter lim="800000"/>
              <a:headEnd/>
              <a:tailEnd/>
            </a:ln>
            <a:effectLst/>
          </p:spPr>
          <p:txBody>
            <a:bodyPr wrap="none" anchor="ctr"/>
            <a:lstStyle/>
            <a:p>
              <a:endParaRPr lang="zh-CN" altLang="en-US" sz="1050"/>
            </a:p>
          </p:txBody>
        </p:sp>
        <p:sp>
          <p:nvSpPr>
            <p:cNvPr id="39944" name="Rectangle 8"/>
            <p:cNvSpPr>
              <a:spLocks noChangeArrowheads="1"/>
            </p:cNvSpPr>
            <p:nvPr/>
          </p:nvSpPr>
          <p:spPr bwMode="auto">
            <a:xfrm>
              <a:off x="1889" y="569"/>
              <a:ext cx="383" cy="306"/>
            </a:xfrm>
            <a:prstGeom prst="rect">
              <a:avLst/>
            </a:prstGeom>
            <a:gradFill rotWithShape="0">
              <a:gsLst>
                <a:gs pos="0">
                  <a:schemeClr val="accent1">
                    <a:gamma/>
                    <a:shade val="36078"/>
                    <a:invGamma/>
                  </a:schemeClr>
                </a:gs>
                <a:gs pos="50000">
                  <a:schemeClr val="accent1"/>
                </a:gs>
                <a:gs pos="100000">
                  <a:schemeClr val="accent1">
                    <a:gamma/>
                    <a:shade val="36078"/>
                    <a:invGamma/>
                  </a:schemeClr>
                </a:gs>
              </a:gsLst>
              <a:lin ang="0" scaled="1"/>
            </a:gradFill>
            <a:ln w="9525">
              <a:solidFill>
                <a:schemeClr val="tx1"/>
              </a:solidFill>
              <a:miter lim="800000"/>
              <a:headEnd/>
              <a:tailEnd/>
            </a:ln>
            <a:effectLst/>
          </p:spPr>
          <p:txBody>
            <a:bodyPr wrap="none" anchor="ctr"/>
            <a:lstStyle/>
            <a:p>
              <a:endParaRPr lang="zh-CN" altLang="en-US" sz="1050"/>
            </a:p>
          </p:txBody>
        </p:sp>
        <p:sp>
          <p:nvSpPr>
            <p:cNvPr id="39945" name="AutoShape 9"/>
            <p:cNvSpPr>
              <a:spLocks noChangeArrowheads="1"/>
            </p:cNvSpPr>
            <p:nvPr/>
          </p:nvSpPr>
          <p:spPr bwMode="auto">
            <a:xfrm>
              <a:off x="1888" y="882"/>
              <a:ext cx="383" cy="124"/>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gradFill rotWithShape="0">
              <a:gsLst>
                <a:gs pos="0">
                  <a:schemeClr val="accent1">
                    <a:gamma/>
                    <a:shade val="26275"/>
                    <a:invGamma/>
                  </a:schemeClr>
                </a:gs>
                <a:gs pos="50000">
                  <a:schemeClr val="accent1"/>
                </a:gs>
                <a:gs pos="100000">
                  <a:schemeClr val="accent1">
                    <a:gamma/>
                    <a:shade val="26275"/>
                    <a:invGamma/>
                  </a:schemeClr>
                </a:gs>
              </a:gsLst>
              <a:lin ang="0" scaled="1"/>
            </a:gradFill>
            <a:ln w="9525">
              <a:solidFill>
                <a:schemeClr val="tx1"/>
              </a:solidFill>
              <a:miter lim="800000"/>
              <a:headEnd/>
              <a:tailEnd/>
            </a:ln>
            <a:effectLst/>
          </p:spPr>
          <p:txBody>
            <a:bodyPr wrap="none" anchor="ctr"/>
            <a:lstStyle/>
            <a:p>
              <a:endParaRPr lang="zh-CN" altLang="en-US" sz="1050"/>
            </a:p>
          </p:txBody>
        </p:sp>
        <p:sp>
          <p:nvSpPr>
            <p:cNvPr id="39946" name="Line 10"/>
            <p:cNvSpPr>
              <a:spLocks noChangeShapeType="1"/>
            </p:cNvSpPr>
            <p:nvPr/>
          </p:nvSpPr>
          <p:spPr bwMode="auto">
            <a:xfrm flipV="1">
              <a:off x="758" y="1598"/>
              <a:ext cx="440" cy="222"/>
            </a:xfrm>
            <a:prstGeom prst="line">
              <a:avLst/>
            </a:prstGeom>
            <a:noFill/>
            <a:ln w="28575">
              <a:solidFill>
                <a:srgbClr val="0000FF"/>
              </a:solidFill>
              <a:round/>
              <a:headEnd type="none" w="sm" len="lg"/>
              <a:tailEnd type="none" w="sm" len="lg"/>
            </a:ln>
            <a:effectLst/>
          </p:spPr>
          <p:txBody>
            <a:bodyPr wrap="none" anchor="ctr"/>
            <a:lstStyle/>
            <a:p>
              <a:endParaRPr lang="zh-CN" altLang="en-US" sz="1050"/>
            </a:p>
          </p:txBody>
        </p:sp>
        <p:sp>
          <p:nvSpPr>
            <p:cNvPr id="39947" name="Line 11"/>
            <p:cNvSpPr>
              <a:spLocks noChangeShapeType="1"/>
            </p:cNvSpPr>
            <p:nvPr/>
          </p:nvSpPr>
          <p:spPr bwMode="auto">
            <a:xfrm>
              <a:off x="758" y="1820"/>
              <a:ext cx="440" cy="224"/>
            </a:xfrm>
            <a:prstGeom prst="line">
              <a:avLst/>
            </a:prstGeom>
            <a:noFill/>
            <a:ln w="28575">
              <a:solidFill>
                <a:srgbClr val="0000FF"/>
              </a:solidFill>
              <a:round/>
              <a:headEnd type="none" w="sm" len="lg"/>
              <a:tailEnd type="none" w="sm" len="lg"/>
            </a:ln>
            <a:effectLst/>
          </p:spPr>
          <p:txBody>
            <a:bodyPr wrap="none" anchor="ctr"/>
            <a:lstStyle/>
            <a:p>
              <a:endParaRPr lang="zh-CN" altLang="en-US" sz="1050"/>
            </a:p>
          </p:txBody>
        </p:sp>
        <p:sp>
          <p:nvSpPr>
            <p:cNvPr id="39948" name="Line 12"/>
            <p:cNvSpPr>
              <a:spLocks noChangeShapeType="1"/>
            </p:cNvSpPr>
            <p:nvPr/>
          </p:nvSpPr>
          <p:spPr bwMode="auto">
            <a:xfrm>
              <a:off x="1188" y="1598"/>
              <a:ext cx="574" cy="0"/>
            </a:xfrm>
            <a:prstGeom prst="line">
              <a:avLst/>
            </a:prstGeom>
            <a:noFill/>
            <a:ln w="28575">
              <a:solidFill>
                <a:srgbClr val="0000FF"/>
              </a:solidFill>
              <a:round/>
              <a:headEnd type="none" w="sm" len="lg"/>
              <a:tailEnd type="none" w="sm" len="lg"/>
            </a:ln>
            <a:effectLst/>
          </p:spPr>
          <p:txBody>
            <a:bodyPr wrap="none" anchor="ctr"/>
            <a:lstStyle/>
            <a:p>
              <a:endParaRPr lang="zh-CN" altLang="en-US" sz="1050"/>
            </a:p>
          </p:txBody>
        </p:sp>
        <p:sp>
          <p:nvSpPr>
            <p:cNvPr id="39949" name="Line 13"/>
            <p:cNvSpPr>
              <a:spLocks noChangeShapeType="1"/>
            </p:cNvSpPr>
            <p:nvPr/>
          </p:nvSpPr>
          <p:spPr bwMode="auto">
            <a:xfrm>
              <a:off x="2399" y="1049"/>
              <a:ext cx="0" cy="2083"/>
            </a:xfrm>
            <a:prstGeom prst="line">
              <a:avLst/>
            </a:prstGeom>
            <a:noFill/>
            <a:ln w="28575">
              <a:solidFill>
                <a:srgbClr val="0000FF"/>
              </a:solidFill>
              <a:round/>
              <a:headEnd type="none" w="sm" len="lg"/>
              <a:tailEnd type="none" w="sm" len="lg"/>
            </a:ln>
            <a:effectLst/>
          </p:spPr>
          <p:txBody>
            <a:bodyPr wrap="none" anchor="ctr"/>
            <a:lstStyle/>
            <a:p>
              <a:endParaRPr lang="zh-CN" altLang="en-US" sz="1050"/>
            </a:p>
          </p:txBody>
        </p:sp>
        <p:sp>
          <p:nvSpPr>
            <p:cNvPr id="39950" name="Line 14"/>
            <p:cNvSpPr>
              <a:spLocks noChangeShapeType="1"/>
            </p:cNvSpPr>
            <p:nvPr/>
          </p:nvSpPr>
          <p:spPr bwMode="auto">
            <a:xfrm>
              <a:off x="1762" y="1049"/>
              <a:ext cx="0" cy="2083"/>
            </a:xfrm>
            <a:prstGeom prst="line">
              <a:avLst/>
            </a:prstGeom>
            <a:noFill/>
            <a:ln w="28575">
              <a:solidFill>
                <a:srgbClr val="0000FF"/>
              </a:solidFill>
              <a:round/>
              <a:headEnd type="none" w="sm" len="lg"/>
              <a:tailEnd type="none" w="sm" len="lg"/>
            </a:ln>
            <a:effectLst/>
          </p:spPr>
          <p:txBody>
            <a:bodyPr wrap="none" anchor="ctr"/>
            <a:lstStyle/>
            <a:p>
              <a:endParaRPr lang="zh-CN" altLang="en-US" sz="1050"/>
            </a:p>
          </p:txBody>
        </p:sp>
        <p:sp>
          <p:nvSpPr>
            <p:cNvPr id="39951" name="Line 15"/>
            <p:cNvSpPr>
              <a:spLocks noChangeShapeType="1"/>
            </p:cNvSpPr>
            <p:nvPr/>
          </p:nvSpPr>
          <p:spPr bwMode="auto">
            <a:xfrm>
              <a:off x="1188" y="2028"/>
              <a:ext cx="1211" cy="0"/>
            </a:xfrm>
            <a:prstGeom prst="line">
              <a:avLst/>
            </a:prstGeom>
            <a:noFill/>
            <a:ln w="28575">
              <a:solidFill>
                <a:srgbClr val="0000FF"/>
              </a:solidFill>
              <a:round/>
              <a:headEnd type="none" w="sm" len="lg"/>
              <a:tailEnd type="none" w="sm" len="lg"/>
            </a:ln>
            <a:effectLst/>
          </p:spPr>
          <p:txBody>
            <a:bodyPr wrap="none" anchor="ctr"/>
            <a:lstStyle/>
            <a:p>
              <a:endParaRPr lang="zh-CN" altLang="en-US" sz="1050"/>
            </a:p>
          </p:txBody>
        </p:sp>
        <p:sp>
          <p:nvSpPr>
            <p:cNvPr id="39952" name="Text Box 16"/>
            <p:cNvSpPr txBox="1">
              <a:spLocks noChangeArrowheads="1"/>
            </p:cNvSpPr>
            <p:nvPr/>
          </p:nvSpPr>
          <p:spPr bwMode="auto">
            <a:xfrm>
              <a:off x="490" y="1661"/>
              <a:ext cx="301" cy="399"/>
            </a:xfrm>
            <a:prstGeom prst="rect">
              <a:avLst/>
            </a:prstGeom>
            <a:noFill/>
            <a:ln w="9525">
              <a:noFill/>
              <a:miter lim="800000"/>
              <a:headEnd/>
              <a:tailEnd/>
            </a:ln>
            <a:effectLst/>
          </p:spPr>
          <p:txBody>
            <a:bodyPr wrap="none">
              <a:spAutoFit/>
            </a:bodyPr>
            <a:lstStyle/>
            <a:p>
              <a:pPr>
                <a:spcBef>
                  <a:spcPct val="50000"/>
                </a:spcBef>
              </a:pPr>
              <a:r>
                <a:rPr lang="en-US" altLang="en-US" sz="2100" b="1">
                  <a:solidFill>
                    <a:srgbClr val="000000"/>
                  </a:solidFill>
                  <a:latin typeface="Times New Roman" pitchFamily="18" charset="0"/>
                  <a:ea typeface="黑体" pitchFamily="2" charset="-122"/>
                </a:rPr>
                <a:t>S</a:t>
              </a:r>
              <a:endParaRPr lang="en-US" altLang="zh-CN" sz="2100" b="1">
                <a:solidFill>
                  <a:srgbClr val="000000"/>
                </a:solidFill>
                <a:latin typeface="Times New Roman" pitchFamily="18" charset="0"/>
                <a:ea typeface="黑体" pitchFamily="2" charset="-122"/>
              </a:endParaRPr>
            </a:p>
          </p:txBody>
        </p:sp>
        <p:sp>
          <p:nvSpPr>
            <p:cNvPr id="39953" name="Text Box 17"/>
            <p:cNvSpPr txBox="1">
              <a:spLocks noChangeArrowheads="1"/>
            </p:cNvSpPr>
            <p:nvPr/>
          </p:nvSpPr>
          <p:spPr bwMode="auto">
            <a:xfrm>
              <a:off x="1124" y="1148"/>
              <a:ext cx="329" cy="399"/>
            </a:xfrm>
            <a:prstGeom prst="rect">
              <a:avLst/>
            </a:prstGeom>
            <a:noFill/>
            <a:ln w="9525">
              <a:noFill/>
              <a:miter lim="800000"/>
              <a:headEnd/>
              <a:tailEnd/>
            </a:ln>
            <a:effectLst/>
          </p:spPr>
          <p:txBody>
            <a:bodyPr wrap="none">
              <a:spAutoFit/>
            </a:bodyPr>
            <a:lstStyle/>
            <a:p>
              <a:pPr>
                <a:spcBef>
                  <a:spcPct val="50000"/>
                </a:spcBef>
              </a:pPr>
              <a:r>
                <a:rPr lang="en-US" altLang="zh-CN" sz="2100" b="1">
                  <a:solidFill>
                    <a:srgbClr val="000000"/>
                  </a:solidFill>
                  <a:latin typeface="Times New Roman" pitchFamily="18" charset="0"/>
                  <a:ea typeface="黑体" pitchFamily="2" charset="-122"/>
                </a:rPr>
                <a:t>L</a:t>
              </a:r>
            </a:p>
          </p:txBody>
        </p:sp>
        <p:sp>
          <p:nvSpPr>
            <p:cNvPr id="39954" name="Line 18"/>
            <p:cNvSpPr>
              <a:spLocks noChangeShapeType="1"/>
            </p:cNvSpPr>
            <p:nvPr/>
          </p:nvSpPr>
          <p:spPr bwMode="auto">
            <a:xfrm>
              <a:off x="1758" y="2273"/>
              <a:ext cx="0" cy="429"/>
            </a:xfrm>
            <a:prstGeom prst="line">
              <a:avLst/>
            </a:prstGeom>
            <a:noFill/>
            <a:ln w="28575">
              <a:solidFill>
                <a:srgbClr val="0000FF"/>
              </a:solidFill>
              <a:round/>
              <a:headEnd type="stealth" w="lg" len="lg"/>
              <a:tailEnd type="stealth" w="lg" len="lg"/>
            </a:ln>
            <a:effectLst/>
          </p:spPr>
          <p:txBody>
            <a:bodyPr wrap="none" anchor="ctr"/>
            <a:lstStyle/>
            <a:p>
              <a:endParaRPr lang="zh-CN" altLang="en-US" sz="1050"/>
            </a:p>
          </p:txBody>
        </p:sp>
        <p:sp>
          <p:nvSpPr>
            <p:cNvPr id="39955" name="Line 19"/>
            <p:cNvSpPr>
              <a:spLocks noChangeShapeType="1"/>
            </p:cNvSpPr>
            <p:nvPr/>
          </p:nvSpPr>
          <p:spPr bwMode="auto">
            <a:xfrm>
              <a:off x="2392" y="2273"/>
              <a:ext cx="0" cy="429"/>
            </a:xfrm>
            <a:prstGeom prst="line">
              <a:avLst/>
            </a:prstGeom>
            <a:noFill/>
            <a:ln w="28575">
              <a:solidFill>
                <a:srgbClr val="0000FF"/>
              </a:solidFill>
              <a:round/>
              <a:headEnd type="stealth" w="lg" len="lg"/>
              <a:tailEnd type="stealth" w="lg" len="lg"/>
            </a:ln>
            <a:effectLst/>
          </p:spPr>
          <p:txBody>
            <a:bodyPr wrap="none" anchor="ctr"/>
            <a:lstStyle/>
            <a:p>
              <a:endParaRPr lang="zh-CN" altLang="en-US" sz="1050"/>
            </a:p>
          </p:txBody>
        </p:sp>
        <p:sp>
          <p:nvSpPr>
            <p:cNvPr id="39956" name="Line 20"/>
            <p:cNvSpPr>
              <a:spLocks noChangeShapeType="1"/>
            </p:cNvSpPr>
            <p:nvPr/>
          </p:nvSpPr>
          <p:spPr bwMode="auto">
            <a:xfrm>
              <a:off x="1443" y="1598"/>
              <a:ext cx="192" cy="0"/>
            </a:xfrm>
            <a:prstGeom prst="line">
              <a:avLst/>
            </a:prstGeom>
            <a:noFill/>
            <a:ln w="28575">
              <a:solidFill>
                <a:srgbClr val="0000FF"/>
              </a:solidFill>
              <a:round/>
              <a:headEnd type="none" w="sm" len="lg"/>
              <a:tailEnd type="stealth" w="lg" len="lg"/>
            </a:ln>
            <a:effectLst/>
          </p:spPr>
          <p:txBody>
            <a:bodyPr wrap="none" anchor="ctr"/>
            <a:lstStyle/>
            <a:p>
              <a:endParaRPr lang="zh-CN" altLang="en-US" sz="1050"/>
            </a:p>
          </p:txBody>
        </p:sp>
        <p:sp>
          <p:nvSpPr>
            <p:cNvPr id="39957" name="Line 21"/>
            <p:cNvSpPr>
              <a:spLocks noChangeShapeType="1"/>
            </p:cNvSpPr>
            <p:nvPr/>
          </p:nvSpPr>
          <p:spPr bwMode="auto">
            <a:xfrm>
              <a:off x="1443" y="2028"/>
              <a:ext cx="192" cy="0"/>
            </a:xfrm>
            <a:prstGeom prst="line">
              <a:avLst/>
            </a:prstGeom>
            <a:noFill/>
            <a:ln w="28575">
              <a:solidFill>
                <a:srgbClr val="0000FF"/>
              </a:solidFill>
              <a:round/>
              <a:headEnd type="none" w="sm" len="lg"/>
              <a:tailEnd type="stealth" w="lg" len="lg"/>
            </a:ln>
            <a:effectLst/>
          </p:spPr>
          <p:txBody>
            <a:bodyPr wrap="none" anchor="ctr"/>
            <a:lstStyle/>
            <a:p>
              <a:endParaRPr lang="zh-CN" altLang="en-US" sz="1050"/>
            </a:p>
          </p:txBody>
        </p:sp>
        <p:sp>
          <p:nvSpPr>
            <p:cNvPr id="39958" name="Freeform 22"/>
            <p:cNvSpPr>
              <a:spLocks/>
            </p:cNvSpPr>
            <p:nvPr/>
          </p:nvSpPr>
          <p:spPr bwMode="auto">
            <a:xfrm>
              <a:off x="1759" y="1171"/>
              <a:ext cx="8" cy="154"/>
            </a:xfrm>
            <a:custGeom>
              <a:avLst/>
              <a:gdLst/>
              <a:ahLst/>
              <a:cxnLst>
                <a:cxn ang="0">
                  <a:pos x="8" y="0"/>
                </a:cxn>
                <a:cxn ang="0">
                  <a:pos x="0" y="156"/>
                </a:cxn>
              </a:cxnLst>
              <a:rect l="0" t="0" r="r" b="b"/>
              <a:pathLst>
                <a:path w="8" h="156">
                  <a:moveTo>
                    <a:pt x="8" y="0"/>
                  </a:moveTo>
                  <a:lnTo>
                    <a:pt x="0" y="156"/>
                  </a:lnTo>
                </a:path>
              </a:pathLst>
            </a:custGeom>
            <a:noFill/>
            <a:ln w="28575">
              <a:solidFill>
                <a:srgbClr val="0000FF"/>
              </a:solidFill>
              <a:round/>
              <a:headEnd type="stealth" w="lg" len="lg"/>
              <a:tailEnd type="none" w="sm" len="lg"/>
            </a:ln>
            <a:effectLst/>
          </p:spPr>
          <p:txBody>
            <a:bodyPr wrap="none" anchor="ctr"/>
            <a:lstStyle/>
            <a:p>
              <a:endParaRPr lang="zh-CN" altLang="en-US" sz="1050"/>
            </a:p>
          </p:txBody>
        </p:sp>
        <p:sp>
          <p:nvSpPr>
            <p:cNvPr id="39959" name="Line 23"/>
            <p:cNvSpPr>
              <a:spLocks noChangeShapeType="1"/>
            </p:cNvSpPr>
            <p:nvPr/>
          </p:nvSpPr>
          <p:spPr bwMode="auto">
            <a:xfrm>
              <a:off x="2396" y="1171"/>
              <a:ext cx="0" cy="183"/>
            </a:xfrm>
            <a:prstGeom prst="line">
              <a:avLst/>
            </a:prstGeom>
            <a:noFill/>
            <a:ln w="28575">
              <a:solidFill>
                <a:srgbClr val="0000FF"/>
              </a:solidFill>
              <a:round/>
              <a:headEnd type="stealth" w="lg" len="lg"/>
              <a:tailEnd type="none" w="sm" len="lg"/>
            </a:ln>
            <a:effectLst/>
          </p:spPr>
          <p:txBody>
            <a:bodyPr wrap="none" anchor="ctr"/>
            <a:lstStyle/>
            <a:p>
              <a:endParaRPr lang="zh-CN" altLang="en-US" sz="1050"/>
            </a:p>
          </p:txBody>
        </p:sp>
        <p:sp>
          <p:nvSpPr>
            <p:cNvPr id="39960" name="Rectangle 24"/>
            <p:cNvSpPr>
              <a:spLocks noChangeArrowheads="1"/>
            </p:cNvSpPr>
            <p:nvPr/>
          </p:nvSpPr>
          <p:spPr bwMode="auto">
            <a:xfrm>
              <a:off x="1412" y="3162"/>
              <a:ext cx="1270" cy="105"/>
            </a:xfrm>
            <a:prstGeom prst="rect">
              <a:avLst/>
            </a:prstGeom>
            <a:solidFill>
              <a:srgbClr val="66CCFF">
                <a:alpha val="50000"/>
              </a:srgbClr>
            </a:solidFill>
            <a:ln w="38100">
              <a:solidFill>
                <a:srgbClr val="008080"/>
              </a:solidFill>
              <a:miter lim="800000"/>
              <a:headEnd/>
              <a:tailEnd/>
            </a:ln>
            <a:effectLst/>
          </p:spPr>
          <p:txBody>
            <a:bodyPr wrap="none" anchor="ctr"/>
            <a:lstStyle/>
            <a:p>
              <a:endParaRPr lang="zh-CN" altLang="en-US" sz="1050"/>
            </a:p>
          </p:txBody>
        </p:sp>
        <p:sp>
          <p:nvSpPr>
            <p:cNvPr id="39961" name="Text Box 25"/>
            <p:cNvSpPr txBox="1">
              <a:spLocks noChangeArrowheads="1"/>
            </p:cNvSpPr>
            <p:nvPr/>
          </p:nvSpPr>
          <p:spPr bwMode="auto">
            <a:xfrm>
              <a:off x="2562" y="1640"/>
              <a:ext cx="1049" cy="680"/>
            </a:xfrm>
            <a:prstGeom prst="rect">
              <a:avLst/>
            </a:prstGeom>
            <a:noFill/>
            <a:ln w="9525">
              <a:noFill/>
              <a:miter lim="800000"/>
              <a:headEnd/>
              <a:tailEnd/>
            </a:ln>
            <a:effectLst/>
          </p:spPr>
          <p:txBody>
            <a:bodyPr wrap="square">
              <a:spAutoFit/>
            </a:bodyPr>
            <a:lstStyle/>
            <a:p>
              <a:pPr algn="ctr">
                <a:spcBef>
                  <a:spcPct val="50000"/>
                </a:spcBef>
              </a:pPr>
              <a:r>
                <a:rPr lang="en-US" altLang="zh-CN" sz="2000" b="1" dirty="0">
                  <a:latin typeface="微软雅黑" panose="020B0503020204020204" pitchFamily="34" charset="-122"/>
                  <a:ea typeface="微软雅黑" panose="020B0503020204020204" pitchFamily="34" charset="-122"/>
                </a:rPr>
                <a:t> M</a:t>
              </a:r>
              <a:r>
                <a:rPr lang="zh-CN" altLang="en-US" sz="2000" b="1" dirty="0">
                  <a:latin typeface="微软雅黑" panose="020B0503020204020204" pitchFamily="34" charset="-122"/>
                  <a:ea typeface="微软雅黑" panose="020B0503020204020204" pitchFamily="34" charset="-122"/>
                </a:rPr>
                <a:t>半透  半反镜</a:t>
              </a:r>
            </a:p>
          </p:txBody>
        </p:sp>
        <p:sp>
          <p:nvSpPr>
            <p:cNvPr id="39962" name="AutoShape 26"/>
            <p:cNvSpPr>
              <a:spLocks noChangeArrowheads="1"/>
            </p:cNvSpPr>
            <p:nvPr/>
          </p:nvSpPr>
          <p:spPr bwMode="auto">
            <a:xfrm>
              <a:off x="126" y="2795"/>
              <a:ext cx="829" cy="284"/>
            </a:xfrm>
            <a:prstGeom prst="wedgeRectCallout">
              <a:avLst>
                <a:gd name="adj1" fmla="val 107551"/>
                <a:gd name="adj2" fmla="val 39583"/>
              </a:avLst>
            </a:prstGeom>
            <a:noFill/>
            <a:ln w="9525">
              <a:noFill/>
              <a:miter lim="800000"/>
              <a:headEnd/>
              <a:tailEnd/>
            </a:ln>
            <a:effectLst/>
          </p:spPr>
          <p:txBody>
            <a:bodyPr/>
            <a:lstStyle/>
            <a:p>
              <a:pPr algn="ctr"/>
              <a:endParaRPr lang="zh-CN" altLang="zh-CN" sz="2100" b="1">
                <a:solidFill>
                  <a:srgbClr val="1C1C1C"/>
                </a:solidFill>
                <a:latin typeface="Times New Roman" pitchFamily="18" charset="0"/>
                <a:ea typeface="黑体" pitchFamily="2" charset="-122"/>
              </a:endParaRPr>
            </a:p>
          </p:txBody>
        </p:sp>
        <p:sp>
          <p:nvSpPr>
            <p:cNvPr id="39963" name="AutoShape 27"/>
            <p:cNvSpPr>
              <a:spLocks noChangeArrowheads="1"/>
            </p:cNvSpPr>
            <p:nvPr/>
          </p:nvSpPr>
          <p:spPr bwMode="auto">
            <a:xfrm>
              <a:off x="22" y="2369"/>
              <a:ext cx="1037" cy="379"/>
            </a:xfrm>
            <a:prstGeom prst="wedgeRectCallout">
              <a:avLst>
                <a:gd name="adj1" fmla="val 108750"/>
                <a:gd name="adj2" fmla="val 88801"/>
              </a:avLst>
            </a:prstGeom>
            <a:noFill/>
            <a:ln w="9525">
              <a:noFill/>
              <a:miter lim="800000"/>
              <a:headEnd/>
              <a:tailEnd/>
            </a:ln>
            <a:effectLst/>
          </p:spPr>
          <p:txBody>
            <a:bodyPr/>
            <a:lstStyle/>
            <a:p>
              <a:pPr algn="ctr"/>
              <a:endParaRPr lang="zh-CN" altLang="zh-CN" sz="2100" b="1">
                <a:solidFill>
                  <a:srgbClr val="1C1C1C"/>
                </a:solidFill>
                <a:latin typeface="Times New Roman" pitchFamily="18" charset="0"/>
                <a:ea typeface="黑体" pitchFamily="2" charset="-122"/>
              </a:endParaRPr>
            </a:p>
          </p:txBody>
        </p:sp>
        <p:sp>
          <p:nvSpPr>
            <p:cNvPr id="39964" name="AutoShape 28"/>
            <p:cNvSpPr>
              <a:spLocks noChangeArrowheads="1"/>
            </p:cNvSpPr>
            <p:nvPr/>
          </p:nvSpPr>
          <p:spPr bwMode="auto">
            <a:xfrm>
              <a:off x="2562" y="1187"/>
              <a:ext cx="1089" cy="615"/>
            </a:xfrm>
            <a:prstGeom prst="wedgeRectCallout">
              <a:avLst>
                <a:gd name="adj1" fmla="val -58532"/>
                <a:gd name="adj2" fmla="val 85255"/>
              </a:avLst>
            </a:prstGeom>
            <a:noFill/>
            <a:ln w="9525">
              <a:noFill/>
              <a:miter lim="800000"/>
              <a:headEnd/>
              <a:tailEnd/>
            </a:ln>
            <a:effectLst/>
          </p:spPr>
          <p:txBody>
            <a:bodyPr/>
            <a:lstStyle/>
            <a:p>
              <a:pPr algn="ctr"/>
              <a:endParaRPr lang="zh-CN" altLang="zh-CN" sz="2100" b="1">
                <a:solidFill>
                  <a:srgbClr val="1C1C1C"/>
                </a:solidFill>
                <a:latin typeface="Times New Roman" pitchFamily="18" charset="0"/>
                <a:ea typeface="黑体" pitchFamily="2" charset="-122"/>
              </a:endParaRPr>
            </a:p>
          </p:txBody>
        </p:sp>
        <p:sp>
          <p:nvSpPr>
            <p:cNvPr id="39965" name="Text Box 29"/>
            <p:cNvSpPr txBox="1">
              <a:spLocks noChangeArrowheads="1"/>
            </p:cNvSpPr>
            <p:nvPr/>
          </p:nvSpPr>
          <p:spPr bwMode="auto">
            <a:xfrm>
              <a:off x="1531" y="569"/>
              <a:ext cx="892" cy="399"/>
            </a:xfrm>
            <a:prstGeom prst="rect">
              <a:avLst/>
            </a:prstGeom>
            <a:noFill/>
            <a:ln w="9525">
              <a:noFill/>
              <a:miter lim="800000"/>
              <a:headEnd/>
              <a:tailEnd/>
            </a:ln>
            <a:effectLst/>
          </p:spPr>
          <p:txBody>
            <a:bodyPr>
              <a:spAutoFit/>
            </a:bodyPr>
            <a:lstStyle/>
            <a:p>
              <a:r>
                <a:rPr lang="en-US" altLang="zh-CN" sz="2100" b="1">
                  <a:solidFill>
                    <a:srgbClr val="1C1C1C"/>
                  </a:solidFill>
                  <a:latin typeface="Times New Roman" pitchFamily="18" charset="0"/>
                  <a:ea typeface="黑体" pitchFamily="2" charset="-122"/>
                </a:rPr>
                <a:t>T</a:t>
              </a:r>
            </a:p>
          </p:txBody>
        </p:sp>
        <p:sp>
          <p:nvSpPr>
            <p:cNvPr id="39966" name="Line 30"/>
            <p:cNvSpPr>
              <a:spLocks noChangeShapeType="1"/>
            </p:cNvSpPr>
            <p:nvPr/>
          </p:nvSpPr>
          <p:spPr bwMode="auto">
            <a:xfrm>
              <a:off x="758" y="1820"/>
              <a:ext cx="1322" cy="0"/>
            </a:xfrm>
            <a:prstGeom prst="line">
              <a:avLst/>
            </a:prstGeom>
            <a:noFill/>
            <a:ln w="38100">
              <a:solidFill>
                <a:srgbClr val="3333CC"/>
              </a:solidFill>
              <a:round/>
              <a:headEnd/>
              <a:tailEnd/>
            </a:ln>
            <a:effectLst/>
          </p:spPr>
          <p:txBody>
            <a:bodyPr/>
            <a:lstStyle/>
            <a:p>
              <a:endParaRPr lang="zh-CN" altLang="en-US" sz="1050"/>
            </a:p>
          </p:txBody>
        </p:sp>
        <p:sp>
          <p:nvSpPr>
            <p:cNvPr id="39967" name="Line 31"/>
            <p:cNvSpPr>
              <a:spLocks noChangeShapeType="1"/>
            </p:cNvSpPr>
            <p:nvPr/>
          </p:nvSpPr>
          <p:spPr bwMode="auto">
            <a:xfrm>
              <a:off x="2080" y="1820"/>
              <a:ext cx="0" cy="1342"/>
            </a:xfrm>
            <a:prstGeom prst="line">
              <a:avLst/>
            </a:prstGeom>
            <a:noFill/>
            <a:ln w="38100">
              <a:solidFill>
                <a:srgbClr val="3333CC"/>
              </a:solidFill>
              <a:round/>
              <a:headEnd/>
              <a:tailEnd/>
            </a:ln>
            <a:effectLst/>
          </p:spPr>
          <p:txBody>
            <a:bodyPr/>
            <a:lstStyle/>
            <a:p>
              <a:endParaRPr lang="zh-CN" altLang="en-US" sz="1050"/>
            </a:p>
          </p:txBody>
        </p:sp>
        <p:sp>
          <p:nvSpPr>
            <p:cNvPr id="39968" name="Line 32"/>
            <p:cNvSpPr>
              <a:spLocks noChangeShapeType="1"/>
            </p:cNvSpPr>
            <p:nvPr/>
          </p:nvSpPr>
          <p:spPr bwMode="auto">
            <a:xfrm flipV="1">
              <a:off x="2080" y="1086"/>
              <a:ext cx="0" cy="711"/>
            </a:xfrm>
            <a:prstGeom prst="line">
              <a:avLst/>
            </a:prstGeom>
            <a:noFill/>
            <a:ln w="38100">
              <a:solidFill>
                <a:srgbClr val="3333CC"/>
              </a:solidFill>
              <a:round/>
              <a:headEnd/>
              <a:tailEnd/>
            </a:ln>
            <a:effectLst/>
          </p:spPr>
          <p:txBody>
            <a:bodyPr/>
            <a:lstStyle/>
            <a:p>
              <a:endParaRPr lang="zh-CN" altLang="en-US" sz="1050"/>
            </a:p>
          </p:txBody>
        </p:sp>
        <p:sp>
          <p:nvSpPr>
            <p:cNvPr id="39969" name="Line 33"/>
            <p:cNvSpPr>
              <a:spLocks noChangeShapeType="1"/>
            </p:cNvSpPr>
            <p:nvPr/>
          </p:nvSpPr>
          <p:spPr bwMode="auto">
            <a:xfrm>
              <a:off x="2080" y="1150"/>
              <a:ext cx="0" cy="184"/>
            </a:xfrm>
            <a:prstGeom prst="line">
              <a:avLst/>
            </a:prstGeom>
            <a:noFill/>
            <a:ln w="28575">
              <a:solidFill>
                <a:srgbClr val="0000FF"/>
              </a:solidFill>
              <a:round/>
              <a:headEnd type="stealth" w="lg" len="lg"/>
              <a:tailEnd type="none" w="sm" len="lg"/>
            </a:ln>
            <a:effectLst/>
          </p:spPr>
          <p:txBody>
            <a:bodyPr wrap="none" anchor="ctr"/>
            <a:lstStyle/>
            <a:p>
              <a:endParaRPr lang="zh-CN" altLang="en-US" sz="1050"/>
            </a:p>
          </p:txBody>
        </p:sp>
        <p:sp>
          <p:nvSpPr>
            <p:cNvPr id="39970" name="Line 34"/>
            <p:cNvSpPr>
              <a:spLocks noChangeShapeType="1"/>
            </p:cNvSpPr>
            <p:nvPr/>
          </p:nvSpPr>
          <p:spPr bwMode="auto">
            <a:xfrm>
              <a:off x="2080" y="2268"/>
              <a:ext cx="0" cy="430"/>
            </a:xfrm>
            <a:prstGeom prst="line">
              <a:avLst/>
            </a:prstGeom>
            <a:noFill/>
            <a:ln w="28575">
              <a:solidFill>
                <a:srgbClr val="0000FF"/>
              </a:solidFill>
              <a:round/>
              <a:headEnd type="stealth" w="lg" len="lg"/>
              <a:tailEnd type="stealth" w="lg" len="lg"/>
            </a:ln>
            <a:effectLst/>
          </p:spPr>
          <p:txBody>
            <a:bodyPr wrap="none" anchor="ctr"/>
            <a:lstStyle/>
            <a:p>
              <a:endParaRPr lang="zh-CN" altLang="en-US" sz="1050"/>
            </a:p>
          </p:txBody>
        </p:sp>
        <p:sp>
          <p:nvSpPr>
            <p:cNvPr id="39971" name="Line 35"/>
            <p:cNvSpPr>
              <a:spLocks noChangeShapeType="1"/>
            </p:cNvSpPr>
            <p:nvPr/>
          </p:nvSpPr>
          <p:spPr bwMode="auto">
            <a:xfrm>
              <a:off x="1443" y="1820"/>
              <a:ext cx="192" cy="0"/>
            </a:xfrm>
            <a:prstGeom prst="line">
              <a:avLst/>
            </a:prstGeom>
            <a:noFill/>
            <a:ln w="28575">
              <a:solidFill>
                <a:srgbClr val="0000FF"/>
              </a:solidFill>
              <a:round/>
              <a:headEnd type="none" w="sm" len="lg"/>
              <a:tailEnd type="stealth" w="lg" len="lg"/>
            </a:ln>
            <a:effectLst/>
          </p:spPr>
          <p:txBody>
            <a:bodyPr wrap="none" anchor="ctr"/>
            <a:lstStyle/>
            <a:p>
              <a:endParaRPr lang="zh-CN" altLang="en-US" sz="1050"/>
            </a:p>
          </p:txBody>
        </p:sp>
        <p:sp>
          <p:nvSpPr>
            <p:cNvPr id="39972" name="Oval 36"/>
            <p:cNvSpPr>
              <a:spLocks noChangeArrowheads="1"/>
            </p:cNvSpPr>
            <p:nvPr/>
          </p:nvSpPr>
          <p:spPr bwMode="auto">
            <a:xfrm>
              <a:off x="1188" y="1478"/>
              <a:ext cx="128" cy="673"/>
            </a:xfrm>
            <a:prstGeom prst="ellipse">
              <a:avLst/>
            </a:prstGeom>
            <a:solidFill>
              <a:srgbClr val="00FFCC">
                <a:alpha val="60001"/>
              </a:srgbClr>
            </a:solidFill>
            <a:ln w="38100">
              <a:solidFill>
                <a:srgbClr val="008080"/>
              </a:solidFill>
              <a:round/>
              <a:headEnd/>
              <a:tailEnd/>
            </a:ln>
            <a:effectLst/>
          </p:spPr>
          <p:txBody>
            <a:bodyPr wrap="none" anchor="ctr"/>
            <a:lstStyle/>
            <a:p>
              <a:endParaRPr lang="zh-CN" altLang="en-US" sz="1050"/>
            </a:p>
          </p:txBody>
        </p:sp>
        <p:sp>
          <p:nvSpPr>
            <p:cNvPr id="39973" name="Text Box 37"/>
            <p:cNvSpPr txBox="1">
              <a:spLocks noChangeArrowheads="1"/>
            </p:cNvSpPr>
            <p:nvPr/>
          </p:nvSpPr>
          <p:spPr bwMode="auto">
            <a:xfrm>
              <a:off x="254" y="2759"/>
              <a:ext cx="1432" cy="453"/>
            </a:xfrm>
            <a:prstGeom prst="rect">
              <a:avLst/>
            </a:prstGeom>
            <a:noFill/>
            <a:ln w="9525">
              <a:noFill/>
              <a:miter lim="800000"/>
              <a:headEnd/>
              <a:tailEnd/>
            </a:ln>
            <a:effectLst/>
          </p:spPr>
          <p:txBody>
            <a:bodyPr/>
            <a:lstStyle/>
            <a:p>
              <a:pPr algn="just"/>
              <a:r>
                <a:rPr kumimoji="1" lang="zh-CN" altLang="en-US" sz="2000" b="1" dirty="0">
                  <a:latin typeface="微软雅黑" panose="020B0503020204020204" pitchFamily="34" charset="-122"/>
                  <a:ea typeface="微软雅黑" panose="020B0503020204020204" pitchFamily="34" charset="-122"/>
                </a:rPr>
                <a:t>平凸透镜</a:t>
              </a:r>
            </a:p>
          </p:txBody>
        </p:sp>
        <p:sp>
          <p:nvSpPr>
            <p:cNvPr id="39974" name="Text Box 38"/>
            <p:cNvSpPr txBox="1">
              <a:spLocks noChangeArrowheads="1"/>
            </p:cNvSpPr>
            <p:nvPr/>
          </p:nvSpPr>
          <p:spPr bwMode="auto">
            <a:xfrm>
              <a:off x="325" y="3051"/>
              <a:ext cx="863" cy="415"/>
            </a:xfrm>
            <a:prstGeom prst="rect">
              <a:avLst/>
            </a:prstGeom>
            <a:noFill/>
            <a:ln w="9525">
              <a:noFill/>
              <a:miter lim="800000"/>
              <a:headEnd/>
              <a:tailEnd/>
            </a:ln>
            <a:effectLst/>
          </p:spPr>
          <p:txBody>
            <a:bodyPr/>
            <a:lstStyle/>
            <a:p>
              <a:pPr algn="just"/>
              <a:r>
                <a:rPr kumimoji="1" lang="zh-CN" altLang="en-US" sz="2000" b="1" dirty="0">
                  <a:latin typeface="微软雅黑" panose="020B0503020204020204" pitchFamily="34" charset="-122"/>
                  <a:ea typeface="微软雅黑" panose="020B0503020204020204" pitchFamily="34" charset="-122"/>
                </a:rPr>
                <a:t>平   晶</a:t>
              </a:r>
            </a:p>
          </p:txBody>
        </p:sp>
        <p:sp>
          <p:nvSpPr>
            <p:cNvPr id="39975" name="Rectangle 39"/>
            <p:cNvSpPr>
              <a:spLocks noChangeArrowheads="1"/>
            </p:cNvSpPr>
            <p:nvPr/>
          </p:nvSpPr>
          <p:spPr bwMode="auto">
            <a:xfrm rot="-3075295">
              <a:off x="2058" y="1205"/>
              <a:ext cx="69" cy="1167"/>
            </a:xfrm>
            <a:prstGeom prst="rect">
              <a:avLst/>
            </a:prstGeom>
            <a:solidFill>
              <a:srgbClr val="FF00FF">
                <a:alpha val="50000"/>
              </a:srgbClr>
            </a:solidFill>
            <a:ln w="38100">
              <a:solidFill>
                <a:srgbClr val="FF00FF"/>
              </a:solidFill>
              <a:miter lim="800000"/>
              <a:headEnd/>
              <a:tailEnd/>
            </a:ln>
            <a:effectLst/>
          </p:spPr>
          <p:txBody>
            <a:bodyPr wrap="none" anchor="ctr"/>
            <a:lstStyle/>
            <a:p>
              <a:endParaRPr lang="zh-CN" altLang="en-US" sz="1050"/>
            </a:p>
          </p:txBody>
        </p:sp>
      </p:grpSp>
      <p:sp>
        <p:nvSpPr>
          <p:cNvPr id="3" name="矩形 2"/>
          <p:cNvSpPr/>
          <p:nvPr/>
        </p:nvSpPr>
        <p:spPr>
          <a:xfrm>
            <a:off x="192576" y="889159"/>
            <a:ext cx="1980029" cy="523220"/>
          </a:xfrm>
          <a:prstGeom prst="rect">
            <a:avLst/>
          </a:prstGeom>
        </p:spPr>
        <p:txBody>
          <a:bodyPr wrap="none">
            <a:spAutoFit/>
          </a:bodyPr>
          <a:lstStyle/>
          <a:p>
            <a:r>
              <a:rPr lang="zh-CN" altLang="en-US" sz="2800" b="1" dirty="0">
                <a:solidFill>
                  <a:srgbClr val="0000FF"/>
                </a:solidFill>
                <a:latin typeface="微软雅黑" panose="020B0503020204020204" pitchFamily="34" charset="-122"/>
                <a:ea typeface="微软雅黑" panose="020B0503020204020204" pitchFamily="34" charset="-122"/>
              </a:rPr>
              <a:t>牛顿环光路</a:t>
            </a:r>
            <a:endParaRPr lang="zh-CN" altLang="en-US" sz="2800" dirty="0">
              <a:solidFill>
                <a:srgbClr val="0000FF"/>
              </a:solidFill>
            </a:endParaRPr>
          </a:p>
        </p:txBody>
      </p:sp>
      <p:sp>
        <p:nvSpPr>
          <p:cNvPr id="4" name="WordArt 51">
            <a:extLst>
              <a:ext uri="{FF2B5EF4-FFF2-40B4-BE49-F238E27FC236}">
                <a16:creationId xmlns:a16="http://schemas.microsoft.com/office/drawing/2014/main" id="{EEF08B13-D5EE-0FD9-1861-8FBA75CD2E0F}"/>
              </a:ext>
            </a:extLst>
          </p:cNvPr>
          <p:cNvSpPr>
            <a:spLocks noChangeArrowheads="1" noChangeShapeType="1"/>
          </p:cNvSpPr>
          <p:nvPr/>
        </p:nvSpPr>
        <p:spPr bwMode="auto">
          <a:xfrm>
            <a:off x="142844" y="71414"/>
            <a:ext cx="1729499" cy="409097"/>
          </a:xfrm>
          <a:prstGeom prst="rect">
            <a:avLst/>
          </a:prstGeom>
        </p:spPr>
        <p:txBody>
          <a:bodyPr wrap="none" fromWordArt="1">
            <a:prstTxWarp prst="textPlain">
              <a:avLst>
                <a:gd name="adj" fmla="val 50000"/>
              </a:avLst>
            </a:prstTxWarp>
          </a:bodyPr>
          <a:lstStyle/>
          <a:p>
            <a:pPr algn="ctr"/>
            <a:r>
              <a:rPr lang="zh-CN" altLang="en-US" sz="3600" dirty="0">
                <a:ln w="9525">
                  <a:noFill/>
                  <a:round/>
                  <a:headEnd/>
                  <a:tailEnd/>
                </a:ln>
                <a:gradFill rotWithShape="0">
                  <a:gsLst>
                    <a:gs pos="0">
                      <a:schemeClr val="bg1"/>
                    </a:gs>
                    <a:gs pos="100000">
                      <a:srgbClr val="FFFE7D"/>
                    </a:gs>
                  </a:gsLst>
                  <a:lin ang="5400000" scaled="1"/>
                </a:gradFill>
                <a:effectLst>
                  <a:outerShdw dist="38100" dir="5400000" algn="ctr" rotWithShape="0">
                    <a:srgbClr val="4D4D4D">
                      <a:alpha val="76999"/>
                    </a:srgbClr>
                  </a:outerShdw>
                </a:effectLst>
                <a:latin typeface="华文琥珀"/>
                <a:ea typeface="华文琥珀"/>
              </a:rPr>
              <a:t>实验介绍</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strips(downRight)">
                                      <p:cBhvr>
                                        <p:cTn id="7" dur="500"/>
                                        <p:tgtEl>
                                          <p:spTgt spid="3993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44295" y="2585815"/>
            <a:ext cx="2525315" cy="733425"/>
            <a:chOff x="-345" y="382"/>
            <a:chExt cx="2040" cy="616"/>
          </a:xfrm>
        </p:grpSpPr>
        <p:graphicFrame>
          <p:nvGraphicFramePr>
            <p:cNvPr id="41987" name="Object 3"/>
            <p:cNvGraphicFramePr>
              <a:graphicFrameLocks noChangeAspect="1"/>
            </p:cNvGraphicFramePr>
            <p:nvPr/>
          </p:nvGraphicFramePr>
          <p:xfrm>
            <a:off x="576" y="382"/>
            <a:ext cx="1119" cy="616"/>
          </p:xfrm>
          <a:graphic>
            <a:graphicData uri="http://schemas.openxmlformats.org/presentationml/2006/ole">
              <mc:AlternateContent xmlns:mc="http://schemas.openxmlformats.org/markup-compatibility/2006">
                <mc:Choice xmlns:v="urn:schemas-microsoft-com:vml" Requires="v">
                  <p:oleObj name="公式" r:id="rId2" imgW="799753" imgH="406224" progId="Equation.3">
                    <p:embed/>
                  </p:oleObj>
                </mc:Choice>
                <mc:Fallback>
                  <p:oleObj name="公式" r:id="rId2" imgW="799753" imgH="406224" progId="Equation.3">
                    <p:embed/>
                    <p:pic>
                      <p:nvPicPr>
                        <p:cNvPr id="4198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 y="382"/>
                          <a:ext cx="1119" cy="6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88" name="Text Box 4"/>
            <p:cNvSpPr txBox="1">
              <a:spLocks noChangeArrowheads="1"/>
            </p:cNvSpPr>
            <p:nvPr/>
          </p:nvSpPr>
          <p:spPr bwMode="auto">
            <a:xfrm>
              <a:off x="-345" y="510"/>
              <a:ext cx="1296" cy="388"/>
            </a:xfrm>
            <a:prstGeom prst="rect">
              <a:avLst/>
            </a:prstGeom>
            <a:noFill/>
            <a:ln w="9525">
              <a:noFill/>
              <a:miter lim="800000"/>
              <a:headEnd/>
              <a:tailEnd/>
            </a:ln>
            <a:effectLst/>
          </p:spPr>
          <p:txBody>
            <a:bodyPr>
              <a:spAutoFit/>
            </a:bodyPr>
            <a:lstStyle/>
            <a:p>
              <a:pPr>
                <a:spcBef>
                  <a:spcPct val="50000"/>
                </a:spcBef>
              </a:pPr>
              <a:r>
                <a:rPr lang="zh-CN" altLang="en-US" sz="2400" b="1" dirty="0">
                  <a:latin typeface="微软雅黑" panose="020B0503020204020204" pitchFamily="34" charset="-122"/>
                  <a:ea typeface="微软雅黑" panose="020B0503020204020204" pitchFamily="34" charset="-122"/>
                </a:rPr>
                <a:t>光程差</a:t>
              </a:r>
            </a:p>
          </p:txBody>
        </p:sp>
      </p:grpSp>
      <p:grpSp>
        <p:nvGrpSpPr>
          <p:cNvPr id="3" name="Group 5"/>
          <p:cNvGrpSpPr>
            <a:grpSpLocks/>
          </p:cNvGrpSpPr>
          <p:nvPr/>
        </p:nvGrpSpPr>
        <p:grpSpPr bwMode="auto">
          <a:xfrm>
            <a:off x="494933" y="3459211"/>
            <a:ext cx="711994" cy="742950"/>
            <a:chOff x="158" y="1355"/>
            <a:chExt cx="598" cy="624"/>
          </a:xfrm>
        </p:grpSpPr>
        <p:graphicFrame>
          <p:nvGraphicFramePr>
            <p:cNvPr id="41990" name="Object 6"/>
            <p:cNvGraphicFramePr>
              <a:graphicFrameLocks noChangeAspect="1"/>
            </p:cNvGraphicFramePr>
            <p:nvPr/>
          </p:nvGraphicFramePr>
          <p:xfrm>
            <a:off x="158" y="1494"/>
            <a:ext cx="454" cy="303"/>
          </p:xfrm>
          <a:graphic>
            <a:graphicData uri="http://schemas.openxmlformats.org/presentationml/2006/ole">
              <mc:AlternateContent xmlns:mc="http://schemas.openxmlformats.org/markup-compatibility/2006">
                <mc:Choice xmlns:v="urn:schemas-microsoft-com:vml" Requires="v">
                  <p:oleObj name="公式" r:id="rId4" imgW="266353" imgH="177569" progId="Equation.3">
                    <p:embed/>
                  </p:oleObj>
                </mc:Choice>
                <mc:Fallback>
                  <p:oleObj name="公式" r:id="rId4" imgW="266353" imgH="177569" progId="Equation.3">
                    <p:embed/>
                    <p:pic>
                      <p:nvPicPr>
                        <p:cNvPr id="4199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 y="1494"/>
                          <a:ext cx="454" cy="3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91" name="AutoShape 7"/>
            <p:cNvSpPr>
              <a:spLocks/>
            </p:cNvSpPr>
            <p:nvPr/>
          </p:nvSpPr>
          <p:spPr bwMode="auto">
            <a:xfrm>
              <a:off x="612" y="1355"/>
              <a:ext cx="144" cy="624"/>
            </a:xfrm>
            <a:prstGeom prst="leftBrace">
              <a:avLst>
                <a:gd name="adj1" fmla="val 36111"/>
                <a:gd name="adj2" fmla="val 50000"/>
              </a:avLst>
            </a:prstGeom>
            <a:noFill/>
            <a:ln w="28575">
              <a:solidFill>
                <a:srgbClr val="FF0000"/>
              </a:solidFill>
              <a:round/>
              <a:headEnd/>
              <a:tailEnd/>
            </a:ln>
            <a:effectLst/>
          </p:spPr>
          <p:txBody>
            <a:bodyPr wrap="none" anchor="ctr"/>
            <a:lstStyle/>
            <a:p>
              <a:endParaRPr lang="zh-CN" altLang="en-US" sz="2400" b="1">
                <a:latin typeface="微软雅黑" panose="020B0503020204020204" pitchFamily="34" charset="-122"/>
                <a:ea typeface="微软雅黑" panose="020B0503020204020204" pitchFamily="34" charset="-122"/>
              </a:endParaRPr>
            </a:p>
          </p:txBody>
        </p:sp>
      </p:grpSp>
      <p:grpSp>
        <p:nvGrpSpPr>
          <p:cNvPr id="4" name="Group 8"/>
          <p:cNvGrpSpPr>
            <a:grpSpLocks/>
          </p:cNvGrpSpPr>
          <p:nvPr/>
        </p:nvGrpSpPr>
        <p:grpSpPr bwMode="auto">
          <a:xfrm>
            <a:off x="1280359" y="3262239"/>
            <a:ext cx="3504010" cy="461962"/>
            <a:chOff x="490" y="1831"/>
            <a:chExt cx="2943" cy="388"/>
          </a:xfrm>
        </p:grpSpPr>
        <p:graphicFrame>
          <p:nvGraphicFramePr>
            <p:cNvPr id="41993" name="Object 9"/>
            <p:cNvGraphicFramePr>
              <a:graphicFrameLocks noChangeAspect="1"/>
            </p:cNvGraphicFramePr>
            <p:nvPr/>
          </p:nvGraphicFramePr>
          <p:xfrm>
            <a:off x="490" y="1842"/>
            <a:ext cx="1652" cy="338"/>
          </p:xfrm>
          <a:graphic>
            <a:graphicData uri="http://schemas.openxmlformats.org/presentationml/2006/ole">
              <mc:AlternateContent xmlns:mc="http://schemas.openxmlformats.org/markup-compatibility/2006">
                <mc:Choice xmlns:v="urn:schemas-microsoft-com:vml" Requires="v">
                  <p:oleObj name="公式" r:id="rId6" imgW="1079032" imgH="215806" progId="Equation.3">
                    <p:embed/>
                  </p:oleObj>
                </mc:Choice>
                <mc:Fallback>
                  <p:oleObj name="公式" r:id="rId6" imgW="1079032" imgH="215806" progId="Equation.3">
                    <p:embed/>
                    <p:pic>
                      <p:nvPicPr>
                        <p:cNvPr id="41993"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0" y="1842"/>
                          <a:ext cx="1652" cy="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94" name="Text Box 10"/>
            <p:cNvSpPr txBox="1">
              <a:spLocks noChangeArrowheads="1"/>
            </p:cNvSpPr>
            <p:nvPr/>
          </p:nvSpPr>
          <p:spPr bwMode="auto">
            <a:xfrm>
              <a:off x="2233" y="1831"/>
              <a:ext cx="1200" cy="388"/>
            </a:xfrm>
            <a:prstGeom prst="rect">
              <a:avLst/>
            </a:prstGeom>
            <a:noFill/>
            <a:ln w="9525">
              <a:noFill/>
              <a:miter lim="800000"/>
              <a:headEnd/>
              <a:tailEnd/>
            </a:ln>
            <a:effectLst/>
          </p:spPr>
          <p:txBody>
            <a:bodyPr>
              <a:spAutoFit/>
            </a:bodyPr>
            <a:lstStyle/>
            <a:p>
              <a:pPr>
                <a:spcBef>
                  <a:spcPct val="50000"/>
                </a:spcBef>
              </a:pPr>
              <a:r>
                <a:rPr lang="zh-CN" altLang="zh-CN" sz="2400" b="1" dirty="0">
                  <a:solidFill>
                    <a:srgbClr val="FF0000"/>
                  </a:solidFill>
                  <a:latin typeface="微软雅黑" panose="020B0503020204020204" pitchFamily="34" charset="-122"/>
                  <a:ea typeface="微软雅黑" panose="020B0503020204020204" pitchFamily="34" charset="-122"/>
                </a:rPr>
                <a:t>明</a:t>
              </a:r>
              <a:r>
                <a:rPr lang="zh-CN" altLang="en-US" sz="2400" b="1" dirty="0">
                  <a:solidFill>
                    <a:srgbClr val="FF0000"/>
                  </a:solidFill>
                  <a:latin typeface="微软雅黑" panose="020B0503020204020204" pitchFamily="34" charset="-122"/>
                  <a:ea typeface="微软雅黑" panose="020B0503020204020204" pitchFamily="34" charset="-122"/>
                </a:rPr>
                <a:t>环</a:t>
              </a:r>
            </a:p>
          </p:txBody>
        </p:sp>
      </p:grpSp>
      <p:grpSp>
        <p:nvGrpSpPr>
          <p:cNvPr id="5" name="Group 11"/>
          <p:cNvGrpSpPr>
            <a:grpSpLocks/>
          </p:cNvGrpSpPr>
          <p:nvPr/>
        </p:nvGrpSpPr>
        <p:grpSpPr bwMode="auto">
          <a:xfrm>
            <a:off x="1241902" y="3736890"/>
            <a:ext cx="3349228" cy="676275"/>
            <a:chOff x="414" y="2160"/>
            <a:chExt cx="2813" cy="568"/>
          </a:xfrm>
        </p:grpSpPr>
        <p:graphicFrame>
          <p:nvGraphicFramePr>
            <p:cNvPr id="41996" name="Object 12"/>
            <p:cNvGraphicFramePr>
              <a:graphicFrameLocks noChangeAspect="1"/>
            </p:cNvGraphicFramePr>
            <p:nvPr/>
          </p:nvGraphicFramePr>
          <p:xfrm>
            <a:off x="414" y="2160"/>
            <a:ext cx="1894" cy="568"/>
          </p:xfrm>
          <a:graphic>
            <a:graphicData uri="http://schemas.openxmlformats.org/presentationml/2006/ole">
              <mc:AlternateContent xmlns:mc="http://schemas.openxmlformats.org/markup-compatibility/2006">
                <mc:Choice xmlns:v="urn:schemas-microsoft-com:vml" Requires="v">
                  <p:oleObj name="公式" r:id="rId8" imgW="1536033" imgH="406224" progId="Equation.3">
                    <p:embed/>
                  </p:oleObj>
                </mc:Choice>
                <mc:Fallback>
                  <p:oleObj name="公式" r:id="rId8" imgW="1536033" imgH="406224" progId="Equation.3">
                    <p:embed/>
                    <p:pic>
                      <p:nvPicPr>
                        <p:cNvPr id="41996"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4" y="2160"/>
                          <a:ext cx="1894" cy="5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97" name="Text Box 13"/>
            <p:cNvSpPr txBox="1">
              <a:spLocks noChangeArrowheads="1"/>
            </p:cNvSpPr>
            <p:nvPr/>
          </p:nvSpPr>
          <p:spPr bwMode="auto">
            <a:xfrm>
              <a:off x="2315" y="2250"/>
              <a:ext cx="912" cy="388"/>
            </a:xfrm>
            <a:prstGeom prst="rect">
              <a:avLst/>
            </a:prstGeom>
            <a:noFill/>
            <a:ln w="9525">
              <a:noFill/>
              <a:miter lim="800000"/>
              <a:headEnd/>
              <a:tailEnd/>
            </a:ln>
            <a:effectLst/>
          </p:spPr>
          <p:txBody>
            <a:bodyPr>
              <a:spAutoFit/>
            </a:bodyPr>
            <a:lstStyle/>
            <a:p>
              <a:pPr>
                <a:spcBef>
                  <a:spcPct val="50000"/>
                </a:spcBef>
              </a:pPr>
              <a:r>
                <a:rPr lang="zh-CN" altLang="en-US" sz="2400" b="1" dirty="0">
                  <a:solidFill>
                    <a:srgbClr val="FF0000"/>
                  </a:solidFill>
                  <a:latin typeface="微软雅黑" panose="020B0503020204020204" pitchFamily="34" charset="-122"/>
                  <a:ea typeface="微软雅黑" panose="020B0503020204020204" pitchFamily="34" charset="-122"/>
                </a:rPr>
                <a:t>暗环</a:t>
              </a:r>
            </a:p>
          </p:txBody>
        </p:sp>
      </p:grpSp>
      <p:sp>
        <p:nvSpPr>
          <p:cNvPr id="41998" name="Text Box 14"/>
          <p:cNvSpPr txBox="1">
            <a:spLocks noChangeArrowheads="1"/>
          </p:cNvSpPr>
          <p:nvPr/>
        </p:nvSpPr>
        <p:spPr bwMode="auto">
          <a:xfrm>
            <a:off x="541514" y="1664855"/>
            <a:ext cx="4226719" cy="461665"/>
          </a:xfrm>
          <a:prstGeom prst="rect">
            <a:avLst/>
          </a:prstGeom>
          <a:noFill/>
          <a:ln w="9525">
            <a:noFill/>
            <a:miter lim="800000"/>
            <a:headEnd/>
            <a:tailEnd/>
          </a:ln>
          <a:effectLst/>
        </p:spPr>
        <p:txBody>
          <a:bodyPr>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相干加强、相干减弱的条件：</a:t>
            </a:r>
          </a:p>
        </p:txBody>
      </p:sp>
      <p:grpSp>
        <p:nvGrpSpPr>
          <p:cNvPr id="6" name="Group 15"/>
          <p:cNvGrpSpPr>
            <a:grpSpLocks/>
          </p:cNvGrpSpPr>
          <p:nvPr/>
        </p:nvGrpSpPr>
        <p:grpSpPr bwMode="auto">
          <a:xfrm>
            <a:off x="5438499" y="1346523"/>
            <a:ext cx="2299097" cy="2331244"/>
            <a:chOff x="113" y="489"/>
            <a:chExt cx="1931" cy="1958"/>
          </a:xfrm>
        </p:grpSpPr>
        <p:sp>
          <p:nvSpPr>
            <p:cNvPr id="42000" name="AutoShape 16"/>
            <p:cNvSpPr>
              <a:spLocks noChangeArrowheads="1"/>
            </p:cNvSpPr>
            <p:nvPr/>
          </p:nvSpPr>
          <p:spPr bwMode="auto">
            <a:xfrm>
              <a:off x="113" y="1767"/>
              <a:ext cx="1931" cy="529"/>
            </a:xfrm>
            <a:custGeom>
              <a:avLst/>
              <a:gdLst>
                <a:gd name="G0" fmla="+- 164 0 0"/>
                <a:gd name="G1" fmla="+- 0 0 0"/>
                <a:gd name="G2" fmla="+- 0 0 0"/>
                <a:gd name="T0" fmla="*/ 0 256 1"/>
                <a:gd name="T1" fmla="*/ 180 256 1"/>
                <a:gd name="G3" fmla="+- 0 T0 T1"/>
                <a:gd name="T2" fmla="*/ 0 256 1"/>
                <a:gd name="T3" fmla="*/ 90 256 1"/>
                <a:gd name="G4" fmla="+- 0 T2 T3"/>
                <a:gd name="G5" fmla="*/ G4 2 1"/>
                <a:gd name="T4" fmla="*/ 90 256 1"/>
                <a:gd name="T5" fmla="*/ 0 256 1"/>
                <a:gd name="G6" fmla="+- 0 T4 T5"/>
                <a:gd name="G7" fmla="*/ G6 2 1"/>
                <a:gd name="G8" fmla="abs 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64"/>
                <a:gd name="G18" fmla="*/ 164 1 2"/>
                <a:gd name="G19" fmla="+- G18 5400 0"/>
                <a:gd name="G20" fmla="cos G19 0"/>
                <a:gd name="G21" fmla="sin G19 0"/>
                <a:gd name="G22" fmla="+- G20 10800 0"/>
                <a:gd name="G23" fmla="+- G21 10800 0"/>
                <a:gd name="G24" fmla="+- 10800 0 G20"/>
                <a:gd name="G25" fmla="+- 164 10800 0"/>
                <a:gd name="G26" fmla="?: G9 G17 G25"/>
                <a:gd name="G27" fmla="?: G9 0 21600"/>
                <a:gd name="G28" fmla="cos 10800 0"/>
                <a:gd name="G29" fmla="sin 10800 0"/>
                <a:gd name="G30" fmla="sin 164 0"/>
                <a:gd name="G31" fmla="+- G28 10800 0"/>
                <a:gd name="G32" fmla="+- G29 10800 0"/>
                <a:gd name="G33" fmla="+- G30 10800 0"/>
                <a:gd name="G34" fmla="?: G4 0 G31"/>
                <a:gd name="G35" fmla="?: 0 G34 0"/>
                <a:gd name="G36" fmla="?: G6 G35 G31"/>
                <a:gd name="G37" fmla="+- 21600 0 G36"/>
                <a:gd name="G38" fmla="?: G4 0 G33"/>
                <a:gd name="G39" fmla="?: 0 G38 G32"/>
                <a:gd name="G40" fmla="?: G6 G39 0"/>
                <a:gd name="G41" fmla="?: G4 G32 21600"/>
                <a:gd name="G42" fmla="?: G6 G41 G33"/>
                <a:gd name="T12" fmla="*/ 10800 w 21600"/>
                <a:gd name="T13" fmla="*/ 21600 h 21600"/>
                <a:gd name="T14" fmla="*/ 16282 w 21600"/>
                <a:gd name="T15" fmla="*/ 10800 h 21600"/>
                <a:gd name="T16" fmla="*/ 10800 w 21600"/>
                <a:gd name="T17" fmla="*/ 10964 h 21600"/>
                <a:gd name="T18" fmla="*/ 531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964" y="10800"/>
                  </a:moveTo>
                  <a:cubicBezTo>
                    <a:pt x="10964" y="10890"/>
                    <a:pt x="10890" y="10964"/>
                    <a:pt x="10800" y="10964"/>
                  </a:cubicBezTo>
                  <a:cubicBezTo>
                    <a:pt x="10709" y="10964"/>
                    <a:pt x="10636" y="10890"/>
                    <a:pt x="10636" y="10800"/>
                  </a:cubicBezTo>
                  <a:lnTo>
                    <a:pt x="0" y="10800"/>
                  </a:lnTo>
                  <a:cubicBezTo>
                    <a:pt x="0" y="16764"/>
                    <a:pt x="4835" y="21600"/>
                    <a:pt x="10800" y="21600"/>
                  </a:cubicBezTo>
                  <a:cubicBezTo>
                    <a:pt x="16764" y="21600"/>
                    <a:pt x="21600" y="16764"/>
                    <a:pt x="21600" y="10800"/>
                  </a:cubicBezTo>
                  <a:close/>
                </a:path>
              </a:pathLst>
            </a:custGeom>
            <a:solidFill>
              <a:srgbClr val="00FFCC">
                <a:alpha val="50000"/>
              </a:srgbClr>
            </a:solidFill>
            <a:ln w="38100">
              <a:solidFill>
                <a:srgbClr val="008080"/>
              </a:solidFill>
              <a:miter lim="800000"/>
              <a:headEnd/>
              <a:tailEnd/>
            </a:ln>
            <a:effectLst/>
          </p:spPr>
          <p:txBody>
            <a:bodyPr wrap="none" anchor="ctr"/>
            <a:lstStyle/>
            <a:p>
              <a:endParaRPr lang="zh-CN" altLang="en-US" sz="1050" dirty="0"/>
            </a:p>
          </p:txBody>
        </p:sp>
        <p:sp>
          <p:nvSpPr>
            <p:cNvPr id="42001" name="Line 17"/>
            <p:cNvSpPr>
              <a:spLocks noChangeShapeType="1"/>
            </p:cNvSpPr>
            <p:nvPr/>
          </p:nvSpPr>
          <p:spPr bwMode="auto">
            <a:xfrm>
              <a:off x="1083" y="634"/>
              <a:ext cx="708" cy="1571"/>
            </a:xfrm>
            <a:prstGeom prst="line">
              <a:avLst/>
            </a:prstGeom>
            <a:noFill/>
            <a:ln w="38100">
              <a:solidFill>
                <a:srgbClr val="D400D4"/>
              </a:solidFill>
              <a:round/>
              <a:headEnd type="none" w="sm" len="lg"/>
              <a:tailEnd type="none" w="sm" len="lg"/>
            </a:ln>
            <a:effectLst/>
          </p:spPr>
          <p:txBody>
            <a:bodyPr wrap="none" anchor="ctr"/>
            <a:lstStyle/>
            <a:p>
              <a:endParaRPr lang="zh-CN" altLang="en-US" sz="1050"/>
            </a:p>
          </p:txBody>
        </p:sp>
        <p:sp>
          <p:nvSpPr>
            <p:cNvPr id="42002" name="Rectangle 18"/>
            <p:cNvSpPr>
              <a:spLocks noChangeArrowheads="1"/>
            </p:cNvSpPr>
            <p:nvPr/>
          </p:nvSpPr>
          <p:spPr bwMode="auto">
            <a:xfrm>
              <a:off x="113" y="2296"/>
              <a:ext cx="1931" cy="151"/>
            </a:xfrm>
            <a:prstGeom prst="rect">
              <a:avLst/>
            </a:prstGeom>
            <a:solidFill>
              <a:srgbClr val="66CCFF">
                <a:alpha val="50000"/>
              </a:srgbClr>
            </a:solidFill>
            <a:ln w="38100">
              <a:solidFill>
                <a:srgbClr val="008080"/>
              </a:solidFill>
              <a:miter lim="800000"/>
              <a:headEnd/>
              <a:tailEnd/>
            </a:ln>
            <a:effectLst/>
          </p:spPr>
          <p:txBody>
            <a:bodyPr wrap="none" anchor="ctr"/>
            <a:lstStyle/>
            <a:p>
              <a:endParaRPr lang="zh-CN" altLang="en-US" sz="1050"/>
            </a:p>
          </p:txBody>
        </p:sp>
        <p:graphicFrame>
          <p:nvGraphicFramePr>
            <p:cNvPr id="42003" name="Object 19"/>
            <p:cNvGraphicFramePr>
              <a:graphicFrameLocks noChangeAspect="1"/>
            </p:cNvGraphicFramePr>
            <p:nvPr/>
          </p:nvGraphicFramePr>
          <p:xfrm>
            <a:off x="1383" y="1071"/>
            <a:ext cx="313" cy="287"/>
          </p:xfrm>
          <a:graphic>
            <a:graphicData uri="http://schemas.openxmlformats.org/presentationml/2006/ole">
              <mc:AlternateContent xmlns:mc="http://schemas.openxmlformats.org/markup-compatibility/2006">
                <mc:Choice xmlns:v="urn:schemas-microsoft-com:vml" Requires="v">
                  <p:oleObj name="公式" r:id="rId10" imgW="164885" imgH="164885" progId="Equation.3">
                    <p:embed/>
                  </p:oleObj>
                </mc:Choice>
                <mc:Fallback>
                  <p:oleObj name="公式" r:id="rId10" imgW="164885" imgH="164885" progId="Equation.3">
                    <p:embed/>
                    <p:pic>
                      <p:nvPicPr>
                        <p:cNvPr id="42003" name="Object 1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83" y="1071"/>
                          <a:ext cx="313" cy="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004" name="Line 20"/>
            <p:cNvSpPr>
              <a:spLocks noChangeShapeType="1"/>
            </p:cNvSpPr>
            <p:nvPr/>
          </p:nvSpPr>
          <p:spPr bwMode="auto">
            <a:xfrm>
              <a:off x="1078" y="621"/>
              <a:ext cx="0" cy="1675"/>
            </a:xfrm>
            <a:prstGeom prst="line">
              <a:avLst/>
            </a:prstGeom>
            <a:noFill/>
            <a:ln w="38100">
              <a:solidFill>
                <a:srgbClr val="D400D4"/>
              </a:solidFill>
              <a:round/>
              <a:headEnd type="none" w="sm" len="lg"/>
              <a:tailEnd type="none" w="sm" len="lg"/>
            </a:ln>
            <a:effectLst/>
          </p:spPr>
          <p:txBody>
            <a:bodyPr wrap="none" anchor="ctr"/>
            <a:lstStyle/>
            <a:p>
              <a:endParaRPr lang="zh-CN" altLang="en-US" sz="1050"/>
            </a:p>
          </p:txBody>
        </p:sp>
        <p:graphicFrame>
          <p:nvGraphicFramePr>
            <p:cNvPr id="42005" name="Object 21"/>
            <p:cNvGraphicFramePr>
              <a:graphicFrameLocks noChangeAspect="1"/>
            </p:cNvGraphicFramePr>
            <p:nvPr/>
          </p:nvGraphicFramePr>
          <p:xfrm>
            <a:off x="825" y="489"/>
            <a:ext cx="241" cy="243"/>
          </p:xfrm>
          <a:graphic>
            <a:graphicData uri="http://schemas.openxmlformats.org/presentationml/2006/ole">
              <mc:AlternateContent xmlns:mc="http://schemas.openxmlformats.org/markup-compatibility/2006">
                <mc:Choice xmlns:v="urn:schemas-microsoft-com:vml" Requires="v">
                  <p:oleObj name="公式" r:id="rId12" imgW="126835" imgH="139518" progId="Equation.3">
                    <p:embed/>
                  </p:oleObj>
                </mc:Choice>
                <mc:Fallback>
                  <p:oleObj name="公式" r:id="rId12" imgW="126835" imgH="139518" progId="Equation.3">
                    <p:embed/>
                    <p:pic>
                      <p:nvPicPr>
                        <p:cNvPr id="42005" name="Object 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25" y="489"/>
                          <a:ext cx="241" cy="2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7" name="Group 22"/>
          <p:cNvGrpSpPr>
            <a:grpSpLocks/>
          </p:cNvGrpSpPr>
          <p:nvPr/>
        </p:nvGrpSpPr>
        <p:grpSpPr bwMode="auto">
          <a:xfrm>
            <a:off x="6573164" y="2974107"/>
            <a:ext cx="1871663" cy="956072"/>
            <a:chOff x="1066" y="1856"/>
            <a:chExt cx="1572" cy="803"/>
          </a:xfrm>
        </p:grpSpPr>
        <p:sp>
          <p:nvSpPr>
            <p:cNvPr id="42007" name="Line 23"/>
            <p:cNvSpPr>
              <a:spLocks noChangeShapeType="1"/>
            </p:cNvSpPr>
            <p:nvPr/>
          </p:nvSpPr>
          <p:spPr bwMode="auto">
            <a:xfrm flipH="1">
              <a:off x="1066" y="2205"/>
              <a:ext cx="1491" cy="0"/>
            </a:xfrm>
            <a:prstGeom prst="line">
              <a:avLst/>
            </a:prstGeom>
            <a:noFill/>
            <a:ln w="22225">
              <a:solidFill>
                <a:schemeClr val="tx1"/>
              </a:solidFill>
              <a:prstDash val="dash"/>
              <a:round/>
              <a:headEnd type="none" w="sm" len="lg"/>
              <a:tailEnd type="none" w="sm" len="lg"/>
            </a:ln>
            <a:effectLst/>
          </p:spPr>
          <p:txBody>
            <a:bodyPr wrap="none" anchor="ctr"/>
            <a:lstStyle/>
            <a:p>
              <a:endParaRPr lang="zh-CN" altLang="en-US" sz="1050"/>
            </a:p>
          </p:txBody>
        </p:sp>
        <p:sp>
          <p:nvSpPr>
            <p:cNvPr id="42008" name="Line 24"/>
            <p:cNvSpPr>
              <a:spLocks noChangeShapeType="1"/>
            </p:cNvSpPr>
            <p:nvPr/>
          </p:nvSpPr>
          <p:spPr bwMode="auto">
            <a:xfrm>
              <a:off x="2306" y="1856"/>
              <a:ext cx="0" cy="350"/>
            </a:xfrm>
            <a:prstGeom prst="line">
              <a:avLst/>
            </a:prstGeom>
            <a:noFill/>
            <a:ln w="22225">
              <a:solidFill>
                <a:srgbClr val="FF0066"/>
              </a:solidFill>
              <a:round/>
              <a:headEnd type="none" w="sm" len="lg"/>
              <a:tailEnd type="triangle" w="sm" len="lg"/>
            </a:ln>
            <a:effectLst/>
          </p:spPr>
          <p:txBody>
            <a:bodyPr wrap="none" anchor="ctr"/>
            <a:lstStyle/>
            <a:p>
              <a:endParaRPr lang="zh-CN" altLang="en-US" sz="1050"/>
            </a:p>
          </p:txBody>
        </p:sp>
        <p:sp>
          <p:nvSpPr>
            <p:cNvPr id="42009" name="Line 25"/>
            <p:cNvSpPr>
              <a:spLocks noChangeShapeType="1"/>
            </p:cNvSpPr>
            <p:nvPr/>
          </p:nvSpPr>
          <p:spPr bwMode="auto">
            <a:xfrm flipV="1">
              <a:off x="2306" y="2310"/>
              <a:ext cx="0" cy="349"/>
            </a:xfrm>
            <a:prstGeom prst="line">
              <a:avLst/>
            </a:prstGeom>
            <a:noFill/>
            <a:ln w="22225">
              <a:solidFill>
                <a:srgbClr val="FF0066"/>
              </a:solidFill>
              <a:round/>
              <a:headEnd type="none" w="sm" len="lg"/>
              <a:tailEnd type="triangle" w="sm" len="lg"/>
            </a:ln>
            <a:effectLst/>
          </p:spPr>
          <p:txBody>
            <a:bodyPr wrap="none" anchor="ctr"/>
            <a:lstStyle/>
            <a:p>
              <a:endParaRPr lang="zh-CN" altLang="en-US" sz="1050"/>
            </a:p>
          </p:txBody>
        </p:sp>
        <p:sp>
          <p:nvSpPr>
            <p:cNvPr id="42010" name="Line 26"/>
            <p:cNvSpPr>
              <a:spLocks noChangeShapeType="1"/>
            </p:cNvSpPr>
            <p:nvPr/>
          </p:nvSpPr>
          <p:spPr bwMode="auto">
            <a:xfrm flipH="1">
              <a:off x="1066" y="2296"/>
              <a:ext cx="1491" cy="0"/>
            </a:xfrm>
            <a:prstGeom prst="line">
              <a:avLst/>
            </a:prstGeom>
            <a:noFill/>
            <a:ln w="22225">
              <a:solidFill>
                <a:schemeClr val="tx1"/>
              </a:solidFill>
              <a:prstDash val="dash"/>
              <a:round/>
              <a:headEnd type="none" w="sm" len="lg"/>
              <a:tailEnd type="none" w="sm" len="lg"/>
            </a:ln>
            <a:effectLst/>
          </p:spPr>
          <p:txBody>
            <a:bodyPr wrap="none" anchor="ctr"/>
            <a:lstStyle/>
            <a:p>
              <a:endParaRPr lang="zh-CN" altLang="en-US" sz="1050"/>
            </a:p>
          </p:txBody>
        </p:sp>
        <p:graphicFrame>
          <p:nvGraphicFramePr>
            <p:cNvPr id="42011" name="Object 27"/>
            <p:cNvGraphicFramePr>
              <a:graphicFrameLocks noChangeAspect="1"/>
            </p:cNvGraphicFramePr>
            <p:nvPr/>
          </p:nvGraphicFramePr>
          <p:xfrm>
            <a:off x="2336" y="1887"/>
            <a:ext cx="302" cy="318"/>
          </p:xfrm>
          <a:graphic>
            <a:graphicData uri="http://schemas.openxmlformats.org/presentationml/2006/ole">
              <mc:AlternateContent xmlns:mc="http://schemas.openxmlformats.org/markup-compatibility/2006">
                <mc:Choice xmlns:v="urn:schemas-microsoft-com:vml" Requires="v">
                  <p:oleObj name="公式" r:id="rId14" imgW="114201" imgH="139579" progId="Equation.3">
                    <p:embed/>
                  </p:oleObj>
                </mc:Choice>
                <mc:Fallback>
                  <p:oleObj name="公式" r:id="rId14" imgW="114201" imgH="139579" progId="Equation.3">
                    <p:embed/>
                    <p:pic>
                      <p:nvPicPr>
                        <p:cNvPr id="42011" name="Object 2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36" y="1887"/>
                          <a:ext cx="302" cy="3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8" name="Group 28"/>
          <p:cNvGrpSpPr>
            <a:grpSpLocks/>
          </p:cNvGrpSpPr>
          <p:nvPr/>
        </p:nvGrpSpPr>
        <p:grpSpPr bwMode="auto">
          <a:xfrm>
            <a:off x="6573164" y="3065782"/>
            <a:ext cx="976313" cy="392906"/>
            <a:chOff x="1066" y="1933"/>
            <a:chExt cx="820" cy="330"/>
          </a:xfrm>
        </p:grpSpPr>
        <p:sp>
          <p:nvSpPr>
            <p:cNvPr id="42013" name="Line 29"/>
            <p:cNvSpPr>
              <a:spLocks noChangeShapeType="1"/>
            </p:cNvSpPr>
            <p:nvPr/>
          </p:nvSpPr>
          <p:spPr bwMode="auto">
            <a:xfrm>
              <a:off x="1066" y="2204"/>
              <a:ext cx="694" cy="1"/>
            </a:xfrm>
            <a:prstGeom prst="line">
              <a:avLst/>
            </a:prstGeom>
            <a:noFill/>
            <a:ln w="38100">
              <a:solidFill>
                <a:srgbClr val="CC3300"/>
              </a:solidFill>
              <a:round/>
              <a:headEnd type="stealth" w="med" len="lg"/>
              <a:tailEnd type="stealth" w="med" len="lg"/>
            </a:ln>
            <a:effectLst/>
          </p:spPr>
          <p:txBody>
            <a:bodyPr wrap="none" anchor="ctr"/>
            <a:lstStyle/>
            <a:p>
              <a:endParaRPr lang="zh-CN" altLang="en-US" sz="1050"/>
            </a:p>
          </p:txBody>
        </p:sp>
        <p:sp>
          <p:nvSpPr>
            <p:cNvPr id="42014" name="Rectangle 30"/>
            <p:cNvSpPr>
              <a:spLocks noChangeArrowheads="1"/>
            </p:cNvSpPr>
            <p:nvPr/>
          </p:nvSpPr>
          <p:spPr bwMode="auto">
            <a:xfrm>
              <a:off x="1256" y="1933"/>
              <a:ext cx="630" cy="330"/>
            </a:xfrm>
            <a:prstGeom prst="rect">
              <a:avLst/>
            </a:prstGeom>
            <a:noFill/>
            <a:ln w="9525">
              <a:noFill/>
              <a:miter lim="800000"/>
              <a:headEnd/>
              <a:tailEnd/>
            </a:ln>
            <a:effectLst/>
          </p:spPr>
          <p:txBody>
            <a:bodyPr lIns="69056" tIns="34529" rIns="69056" bIns="34529">
              <a:spAutoFit/>
            </a:bodyPr>
            <a:lstStyle/>
            <a:p>
              <a:pPr eaLnBrk="0" hangingPunct="0"/>
              <a:r>
                <a:rPr lang="en-US" altLang="zh-CN" sz="2100" i="1">
                  <a:solidFill>
                    <a:srgbClr val="000000"/>
                  </a:solidFill>
                  <a:latin typeface="Times New Roman" pitchFamily="18" charset="0"/>
                  <a:ea typeface="黑体" pitchFamily="2" charset="-122"/>
                </a:rPr>
                <a:t>r</a:t>
              </a:r>
            </a:p>
          </p:txBody>
        </p:sp>
      </p:grpSp>
      <p:grpSp>
        <p:nvGrpSpPr>
          <p:cNvPr id="9" name="Group 31"/>
          <p:cNvGrpSpPr>
            <a:grpSpLocks/>
          </p:cNvGrpSpPr>
          <p:nvPr/>
        </p:nvGrpSpPr>
        <p:grpSpPr bwMode="auto">
          <a:xfrm>
            <a:off x="5505175" y="2774082"/>
            <a:ext cx="2144315" cy="346472"/>
            <a:chOff x="169" y="1688"/>
            <a:chExt cx="1801" cy="291"/>
          </a:xfrm>
        </p:grpSpPr>
        <p:sp>
          <p:nvSpPr>
            <p:cNvPr id="42016" name="Line 32"/>
            <p:cNvSpPr>
              <a:spLocks noChangeShapeType="1"/>
            </p:cNvSpPr>
            <p:nvPr/>
          </p:nvSpPr>
          <p:spPr bwMode="auto">
            <a:xfrm>
              <a:off x="967" y="1692"/>
              <a:ext cx="0" cy="287"/>
            </a:xfrm>
            <a:prstGeom prst="line">
              <a:avLst/>
            </a:prstGeom>
            <a:noFill/>
            <a:ln w="38100">
              <a:solidFill>
                <a:srgbClr val="CC6600"/>
              </a:solidFill>
              <a:round/>
              <a:headEnd type="none" w="sm" len="lg"/>
              <a:tailEnd type="triangle" w="sm" len="lg"/>
            </a:ln>
            <a:effectLst/>
          </p:spPr>
          <p:txBody>
            <a:bodyPr wrap="none" anchor="ctr"/>
            <a:lstStyle/>
            <a:p>
              <a:endParaRPr lang="zh-CN" altLang="en-US" sz="1050"/>
            </a:p>
          </p:txBody>
        </p:sp>
        <p:sp>
          <p:nvSpPr>
            <p:cNvPr id="42017" name="Line 33"/>
            <p:cNvSpPr>
              <a:spLocks noChangeShapeType="1"/>
            </p:cNvSpPr>
            <p:nvPr/>
          </p:nvSpPr>
          <p:spPr bwMode="auto">
            <a:xfrm>
              <a:off x="748" y="1692"/>
              <a:ext cx="0" cy="287"/>
            </a:xfrm>
            <a:prstGeom prst="line">
              <a:avLst/>
            </a:prstGeom>
            <a:noFill/>
            <a:ln w="38100">
              <a:solidFill>
                <a:srgbClr val="CC6600"/>
              </a:solidFill>
              <a:round/>
              <a:headEnd type="none" w="sm" len="lg"/>
              <a:tailEnd type="triangle" w="sm" len="lg"/>
            </a:ln>
            <a:effectLst/>
          </p:spPr>
          <p:txBody>
            <a:bodyPr wrap="none" anchor="ctr"/>
            <a:lstStyle/>
            <a:p>
              <a:endParaRPr lang="zh-CN" altLang="en-US" sz="1050"/>
            </a:p>
          </p:txBody>
        </p:sp>
        <p:sp>
          <p:nvSpPr>
            <p:cNvPr id="42018" name="Line 34"/>
            <p:cNvSpPr>
              <a:spLocks noChangeShapeType="1"/>
            </p:cNvSpPr>
            <p:nvPr/>
          </p:nvSpPr>
          <p:spPr bwMode="auto">
            <a:xfrm>
              <a:off x="1185" y="1692"/>
              <a:ext cx="0" cy="287"/>
            </a:xfrm>
            <a:prstGeom prst="line">
              <a:avLst/>
            </a:prstGeom>
            <a:noFill/>
            <a:ln w="38100">
              <a:solidFill>
                <a:srgbClr val="CC6600"/>
              </a:solidFill>
              <a:round/>
              <a:headEnd type="none" w="sm" len="lg"/>
              <a:tailEnd type="triangle" w="sm" len="lg"/>
            </a:ln>
            <a:effectLst/>
          </p:spPr>
          <p:txBody>
            <a:bodyPr wrap="none" anchor="ctr"/>
            <a:lstStyle/>
            <a:p>
              <a:endParaRPr lang="zh-CN" altLang="en-US" sz="1050"/>
            </a:p>
          </p:txBody>
        </p:sp>
        <p:sp>
          <p:nvSpPr>
            <p:cNvPr id="42019" name="Line 35"/>
            <p:cNvSpPr>
              <a:spLocks noChangeShapeType="1"/>
            </p:cNvSpPr>
            <p:nvPr/>
          </p:nvSpPr>
          <p:spPr bwMode="auto">
            <a:xfrm>
              <a:off x="1394" y="1688"/>
              <a:ext cx="0" cy="287"/>
            </a:xfrm>
            <a:prstGeom prst="line">
              <a:avLst/>
            </a:prstGeom>
            <a:noFill/>
            <a:ln w="38100">
              <a:solidFill>
                <a:srgbClr val="CC6600"/>
              </a:solidFill>
              <a:round/>
              <a:headEnd type="none" w="sm" len="lg"/>
              <a:tailEnd type="triangle" w="sm" len="lg"/>
            </a:ln>
            <a:effectLst/>
          </p:spPr>
          <p:txBody>
            <a:bodyPr wrap="none" anchor="ctr"/>
            <a:lstStyle/>
            <a:p>
              <a:endParaRPr lang="zh-CN" altLang="en-US" sz="1050"/>
            </a:p>
          </p:txBody>
        </p:sp>
        <p:sp>
          <p:nvSpPr>
            <p:cNvPr id="42020" name="Line 36"/>
            <p:cNvSpPr>
              <a:spLocks noChangeShapeType="1"/>
            </p:cNvSpPr>
            <p:nvPr/>
          </p:nvSpPr>
          <p:spPr bwMode="auto">
            <a:xfrm>
              <a:off x="1586" y="1688"/>
              <a:ext cx="0" cy="287"/>
            </a:xfrm>
            <a:prstGeom prst="line">
              <a:avLst/>
            </a:prstGeom>
            <a:noFill/>
            <a:ln w="38100">
              <a:solidFill>
                <a:srgbClr val="CC6600"/>
              </a:solidFill>
              <a:round/>
              <a:headEnd type="none" w="sm" len="lg"/>
              <a:tailEnd type="triangle" w="sm" len="lg"/>
            </a:ln>
            <a:effectLst/>
          </p:spPr>
          <p:txBody>
            <a:bodyPr wrap="none" anchor="ctr"/>
            <a:lstStyle/>
            <a:p>
              <a:endParaRPr lang="zh-CN" altLang="en-US" sz="1050"/>
            </a:p>
          </p:txBody>
        </p:sp>
        <p:sp>
          <p:nvSpPr>
            <p:cNvPr id="42021" name="Line 37"/>
            <p:cNvSpPr>
              <a:spLocks noChangeShapeType="1"/>
            </p:cNvSpPr>
            <p:nvPr/>
          </p:nvSpPr>
          <p:spPr bwMode="auto">
            <a:xfrm>
              <a:off x="1778" y="1688"/>
              <a:ext cx="0" cy="287"/>
            </a:xfrm>
            <a:prstGeom prst="line">
              <a:avLst/>
            </a:prstGeom>
            <a:noFill/>
            <a:ln w="38100">
              <a:solidFill>
                <a:srgbClr val="CC6600"/>
              </a:solidFill>
              <a:round/>
              <a:headEnd type="none" w="sm" len="lg"/>
              <a:tailEnd type="triangle" w="sm" len="lg"/>
            </a:ln>
            <a:effectLst/>
          </p:spPr>
          <p:txBody>
            <a:bodyPr wrap="none" anchor="ctr"/>
            <a:lstStyle/>
            <a:p>
              <a:endParaRPr lang="zh-CN" altLang="en-US" sz="1050"/>
            </a:p>
          </p:txBody>
        </p:sp>
        <p:sp>
          <p:nvSpPr>
            <p:cNvPr id="42022" name="Line 38"/>
            <p:cNvSpPr>
              <a:spLocks noChangeShapeType="1"/>
            </p:cNvSpPr>
            <p:nvPr/>
          </p:nvSpPr>
          <p:spPr bwMode="auto">
            <a:xfrm>
              <a:off x="1970" y="1688"/>
              <a:ext cx="0" cy="287"/>
            </a:xfrm>
            <a:prstGeom prst="line">
              <a:avLst/>
            </a:prstGeom>
            <a:noFill/>
            <a:ln w="38100">
              <a:solidFill>
                <a:srgbClr val="CC6600"/>
              </a:solidFill>
              <a:round/>
              <a:headEnd type="none" w="sm" len="lg"/>
              <a:tailEnd type="triangle" w="sm" len="lg"/>
            </a:ln>
            <a:effectLst/>
          </p:spPr>
          <p:txBody>
            <a:bodyPr wrap="none" anchor="ctr"/>
            <a:lstStyle/>
            <a:p>
              <a:endParaRPr lang="zh-CN" altLang="en-US" sz="1050"/>
            </a:p>
          </p:txBody>
        </p:sp>
        <p:sp>
          <p:nvSpPr>
            <p:cNvPr id="42023" name="Line 39"/>
            <p:cNvSpPr>
              <a:spLocks noChangeShapeType="1"/>
            </p:cNvSpPr>
            <p:nvPr/>
          </p:nvSpPr>
          <p:spPr bwMode="auto">
            <a:xfrm>
              <a:off x="169" y="1688"/>
              <a:ext cx="0" cy="287"/>
            </a:xfrm>
            <a:prstGeom prst="line">
              <a:avLst/>
            </a:prstGeom>
            <a:noFill/>
            <a:ln w="38100">
              <a:solidFill>
                <a:srgbClr val="CC6600"/>
              </a:solidFill>
              <a:round/>
              <a:headEnd type="none" w="sm" len="lg"/>
              <a:tailEnd type="triangle" w="sm" len="lg"/>
            </a:ln>
            <a:effectLst/>
          </p:spPr>
          <p:txBody>
            <a:bodyPr wrap="none" anchor="ctr"/>
            <a:lstStyle/>
            <a:p>
              <a:endParaRPr lang="zh-CN" altLang="en-US" sz="1050"/>
            </a:p>
          </p:txBody>
        </p:sp>
        <p:sp>
          <p:nvSpPr>
            <p:cNvPr id="42024" name="Line 40"/>
            <p:cNvSpPr>
              <a:spLocks noChangeShapeType="1"/>
            </p:cNvSpPr>
            <p:nvPr/>
          </p:nvSpPr>
          <p:spPr bwMode="auto">
            <a:xfrm>
              <a:off x="361" y="1688"/>
              <a:ext cx="0" cy="287"/>
            </a:xfrm>
            <a:prstGeom prst="line">
              <a:avLst/>
            </a:prstGeom>
            <a:noFill/>
            <a:ln w="38100">
              <a:solidFill>
                <a:srgbClr val="CC6600"/>
              </a:solidFill>
              <a:round/>
              <a:headEnd type="none" w="sm" len="lg"/>
              <a:tailEnd type="triangle" w="sm" len="lg"/>
            </a:ln>
            <a:effectLst/>
          </p:spPr>
          <p:txBody>
            <a:bodyPr wrap="none" anchor="ctr"/>
            <a:lstStyle/>
            <a:p>
              <a:endParaRPr lang="zh-CN" altLang="en-US" sz="1050"/>
            </a:p>
          </p:txBody>
        </p:sp>
        <p:sp>
          <p:nvSpPr>
            <p:cNvPr id="42025" name="Line 41"/>
            <p:cNvSpPr>
              <a:spLocks noChangeShapeType="1"/>
            </p:cNvSpPr>
            <p:nvPr/>
          </p:nvSpPr>
          <p:spPr bwMode="auto">
            <a:xfrm>
              <a:off x="553" y="1688"/>
              <a:ext cx="0" cy="287"/>
            </a:xfrm>
            <a:prstGeom prst="line">
              <a:avLst/>
            </a:prstGeom>
            <a:noFill/>
            <a:ln w="38100">
              <a:solidFill>
                <a:srgbClr val="CC6600"/>
              </a:solidFill>
              <a:round/>
              <a:headEnd type="none" w="sm" len="lg"/>
              <a:tailEnd type="triangle" w="sm" len="lg"/>
            </a:ln>
            <a:effectLst/>
          </p:spPr>
          <p:txBody>
            <a:bodyPr wrap="none" anchor="ctr"/>
            <a:lstStyle/>
            <a:p>
              <a:endParaRPr lang="zh-CN" altLang="en-US" sz="1050"/>
            </a:p>
          </p:txBody>
        </p:sp>
      </p:grpSp>
      <p:pic>
        <p:nvPicPr>
          <p:cNvPr id="51" name="Picture 2"/>
          <p:cNvPicPr>
            <a:picLocks noChangeAspect="1" noChangeArrowheads="1"/>
          </p:cNvPicPr>
          <p:nvPr/>
        </p:nvPicPr>
        <p:blipFill>
          <a:blip r:embed="rId16" cstate="print"/>
          <a:srcRect/>
          <a:stretch>
            <a:fillRect/>
          </a:stretch>
        </p:blipFill>
        <p:spPr bwMode="auto">
          <a:xfrm>
            <a:off x="5863315" y="4007843"/>
            <a:ext cx="1851087" cy="1797982"/>
          </a:xfrm>
          <a:prstGeom prst="rect">
            <a:avLst/>
          </a:prstGeom>
          <a:noFill/>
          <a:ln w="9525">
            <a:noFill/>
            <a:miter lim="800000"/>
            <a:headEnd/>
            <a:tailEnd/>
          </a:ln>
        </p:spPr>
      </p:pic>
      <p:sp>
        <p:nvSpPr>
          <p:cNvPr id="52" name="Rectangle 43"/>
          <p:cNvSpPr>
            <a:spLocks noChangeArrowheads="1"/>
          </p:cNvSpPr>
          <p:nvPr/>
        </p:nvSpPr>
        <p:spPr bwMode="auto">
          <a:xfrm>
            <a:off x="544238" y="2218770"/>
            <a:ext cx="4185761" cy="461665"/>
          </a:xfrm>
          <a:prstGeom prst="rect">
            <a:avLst/>
          </a:prstGeom>
          <a:noFill/>
          <a:ln w="9525">
            <a:noFill/>
            <a:miter lim="800000"/>
            <a:headEnd/>
            <a:tailEnd/>
          </a:ln>
          <a:effectLst/>
        </p:spPr>
        <p:txBody>
          <a:bodyPr wrap="none">
            <a:spAutoFit/>
          </a:bodyPr>
          <a:lstStyle/>
          <a:p>
            <a:r>
              <a:rPr lang="zh-CN" altLang="en-US" sz="2400" b="1" dirty="0">
                <a:latin typeface="微软雅黑" panose="020B0503020204020204" pitchFamily="34" charset="-122"/>
                <a:ea typeface="微软雅黑" panose="020B0503020204020204" pitchFamily="34" charset="-122"/>
              </a:rPr>
              <a:t>哪两个面反射的光进行干涉？</a:t>
            </a:r>
          </a:p>
        </p:txBody>
      </p:sp>
      <p:sp>
        <p:nvSpPr>
          <p:cNvPr id="53" name="Rectangle 43"/>
          <p:cNvSpPr>
            <a:spLocks noChangeArrowheads="1"/>
          </p:cNvSpPr>
          <p:nvPr/>
        </p:nvSpPr>
        <p:spPr bwMode="auto">
          <a:xfrm>
            <a:off x="571637" y="4449355"/>
            <a:ext cx="3877985" cy="461665"/>
          </a:xfrm>
          <a:prstGeom prst="rect">
            <a:avLst/>
          </a:prstGeom>
          <a:noFill/>
          <a:ln w="9525">
            <a:noFill/>
            <a:miter lim="800000"/>
            <a:headEnd/>
            <a:tailEnd/>
          </a:ln>
          <a:effectLst/>
        </p:spPr>
        <p:txBody>
          <a:bodyPr wrap="none">
            <a:spAutoFit/>
          </a:bodyPr>
          <a:lstStyle/>
          <a:p>
            <a:r>
              <a:rPr lang="zh-CN" altLang="en-US" sz="2400" b="1" dirty="0">
                <a:latin typeface="微软雅黑" panose="020B0503020204020204" pitchFamily="34" charset="-122"/>
                <a:ea typeface="微软雅黑" panose="020B0503020204020204" pitchFamily="34" charset="-122"/>
              </a:rPr>
              <a:t>为什么干涉条纹是圆形的？</a:t>
            </a:r>
          </a:p>
        </p:txBody>
      </p:sp>
      <p:sp>
        <p:nvSpPr>
          <p:cNvPr id="54" name="Rectangle 43"/>
          <p:cNvSpPr>
            <a:spLocks noChangeArrowheads="1"/>
          </p:cNvSpPr>
          <p:nvPr/>
        </p:nvSpPr>
        <p:spPr bwMode="auto">
          <a:xfrm>
            <a:off x="571637" y="5034249"/>
            <a:ext cx="5200463" cy="461665"/>
          </a:xfrm>
          <a:prstGeom prst="rect">
            <a:avLst/>
          </a:prstGeom>
          <a:noFill/>
          <a:ln w="9525">
            <a:noFill/>
            <a:miter lim="800000"/>
            <a:headEnd/>
            <a:tailEnd/>
          </a:ln>
          <a:effectLst/>
        </p:spPr>
        <p:txBody>
          <a:bodyPr wrap="none">
            <a:spAutoFit/>
          </a:bodyPr>
          <a:lstStyle/>
          <a:p>
            <a:r>
              <a:rPr lang="zh-CN" altLang="en-US" sz="2400" b="1" dirty="0">
                <a:latin typeface="微软雅黑" panose="020B0503020204020204" pitchFamily="34" charset="-122"/>
                <a:ea typeface="微软雅黑" panose="020B0503020204020204" pitchFamily="34" charset="-122"/>
              </a:rPr>
              <a:t>级数增加 ，条纹为什么越来越密集？</a:t>
            </a:r>
          </a:p>
        </p:txBody>
      </p:sp>
      <p:sp>
        <p:nvSpPr>
          <p:cNvPr id="55" name="Rectangle 43"/>
          <p:cNvSpPr>
            <a:spLocks noChangeArrowheads="1"/>
          </p:cNvSpPr>
          <p:nvPr/>
        </p:nvSpPr>
        <p:spPr bwMode="auto">
          <a:xfrm>
            <a:off x="571636" y="5718263"/>
            <a:ext cx="3570208" cy="461665"/>
          </a:xfrm>
          <a:prstGeom prst="rect">
            <a:avLst/>
          </a:prstGeom>
          <a:noFill/>
          <a:ln w="9525">
            <a:noFill/>
            <a:miter lim="800000"/>
            <a:headEnd/>
            <a:tailEnd/>
          </a:ln>
          <a:effectLst/>
        </p:spPr>
        <p:txBody>
          <a:bodyPr wrap="none">
            <a:spAutoFit/>
          </a:bodyPr>
          <a:lstStyle/>
          <a:p>
            <a:r>
              <a:rPr lang="zh-CN" altLang="en-US" sz="2400" b="1" dirty="0">
                <a:latin typeface="微软雅黑" panose="020B0503020204020204" pitchFamily="34" charset="-122"/>
                <a:ea typeface="微软雅黑" panose="020B0503020204020204" pitchFamily="34" charset="-122"/>
              </a:rPr>
              <a:t>利用干涉条纹能做什么？</a:t>
            </a:r>
          </a:p>
        </p:txBody>
      </p:sp>
      <p:sp>
        <p:nvSpPr>
          <p:cNvPr id="56" name="TextBox 55"/>
          <p:cNvSpPr txBox="1"/>
          <p:nvPr/>
        </p:nvSpPr>
        <p:spPr>
          <a:xfrm>
            <a:off x="5702853" y="2858244"/>
            <a:ext cx="320922" cy="415498"/>
          </a:xfrm>
          <a:prstGeom prst="rect">
            <a:avLst/>
          </a:prstGeom>
          <a:noFill/>
        </p:spPr>
        <p:txBody>
          <a:bodyPr wrap="none" rtlCol="0">
            <a:spAutoFit/>
          </a:bodyPr>
          <a:lstStyle/>
          <a:p>
            <a:r>
              <a:rPr lang="en-US" altLang="zh-CN" sz="2100" b="1" dirty="0">
                <a:solidFill>
                  <a:srgbClr val="FF0000"/>
                </a:solidFill>
              </a:rPr>
              <a:t>1</a:t>
            </a:r>
            <a:endParaRPr lang="zh-CN" altLang="en-US" sz="2100" b="1" dirty="0">
              <a:solidFill>
                <a:srgbClr val="FF0000"/>
              </a:solidFill>
            </a:endParaRPr>
          </a:p>
        </p:txBody>
      </p:sp>
      <p:sp>
        <p:nvSpPr>
          <p:cNvPr id="57" name="TextBox 56"/>
          <p:cNvSpPr txBox="1"/>
          <p:nvPr/>
        </p:nvSpPr>
        <p:spPr>
          <a:xfrm>
            <a:off x="5702853" y="3167907"/>
            <a:ext cx="320922" cy="415498"/>
          </a:xfrm>
          <a:prstGeom prst="rect">
            <a:avLst/>
          </a:prstGeom>
          <a:noFill/>
        </p:spPr>
        <p:txBody>
          <a:bodyPr wrap="none" rtlCol="0">
            <a:spAutoFit/>
          </a:bodyPr>
          <a:lstStyle/>
          <a:p>
            <a:r>
              <a:rPr lang="en-US" altLang="zh-CN" sz="2100" b="1" dirty="0">
                <a:solidFill>
                  <a:srgbClr val="FF0000"/>
                </a:solidFill>
              </a:rPr>
              <a:t>2</a:t>
            </a:r>
            <a:endParaRPr lang="zh-CN" altLang="en-US" sz="2100" b="1" dirty="0">
              <a:solidFill>
                <a:srgbClr val="FF0000"/>
              </a:solidFill>
            </a:endParaRPr>
          </a:p>
        </p:txBody>
      </p:sp>
      <p:sp>
        <p:nvSpPr>
          <p:cNvPr id="58" name="TextBox 57"/>
          <p:cNvSpPr txBox="1"/>
          <p:nvPr/>
        </p:nvSpPr>
        <p:spPr>
          <a:xfrm>
            <a:off x="5492355" y="3275919"/>
            <a:ext cx="320922" cy="415498"/>
          </a:xfrm>
          <a:prstGeom prst="rect">
            <a:avLst/>
          </a:prstGeom>
          <a:noFill/>
        </p:spPr>
        <p:txBody>
          <a:bodyPr wrap="none" rtlCol="0">
            <a:spAutoFit/>
          </a:bodyPr>
          <a:lstStyle/>
          <a:p>
            <a:r>
              <a:rPr lang="en-US" altLang="zh-CN" sz="2100" b="1" dirty="0">
                <a:solidFill>
                  <a:srgbClr val="FF0000"/>
                </a:solidFill>
              </a:rPr>
              <a:t>3</a:t>
            </a:r>
            <a:endParaRPr lang="zh-CN" altLang="en-US" sz="2100" b="1" dirty="0">
              <a:solidFill>
                <a:srgbClr val="FF0000"/>
              </a:solidFill>
            </a:endParaRPr>
          </a:p>
        </p:txBody>
      </p:sp>
      <p:sp>
        <p:nvSpPr>
          <p:cNvPr id="59" name="TextBox 58"/>
          <p:cNvSpPr txBox="1"/>
          <p:nvPr/>
        </p:nvSpPr>
        <p:spPr>
          <a:xfrm>
            <a:off x="5384343" y="3491943"/>
            <a:ext cx="320922" cy="415498"/>
          </a:xfrm>
          <a:prstGeom prst="rect">
            <a:avLst/>
          </a:prstGeom>
          <a:noFill/>
        </p:spPr>
        <p:txBody>
          <a:bodyPr wrap="none" rtlCol="0">
            <a:spAutoFit/>
          </a:bodyPr>
          <a:lstStyle/>
          <a:p>
            <a:r>
              <a:rPr lang="en-US" altLang="zh-CN" sz="2100" b="1" dirty="0">
                <a:solidFill>
                  <a:srgbClr val="FF0000"/>
                </a:solidFill>
              </a:rPr>
              <a:t>4</a:t>
            </a:r>
            <a:endParaRPr lang="zh-CN" altLang="en-US" sz="2100" b="1" dirty="0">
              <a:solidFill>
                <a:srgbClr val="FF0000"/>
              </a:solidFill>
            </a:endParaRPr>
          </a:p>
        </p:txBody>
      </p:sp>
      <p:sp>
        <p:nvSpPr>
          <p:cNvPr id="60" name="矩形 59"/>
          <p:cNvSpPr/>
          <p:nvPr/>
        </p:nvSpPr>
        <p:spPr>
          <a:xfrm>
            <a:off x="134263" y="819656"/>
            <a:ext cx="2855269" cy="523220"/>
          </a:xfrm>
          <a:prstGeom prst="rect">
            <a:avLst/>
          </a:prstGeom>
        </p:spPr>
        <p:txBody>
          <a:bodyPr wrap="none">
            <a:spAutoFit/>
          </a:bodyPr>
          <a:lstStyle/>
          <a:p>
            <a:r>
              <a:rPr lang="zh-CN" altLang="en-US" sz="2800" b="1" dirty="0">
                <a:solidFill>
                  <a:srgbClr val="0000FF"/>
                </a:solidFill>
                <a:latin typeface="微软雅黑" panose="020B0503020204020204" pitchFamily="34" charset="-122"/>
                <a:ea typeface="微软雅黑" panose="020B0503020204020204" pitchFamily="34" charset="-122"/>
              </a:rPr>
              <a:t>牛顿环</a:t>
            </a:r>
            <a:r>
              <a:rPr lang="en-US" altLang="zh-CN" sz="2800" b="1" dirty="0">
                <a:solidFill>
                  <a:srgbClr val="0000FF"/>
                </a:solidFill>
                <a:latin typeface="微软雅黑" panose="020B0503020204020204" pitchFamily="34" charset="-122"/>
                <a:ea typeface="微软雅黑" panose="020B0503020204020204" pitchFamily="34" charset="-122"/>
              </a:rPr>
              <a:t>-</a:t>
            </a:r>
            <a:r>
              <a:rPr lang="zh-CN" altLang="en-US" sz="2800" b="1" dirty="0">
                <a:solidFill>
                  <a:srgbClr val="0000FF"/>
                </a:solidFill>
                <a:latin typeface="微软雅黑" panose="020B0503020204020204" pitchFamily="34" charset="-122"/>
                <a:ea typeface="微软雅黑" panose="020B0503020204020204" pitchFamily="34" charset="-122"/>
              </a:rPr>
              <a:t>光强叠加</a:t>
            </a:r>
            <a:endParaRPr lang="zh-CN" altLang="en-US" sz="2800" dirty="0">
              <a:solidFill>
                <a:srgbClr val="0000FF"/>
              </a:solidFill>
            </a:endParaRPr>
          </a:p>
        </p:txBody>
      </p:sp>
      <p:sp>
        <p:nvSpPr>
          <p:cNvPr id="10" name="WordArt 51">
            <a:extLst>
              <a:ext uri="{FF2B5EF4-FFF2-40B4-BE49-F238E27FC236}">
                <a16:creationId xmlns:a16="http://schemas.microsoft.com/office/drawing/2014/main" id="{AA739551-7B23-46BE-C5C4-213D6ABC7BE6}"/>
              </a:ext>
            </a:extLst>
          </p:cNvPr>
          <p:cNvSpPr>
            <a:spLocks noChangeArrowheads="1" noChangeShapeType="1"/>
          </p:cNvSpPr>
          <p:nvPr/>
        </p:nvSpPr>
        <p:spPr bwMode="auto">
          <a:xfrm>
            <a:off x="142844" y="71414"/>
            <a:ext cx="1729499" cy="409097"/>
          </a:xfrm>
          <a:prstGeom prst="rect">
            <a:avLst/>
          </a:prstGeom>
        </p:spPr>
        <p:txBody>
          <a:bodyPr wrap="none" fromWordArt="1">
            <a:prstTxWarp prst="textPlain">
              <a:avLst>
                <a:gd name="adj" fmla="val 50000"/>
              </a:avLst>
            </a:prstTxWarp>
          </a:bodyPr>
          <a:lstStyle/>
          <a:p>
            <a:pPr algn="ctr"/>
            <a:r>
              <a:rPr lang="zh-CN" altLang="en-US" sz="3600" dirty="0">
                <a:ln w="9525">
                  <a:noFill/>
                  <a:round/>
                  <a:headEnd/>
                  <a:tailEnd/>
                </a:ln>
                <a:gradFill rotWithShape="0">
                  <a:gsLst>
                    <a:gs pos="0">
                      <a:schemeClr val="bg1"/>
                    </a:gs>
                    <a:gs pos="100000">
                      <a:srgbClr val="FFFE7D"/>
                    </a:gs>
                  </a:gsLst>
                  <a:lin ang="5400000" scaled="1"/>
                </a:gradFill>
                <a:effectLst>
                  <a:outerShdw dist="38100" dir="5400000" algn="ctr" rotWithShape="0">
                    <a:srgbClr val="4D4D4D">
                      <a:alpha val="76999"/>
                    </a:srgbClr>
                  </a:outerShdw>
                </a:effectLst>
                <a:latin typeface="华文琥珀"/>
                <a:ea typeface="华文琥珀"/>
              </a:rPr>
              <a:t>实验介绍</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additive="base">
                                        <p:cTn id="7" dur="500" fill="hold"/>
                                        <p:tgtEl>
                                          <p:spTgt spid="52"/>
                                        </p:tgtEl>
                                        <p:attrNameLst>
                                          <p:attrName>ppt_x</p:attrName>
                                        </p:attrNameLst>
                                      </p:cBhvr>
                                      <p:tavLst>
                                        <p:tav tm="0">
                                          <p:val>
                                            <p:strVal val="#ppt_x"/>
                                          </p:val>
                                        </p:tav>
                                        <p:tav tm="100000">
                                          <p:val>
                                            <p:strVal val="#ppt_x"/>
                                          </p:val>
                                        </p:tav>
                                      </p:tavLst>
                                    </p:anim>
                                    <p:anim calcmode="lin" valueType="num">
                                      <p:cBhvr additive="base">
                                        <p:cTn id="8"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56"/>
                                        </p:tgtEl>
                                        <p:attrNameLst>
                                          <p:attrName>style.visibility</p:attrName>
                                        </p:attrNameLst>
                                      </p:cBhvr>
                                      <p:to>
                                        <p:strVal val="visible"/>
                                      </p:to>
                                    </p:set>
                                    <p:animEffect transition="in" filter="box(in)">
                                      <p:cBhvr>
                                        <p:cTn id="13" dur="500"/>
                                        <p:tgtEl>
                                          <p:spTgt spid="56"/>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57"/>
                                        </p:tgtEl>
                                        <p:attrNameLst>
                                          <p:attrName>style.visibility</p:attrName>
                                        </p:attrNameLst>
                                      </p:cBhvr>
                                      <p:to>
                                        <p:strVal val="visible"/>
                                      </p:to>
                                    </p:set>
                                    <p:animEffect transition="in" filter="box(in)">
                                      <p:cBhvr>
                                        <p:cTn id="16" dur="500"/>
                                        <p:tgtEl>
                                          <p:spTgt spid="57"/>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58"/>
                                        </p:tgtEl>
                                        <p:attrNameLst>
                                          <p:attrName>style.visibility</p:attrName>
                                        </p:attrNameLst>
                                      </p:cBhvr>
                                      <p:to>
                                        <p:strVal val="visible"/>
                                      </p:to>
                                    </p:set>
                                    <p:animEffect transition="in" filter="box(in)">
                                      <p:cBhvr>
                                        <p:cTn id="19" dur="500"/>
                                        <p:tgtEl>
                                          <p:spTgt spid="58"/>
                                        </p:tgtEl>
                                      </p:cBhvr>
                                    </p:animEffect>
                                  </p:childTnLst>
                                </p:cTn>
                              </p:par>
                              <p:par>
                                <p:cTn id="20" presetID="4" presetClass="entr" presetSubtype="16" fill="hold" grpId="0" nodeType="withEffect">
                                  <p:stCondLst>
                                    <p:cond delay="0"/>
                                  </p:stCondLst>
                                  <p:childTnLst>
                                    <p:set>
                                      <p:cBhvr>
                                        <p:cTn id="21" dur="1" fill="hold">
                                          <p:stCondLst>
                                            <p:cond delay="0"/>
                                          </p:stCondLst>
                                        </p:cTn>
                                        <p:tgtEl>
                                          <p:spTgt spid="59"/>
                                        </p:tgtEl>
                                        <p:attrNameLst>
                                          <p:attrName>style.visibility</p:attrName>
                                        </p:attrNameLst>
                                      </p:cBhvr>
                                      <p:to>
                                        <p:strVal val="visible"/>
                                      </p:to>
                                    </p:set>
                                    <p:animEffect transition="in" filter="box(in)">
                                      <p:cBhvr>
                                        <p:cTn id="22" dur="500"/>
                                        <p:tgtEl>
                                          <p:spTgt spid="59"/>
                                        </p:tgtEl>
                                      </p:cBhvr>
                                    </p:animEffect>
                                  </p:childTnLst>
                                </p:cTn>
                              </p:par>
                              <p:par>
                                <p:cTn id="23" presetID="4" presetClass="entr" presetSubtype="16"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ox(in)">
                                      <p:cBhvr>
                                        <p:cTn id="25" dur="500"/>
                                        <p:tgtEl>
                                          <p:spTgt spid="6"/>
                                        </p:tgtEl>
                                      </p:cBhvr>
                                    </p:animEffect>
                                  </p:childTnLst>
                                </p:cTn>
                              </p:par>
                              <p:par>
                                <p:cTn id="26" presetID="4" presetClass="entr" presetSubtype="16"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box(in)">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8" presetClass="entr" presetSubtype="16" fill="hold" grpId="1" nodeType="clickEffect">
                                  <p:stCondLst>
                                    <p:cond delay="0"/>
                                  </p:stCondLst>
                                  <p:childTnLst>
                                    <p:set>
                                      <p:cBhvr>
                                        <p:cTn id="32" dur="1" fill="hold">
                                          <p:stCondLst>
                                            <p:cond delay="0"/>
                                          </p:stCondLst>
                                        </p:cTn>
                                        <p:tgtEl>
                                          <p:spTgt spid="59"/>
                                        </p:tgtEl>
                                        <p:attrNameLst>
                                          <p:attrName>style.visibility</p:attrName>
                                        </p:attrNameLst>
                                      </p:cBhvr>
                                      <p:to>
                                        <p:strVal val="visible"/>
                                      </p:to>
                                    </p:set>
                                    <p:animEffect transition="in" filter="diamond(in)">
                                      <p:cBhvr>
                                        <p:cTn id="33" dur="2000"/>
                                        <p:tgtEl>
                                          <p:spTgt spid="59"/>
                                        </p:tgtEl>
                                      </p:cBhvr>
                                    </p:animEffect>
                                  </p:childTnLst>
                                </p:cTn>
                              </p:par>
                              <p:par>
                                <p:cTn id="34" presetID="8" presetClass="entr" presetSubtype="16" fill="hold" grpId="1" nodeType="withEffect">
                                  <p:stCondLst>
                                    <p:cond delay="0"/>
                                  </p:stCondLst>
                                  <p:childTnLst>
                                    <p:set>
                                      <p:cBhvr>
                                        <p:cTn id="35" dur="1" fill="hold">
                                          <p:stCondLst>
                                            <p:cond delay="0"/>
                                          </p:stCondLst>
                                        </p:cTn>
                                        <p:tgtEl>
                                          <p:spTgt spid="58"/>
                                        </p:tgtEl>
                                        <p:attrNameLst>
                                          <p:attrName>style.visibility</p:attrName>
                                        </p:attrNameLst>
                                      </p:cBhvr>
                                      <p:to>
                                        <p:strVal val="visible"/>
                                      </p:to>
                                    </p:set>
                                    <p:animEffect transition="in" filter="diamond(in)">
                                      <p:cBhvr>
                                        <p:cTn id="36" dur="2000"/>
                                        <p:tgtEl>
                                          <p:spTgt spid="58"/>
                                        </p:tgtEl>
                                      </p:cBhvr>
                                    </p:animEffect>
                                  </p:childTnLst>
                                </p:cTn>
                              </p:par>
                              <p:par>
                                <p:cTn id="37" presetID="8" presetClass="entr" presetSubtype="16" fill="hold" grpId="1" nodeType="with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diamond(in)">
                                      <p:cBhvr>
                                        <p:cTn id="39" dur="2000"/>
                                        <p:tgtEl>
                                          <p:spTgt spid="56"/>
                                        </p:tgtEl>
                                      </p:cBhvr>
                                    </p:animEffect>
                                  </p:childTnLst>
                                </p:cTn>
                              </p:par>
                              <p:par>
                                <p:cTn id="40" presetID="8" presetClass="entr" presetSubtype="16" fill="hold" grpId="1" nodeType="withEffect">
                                  <p:stCondLst>
                                    <p:cond delay="0"/>
                                  </p:stCondLst>
                                  <p:childTnLst>
                                    <p:set>
                                      <p:cBhvr>
                                        <p:cTn id="41" dur="1" fill="hold">
                                          <p:stCondLst>
                                            <p:cond delay="0"/>
                                          </p:stCondLst>
                                        </p:cTn>
                                        <p:tgtEl>
                                          <p:spTgt spid="57"/>
                                        </p:tgtEl>
                                        <p:attrNameLst>
                                          <p:attrName>style.visibility</p:attrName>
                                        </p:attrNameLst>
                                      </p:cBhvr>
                                      <p:to>
                                        <p:strVal val="visible"/>
                                      </p:to>
                                    </p:set>
                                    <p:animEffect transition="in" filter="diamond(in)">
                                      <p:cBhvr>
                                        <p:cTn id="42" dur="2000"/>
                                        <p:tgtEl>
                                          <p:spTgt spid="57"/>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additive="base">
                                        <p:cTn id="47" dur="500" fill="hold"/>
                                        <p:tgtEl>
                                          <p:spTgt spid="7"/>
                                        </p:tgtEl>
                                        <p:attrNameLst>
                                          <p:attrName>ppt_x</p:attrName>
                                        </p:attrNameLst>
                                      </p:cBhvr>
                                      <p:tavLst>
                                        <p:tav tm="0">
                                          <p:val>
                                            <p:strVal val="#ppt_x"/>
                                          </p:val>
                                        </p:tav>
                                        <p:tav tm="100000">
                                          <p:val>
                                            <p:strVal val="#ppt_x"/>
                                          </p:val>
                                        </p:tav>
                                      </p:tavLst>
                                    </p:anim>
                                    <p:anim calcmode="lin" valueType="num">
                                      <p:cBhvr additive="base">
                                        <p:cTn id="48" dur="500" fill="hold"/>
                                        <p:tgtEl>
                                          <p:spTgt spid="7"/>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8"/>
                                        </p:tgtEl>
                                        <p:attrNameLst>
                                          <p:attrName>style.visibility</p:attrName>
                                        </p:attrNameLst>
                                      </p:cBhvr>
                                      <p:to>
                                        <p:strVal val="visible"/>
                                      </p:to>
                                    </p:set>
                                    <p:anim calcmode="lin" valueType="num">
                                      <p:cBhvr additive="base">
                                        <p:cTn id="51" dur="500" fill="hold"/>
                                        <p:tgtEl>
                                          <p:spTgt spid="8"/>
                                        </p:tgtEl>
                                        <p:attrNameLst>
                                          <p:attrName>ppt_x</p:attrName>
                                        </p:attrNameLst>
                                      </p:cBhvr>
                                      <p:tavLst>
                                        <p:tav tm="0">
                                          <p:val>
                                            <p:strVal val="#ppt_x"/>
                                          </p:val>
                                        </p:tav>
                                        <p:tav tm="100000">
                                          <p:val>
                                            <p:strVal val="#ppt_x"/>
                                          </p:val>
                                        </p:tav>
                                      </p:tavLst>
                                    </p:anim>
                                    <p:anim calcmode="lin" valueType="num">
                                      <p:cBhvr additive="base">
                                        <p:cTn id="5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2"/>
                                        </p:tgtEl>
                                        <p:attrNameLst>
                                          <p:attrName>style.visibility</p:attrName>
                                        </p:attrNameLst>
                                      </p:cBhvr>
                                      <p:to>
                                        <p:strVal val="visible"/>
                                      </p:to>
                                    </p:set>
                                    <p:anim calcmode="lin" valueType="num">
                                      <p:cBhvr additive="base">
                                        <p:cTn id="57" dur="500" fill="hold"/>
                                        <p:tgtEl>
                                          <p:spTgt spid="2"/>
                                        </p:tgtEl>
                                        <p:attrNameLst>
                                          <p:attrName>ppt_x</p:attrName>
                                        </p:attrNameLst>
                                      </p:cBhvr>
                                      <p:tavLst>
                                        <p:tav tm="0">
                                          <p:val>
                                            <p:strVal val="#ppt_x"/>
                                          </p:val>
                                        </p:tav>
                                        <p:tav tm="100000">
                                          <p:val>
                                            <p:strVal val="#ppt_x"/>
                                          </p:val>
                                        </p:tav>
                                      </p:tavLst>
                                    </p:anim>
                                    <p:anim calcmode="lin" valueType="num">
                                      <p:cBhvr additive="base">
                                        <p:cTn id="5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51"/>
                                        </p:tgtEl>
                                        <p:attrNameLst>
                                          <p:attrName>style.visibility</p:attrName>
                                        </p:attrNameLst>
                                      </p:cBhvr>
                                      <p:to>
                                        <p:strVal val="visible"/>
                                      </p:to>
                                    </p:set>
                                    <p:anim calcmode="lin" valueType="num">
                                      <p:cBhvr additive="base">
                                        <p:cTn id="63" dur="500" fill="hold"/>
                                        <p:tgtEl>
                                          <p:spTgt spid="51"/>
                                        </p:tgtEl>
                                        <p:attrNameLst>
                                          <p:attrName>ppt_x</p:attrName>
                                        </p:attrNameLst>
                                      </p:cBhvr>
                                      <p:tavLst>
                                        <p:tav tm="0">
                                          <p:val>
                                            <p:strVal val="#ppt_x"/>
                                          </p:val>
                                        </p:tav>
                                        <p:tav tm="100000">
                                          <p:val>
                                            <p:strVal val="#ppt_x"/>
                                          </p:val>
                                        </p:tav>
                                      </p:tavLst>
                                    </p:anim>
                                    <p:anim calcmode="lin" valueType="num">
                                      <p:cBhvr additive="base">
                                        <p:cTn id="64"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5"/>
                                        </p:tgtEl>
                                        <p:attrNameLst>
                                          <p:attrName>style.visibility</p:attrName>
                                        </p:attrNameLst>
                                      </p:cBhvr>
                                      <p:to>
                                        <p:strVal val="visible"/>
                                      </p:to>
                                    </p:set>
                                    <p:anim calcmode="lin" valueType="num">
                                      <p:cBhvr additive="base">
                                        <p:cTn id="69" dur="500" fill="hold"/>
                                        <p:tgtEl>
                                          <p:spTgt spid="5"/>
                                        </p:tgtEl>
                                        <p:attrNameLst>
                                          <p:attrName>ppt_x</p:attrName>
                                        </p:attrNameLst>
                                      </p:cBhvr>
                                      <p:tavLst>
                                        <p:tav tm="0">
                                          <p:val>
                                            <p:strVal val="#ppt_x"/>
                                          </p:val>
                                        </p:tav>
                                        <p:tav tm="100000">
                                          <p:val>
                                            <p:strVal val="#ppt_x"/>
                                          </p:val>
                                        </p:tav>
                                      </p:tavLst>
                                    </p:anim>
                                    <p:anim calcmode="lin" valueType="num">
                                      <p:cBhvr additive="base">
                                        <p:cTn id="70" dur="500" fill="hold"/>
                                        <p:tgtEl>
                                          <p:spTgt spid="5"/>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4"/>
                                        </p:tgtEl>
                                        <p:attrNameLst>
                                          <p:attrName>style.visibility</p:attrName>
                                        </p:attrNameLst>
                                      </p:cBhvr>
                                      <p:to>
                                        <p:strVal val="visible"/>
                                      </p:to>
                                    </p:set>
                                    <p:anim calcmode="lin" valueType="num">
                                      <p:cBhvr additive="base">
                                        <p:cTn id="73" dur="500" fill="hold"/>
                                        <p:tgtEl>
                                          <p:spTgt spid="4"/>
                                        </p:tgtEl>
                                        <p:attrNameLst>
                                          <p:attrName>ppt_x</p:attrName>
                                        </p:attrNameLst>
                                      </p:cBhvr>
                                      <p:tavLst>
                                        <p:tav tm="0">
                                          <p:val>
                                            <p:strVal val="#ppt_x"/>
                                          </p:val>
                                        </p:tav>
                                        <p:tav tm="100000">
                                          <p:val>
                                            <p:strVal val="#ppt_x"/>
                                          </p:val>
                                        </p:tav>
                                      </p:tavLst>
                                    </p:anim>
                                    <p:anim calcmode="lin" valueType="num">
                                      <p:cBhvr additive="base">
                                        <p:cTn id="74" dur="500" fill="hold"/>
                                        <p:tgtEl>
                                          <p:spTgt spid="4"/>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3"/>
                                        </p:tgtEl>
                                        <p:attrNameLst>
                                          <p:attrName>style.visibility</p:attrName>
                                        </p:attrNameLst>
                                      </p:cBhvr>
                                      <p:to>
                                        <p:strVal val="visible"/>
                                      </p:to>
                                    </p:set>
                                    <p:anim calcmode="lin" valueType="num">
                                      <p:cBhvr additive="base">
                                        <p:cTn id="77" dur="500" fill="hold"/>
                                        <p:tgtEl>
                                          <p:spTgt spid="3"/>
                                        </p:tgtEl>
                                        <p:attrNameLst>
                                          <p:attrName>ppt_x</p:attrName>
                                        </p:attrNameLst>
                                      </p:cBhvr>
                                      <p:tavLst>
                                        <p:tav tm="0">
                                          <p:val>
                                            <p:strVal val="#ppt_x"/>
                                          </p:val>
                                        </p:tav>
                                        <p:tav tm="100000">
                                          <p:val>
                                            <p:strVal val="#ppt_x"/>
                                          </p:val>
                                        </p:tav>
                                      </p:tavLst>
                                    </p:anim>
                                    <p:anim calcmode="lin" valueType="num">
                                      <p:cBhvr additive="base">
                                        <p:cTn id="7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53"/>
                                        </p:tgtEl>
                                        <p:attrNameLst>
                                          <p:attrName>style.visibility</p:attrName>
                                        </p:attrNameLst>
                                      </p:cBhvr>
                                      <p:to>
                                        <p:strVal val="visible"/>
                                      </p:to>
                                    </p:set>
                                    <p:anim calcmode="lin" valueType="num">
                                      <p:cBhvr additive="base">
                                        <p:cTn id="83" dur="500" fill="hold"/>
                                        <p:tgtEl>
                                          <p:spTgt spid="53"/>
                                        </p:tgtEl>
                                        <p:attrNameLst>
                                          <p:attrName>ppt_x</p:attrName>
                                        </p:attrNameLst>
                                      </p:cBhvr>
                                      <p:tavLst>
                                        <p:tav tm="0">
                                          <p:val>
                                            <p:strVal val="#ppt_x"/>
                                          </p:val>
                                        </p:tav>
                                        <p:tav tm="100000">
                                          <p:val>
                                            <p:strVal val="#ppt_x"/>
                                          </p:val>
                                        </p:tav>
                                      </p:tavLst>
                                    </p:anim>
                                    <p:anim calcmode="lin" valueType="num">
                                      <p:cBhvr additive="base">
                                        <p:cTn id="84"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54"/>
                                        </p:tgtEl>
                                        <p:attrNameLst>
                                          <p:attrName>style.visibility</p:attrName>
                                        </p:attrNameLst>
                                      </p:cBhvr>
                                      <p:to>
                                        <p:strVal val="visible"/>
                                      </p:to>
                                    </p:set>
                                    <p:anim calcmode="lin" valueType="num">
                                      <p:cBhvr additive="base">
                                        <p:cTn id="89" dur="500" fill="hold"/>
                                        <p:tgtEl>
                                          <p:spTgt spid="54"/>
                                        </p:tgtEl>
                                        <p:attrNameLst>
                                          <p:attrName>ppt_x</p:attrName>
                                        </p:attrNameLst>
                                      </p:cBhvr>
                                      <p:tavLst>
                                        <p:tav tm="0">
                                          <p:val>
                                            <p:strVal val="#ppt_x"/>
                                          </p:val>
                                        </p:tav>
                                        <p:tav tm="100000">
                                          <p:val>
                                            <p:strVal val="#ppt_x"/>
                                          </p:val>
                                        </p:tav>
                                      </p:tavLst>
                                    </p:anim>
                                    <p:anim calcmode="lin" valueType="num">
                                      <p:cBhvr additive="base">
                                        <p:cTn id="90"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55"/>
                                        </p:tgtEl>
                                        <p:attrNameLst>
                                          <p:attrName>style.visibility</p:attrName>
                                        </p:attrNameLst>
                                      </p:cBhvr>
                                      <p:to>
                                        <p:strVal val="visible"/>
                                      </p:to>
                                    </p:set>
                                    <p:anim calcmode="lin" valueType="num">
                                      <p:cBhvr additive="base">
                                        <p:cTn id="95" dur="500" fill="hold"/>
                                        <p:tgtEl>
                                          <p:spTgt spid="55"/>
                                        </p:tgtEl>
                                        <p:attrNameLst>
                                          <p:attrName>ppt_x</p:attrName>
                                        </p:attrNameLst>
                                      </p:cBhvr>
                                      <p:tavLst>
                                        <p:tav tm="0">
                                          <p:val>
                                            <p:strVal val="#ppt_x"/>
                                          </p:val>
                                        </p:tav>
                                        <p:tav tm="100000">
                                          <p:val>
                                            <p:strVal val="#ppt_x"/>
                                          </p:val>
                                        </p:tav>
                                      </p:tavLst>
                                    </p:anim>
                                    <p:anim calcmode="lin" valueType="num">
                                      <p:cBhvr additive="base">
                                        <p:cTn id="96"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3" grpId="0"/>
      <p:bldP spid="54" grpId="0"/>
      <p:bldP spid="55" grpId="0"/>
      <p:bldP spid="56" grpId="0"/>
      <p:bldP spid="56" grpId="1"/>
      <p:bldP spid="57" grpId="0"/>
      <p:bldP spid="57" grpId="1"/>
      <p:bldP spid="58" grpId="0"/>
      <p:bldP spid="58" grpId="1"/>
      <p:bldP spid="59" grpId="0"/>
      <p:bldP spid="59"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011" name="Object 3"/>
          <p:cNvGraphicFramePr>
            <a:graphicFrameLocks noChangeAspect="1"/>
          </p:cNvGraphicFramePr>
          <p:nvPr>
            <p:extLst>
              <p:ext uri="{D42A27DB-BD31-4B8C-83A1-F6EECF244321}">
                <p14:modId xmlns:p14="http://schemas.microsoft.com/office/powerpoint/2010/main" val="676607014"/>
              </p:ext>
            </p:extLst>
          </p:nvPr>
        </p:nvGraphicFramePr>
        <p:xfrm>
          <a:off x="1140502" y="1808155"/>
          <a:ext cx="3996928" cy="529829"/>
        </p:xfrm>
        <a:graphic>
          <a:graphicData uri="http://schemas.openxmlformats.org/presentationml/2006/ole">
            <mc:AlternateContent xmlns:mc="http://schemas.openxmlformats.org/markup-compatibility/2006">
              <mc:Choice xmlns:v="urn:schemas-microsoft-com:vml" Requires="v">
                <p:oleObj name="公式" r:id="rId2" imgW="2044700" imgH="254000" progId="Equation.3">
                  <p:embed/>
                </p:oleObj>
              </mc:Choice>
              <mc:Fallback>
                <p:oleObj name="公式" r:id="rId2" imgW="2044700" imgH="254000" progId="Equation.3">
                  <p:embed/>
                  <p:pic>
                    <p:nvPicPr>
                      <p:cNvPr id="43011"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0502" y="1808155"/>
                        <a:ext cx="3996928" cy="5298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12" name="Object 4"/>
          <p:cNvGraphicFramePr>
            <a:graphicFrameLocks noChangeAspect="1"/>
          </p:cNvGraphicFramePr>
          <p:nvPr>
            <p:extLst>
              <p:ext uri="{D42A27DB-BD31-4B8C-83A1-F6EECF244321}">
                <p14:modId xmlns:p14="http://schemas.microsoft.com/office/powerpoint/2010/main" val="2406561869"/>
              </p:ext>
            </p:extLst>
          </p:nvPr>
        </p:nvGraphicFramePr>
        <p:xfrm>
          <a:off x="1140502" y="2671305"/>
          <a:ext cx="2537222" cy="494109"/>
        </p:xfrm>
        <a:graphic>
          <a:graphicData uri="http://schemas.openxmlformats.org/presentationml/2006/ole">
            <mc:AlternateContent xmlns:mc="http://schemas.openxmlformats.org/markup-compatibility/2006">
              <mc:Choice xmlns:v="urn:schemas-microsoft-com:vml" Requires="v">
                <p:oleObj name="公式" r:id="rId4" imgW="1333500" imgH="254000" progId="Equation.3">
                  <p:embed/>
                </p:oleObj>
              </mc:Choice>
              <mc:Fallback>
                <p:oleObj name="公式" r:id="rId4" imgW="1333500" imgH="254000" progId="Equation.3">
                  <p:embed/>
                  <p:pic>
                    <p:nvPicPr>
                      <p:cNvPr id="4301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0502" y="2671305"/>
                        <a:ext cx="2537222" cy="4941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13" name="Object 5"/>
          <p:cNvGraphicFramePr>
            <a:graphicFrameLocks noChangeAspect="1"/>
          </p:cNvGraphicFramePr>
          <p:nvPr>
            <p:extLst>
              <p:ext uri="{D42A27DB-BD31-4B8C-83A1-F6EECF244321}">
                <p14:modId xmlns:p14="http://schemas.microsoft.com/office/powerpoint/2010/main" val="1827838627"/>
              </p:ext>
            </p:extLst>
          </p:nvPr>
        </p:nvGraphicFramePr>
        <p:xfrm>
          <a:off x="1140502" y="3349407"/>
          <a:ext cx="2755106" cy="881063"/>
        </p:xfrm>
        <a:graphic>
          <a:graphicData uri="http://schemas.openxmlformats.org/presentationml/2006/ole">
            <mc:AlternateContent xmlns:mc="http://schemas.openxmlformats.org/markup-compatibility/2006">
              <mc:Choice xmlns:v="urn:schemas-microsoft-com:vml" Requires="v">
                <p:oleObj name="公式" r:id="rId6" imgW="1612900" imgH="444500" progId="Equation.3">
                  <p:embed/>
                </p:oleObj>
              </mc:Choice>
              <mc:Fallback>
                <p:oleObj name="公式" r:id="rId6" imgW="1612900" imgH="444500" progId="Equation.3">
                  <p:embed/>
                  <p:pic>
                    <p:nvPicPr>
                      <p:cNvPr id="43013"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0502" y="3349407"/>
                        <a:ext cx="2755106" cy="881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6"/>
          <p:cNvGrpSpPr>
            <a:grpSpLocks/>
          </p:cNvGrpSpPr>
          <p:nvPr/>
        </p:nvGrpSpPr>
        <p:grpSpPr bwMode="auto">
          <a:xfrm>
            <a:off x="5441795" y="4562411"/>
            <a:ext cx="3345656" cy="858440"/>
            <a:chOff x="2971" y="3521"/>
            <a:chExt cx="2810" cy="721"/>
          </a:xfrm>
        </p:grpSpPr>
        <p:graphicFrame>
          <p:nvGraphicFramePr>
            <p:cNvPr id="43015" name="Object 7"/>
            <p:cNvGraphicFramePr>
              <a:graphicFrameLocks noChangeAspect="1"/>
            </p:cNvGraphicFramePr>
            <p:nvPr/>
          </p:nvGraphicFramePr>
          <p:xfrm>
            <a:off x="2971" y="3521"/>
            <a:ext cx="1270" cy="721"/>
          </p:xfrm>
          <a:graphic>
            <a:graphicData uri="http://schemas.openxmlformats.org/presentationml/2006/ole">
              <mc:AlternateContent xmlns:mc="http://schemas.openxmlformats.org/markup-compatibility/2006">
                <mc:Choice xmlns:v="urn:schemas-microsoft-com:vml" Requires="v">
                  <p:oleObj name="公式" r:id="rId8" imgW="748975" imgH="444307" progId="Equation.3">
                    <p:embed/>
                  </p:oleObj>
                </mc:Choice>
                <mc:Fallback>
                  <p:oleObj name="公式" r:id="rId8" imgW="748975" imgH="444307" progId="Equation.3">
                    <p:embed/>
                    <p:pic>
                      <p:nvPicPr>
                        <p:cNvPr id="43015"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71" y="3521"/>
                          <a:ext cx="1270" cy="7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16" name="Rectangle 8"/>
            <p:cNvSpPr>
              <a:spLocks noChangeArrowheads="1"/>
            </p:cNvSpPr>
            <p:nvPr/>
          </p:nvSpPr>
          <p:spPr bwMode="auto">
            <a:xfrm>
              <a:off x="3969" y="3748"/>
              <a:ext cx="1812" cy="388"/>
            </a:xfrm>
            <a:prstGeom prst="rect">
              <a:avLst/>
            </a:prstGeom>
            <a:noFill/>
            <a:ln w="9525">
              <a:noFill/>
              <a:miter lim="800000"/>
              <a:headEnd/>
              <a:tailEnd/>
            </a:ln>
            <a:effectLst/>
          </p:spPr>
          <p:txBody>
            <a:bodyPr>
              <a:spAutoFit/>
            </a:bodyPr>
            <a:lstStyle/>
            <a:p>
              <a:pPr algn="ctr">
                <a:spcBef>
                  <a:spcPct val="50000"/>
                </a:spcBef>
              </a:pPr>
              <a:r>
                <a:rPr lang="zh-CN" altLang="en-US" sz="2400" b="1" dirty="0">
                  <a:solidFill>
                    <a:srgbClr val="FF0000"/>
                  </a:solidFill>
                  <a:latin typeface="微软雅黑" panose="020B0503020204020204" pitchFamily="34" charset="-122"/>
                  <a:ea typeface="微软雅黑" panose="020B0503020204020204" pitchFamily="34" charset="-122"/>
                </a:rPr>
                <a:t>（暗环半径）</a:t>
              </a:r>
            </a:p>
          </p:txBody>
        </p:sp>
      </p:grpSp>
      <p:grpSp>
        <p:nvGrpSpPr>
          <p:cNvPr id="3" name="Group 9"/>
          <p:cNvGrpSpPr>
            <a:grpSpLocks/>
          </p:cNvGrpSpPr>
          <p:nvPr/>
        </p:nvGrpSpPr>
        <p:grpSpPr bwMode="auto">
          <a:xfrm>
            <a:off x="1140502" y="4581462"/>
            <a:ext cx="4164812" cy="839390"/>
            <a:chOff x="113" y="3521"/>
            <a:chExt cx="2899" cy="705"/>
          </a:xfrm>
        </p:grpSpPr>
        <p:graphicFrame>
          <p:nvGraphicFramePr>
            <p:cNvPr id="43018" name="Object 10"/>
            <p:cNvGraphicFramePr>
              <a:graphicFrameLocks noChangeAspect="1"/>
            </p:cNvGraphicFramePr>
            <p:nvPr/>
          </p:nvGraphicFramePr>
          <p:xfrm>
            <a:off x="113" y="3521"/>
            <a:ext cx="1552" cy="705"/>
          </p:xfrm>
          <a:graphic>
            <a:graphicData uri="http://schemas.openxmlformats.org/presentationml/2006/ole">
              <mc:AlternateContent xmlns:mc="http://schemas.openxmlformats.org/markup-compatibility/2006">
                <mc:Choice xmlns:v="urn:schemas-microsoft-com:vml" Requires="v">
                  <p:oleObj name="公式" r:id="rId10" imgW="1143000" imgH="444500" progId="Equation.3">
                    <p:embed/>
                  </p:oleObj>
                </mc:Choice>
                <mc:Fallback>
                  <p:oleObj name="公式" r:id="rId10" imgW="1143000" imgH="444500" progId="Equation.3">
                    <p:embed/>
                    <p:pic>
                      <p:nvPicPr>
                        <p:cNvPr id="43018"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3" y="3521"/>
                          <a:ext cx="1552" cy="7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19" name="Rectangle 11"/>
            <p:cNvSpPr>
              <a:spLocks noChangeArrowheads="1"/>
            </p:cNvSpPr>
            <p:nvPr/>
          </p:nvSpPr>
          <p:spPr bwMode="auto">
            <a:xfrm>
              <a:off x="1499" y="3680"/>
              <a:ext cx="1513" cy="388"/>
            </a:xfrm>
            <a:prstGeom prst="rect">
              <a:avLst/>
            </a:prstGeom>
            <a:noFill/>
            <a:ln w="9525">
              <a:noFill/>
              <a:miter lim="800000"/>
              <a:headEnd/>
              <a:tailEnd/>
            </a:ln>
            <a:effectLst/>
          </p:spPr>
          <p:txBody>
            <a:bodyPr>
              <a:spAutoFit/>
            </a:bodyPr>
            <a:lstStyle/>
            <a:p>
              <a:pPr algn="ctr">
                <a:spcBef>
                  <a:spcPct val="50000"/>
                </a:spcBef>
              </a:pPr>
              <a:r>
                <a:rPr lang="zh-CN" altLang="en-US" sz="2400" b="1" dirty="0">
                  <a:solidFill>
                    <a:srgbClr val="FF0000"/>
                  </a:solidFill>
                  <a:latin typeface="微软雅黑" panose="020B0503020204020204" pitchFamily="34" charset="-122"/>
                  <a:ea typeface="微软雅黑" panose="020B0503020204020204" pitchFamily="34" charset="-122"/>
                </a:rPr>
                <a:t>（明环半径）</a:t>
              </a:r>
            </a:p>
          </p:txBody>
        </p:sp>
      </p:grpSp>
      <p:sp>
        <p:nvSpPr>
          <p:cNvPr id="13" name="矩形 12"/>
          <p:cNvSpPr/>
          <p:nvPr/>
        </p:nvSpPr>
        <p:spPr>
          <a:xfrm>
            <a:off x="104232" y="831883"/>
            <a:ext cx="4134465" cy="523220"/>
          </a:xfrm>
          <a:prstGeom prst="rect">
            <a:avLst/>
          </a:prstGeom>
        </p:spPr>
        <p:txBody>
          <a:bodyPr wrap="none">
            <a:spAutoFit/>
          </a:bodyPr>
          <a:lstStyle/>
          <a:p>
            <a:r>
              <a:rPr lang="zh-CN" altLang="en-US" sz="2800" b="1" dirty="0">
                <a:solidFill>
                  <a:srgbClr val="0000FF"/>
                </a:solidFill>
                <a:latin typeface="微软雅黑" panose="020B0503020204020204" pitchFamily="34" charset="-122"/>
                <a:ea typeface="微软雅黑" panose="020B0503020204020204" pitchFamily="34" charset="-122"/>
              </a:rPr>
              <a:t>牛顿环计算透镜曲率半径</a:t>
            </a:r>
            <a:endParaRPr lang="zh-CN" altLang="en-US" sz="2800" dirty="0">
              <a:solidFill>
                <a:srgbClr val="0000FF"/>
              </a:solidFill>
            </a:endParaRPr>
          </a:p>
        </p:txBody>
      </p:sp>
      <p:sp>
        <p:nvSpPr>
          <p:cNvPr id="4" name="WordArt 51">
            <a:extLst>
              <a:ext uri="{FF2B5EF4-FFF2-40B4-BE49-F238E27FC236}">
                <a16:creationId xmlns:a16="http://schemas.microsoft.com/office/drawing/2014/main" id="{276F667B-86F9-9F22-8E08-027F66202AD8}"/>
              </a:ext>
            </a:extLst>
          </p:cNvPr>
          <p:cNvSpPr>
            <a:spLocks noChangeArrowheads="1" noChangeShapeType="1"/>
          </p:cNvSpPr>
          <p:nvPr/>
        </p:nvSpPr>
        <p:spPr bwMode="auto">
          <a:xfrm>
            <a:off x="142844" y="71414"/>
            <a:ext cx="1729499" cy="409097"/>
          </a:xfrm>
          <a:prstGeom prst="rect">
            <a:avLst/>
          </a:prstGeom>
        </p:spPr>
        <p:txBody>
          <a:bodyPr wrap="none" fromWordArt="1">
            <a:prstTxWarp prst="textPlain">
              <a:avLst>
                <a:gd name="adj" fmla="val 50000"/>
              </a:avLst>
            </a:prstTxWarp>
          </a:bodyPr>
          <a:lstStyle/>
          <a:p>
            <a:pPr algn="ctr"/>
            <a:r>
              <a:rPr lang="zh-CN" altLang="en-US" sz="3600" dirty="0">
                <a:ln w="9525">
                  <a:noFill/>
                  <a:round/>
                  <a:headEnd/>
                  <a:tailEnd/>
                </a:ln>
                <a:gradFill rotWithShape="0">
                  <a:gsLst>
                    <a:gs pos="0">
                      <a:schemeClr val="bg1"/>
                    </a:gs>
                    <a:gs pos="100000">
                      <a:srgbClr val="FFFE7D"/>
                    </a:gs>
                  </a:gsLst>
                  <a:lin ang="5400000" scaled="1"/>
                </a:gradFill>
                <a:effectLst>
                  <a:outerShdw dist="38100" dir="5400000" algn="ctr" rotWithShape="0">
                    <a:srgbClr val="4D4D4D">
                      <a:alpha val="76999"/>
                    </a:srgbClr>
                  </a:outerShdw>
                </a:effectLst>
                <a:latin typeface="华文琥珀"/>
                <a:ea typeface="华文琥珀"/>
              </a:rPr>
              <a:t>实验介绍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43011"/>
                                        </p:tgtEl>
                                        <p:attrNameLst>
                                          <p:attrName>style.visibility</p:attrName>
                                        </p:attrNameLst>
                                      </p:cBhvr>
                                      <p:to>
                                        <p:strVal val="visible"/>
                                      </p:to>
                                    </p:set>
                                    <p:animEffect transition="in" filter="blinds(vertical)">
                                      <p:cBhvr>
                                        <p:cTn id="7" dur="500"/>
                                        <p:tgtEl>
                                          <p:spTgt spid="430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3012"/>
                                        </p:tgtEl>
                                        <p:attrNameLst>
                                          <p:attrName>style.visibility</p:attrName>
                                        </p:attrNameLst>
                                      </p:cBhvr>
                                      <p:to>
                                        <p:strVal val="visible"/>
                                      </p:to>
                                    </p:set>
                                    <p:animEffect transition="in" filter="blinds(horizontal)">
                                      <p:cBhvr>
                                        <p:cTn id="12" dur="500"/>
                                        <p:tgtEl>
                                          <p:spTgt spid="430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43013"/>
                                        </p:tgtEl>
                                        <p:attrNameLst>
                                          <p:attrName>style.visibility</p:attrName>
                                        </p:attrNameLst>
                                      </p:cBhvr>
                                      <p:to>
                                        <p:strVal val="visible"/>
                                      </p:to>
                                    </p:set>
                                    <p:animEffect transition="in" filter="blinds(vertical)">
                                      <p:cBhvr>
                                        <p:cTn id="17" dur="500"/>
                                        <p:tgtEl>
                                          <p:spTgt spid="4301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752910"/>
            <a:ext cx="4134465" cy="523220"/>
          </a:xfrm>
          <a:prstGeom prst="rect">
            <a:avLst/>
          </a:prstGeom>
        </p:spPr>
        <p:txBody>
          <a:bodyPr wrap="none">
            <a:spAutoFit/>
          </a:bodyPr>
          <a:lstStyle/>
          <a:p>
            <a:r>
              <a:rPr lang="zh-CN" altLang="en-US" sz="2800" b="1" dirty="0">
                <a:solidFill>
                  <a:srgbClr val="0000FF"/>
                </a:solidFill>
                <a:latin typeface="微软雅黑" panose="020B0503020204020204" pitchFamily="34" charset="-122"/>
                <a:ea typeface="微软雅黑" panose="020B0503020204020204" pitchFamily="34" charset="-122"/>
              </a:rPr>
              <a:t>牛顿环测量透镜曲率半径</a:t>
            </a:r>
            <a:endParaRPr lang="zh-CN" altLang="en-US" sz="2800" dirty="0">
              <a:solidFill>
                <a:srgbClr val="0000FF"/>
              </a:solidFill>
            </a:endParaRPr>
          </a:p>
        </p:txBody>
      </p:sp>
      <p:sp>
        <p:nvSpPr>
          <p:cNvPr id="2" name="矩形 1">
            <a:extLst>
              <a:ext uri="{FF2B5EF4-FFF2-40B4-BE49-F238E27FC236}">
                <a16:creationId xmlns:a16="http://schemas.microsoft.com/office/drawing/2014/main" id="{2B735029-EC4A-9DDF-0915-81D5AB957FE5}"/>
              </a:ext>
            </a:extLst>
          </p:cNvPr>
          <p:cNvSpPr/>
          <p:nvPr/>
        </p:nvSpPr>
        <p:spPr>
          <a:xfrm>
            <a:off x="213089" y="1285916"/>
            <a:ext cx="3966150" cy="523220"/>
          </a:xfrm>
          <a:prstGeom prst="rect">
            <a:avLst/>
          </a:prstGeom>
        </p:spPr>
        <p:txBody>
          <a:bodyPr wrap="none">
            <a:spAutoFit/>
          </a:bodyPr>
          <a:lstStyle/>
          <a:p>
            <a:r>
              <a:rPr lang="zh-CN" altLang="en-US" sz="2800" b="1" dirty="0">
                <a:latin typeface="微软雅黑" panose="020B0503020204020204" pitchFamily="34" charset="-122"/>
                <a:ea typeface="微软雅黑" panose="020B0503020204020204" pitchFamily="34" charset="-122"/>
              </a:rPr>
              <a:t>为什么不用：</a:t>
            </a:r>
            <a:r>
              <a:rPr lang="en-US" altLang="zh-CN" sz="2800" b="1" dirty="0">
                <a:latin typeface="微软雅黑" panose="020B0503020204020204" pitchFamily="34" charset="-122"/>
                <a:ea typeface="微软雅黑" panose="020B0503020204020204" pitchFamily="34" charset="-122"/>
              </a:rPr>
              <a:t>   K</a:t>
            </a:r>
            <a:r>
              <a:rPr lang="zh-CN" altLang="en-US" sz="2800" b="1" dirty="0">
                <a:latin typeface="微软雅黑" panose="020B0503020204020204" pitchFamily="34" charset="-122"/>
                <a:ea typeface="微软雅黑" panose="020B0503020204020204" pitchFamily="34" charset="-122"/>
              </a:rPr>
              <a:t>级暗环</a:t>
            </a:r>
          </a:p>
        </p:txBody>
      </p:sp>
      <p:grpSp>
        <p:nvGrpSpPr>
          <p:cNvPr id="3" name="Group 6">
            <a:extLst>
              <a:ext uri="{FF2B5EF4-FFF2-40B4-BE49-F238E27FC236}">
                <a16:creationId xmlns:a16="http://schemas.microsoft.com/office/drawing/2014/main" id="{5CF082AD-1C0B-78ED-CF09-0D7BBB898DAB}"/>
              </a:ext>
            </a:extLst>
          </p:cNvPr>
          <p:cNvGrpSpPr>
            <a:grpSpLocks/>
          </p:cNvGrpSpPr>
          <p:nvPr/>
        </p:nvGrpSpPr>
        <p:grpSpPr bwMode="auto">
          <a:xfrm>
            <a:off x="4572000" y="1062817"/>
            <a:ext cx="3345656" cy="858440"/>
            <a:chOff x="2971" y="3521"/>
            <a:chExt cx="2810" cy="721"/>
          </a:xfrm>
        </p:grpSpPr>
        <p:graphicFrame>
          <p:nvGraphicFramePr>
            <p:cNvPr id="5" name="Object 7">
              <a:extLst>
                <a:ext uri="{FF2B5EF4-FFF2-40B4-BE49-F238E27FC236}">
                  <a16:creationId xmlns:a16="http://schemas.microsoft.com/office/drawing/2014/main" id="{3CEB0071-EE41-65C1-BE8C-EDC41CA64635}"/>
                </a:ext>
              </a:extLst>
            </p:cNvPr>
            <p:cNvGraphicFramePr>
              <a:graphicFrameLocks noChangeAspect="1"/>
            </p:cNvGraphicFramePr>
            <p:nvPr/>
          </p:nvGraphicFramePr>
          <p:xfrm>
            <a:off x="2971" y="3521"/>
            <a:ext cx="1270" cy="721"/>
          </p:xfrm>
          <a:graphic>
            <a:graphicData uri="http://schemas.openxmlformats.org/presentationml/2006/ole">
              <mc:AlternateContent xmlns:mc="http://schemas.openxmlformats.org/markup-compatibility/2006">
                <mc:Choice xmlns:v="urn:schemas-microsoft-com:vml" Requires="v">
                  <p:oleObj name="公式" r:id="rId2" imgW="748975" imgH="444307" progId="Equation.3">
                    <p:embed/>
                  </p:oleObj>
                </mc:Choice>
                <mc:Fallback>
                  <p:oleObj name="公式" r:id="rId2" imgW="748975" imgH="444307" progId="Equation.3">
                    <p:embed/>
                    <p:pic>
                      <p:nvPicPr>
                        <p:cNvPr id="43015"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 y="3521"/>
                          <a:ext cx="1270" cy="7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8">
              <a:extLst>
                <a:ext uri="{FF2B5EF4-FFF2-40B4-BE49-F238E27FC236}">
                  <a16:creationId xmlns:a16="http://schemas.microsoft.com/office/drawing/2014/main" id="{9E039646-E83C-DD6A-C715-1760F8614FC7}"/>
                </a:ext>
              </a:extLst>
            </p:cNvPr>
            <p:cNvSpPr>
              <a:spLocks noChangeArrowheads="1"/>
            </p:cNvSpPr>
            <p:nvPr/>
          </p:nvSpPr>
          <p:spPr bwMode="auto">
            <a:xfrm>
              <a:off x="3969" y="3748"/>
              <a:ext cx="1812" cy="388"/>
            </a:xfrm>
            <a:prstGeom prst="rect">
              <a:avLst/>
            </a:prstGeom>
            <a:noFill/>
            <a:ln w="9525">
              <a:noFill/>
              <a:miter lim="800000"/>
              <a:headEnd/>
              <a:tailEnd/>
            </a:ln>
            <a:effectLst/>
          </p:spPr>
          <p:txBody>
            <a:bodyPr>
              <a:spAutoFit/>
            </a:bodyPr>
            <a:lstStyle/>
            <a:p>
              <a:pPr algn="ctr">
                <a:spcBef>
                  <a:spcPct val="50000"/>
                </a:spcBef>
              </a:pPr>
              <a:r>
                <a:rPr lang="zh-CN" altLang="en-US" sz="2400" b="1" dirty="0">
                  <a:solidFill>
                    <a:srgbClr val="FF0000"/>
                  </a:solidFill>
                  <a:latin typeface="微软雅黑" panose="020B0503020204020204" pitchFamily="34" charset="-122"/>
                  <a:ea typeface="微软雅黑" panose="020B0503020204020204" pitchFamily="34" charset="-122"/>
                </a:rPr>
                <a:t>（暗环半径）</a:t>
              </a:r>
            </a:p>
          </p:txBody>
        </p:sp>
      </p:grpSp>
      <p:sp>
        <p:nvSpPr>
          <p:cNvPr id="7" name="矩形 6">
            <a:extLst>
              <a:ext uri="{FF2B5EF4-FFF2-40B4-BE49-F238E27FC236}">
                <a16:creationId xmlns:a16="http://schemas.microsoft.com/office/drawing/2014/main" id="{D1513BC3-F424-8F64-19A8-B659BA15F993}"/>
              </a:ext>
            </a:extLst>
          </p:cNvPr>
          <p:cNvSpPr/>
          <p:nvPr/>
        </p:nvSpPr>
        <p:spPr>
          <a:xfrm>
            <a:off x="267515" y="2004374"/>
            <a:ext cx="7015028" cy="707886"/>
          </a:xfrm>
          <a:prstGeom prst="rect">
            <a:avLst/>
          </a:prstGeom>
        </p:spPr>
        <p:txBody>
          <a:bodyPr wrap="square">
            <a:spAutoFit/>
          </a:bodyPr>
          <a:lstStyle/>
          <a:p>
            <a:pPr marL="514350" indent="-514350">
              <a:buAutoNum type="arabicPeriod"/>
            </a:pPr>
            <a:r>
              <a:rPr lang="zh-CN" altLang="en-US" sz="2000" b="1" dirty="0">
                <a:solidFill>
                  <a:srgbClr val="C00000"/>
                </a:solidFill>
                <a:latin typeface="微软雅黑" panose="020B0503020204020204" pitchFamily="34" charset="-122"/>
                <a:ea typeface="微软雅黑" panose="020B0503020204020204" pitchFamily="34" charset="-122"/>
              </a:rPr>
              <a:t>透镜凸面与平板玻璃表面间并非理想的点接触，难以准确判断环的中心和干涉级次Ｋ</a:t>
            </a:r>
          </a:p>
        </p:txBody>
      </p:sp>
      <p:sp>
        <p:nvSpPr>
          <p:cNvPr id="8" name="矩形 7">
            <a:extLst>
              <a:ext uri="{FF2B5EF4-FFF2-40B4-BE49-F238E27FC236}">
                <a16:creationId xmlns:a16="http://schemas.microsoft.com/office/drawing/2014/main" id="{9CDE2FAC-22C9-C281-705E-2510D26DCE81}"/>
              </a:ext>
            </a:extLst>
          </p:cNvPr>
          <p:cNvSpPr/>
          <p:nvPr/>
        </p:nvSpPr>
        <p:spPr>
          <a:xfrm>
            <a:off x="169545" y="3005860"/>
            <a:ext cx="7015028" cy="400110"/>
          </a:xfrm>
          <a:prstGeom prst="rect">
            <a:avLst/>
          </a:prstGeom>
        </p:spPr>
        <p:txBody>
          <a:bodyPr wrap="square">
            <a:spAutoFit/>
          </a:bodyPr>
          <a:lstStyle/>
          <a:p>
            <a:r>
              <a:rPr lang="zh-CN" altLang="en-US" sz="2000" b="1" dirty="0">
                <a:solidFill>
                  <a:srgbClr val="C00000"/>
                </a:solidFill>
                <a:latin typeface="微软雅黑" panose="020B0503020204020204" pitchFamily="34" charset="-122"/>
                <a:ea typeface="微软雅黑" panose="020B0503020204020204" pitchFamily="34" charset="-122"/>
              </a:rPr>
              <a:t>２</a:t>
            </a:r>
            <a:r>
              <a:rPr lang="en-US" altLang="zh-CN" sz="2000" b="1" dirty="0">
                <a:solidFill>
                  <a:srgbClr val="C00000"/>
                </a:solidFill>
                <a:latin typeface="微软雅黑" panose="020B0503020204020204" pitchFamily="34" charset="-122"/>
                <a:ea typeface="微软雅黑" panose="020B0503020204020204" pitchFamily="34" charset="-122"/>
              </a:rPr>
              <a:t>.</a:t>
            </a:r>
            <a:r>
              <a:rPr lang="zh-CN" altLang="en-US" sz="2000" b="1" dirty="0">
                <a:solidFill>
                  <a:srgbClr val="C00000"/>
                </a:solidFill>
                <a:latin typeface="微软雅黑" panose="020B0503020204020204" pitchFamily="34" charset="-122"/>
                <a:ea typeface="微软雅黑" panose="020B0503020204020204" pitchFamily="34" charset="-122"/>
              </a:rPr>
              <a:t>　消除灰尘或压力引起的附加光程差带来的系统误差</a:t>
            </a:r>
          </a:p>
        </p:txBody>
      </p:sp>
      <p:sp>
        <p:nvSpPr>
          <p:cNvPr id="9" name="矩形 8">
            <a:extLst>
              <a:ext uri="{FF2B5EF4-FFF2-40B4-BE49-F238E27FC236}">
                <a16:creationId xmlns:a16="http://schemas.microsoft.com/office/drawing/2014/main" id="{E0AAA10C-8B8D-1716-734D-4C09706E0398}"/>
              </a:ext>
            </a:extLst>
          </p:cNvPr>
          <p:cNvSpPr/>
          <p:nvPr/>
        </p:nvSpPr>
        <p:spPr>
          <a:xfrm>
            <a:off x="213088" y="4007343"/>
            <a:ext cx="1261884" cy="523220"/>
          </a:xfrm>
          <a:prstGeom prst="rect">
            <a:avLst/>
          </a:prstGeom>
        </p:spPr>
        <p:txBody>
          <a:bodyPr wrap="none">
            <a:spAutoFit/>
          </a:bodyPr>
          <a:lstStyle/>
          <a:p>
            <a:r>
              <a:rPr lang="zh-CN" altLang="en-US" sz="2800" b="1" dirty="0">
                <a:solidFill>
                  <a:srgbClr val="00B050"/>
                </a:solidFill>
                <a:latin typeface="微软雅黑" panose="020B0503020204020204" pitchFamily="34" charset="-122"/>
                <a:ea typeface="微软雅黑" panose="020B0503020204020204" pitchFamily="34" charset="-122"/>
              </a:rPr>
              <a:t>采用：</a:t>
            </a:r>
          </a:p>
        </p:txBody>
      </p:sp>
      <p:pic>
        <p:nvPicPr>
          <p:cNvPr id="15" name="图片 14">
            <a:extLst>
              <a:ext uri="{FF2B5EF4-FFF2-40B4-BE49-F238E27FC236}">
                <a16:creationId xmlns:a16="http://schemas.microsoft.com/office/drawing/2014/main" id="{23269A1C-B104-66F4-4F2E-2C5D1006026A}"/>
              </a:ext>
            </a:extLst>
          </p:cNvPr>
          <p:cNvPicPr>
            <a:picLocks noChangeAspect="1"/>
          </p:cNvPicPr>
          <p:nvPr/>
        </p:nvPicPr>
        <p:blipFill>
          <a:blip r:embed="rId4">
            <a:duotone>
              <a:prstClr val="black"/>
              <a:schemeClr val="bg2">
                <a:lumMod val="75000"/>
                <a:tint val="45000"/>
                <a:satMod val="400000"/>
              </a:schemeClr>
            </a:duotone>
            <a:extLst>
              <a:ext uri="{28A0092B-C50C-407E-A947-70E740481C1C}">
                <a14:useLocalDpi xmlns:a14="http://schemas.microsoft.com/office/drawing/2010/main" val="0"/>
              </a:ext>
            </a:extLst>
          </a:blip>
          <a:stretch>
            <a:fillRect/>
          </a:stretch>
        </p:blipFill>
        <p:spPr>
          <a:xfrm>
            <a:off x="790014" y="4658332"/>
            <a:ext cx="4609697" cy="1136851"/>
          </a:xfrm>
          <a:prstGeom prst="rect">
            <a:avLst/>
          </a:prstGeom>
          <a:ln>
            <a:solidFill>
              <a:srgbClr val="F4F4F6"/>
            </a:solidFill>
          </a:ln>
        </p:spPr>
      </p:pic>
      <p:pic>
        <p:nvPicPr>
          <p:cNvPr id="17" name="图片 16">
            <a:extLst>
              <a:ext uri="{FF2B5EF4-FFF2-40B4-BE49-F238E27FC236}">
                <a16:creationId xmlns:a16="http://schemas.microsoft.com/office/drawing/2014/main" id="{7DD06325-37D8-FE62-24FE-6BB655FF74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07015" y="3889009"/>
            <a:ext cx="2573053" cy="2177198"/>
          </a:xfrm>
          <a:prstGeom prst="rect">
            <a:avLst/>
          </a:prstGeom>
        </p:spPr>
      </p:pic>
      <p:sp>
        <p:nvSpPr>
          <p:cNvPr id="18" name="WordArt 51">
            <a:extLst>
              <a:ext uri="{FF2B5EF4-FFF2-40B4-BE49-F238E27FC236}">
                <a16:creationId xmlns:a16="http://schemas.microsoft.com/office/drawing/2014/main" id="{DCAC1718-10D7-7ADE-A3AD-1510419384F3}"/>
              </a:ext>
            </a:extLst>
          </p:cNvPr>
          <p:cNvSpPr>
            <a:spLocks noChangeArrowheads="1" noChangeShapeType="1"/>
          </p:cNvSpPr>
          <p:nvPr/>
        </p:nvSpPr>
        <p:spPr bwMode="auto">
          <a:xfrm>
            <a:off x="142844" y="71414"/>
            <a:ext cx="1729499" cy="409097"/>
          </a:xfrm>
          <a:prstGeom prst="rect">
            <a:avLst/>
          </a:prstGeom>
        </p:spPr>
        <p:txBody>
          <a:bodyPr wrap="none" fromWordArt="1">
            <a:prstTxWarp prst="textPlain">
              <a:avLst>
                <a:gd name="adj" fmla="val 50000"/>
              </a:avLst>
            </a:prstTxWarp>
          </a:bodyPr>
          <a:lstStyle/>
          <a:p>
            <a:pPr algn="ctr"/>
            <a:r>
              <a:rPr lang="zh-CN" altLang="en-US" sz="3600" dirty="0">
                <a:ln w="9525">
                  <a:noFill/>
                  <a:round/>
                  <a:headEnd/>
                  <a:tailEnd/>
                </a:ln>
                <a:gradFill rotWithShape="0">
                  <a:gsLst>
                    <a:gs pos="0">
                      <a:schemeClr val="bg1"/>
                    </a:gs>
                    <a:gs pos="100000">
                      <a:srgbClr val="FFFE7D"/>
                    </a:gs>
                  </a:gsLst>
                  <a:lin ang="5400000" scaled="1"/>
                </a:gradFill>
                <a:effectLst>
                  <a:outerShdw dist="38100" dir="5400000" algn="ctr" rotWithShape="0">
                    <a:srgbClr val="4D4D4D">
                      <a:alpha val="76999"/>
                    </a:srgbClr>
                  </a:outerShdw>
                </a:effectLst>
                <a:latin typeface="华文琥珀"/>
                <a:ea typeface="华文琥珀"/>
              </a:rPr>
              <a:t>实验介绍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087355" y="3956204"/>
            <a:ext cx="3314700" cy="1664494"/>
            <a:chOff x="2818" y="626"/>
            <a:chExt cx="2784" cy="1398"/>
          </a:xfrm>
        </p:grpSpPr>
        <p:sp>
          <p:nvSpPr>
            <p:cNvPr id="6147" name="Rectangle 3"/>
            <p:cNvSpPr>
              <a:spLocks noChangeArrowheads="1"/>
            </p:cNvSpPr>
            <p:nvPr/>
          </p:nvSpPr>
          <p:spPr bwMode="auto">
            <a:xfrm>
              <a:off x="2818" y="626"/>
              <a:ext cx="2784" cy="1398"/>
            </a:xfrm>
            <a:prstGeom prst="rect">
              <a:avLst/>
            </a:prstGeom>
            <a:solidFill>
              <a:schemeClr val="bg1"/>
            </a:solidFill>
            <a:ln w="28575">
              <a:solidFill>
                <a:srgbClr val="006666"/>
              </a:solidFill>
              <a:miter lim="800000"/>
              <a:headEnd/>
              <a:tailEnd/>
            </a:ln>
            <a:effectLst/>
          </p:spPr>
          <p:txBody>
            <a:bodyPr wrap="none" anchor="ctr"/>
            <a:lstStyle/>
            <a:p>
              <a:endParaRPr lang="zh-CN" altLang="en-US" sz="1050"/>
            </a:p>
          </p:txBody>
        </p:sp>
        <p:sp>
          <p:nvSpPr>
            <p:cNvPr id="6148" name="Rectangle 4" descr="宽上对角线"/>
            <p:cNvSpPr>
              <a:spLocks noChangeArrowheads="1"/>
            </p:cNvSpPr>
            <p:nvPr/>
          </p:nvSpPr>
          <p:spPr bwMode="auto">
            <a:xfrm>
              <a:off x="3202" y="1528"/>
              <a:ext cx="2016" cy="271"/>
            </a:xfrm>
            <a:prstGeom prst="rect">
              <a:avLst/>
            </a:prstGeom>
            <a:pattFill prst="wdUpDiag">
              <a:fgClr>
                <a:srgbClr val="008000">
                  <a:alpha val="50000"/>
                </a:srgbClr>
              </a:fgClr>
              <a:bgClr>
                <a:srgbClr val="FFFFFF">
                  <a:alpha val="50000"/>
                </a:srgbClr>
              </a:bgClr>
            </a:pattFill>
            <a:ln w="28575">
              <a:solidFill>
                <a:srgbClr val="008000"/>
              </a:solidFill>
              <a:miter lim="800000"/>
              <a:headEnd/>
              <a:tailEnd/>
            </a:ln>
            <a:effectLst/>
          </p:spPr>
          <p:txBody>
            <a:bodyPr wrap="none" anchor="ctr"/>
            <a:lstStyle/>
            <a:p>
              <a:endParaRPr lang="zh-CN" altLang="en-US" sz="1050"/>
            </a:p>
          </p:txBody>
        </p:sp>
        <p:sp>
          <p:nvSpPr>
            <p:cNvPr id="6149" name="Rectangle 5" descr="宽上对角线"/>
            <p:cNvSpPr>
              <a:spLocks noChangeArrowheads="1"/>
            </p:cNvSpPr>
            <p:nvPr/>
          </p:nvSpPr>
          <p:spPr bwMode="auto">
            <a:xfrm rot="-316683">
              <a:off x="3179" y="1167"/>
              <a:ext cx="2016" cy="271"/>
            </a:xfrm>
            <a:prstGeom prst="rect">
              <a:avLst/>
            </a:prstGeom>
            <a:pattFill prst="wdUpDiag">
              <a:fgClr>
                <a:srgbClr val="008000">
                  <a:alpha val="50000"/>
                </a:srgbClr>
              </a:fgClr>
              <a:bgClr>
                <a:srgbClr val="FFFFFF">
                  <a:alpha val="50000"/>
                </a:srgbClr>
              </a:bgClr>
            </a:pattFill>
            <a:ln w="28575">
              <a:solidFill>
                <a:srgbClr val="008000"/>
              </a:solidFill>
              <a:miter lim="800000"/>
              <a:headEnd/>
              <a:tailEnd/>
            </a:ln>
            <a:effectLst/>
          </p:spPr>
          <p:txBody>
            <a:bodyPr wrap="none" anchor="ctr"/>
            <a:lstStyle/>
            <a:p>
              <a:endParaRPr lang="zh-CN" altLang="en-US" sz="1050"/>
            </a:p>
          </p:txBody>
        </p:sp>
        <p:sp>
          <p:nvSpPr>
            <p:cNvPr id="6150" name="Oval 6"/>
            <p:cNvSpPr>
              <a:spLocks noChangeArrowheads="1"/>
            </p:cNvSpPr>
            <p:nvPr/>
          </p:nvSpPr>
          <p:spPr bwMode="auto">
            <a:xfrm>
              <a:off x="5026" y="1348"/>
              <a:ext cx="192" cy="180"/>
            </a:xfrm>
            <a:prstGeom prst="ellipse">
              <a:avLst/>
            </a:prstGeom>
            <a:gradFill rotWithShape="0">
              <a:gsLst>
                <a:gs pos="0">
                  <a:schemeClr val="accent1"/>
                </a:gs>
                <a:gs pos="100000">
                  <a:schemeClr val="accent1">
                    <a:gamma/>
                    <a:shade val="56078"/>
                    <a:invGamma/>
                  </a:schemeClr>
                </a:gs>
              </a:gsLst>
              <a:path path="shape">
                <a:fillToRect l="50000" t="50000" r="50000" b="50000"/>
              </a:path>
            </a:gradFill>
            <a:ln w="28575">
              <a:solidFill>
                <a:srgbClr val="003366"/>
              </a:solidFill>
              <a:round/>
              <a:headEnd/>
              <a:tailEnd/>
            </a:ln>
            <a:effectLst/>
          </p:spPr>
          <p:txBody>
            <a:bodyPr wrap="none" anchor="ctr"/>
            <a:lstStyle/>
            <a:p>
              <a:endParaRPr lang="zh-CN" altLang="en-US" sz="1050"/>
            </a:p>
          </p:txBody>
        </p:sp>
        <p:graphicFrame>
          <p:nvGraphicFramePr>
            <p:cNvPr id="6151" name="Object 7"/>
            <p:cNvGraphicFramePr>
              <a:graphicFrameLocks noChangeAspect="1"/>
            </p:cNvGraphicFramePr>
            <p:nvPr/>
          </p:nvGraphicFramePr>
          <p:xfrm>
            <a:off x="3381" y="1192"/>
            <a:ext cx="300" cy="288"/>
          </p:xfrm>
          <a:graphic>
            <a:graphicData uri="http://schemas.openxmlformats.org/presentationml/2006/ole">
              <mc:AlternateContent xmlns:mc="http://schemas.openxmlformats.org/markup-compatibility/2006">
                <mc:Choice xmlns:v="urn:schemas-microsoft-com:vml" Requires="v">
                  <p:oleObj name="公式" r:id="rId3" imgW="164885" imgH="215619" progId="Equation.3">
                    <p:embed/>
                  </p:oleObj>
                </mc:Choice>
                <mc:Fallback>
                  <p:oleObj name="公式" r:id="rId3" imgW="164885" imgH="215619" progId="Equation.3">
                    <p:embed/>
                    <p:pic>
                      <p:nvPicPr>
                        <p:cNvPr id="6151"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1" y="1192"/>
                          <a:ext cx="300"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52" name="Object 8"/>
            <p:cNvGraphicFramePr>
              <a:graphicFrameLocks noChangeAspect="1"/>
            </p:cNvGraphicFramePr>
            <p:nvPr/>
          </p:nvGraphicFramePr>
          <p:xfrm>
            <a:off x="3383" y="1538"/>
            <a:ext cx="301" cy="304"/>
          </p:xfrm>
          <a:graphic>
            <a:graphicData uri="http://schemas.openxmlformats.org/presentationml/2006/ole">
              <mc:AlternateContent xmlns:mc="http://schemas.openxmlformats.org/markup-compatibility/2006">
                <mc:Choice xmlns:v="urn:schemas-microsoft-com:vml" Requires="v">
                  <p:oleObj name="Equation" r:id="rId5" imgW="165028" imgH="228501" progId="">
                    <p:embed/>
                  </p:oleObj>
                </mc:Choice>
                <mc:Fallback>
                  <p:oleObj name="Equation" r:id="rId5" imgW="165028" imgH="228501" progId="">
                    <p:embed/>
                    <p:pic>
                      <p:nvPicPr>
                        <p:cNvPr id="6152"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83" y="1538"/>
                          <a:ext cx="301" cy="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3" name="AutoShape 9"/>
            <p:cNvSpPr>
              <a:spLocks noChangeArrowheads="1"/>
            </p:cNvSpPr>
            <p:nvPr/>
          </p:nvSpPr>
          <p:spPr bwMode="auto">
            <a:xfrm flipH="1">
              <a:off x="3288" y="1343"/>
              <a:ext cx="1905" cy="182"/>
            </a:xfrm>
            <a:prstGeom prst="rtTriangle">
              <a:avLst/>
            </a:prstGeom>
            <a:solidFill>
              <a:srgbClr val="CCECFF">
                <a:alpha val="39999"/>
              </a:srgbClr>
            </a:solidFill>
            <a:ln w="28575">
              <a:solidFill>
                <a:srgbClr val="008080"/>
              </a:solidFill>
              <a:miter lim="800000"/>
              <a:headEnd/>
              <a:tailEnd/>
            </a:ln>
            <a:effectLst/>
          </p:spPr>
          <p:txBody>
            <a:bodyPr wrap="none" anchor="ctr"/>
            <a:lstStyle/>
            <a:p>
              <a:endParaRPr lang="zh-CN" altLang="en-US" sz="1050"/>
            </a:p>
          </p:txBody>
        </p:sp>
        <p:grpSp>
          <p:nvGrpSpPr>
            <p:cNvPr id="3" name="Group 10"/>
            <p:cNvGrpSpPr>
              <a:grpSpLocks/>
            </p:cNvGrpSpPr>
            <p:nvPr/>
          </p:nvGrpSpPr>
          <p:grpSpPr bwMode="auto">
            <a:xfrm>
              <a:off x="4930" y="708"/>
              <a:ext cx="288" cy="304"/>
              <a:chOff x="4752" y="672"/>
              <a:chExt cx="288" cy="304"/>
            </a:xfrm>
          </p:grpSpPr>
          <p:sp>
            <p:nvSpPr>
              <p:cNvPr id="6155" name="AutoShape 11"/>
              <p:cNvSpPr>
                <a:spLocks noChangeArrowheads="1"/>
              </p:cNvSpPr>
              <p:nvPr/>
            </p:nvSpPr>
            <p:spPr bwMode="auto">
              <a:xfrm>
                <a:off x="4752" y="672"/>
                <a:ext cx="288" cy="288"/>
              </a:xfrm>
              <a:prstGeom prst="wedgeRectCallout">
                <a:avLst>
                  <a:gd name="adj1" fmla="val -51042"/>
                  <a:gd name="adj2" fmla="val 211111"/>
                </a:avLst>
              </a:prstGeom>
              <a:gradFill rotWithShape="0">
                <a:gsLst>
                  <a:gs pos="0">
                    <a:srgbClr val="FCDCED"/>
                  </a:gs>
                  <a:gs pos="100000">
                    <a:srgbClr val="FFFFFF"/>
                  </a:gs>
                </a:gsLst>
                <a:lin ang="5400000" scaled="1"/>
              </a:gradFill>
              <a:ln w="9525">
                <a:solidFill>
                  <a:srgbClr val="CC00CC"/>
                </a:solidFill>
                <a:miter lim="800000"/>
                <a:headEnd/>
                <a:tailEnd/>
              </a:ln>
              <a:effectLst/>
            </p:spPr>
            <p:txBody>
              <a:bodyPr/>
              <a:lstStyle/>
              <a:p>
                <a:pPr algn="ctr"/>
                <a:endParaRPr lang="zh-CN" altLang="zh-CN" sz="2100" b="1">
                  <a:solidFill>
                    <a:srgbClr val="1C1C1C"/>
                  </a:solidFill>
                  <a:latin typeface="Times New Roman" pitchFamily="18" charset="0"/>
                  <a:ea typeface="黑体" pitchFamily="2" charset="-122"/>
                </a:endParaRPr>
              </a:p>
            </p:txBody>
          </p:sp>
          <p:graphicFrame>
            <p:nvGraphicFramePr>
              <p:cNvPr id="6156" name="Object 12"/>
              <p:cNvGraphicFramePr>
                <a:graphicFrameLocks noChangeAspect="1"/>
              </p:cNvGraphicFramePr>
              <p:nvPr/>
            </p:nvGraphicFramePr>
            <p:xfrm>
              <a:off x="4800" y="703"/>
              <a:ext cx="240" cy="273"/>
            </p:xfrm>
            <a:graphic>
              <a:graphicData uri="http://schemas.openxmlformats.org/presentationml/2006/ole">
                <mc:AlternateContent xmlns:mc="http://schemas.openxmlformats.org/markup-compatibility/2006">
                  <mc:Choice xmlns:v="urn:schemas-microsoft-com:vml" Requires="v">
                    <p:oleObj name="公式" r:id="rId7" imgW="177569" imgH="215619" progId="Equation.3">
                      <p:embed/>
                    </p:oleObj>
                  </mc:Choice>
                  <mc:Fallback>
                    <p:oleObj name="公式" r:id="rId7" imgW="177569" imgH="215619" progId="Equation.3">
                      <p:embed/>
                      <p:pic>
                        <p:nvPicPr>
                          <p:cNvPr id="6156"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00" y="703"/>
                            <a:ext cx="240" cy="273"/>
                          </a:xfrm>
                          <a:prstGeom prst="rect">
                            <a:avLst/>
                          </a:prstGeom>
                          <a:noFill/>
                          <a:ln>
                            <a:noFill/>
                          </a:ln>
                          <a:extLst>
                            <a:ext uri="{909E8E84-426E-40DD-AFC4-6F175D3DCCD1}">
                              <a14:hiddenFill xmlns:a14="http://schemas.microsoft.com/office/drawing/2010/main">
                                <a:solidFill>
                                  <a:srgbClr val="FFD9FF"/>
                                </a:solidFill>
                              </a14:hiddenFill>
                            </a:ext>
                            <a:ext uri="{91240B29-F687-4F45-9708-019B960494DF}">
                              <a14:hiddenLine xmlns:a14="http://schemas.microsoft.com/office/drawing/2010/main" w="9525">
                                <a:solidFill>
                                  <a:srgbClr val="FF0066"/>
                                </a:solidFill>
                                <a:miter lim="800000"/>
                                <a:headEnd/>
                                <a:tailEnd/>
                              </a14:hiddenLine>
                            </a:ext>
                          </a:extLst>
                        </p:spPr>
                      </p:pic>
                    </p:oleObj>
                  </mc:Fallback>
                </mc:AlternateContent>
              </a:graphicData>
            </a:graphic>
          </p:graphicFrame>
        </p:grpSp>
      </p:grpSp>
      <p:sp>
        <p:nvSpPr>
          <p:cNvPr id="6159" name="Text Box 15"/>
          <p:cNvSpPr txBox="1">
            <a:spLocks noChangeArrowheads="1"/>
          </p:cNvSpPr>
          <p:nvPr/>
        </p:nvSpPr>
        <p:spPr bwMode="auto">
          <a:xfrm>
            <a:off x="833951" y="2465736"/>
            <a:ext cx="8296588" cy="1005788"/>
          </a:xfrm>
          <a:prstGeom prst="rect">
            <a:avLst/>
          </a:prstGeom>
          <a:noFill/>
          <a:ln w="9525">
            <a:noFill/>
            <a:miter lim="800000"/>
            <a:headEnd/>
            <a:tailEnd/>
          </a:ln>
          <a:effectLst/>
        </p:spPr>
        <p:txBody>
          <a:bodyPr wrap="square">
            <a:spAutoFit/>
          </a:bodyPr>
          <a:lstStyle/>
          <a:p>
            <a:pPr>
              <a:lnSpc>
                <a:spcPct val="130000"/>
              </a:lnSpc>
            </a:pPr>
            <a:r>
              <a:rPr lang="zh-CN" altLang="en-US" sz="2400" b="1" dirty="0">
                <a:latin typeface="微软雅黑" panose="020B0503020204020204" pitchFamily="34" charset="-122"/>
                <a:ea typeface="微软雅黑" panose="020B0503020204020204" pitchFamily="34" charset="-122"/>
              </a:rPr>
              <a:t>有两个表面很平的介质片（如玻璃片），一端相交，其间</a:t>
            </a:r>
            <a:endParaRPr lang="en-US" altLang="zh-CN" sz="2400" b="1" dirty="0">
              <a:latin typeface="微软雅黑" panose="020B0503020204020204" pitchFamily="34" charset="-122"/>
              <a:ea typeface="微软雅黑" panose="020B0503020204020204" pitchFamily="34" charset="-122"/>
            </a:endParaRPr>
          </a:p>
          <a:p>
            <a:pPr>
              <a:lnSpc>
                <a:spcPct val="130000"/>
              </a:lnSpc>
            </a:pPr>
            <a:r>
              <a:rPr lang="zh-CN" altLang="en-US" sz="2400" b="1" dirty="0">
                <a:latin typeface="微软雅黑" panose="020B0503020204020204" pitchFamily="34" charset="-122"/>
                <a:ea typeface="微软雅黑" panose="020B0503020204020204" pitchFamily="34" charset="-122"/>
              </a:rPr>
              <a:t>的夹角</a:t>
            </a:r>
            <a:r>
              <a:rPr lang="el-GR" altLang="zh-CN" sz="2400" b="1" dirty="0">
                <a:latin typeface="微软雅黑" panose="020B0503020204020204" pitchFamily="34" charset="-122"/>
                <a:ea typeface="微软雅黑" panose="020B0503020204020204" pitchFamily="34" charset="-122"/>
                <a:cs typeface="Times New Roman" pitchFamily="18" charset="0"/>
              </a:rPr>
              <a:t>θ</a:t>
            </a:r>
            <a:r>
              <a:rPr lang="zh-CN" altLang="en-US" sz="2400" b="1" dirty="0">
                <a:latin typeface="微软雅黑" panose="020B0503020204020204" pitchFamily="34" charset="-122"/>
                <a:ea typeface="微软雅黑" panose="020B0503020204020204" pitchFamily="34" charset="-122"/>
              </a:rPr>
              <a:t>很小，形成一个劈尖形的透明薄膜，称为</a:t>
            </a:r>
            <a:r>
              <a:rPr lang="zh-CN" altLang="en-US" sz="2400" b="1" dirty="0">
                <a:solidFill>
                  <a:srgbClr val="FF0000"/>
                </a:solidFill>
                <a:latin typeface="微软雅黑" panose="020B0503020204020204" pitchFamily="34" charset="-122"/>
                <a:ea typeface="微软雅黑" panose="020B0503020204020204" pitchFamily="34" charset="-122"/>
              </a:rPr>
              <a:t>劈尖膜</a:t>
            </a:r>
            <a:endParaRPr lang="zh-CN" altLang="en-US" sz="2400" b="1" dirty="0">
              <a:latin typeface="微软雅黑" panose="020B0503020204020204" pitchFamily="34" charset="-122"/>
              <a:ea typeface="微软雅黑" panose="020B0503020204020204" pitchFamily="34" charset="-122"/>
            </a:endParaRPr>
          </a:p>
        </p:txBody>
      </p:sp>
      <p:graphicFrame>
        <p:nvGraphicFramePr>
          <p:cNvPr id="6160" name="Object 16"/>
          <p:cNvGraphicFramePr>
            <a:graphicFrameLocks noChangeAspect="1"/>
          </p:cNvGraphicFramePr>
          <p:nvPr/>
        </p:nvGraphicFramePr>
        <p:xfrm>
          <a:off x="1670038" y="5620699"/>
          <a:ext cx="2114550" cy="390525"/>
        </p:xfrm>
        <a:graphic>
          <a:graphicData uri="http://schemas.openxmlformats.org/presentationml/2006/ole">
            <mc:AlternateContent xmlns:mc="http://schemas.openxmlformats.org/markup-compatibility/2006">
              <mc:Choice xmlns:v="urn:schemas-microsoft-com:vml" Requires="v">
                <p:oleObj name="Equation" r:id="rId9" imgW="28032010" imgH="5476952" progId="">
                  <p:embed/>
                </p:oleObj>
              </mc:Choice>
              <mc:Fallback>
                <p:oleObj name="Equation" r:id="rId9" imgW="28032010" imgH="5476952" progId="">
                  <p:embed/>
                  <p:pic>
                    <p:nvPicPr>
                      <p:cNvPr id="616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70038" y="5620699"/>
                        <a:ext cx="2114550"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17"/>
          <p:cNvGrpSpPr>
            <a:grpSpLocks/>
          </p:cNvGrpSpPr>
          <p:nvPr/>
        </p:nvGrpSpPr>
        <p:grpSpPr bwMode="auto">
          <a:xfrm>
            <a:off x="2132725" y="4971808"/>
            <a:ext cx="245269" cy="323850"/>
            <a:chOff x="3787" y="935"/>
            <a:chExt cx="206" cy="272"/>
          </a:xfrm>
        </p:grpSpPr>
        <p:graphicFrame>
          <p:nvGraphicFramePr>
            <p:cNvPr id="6162" name="Object 18"/>
            <p:cNvGraphicFramePr>
              <a:graphicFrameLocks noChangeAspect="1"/>
            </p:cNvGraphicFramePr>
            <p:nvPr/>
          </p:nvGraphicFramePr>
          <p:xfrm>
            <a:off x="3787" y="991"/>
            <a:ext cx="206" cy="216"/>
          </p:xfrm>
          <a:graphic>
            <a:graphicData uri="http://schemas.openxmlformats.org/presentationml/2006/ole">
              <mc:AlternateContent xmlns:mc="http://schemas.openxmlformats.org/markup-compatibility/2006">
                <mc:Choice xmlns:v="urn:schemas-microsoft-com:vml" Requires="v">
                  <p:oleObj name="公式" r:id="rId11" imgW="177492" imgH="177492" progId="Equation.3">
                    <p:embed/>
                  </p:oleObj>
                </mc:Choice>
                <mc:Fallback>
                  <p:oleObj name="公式" r:id="rId11" imgW="177492" imgH="177492" progId="Equation.3">
                    <p:embed/>
                    <p:pic>
                      <p:nvPicPr>
                        <p:cNvPr id="6162"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87" y="991"/>
                          <a:ext cx="206" cy="216"/>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sp>
          <p:nvSpPr>
            <p:cNvPr id="6163" name="Arc 19"/>
            <p:cNvSpPr>
              <a:spLocks/>
            </p:cNvSpPr>
            <p:nvPr/>
          </p:nvSpPr>
          <p:spPr bwMode="auto">
            <a:xfrm rot="2368673">
              <a:off x="3923" y="935"/>
              <a:ext cx="39" cy="91"/>
            </a:xfrm>
            <a:custGeom>
              <a:avLst/>
              <a:gdLst>
                <a:gd name="G0" fmla="+- 0 0 0"/>
                <a:gd name="G1" fmla="+- 21600 0 0"/>
                <a:gd name="G2" fmla="+- 21600 0 0"/>
                <a:gd name="T0" fmla="*/ 0 w 18826"/>
                <a:gd name="T1" fmla="*/ 0 h 21600"/>
                <a:gd name="T2" fmla="*/ 18826 w 18826"/>
                <a:gd name="T3" fmla="*/ 11010 h 21600"/>
                <a:gd name="T4" fmla="*/ 0 w 18826"/>
                <a:gd name="T5" fmla="*/ 21600 h 21600"/>
              </a:gdLst>
              <a:ahLst/>
              <a:cxnLst>
                <a:cxn ang="0">
                  <a:pos x="T0" y="T1"/>
                </a:cxn>
                <a:cxn ang="0">
                  <a:pos x="T2" y="T3"/>
                </a:cxn>
                <a:cxn ang="0">
                  <a:pos x="T4" y="T5"/>
                </a:cxn>
              </a:cxnLst>
              <a:rect l="0" t="0" r="r" b="b"/>
              <a:pathLst>
                <a:path w="18826" h="21600" fill="none" extrusionOk="0">
                  <a:moveTo>
                    <a:pt x="-1" y="0"/>
                  </a:moveTo>
                  <a:cubicBezTo>
                    <a:pt x="7803" y="0"/>
                    <a:pt x="15000" y="4208"/>
                    <a:pt x="18825" y="11010"/>
                  </a:cubicBezTo>
                </a:path>
                <a:path w="18826" h="21600" stroke="0" extrusionOk="0">
                  <a:moveTo>
                    <a:pt x="-1" y="0"/>
                  </a:moveTo>
                  <a:cubicBezTo>
                    <a:pt x="7803" y="0"/>
                    <a:pt x="15000" y="4208"/>
                    <a:pt x="18825" y="11010"/>
                  </a:cubicBezTo>
                  <a:lnTo>
                    <a:pt x="0" y="21600"/>
                  </a:lnTo>
                  <a:close/>
                </a:path>
              </a:pathLst>
            </a:custGeom>
            <a:noFill/>
            <a:ln w="28575">
              <a:solidFill>
                <a:schemeClr val="tx1"/>
              </a:solidFill>
              <a:round/>
              <a:headEnd/>
              <a:tailEnd/>
            </a:ln>
            <a:effectLst/>
          </p:spPr>
          <p:txBody>
            <a:bodyPr wrap="none" anchor="ctr"/>
            <a:lstStyle/>
            <a:p>
              <a:endParaRPr lang="zh-CN" altLang="en-US" sz="1050"/>
            </a:p>
          </p:txBody>
        </p:sp>
      </p:grpSp>
      <p:grpSp>
        <p:nvGrpSpPr>
          <p:cNvPr id="5" name="Group 20"/>
          <p:cNvGrpSpPr>
            <a:grpSpLocks/>
          </p:cNvGrpSpPr>
          <p:nvPr/>
        </p:nvGrpSpPr>
        <p:grpSpPr bwMode="auto">
          <a:xfrm>
            <a:off x="1193321" y="4194329"/>
            <a:ext cx="1371600" cy="415528"/>
            <a:chOff x="2907" y="282"/>
            <a:chExt cx="1152" cy="349"/>
          </a:xfrm>
        </p:grpSpPr>
        <p:sp>
          <p:nvSpPr>
            <p:cNvPr id="6165" name="AutoShape 21"/>
            <p:cNvSpPr>
              <a:spLocks noChangeArrowheads="1"/>
            </p:cNvSpPr>
            <p:nvPr/>
          </p:nvSpPr>
          <p:spPr bwMode="auto">
            <a:xfrm>
              <a:off x="2925" y="330"/>
              <a:ext cx="912" cy="288"/>
            </a:xfrm>
            <a:prstGeom prst="wedgeRectCallout">
              <a:avLst>
                <a:gd name="adj1" fmla="val 50986"/>
                <a:gd name="adj2" fmla="val 167361"/>
              </a:avLst>
            </a:prstGeom>
            <a:gradFill rotWithShape="0">
              <a:gsLst>
                <a:gs pos="0">
                  <a:schemeClr val="accent1"/>
                </a:gs>
                <a:gs pos="100000">
                  <a:srgbClr val="FFFFFF"/>
                </a:gs>
              </a:gsLst>
              <a:lin ang="5400000" scaled="1"/>
            </a:gradFill>
            <a:ln w="9525">
              <a:solidFill>
                <a:srgbClr val="9900CC"/>
              </a:solidFill>
              <a:miter lim="800000"/>
              <a:headEnd/>
              <a:tailEnd/>
            </a:ln>
            <a:effectLst/>
          </p:spPr>
          <p:txBody>
            <a:bodyPr/>
            <a:lstStyle/>
            <a:p>
              <a:pPr algn="ctr"/>
              <a:endParaRPr lang="zh-CN" altLang="zh-CN" sz="2100" b="1">
                <a:solidFill>
                  <a:srgbClr val="1C1C1C"/>
                </a:solidFill>
                <a:latin typeface="Times New Roman" pitchFamily="18" charset="0"/>
                <a:ea typeface="黑体" pitchFamily="2" charset="-122"/>
              </a:endParaRPr>
            </a:p>
          </p:txBody>
        </p:sp>
        <p:sp>
          <p:nvSpPr>
            <p:cNvPr id="6166" name="Text Box 22"/>
            <p:cNvSpPr txBox="1">
              <a:spLocks noChangeArrowheads="1"/>
            </p:cNvSpPr>
            <p:nvPr/>
          </p:nvSpPr>
          <p:spPr bwMode="auto">
            <a:xfrm>
              <a:off x="2907" y="282"/>
              <a:ext cx="1152" cy="349"/>
            </a:xfrm>
            <a:prstGeom prst="rect">
              <a:avLst/>
            </a:prstGeom>
            <a:noFill/>
            <a:ln w="9525">
              <a:noFill/>
              <a:miter lim="800000"/>
              <a:headEnd/>
              <a:tailEnd/>
            </a:ln>
            <a:effectLst/>
          </p:spPr>
          <p:txBody>
            <a:bodyPr>
              <a:spAutoFit/>
            </a:bodyPr>
            <a:lstStyle/>
            <a:p>
              <a:pPr>
                <a:spcBef>
                  <a:spcPct val="50000"/>
                </a:spcBef>
              </a:pPr>
              <a:r>
                <a:rPr lang="zh-CN" altLang="en-US" sz="2100" b="1">
                  <a:solidFill>
                    <a:srgbClr val="000000"/>
                  </a:solidFill>
                  <a:latin typeface="Times New Roman" pitchFamily="18" charset="0"/>
                  <a:ea typeface="黑体" pitchFamily="2" charset="-122"/>
                </a:rPr>
                <a:t>劈尖角</a:t>
              </a:r>
            </a:p>
          </p:txBody>
        </p:sp>
        <p:graphicFrame>
          <p:nvGraphicFramePr>
            <p:cNvPr id="6167" name="Object 23"/>
            <p:cNvGraphicFramePr>
              <a:graphicFrameLocks noChangeAspect="1"/>
            </p:cNvGraphicFramePr>
            <p:nvPr/>
          </p:nvGraphicFramePr>
          <p:xfrm>
            <a:off x="3651" y="346"/>
            <a:ext cx="176" cy="240"/>
          </p:xfrm>
          <a:graphic>
            <a:graphicData uri="http://schemas.openxmlformats.org/presentationml/2006/ole">
              <mc:AlternateContent xmlns:mc="http://schemas.openxmlformats.org/markup-compatibility/2006">
                <mc:Choice xmlns:v="urn:schemas-microsoft-com:vml" Requires="v">
                  <p:oleObj name="公式" r:id="rId13" imgW="177646" imgH="241091" progId="Equation.3">
                    <p:embed/>
                  </p:oleObj>
                </mc:Choice>
                <mc:Fallback>
                  <p:oleObj name="公式" r:id="rId13" imgW="177646" imgH="241091" progId="Equation.3">
                    <p:embed/>
                    <p:pic>
                      <p:nvPicPr>
                        <p:cNvPr id="6167" name="Object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51" y="346"/>
                          <a:ext cx="176" cy="240"/>
                        </a:xfrm>
                        <a:prstGeom prst="rect">
                          <a:avLst/>
                        </a:prstGeom>
                        <a:noFill/>
                        <a:extLst>
                          <a:ext uri="{909E8E84-426E-40DD-AFC4-6F175D3DCCD1}">
                            <a14:hiddenFill xmlns:a14="http://schemas.microsoft.com/office/drawing/2010/main">
                              <a:solidFill>
                                <a:schemeClr val="accent2"/>
                              </a:solidFill>
                            </a14:hiddenFill>
                          </a:ext>
                        </a:extLst>
                      </p:spPr>
                    </p:pic>
                  </p:oleObj>
                </mc:Fallback>
              </mc:AlternateContent>
            </a:graphicData>
          </a:graphic>
        </p:graphicFrame>
      </p:grpSp>
      <p:grpSp>
        <p:nvGrpSpPr>
          <p:cNvPr id="6" name="Group 24"/>
          <p:cNvGrpSpPr>
            <a:grpSpLocks/>
          </p:cNvGrpSpPr>
          <p:nvPr/>
        </p:nvGrpSpPr>
        <p:grpSpPr bwMode="auto">
          <a:xfrm>
            <a:off x="5390020" y="4334340"/>
            <a:ext cx="2555081" cy="1164431"/>
            <a:chOff x="2925" y="300"/>
            <a:chExt cx="2146" cy="978"/>
          </a:xfrm>
        </p:grpSpPr>
        <p:sp>
          <p:nvSpPr>
            <p:cNvPr id="6169" name="AutoShape 25"/>
            <p:cNvSpPr>
              <a:spLocks noChangeArrowheads="1"/>
            </p:cNvSpPr>
            <p:nvPr/>
          </p:nvSpPr>
          <p:spPr bwMode="auto">
            <a:xfrm>
              <a:off x="3011" y="717"/>
              <a:ext cx="1987" cy="561"/>
            </a:xfrm>
            <a:prstGeom prst="parallelogram">
              <a:avLst>
                <a:gd name="adj" fmla="val 56391"/>
              </a:avLst>
            </a:prstGeom>
            <a:solidFill>
              <a:srgbClr val="CCFFFF"/>
            </a:solidFill>
            <a:ln w="28575">
              <a:solidFill>
                <a:srgbClr val="008080"/>
              </a:solidFill>
              <a:miter lim="800000"/>
              <a:headEnd/>
              <a:tailEnd/>
            </a:ln>
            <a:effectLst/>
          </p:spPr>
          <p:txBody>
            <a:bodyPr wrap="none" anchor="ctr"/>
            <a:lstStyle/>
            <a:p>
              <a:endParaRPr lang="zh-CN" altLang="en-US" sz="1050"/>
            </a:p>
          </p:txBody>
        </p:sp>
        <p:sp>
          <p:nvSpPr>
            <p:cNvPr id="6170" name="AutoShape 26"/>
            <p:cNvSpPr>
              <a:spLocks noChangeArrowheads="1"/>
            </p:cNvSpPr>
            <p:nvPr/>
          </p:nvSpPr>
          <p:spPr bwMode="auto">
            <a:xfrm rot="-845873">
              <a:off x="2925" y="556"/>
              <a:ext cx="2146" cy="453"/>
            </a:xfrm>
            <a:prstGeom prst="flowChartInputOutput">
              <a:avLst/>
            </a:prstGeom>
            <a:solidFill>
              <a:srgbClr val="C9E7DF">
                <a:alpha val="50000"/>
              </a:srgbClr>
            </a:solidFill>
            <a:ln w="28575">
              <a:solidFill>
                <a:srgbClr val="008080"/>
              </a:solidFill>
              <a:miter lim="800000"/>
              <a:headEnd/>
              <a:tailEnd/>
            </a:ln>
            <a:effectLst/>
          </p:spPr>
          <p:txBody>
            <a:bodyPr wrap="none" anchor="ctr"/>
            <a:lstStyle/>
            <a:p>
              <a:pPr algn="ctr"/>
              <a:endParaRPr lang="zh-CN" altLang="zh-CN" sz="2100" b="1" u="sng">
                <a:latin typeface="Times New Roman" pitchFamily="18" charset="0"/>
                <a:ea typeface="黑体" pitchFamily="2" charset="-122"/>
              </a:endParaRPr>
            </a:p>
          </p:txBody>
        </p:sp>
        <p:sp>
          <p:nvSpPr>
            <p:cNvPr id="6171" name="Freeform 27"/>
            <p:cNvSpPr>
              <a:spLocks/>
            </p:cNvSpPr>
            <p:nvPr/>
          </p:nvSpPr>
          <p:spPr bwMode="auto">
            <a:xfrm>
              <a:off x="4682" y="300"/>
              <a:ext cx="308" cy="978"/>
            </a:xfrm>
            <a:custGeom>
              <a:avLst/>
              <a:gdLst/>
              <a:ahLst/>
              <a:cxnLst>
                <a:cxn ang="0">
                  <a:pos x="0" y="739"/>
                </a:cxn>
                <a:cxn ang="0">
                  <a:pos x="0" y="1267"/>
                </a:cxn>
                <a:cxn ang="0">
                  <a:pos x="400" y="556"/>
                </a:cxn>
                <a:cxn ang="0">
                  <a:pos x="400" y="0"/>
                </a:cxn>
                <a:cxn ang="0">
                  <a:pos x="0" y="691"/>
                </a:cxn>
                <a:cxn ang="0">
                  <a:pos x="0" y="739"/>
                </a:cxn>
              </a:cxnLst>
              <a:rect l="0" t="0" r="r" b="b"/>
              <a:pathLst>
                <a:path w="400" h="1267">
                  <a:moveTo>
                    <a:pt x="0" y="739"/>
                  </a:moveTo>
                  <a:lnTo>
                    <a:pt x="0" y="1267"/>
                  </a:lnTo>
                  <a:lnTo>
                    <a:pt x="400" y="556"/>
                  </a:lnTo>
                  <a:lnTo>
                    <a:pt x="400" y="0"/>
                  </a:lnTo>
                  <a:lnTo>
                    <a:pt x="0" y="691"/>
                  </a:lnTo>
                  <a:lnTo>
                    <a:pt x="0" y="739"/>
                  </a:lnTo>
                  <a:close/>
                </a:path>
              </a:pathLst>
            </a:custGeom>
            <a:solidFill>
              <a:srgbClr val="CCECFF"/>
            </a:solidFill>
            <a:ln w="28575" cap="flat" cmpd="sng">
              <a:solidFill>
                <a:srgbClr val="008080"/>
              </a:solidFill>
              <a:prstDash val="solid"/>
              <a:round/>
              <a:headEnd type="none" w="med" len="med"/>
              <a:tailEnd type="none" w="med" len="med"/>
            </a:ln>
            <a:effectLst/>
          </p:spPr>
          <p:txBody>
            <a:bodyPr wrap="none" anchor="ctr"/>
            <a:lstStyle/>
            <a:p>
              <a:endParaRPr lang="zh-CN" altLang="en-US" sz="1050"/>
            </a:p>
          </p:txBody>
        </p:sp>
      </p:grpSp>
      <p:sp>
        <p:nvSpPr>
          <p:cNvPr id="6172" name="AutoShape 28"/>
          <p:cNvSpPr>
            <a:spLocks noChangeArrowheads="1"/>
          </p:cNvSpPr>
          <p:nvPr/>
        </p:nvSpPr>
        <p:spPr bwMode="auto">
          <a:xfrm>
            <a:off x="5281671" y="4017632"/>
            <a:ext cx="864394" cy="400050"/>
          </a:xfrm>
          <a:prstGeom prst="wedgeRectCallout">
            <a:avLst>
              <a:gd name="adj1" fmla="val -3995"/>
              <a:gd name="adj2" fmla="val 224704"/>
            </a:avLst>
          </a:prstGeom>
          <a:gradFill rotWithShape="0">
            <a:gsLst>
              <a:gs pos="0">
                <a:schemeClr val="accent1"/>
              </a:gs>
              <a:gs pos="100000">
                <a:srgbClr val="FFFFFF"/>
              </a:gs>
            </a:gsLst>
            <a:lin ang="5400000" scaled="1"/>
          </a:gradFill>
          <a:ln w="9525">
            <a:solidFill>
              <a:srgbClr val="9900CC"/>
            </a:solidFill>
            <a:miter lim="800000"/>
            <a:headEnd/>
            <a:tailEnd/>
          </a:ln>
          <a:effectLst/>
        </p:spPr>
        <p:txBody>
          <a:bodyPr/>
          <a:lstStyle/>
          <a:p>
            <a:pPr algn="ctr"/>
            <a:r>
              <a:rPr lang="zh-CN" altLang="en-US" sz="2100" b="1">
                <a:solidFill>
                  <a:srgbClr val="CC0000"/>
                </a:solidFill>
                <a:latin typeface="Times New Roman" pitchFamily="18" charset="0"/>
                <a:ea typeface="黑体" pitchFamily="2" charset="-122"/>
              </a:rPr>
              <a:t>棱边</a:t>
            </a:r>
          </a:p>
        </p:txBody>
      </p:sp>
      <p:grpSp>
        <p:nvGrpSpPr>
          <p:cNvPr id="7" name="Group 29"/>
          <p:cNvGrpSpPr>
            <a:grpSpLocks/>
          </p:cNvGrpSpPr>
          <p:nvPr/>
        </p:nvGrpSpPr>
        <p:grpSpPr bwMode="auto">
          <a:xfrm>
            <a:off x="5930563" y="5228499"/>
            <a:ext cx="645319" cy="310753"/>
            <a:chOff x="3969" y="3385"/>
            <a:chExt cx="542" cy="261"/>
          </a:xfrm>
        </p:grpSpPr>
        <p:graphicFrame>
          <p:nvGraphicFramePr>
            <p:cNvPr id="6174" name="Object 30"/>
            <p:cNvGraphicFramePr>
              <a:graphicFrameLocks noChangeAspect="1"/>
            </p:cNvGraphicFramePr>
            <p:nvPr/>
          </p:nvGraphicFramePr>
          <p:xfrm>
            <a:off x="4262" y="3385"/>
            <a:ext cx="249" cy="261"/>
          </p:xfrm>
          <a:graphic>
            <a:graphicData uri="http://schemas.openxmlformats.org/presentationml/2006/ole">
              <mc:AlternateContent xmlns:mc="http://schemas.openxmlformats.org/markup-compatibility/2006">
                <mc:Choice xmlns:v="urn:schemas-microsoft-com:vml" Requires="v">
                  <p:oleObj name="公式" r:id="rId15" imgW="177492" imgH="177492" progId="Equation.3">
                    <p:embed/>
                  </p:oleObj>
                </mc:Choice>
                <mc:Fallback>
                  <p:oleObj name="公式" r:id="rId15" imgW="177492" imgH="177492" progId="Equation.3">
                    <p:embed/>
                    <p:pic>
                      <p:nvPicPr>
                        <p:cNvPr id="6174" name="Object 3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62" y="3385"/>
                          <a:ext cx="249" cy="2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75" name="Arc 31"/>
            <p:cNvSpPr>
              <a:spLocks/>
            </p:cNvSpPr>
            <p:nvPr/>
          </p:nvSpPr>
          <p:spPr bwMode="auto">
            <a:xfrm rot="5095497">
              <a:off x="3992" y="3452"/>
              <a:ext cx="135" cy="181"/>
            </a:xfrm>
            <a:custGeom>
              <a:avLst/>
              <a:gdLst>
                <a:gd name="G0" fmla="+- 13818 0 0"/>
                <a:gd name="G1" fmla="+- 21600 0 0"/>
                <a:gd name="G2" fmla="+- 21600 0 0"/>
                <a:gd name="T0" fmla="*/ 0 w 24324"/>
                <a:gd name="T1" fmla="*/ 4998 h 21600"/>
                <a:gd name="T2" fmla="*/ 24324 w 24324"/>
                <a:gd name="T3" fmla="*/ 2727 h 21600"/>
                <a:gd name="T4" fmla="*/ 13818 w 24324"/>
                <a:gd name="T5" fmla="*/ 21600 h 21600"/>
              </a:gdLst>
              <a:ahLst/>
              <a:cxnLst>
                <a:cxn ang="0">
                  <a:pos x="T0" y="T1"/>
                </a:cxn>
                <a:cxn ang="0">
                  <a:pos x="T2" y="T3"/>
                </a:cxn>
                <a:cxn ang="0">
                  <a:pos x="T4" y="T5"/>
                </a:cxn>
              </a:cxnLst>
              <a:rect l="0" t="0" r="r" b="b"/>
              <a:pathLst>
                <a:path w="24324" h="21600" fill="none" extrusionOk="0">
                  <a:moveTo>
                    <a:pt x="0" y="4998"/>
                  </a:moveTo>
                  <a:cubicBezTo>
                    <a:pt x="3880" y="1768"/>
                    <a:pt x="8769" y="-1"/>
                    <a:pt x="13818" y="0"/>
                  </a:cubicBezTo>
                  <a:cubicBezTo>
                    <a:pt x="17495" y="0"/>
                    <a:pt x="21111" y="938"/>
                    <a:pt x="24323" y="2727"/>
                  </a:cubicBezTo>
                </a:path>
                <a:path w="24324" h="21600" stroke="0" extrusionOk="0">
                  <a:moveTo>
                    <a:pt x="0" y="4998"/>
                  </a:moveTo>
                  <a:cubicBezTo>
                    <a:pt x="3880" y="1768"/>
                    <a:pt x="8769" y="-1"/>
                    <a:pt x="13818" y="0"/>
                  </a:cubicBezTo>
                  <a:cubicBezTo>
                    <a:pt x="17495" y="0"/>
                    <a:pt x="21111" y="938"/>
                    <a:pt x="24323" y="2727"/>
                  </a:cubicBezTo>
                  <a:lnTo>
                    <a:pt x="13818" y="21600"/>
                  </a:lnTo>
                  <a:close/>
                </a:path>
              </a:pathLst>
            </a:custGeom>
            <a:noFill/>
            <a:ln w="28575">
              <a:solidFill>
                <a:schemeClr val="tx1"/>
              </a:solidFill>
              <a:round/>
              <a:headEnd/>
              <a:tailEnd/>
            </a:ln>
            <a:effectLst/>
          </p:spPr>
          <p:txBody>
            <a:bodyPr wrap="none" anchor="ctr"/>
            <a:lstStyle/>
            <a:p>
              <a:endParaRPr lang="zh-CN" altLang="en-US" sz="1050"/>
            </a:p>
          </p:txBody>
        </p:sp>
      </p:grpSp>
      <p:sp>
        <p:nvSpPr>
          <p:cNvPr id="39" name="Rectangle 13"/>
          <p:cNvSpPr>
            <a:spLocks noChangeArrowheads="1"/>
          </p:cNvSpPr>
          <p:nvPr/>
        </p:nvSpPr>
        <p:spPr bwMode="auto">
          <a:xfrm>
            <a:off x="814528" y="1613188"/>
            <a:ext cx="5177749" cy="461665"/>
          </a:xfrm>
          <a:prstGeom prst="rect">
            <a:avLst/>
          </a:prstGeom>
          <a:noFill/>
          <a:ln w="9525">
            <a:noFill/>
            <a:miter lim="800000"/>
            <a:headEnd/>
            <a:tailEnd/>
          </a:ln>
          <a:effectLst/>
        </p:spPr>
        <p:txBody>
          <a:bodyPr wrap="square">
            <a:spAutoFit/>
          </a:bodyPr>
          <a:lstStyle/>
          <a:p>
            <a:pPr>
              <a:spcBef>
                <a:spcPct val="50000"/>
              </a:spcBef>
            </a:pPr>
            <a:r>
              <a:rPr kumimoji="1" lang="zh-CN" altLang="en-US" sz="2400" b="1" dirty="0">
                <a:solidFill>
                  <a:srgbClr val="FF0000"/>
                </a:solidFill>
                <a:latin typeface="微软雅黑" panose="020B0503020204020204" pitchFamily="34" charset="-122"/>
                <a:ea typeface="微软雅黑" panose="020B0503020204020204" pitchFamily="34" charset="-122"/>
              </a:rPr>
              <a:t>如何能够使圆形条纹转变为直条纹？</a:t>
            </a:r>
          </a:p>
        </p:txBody>
      </p:sp>
      <p:sp>
        <p:nvSpPr>
          <p:cNvPr id="40" name="TextBox 39"/>
          <p:cNvSpPr txBox="1"/>
          <p:nvPr/>
        </p:nvSpPr>
        <p:spPr>
          <a:xfrm>
            <a:off x="2761485" y="4334339"/>
            <a:ext cx="320922" cy="415498"/>
          </a:xfrm>
          <a:prstGeom prst="rect">
            <a:avLst/>
          </a:prstGeom>
          <a:noFill/>
        </p:spPr>
        <p:txBody>
          <a:bodyPr wrap="none" rtlCol="0">
            <a:spAutoFit/>
          </a:bodyPr>
          <a:lstStyle/>
          <a:p>
            <a:r>
              <a:rPr lang="en-US" altLang="zh-CN" sz="2100" b="1" dirty="0">
                <a:solidFill>
                  <a:srgbClr val="FF0000"/>
                </a:solidFill>
              </a:rPr>
              <a:t>1</a:t>
            </a:r>
            <a:endParaRPr lang="zh-CN" altLang="en-US" sz="2100" b="1" dirty="0">
              <a:solidFill>
                <a:srgbClr val="FF0000"/>
              </a:solidFill>
            </a:endParaRPr>
          </a:p>
        </p:txBody>
      </p:sp>
      <p:sp>
        <p:nvSpPr>
          <p:cNvPr id="41" name="TextBox 40"/>
          <p:cNvSpPr txBox="1"/>
          <p:nvPr/>
        </p:nvSpPr>
        <p:spPr>
          <a:xfrm>
            <a:off x="2761485" y="4658375"/>
            <a:ext cx="320922" cy="415498"/>
          </a:xfrm>
          <a:prstGeom prst="rect">
            <a:avLst/>
          </a:prstGeom>
          <a:noFill/>
        </p:spPr>
        <p:txBody>
          <a:bodyPr wrap="none" rtlCol="0">
            <a:spAutoFit/>
          </a:bodyPr>
          <a:lstStyle/>
          <a:p>
            <a:r>
              <a:rPr lang="en-US" altLang="zh-CN" sz="2100" b="1" dirty="0">
                <a:solidFill>
                  <a:srgbClr val="FF0000"/>
                </a:solidFill>
              </a:rPr>
              <a:t>2</a:t>
            </a:r>
            <a:endParaRPr lang="zh-CN" altLang="en-US" sz="2100" b="1" dirty="0">
              <a:solidFill>
                <a:srgbClr val="FF0000"/>
              </a:solidFill>
            </a:endParaRPr>
          </a:p>
        </p:txBody>
      </p:sp>
      <p:sp>
        <p:nvSpPr>
          <p:cNvPr id="42" name="TextBox 41"/>
          <p:cNvSpPr txBox="1"/>
          <p:nvPr/>
        </p:nvSpPr>
        <p:spPr>
          <a:xfrm>
            <a:off x="2875785" y="4820393"/>
            <a:ext cx="320922" cy="415498"/>
          </a:xfrm>
          <a:prstGeom prst="rect">
            <a:avLst/>
          </a:prstGeom>
          <a:noFill/>
        </p:spPr>
        <p:txBody>
          <a:bodyPr wrap="none" rtlCol="0">
            <a:spAutoFit/>
          </a:bodyPr>
          <a:lstStyle/>
          <a:p>
            <a:r>
              <a:rPr lang="en-US" altLang="zh-CN" sz="2100" b="1" dirty="0">
                <a:solidFill>
                  <a:srgbClr val="FF0000"/>
                </a:solidFill>
              </a:rPr>
              <a:t>3</a:t>
            </a:r>
            <a:endParaRPr lang="zh-CN" altLang="en-US" sz="2100" b="1" dirty="0">
              <a:solidFill>
                <a:srgbClr val="FF0000"/>
              </a:solidFill>
            </a:endParaRPr>
          </a:p>
        </p:txBody>
      </p:sp>
      <p:sp>
        <p:nvSpPr>
          <p:cNvPr id="43" name="TextBox 42"/>
          <p:cNvSpPr txBox="1"/>
          <p:nvPr/>
        </p:nvSpPr>
        <p:spPr>
          <a:xfrm>
            <a:off x="2923503" y="5144429"/>
            <a:ext cx="320922" cy="415498"/>
          </a:xfrm>
          <a:prstGeom prst="rect">
            <a:avLst/>
          </a:prstGeom>
          <a:noFill/>
        </p:spPr>
        <p:txBody>
          <a:bodyPr wrap="none" rtlCol="0">
            <a:spAutoFit/>
          </a:bodyPr>
          <a:lstStyle/>
          <a:p>
            <a:r>
              <a:rPr lang="en-US" altLang="zh-CN" sz="2100" b="1" dirty="0">
                <a:solidFill>
                  <a:srgbClr val="FF0000"/>
                </a:solidFill>
              </a:rPr>
              <a:t>4</a:t>
            </a:r>
            <a:endParaRPr lang="zh-CN" altLang="en-US" sz="2100" b="1" dirty="0">
              <a:solidFill>
                <a:srgbClr val="FF0000"/>
              </a:solidFill>
            </a:endParaRPr>
          </a:p>
        </p:txBody>
      </p:sp>
      <p:sp>
        <p:nvSpPr>
          <p:cNvPr id="44" name="文本框 43"/>
          <p:cNvSpPr txBox="1"/>
          <p:nvPr/>
        </p:nvSpPr>
        <p:spPr>
          <a:xfrm>
            <a:off x="142844" y="866898"/>
            <a:ext cx="2227386" cy="523220"/>
          </a:xfrm>
          <a:prstGeom prst="rect">
            <a:avLst/>
          </a:prstGeom>
          <a:noFill/>
        </p:spPr>
        <p:txBody>
          <a:bodyPr wrap="square" rtlCol="0">
            <a:spAutoFit/>
          </a:bodyPr>
          <a:lstStyle/>
          <a:p>
            <a:r>
              <a:rPr lang="zh-CN" altLang="en-US" sz="2800" b="1" dirty="0">
                <a:solidFill>
                  <a:srgbClr val="0000FF"/>
                </a:solidFill>
                <a:latin typeface="微软雅黑" panose="020B0503020204020204" pitchFamily="34" charset="-122"/>
                <a:ea typeface="微软雅黑" panose="020B0503020204020204" pitchFamily="34" charset="-122"/>
              </a:rPr>
              <a:t>劈尖模型</a:t>
            </a:r>
          </a:p>
        </p:txBody>
      </p:sp>
      <p:sp>
        <p:nvSpPr>
          <p:cNvPr id="8" name="WordArt 51">
            <a:extLst>
              <a:ext uri="{FF2B5EF4-FFF2-40B4-BE49-F238E27FC236}">
                <a16:creationId xmlns:a16="http://schemas.microsoft.com/office/drawing/2014/main" id="{301628AD-CA7E-5832-98E0-C8264798FC19}"/>
              </a:ext>
            </a:extLst>
          </p:cNvPr>
          <p:cNvSpPr>
            <a:spLocks noChangeArrowheads="1" noChangeShapeType="1"/>
          </p:cNvSpPr>
          <p:nvPr/>
        </p:nvSpPr>
        <p:spPr bwMode="auto">
          <a:xfrm>
            <a:off x="142844" y="71414"/>
            <a:ext cx="1729499" cy="409097"/>
          </a:xfrm>
          <a:prstGeom prst="rect">
            <a:avLst/>
          </a:prstGeom>
        </p:spPr>
        <p:txBody>
          <a:bodyPr wrap="none" fromWordArt="1">
            <a:prstTxWarp prst="textPlain">
              <a:avLst>
                <a:gd name="adj" fmla="val 50000"/>
              </a:avLst>
            </a:prstTxWarp>
          </a:bodyPr>
          <a:lstStyle/>
          <a:p>
            <a:pPr algn="ctr"/>
            <a:r>
              <a:rPr lang="zh-CN" altLang="en-US" sz="3600" dirty="0">
                <a:ln w="9525">
                  <a:noFill/>
                  <a:round/>
                  <a:headEnd/>
                  <a:tailEnd/>
                </a:ln>
                <a:gradFill rotWithShape="0">
                  <a:gsLst>
                    <a:gs pos="0">
                      <a:schemeClr val="bg1"/>
                    </a:gs>
                    <a:gs pos="100000">
                      <a:srgbClr val="FFFE7D"/>
                    </a:gs>
                  </a:gsLst>
                  <a:lin ang="5400000" scaled="1"/>
                </a:gradFill>
                <a:effectLst>
                  <a:outerShdw dist="38100" dir="5400000" algn="ctr" rotWithShape="0">
                    <a:srgbClr val="4D4D4D">
                      <a:alpha val="76999"/>
                    </a:srgbClr>
                  </a:outerShdw>
                </a:effectLst>
                <a:latin typeface="华文琥珀"/>
                <a:ea typeface="华文琥珀"/>
              </a:rPr>
              <a:t>实验介绍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par>
                          <p:cTn id="14" fill="hold">
                            <p:stCondLst>
                              <p:cond delay="500"/>
                            </p:stCondLst>
                            <p:childTnLst>
                              <p:par>
                                <p:cTn id="15" presetID="2" presetClass="entr" presetSubtype="4" fill="hold" grpId="0" nodeType="afterEffect">
                                  <p:stCondLst>
                                    <p:cond delay="0"/>
                                  </p:stCondLst>
                                  <p:childTnLst>
                                    <p:set>
                                      <p:cBhvr>
                                        <p:cTn id="16" dur="1" fill="hold">
                                          <p:stCondLst>
                                            <p:cond delay="0"/>
                                          </p:stCondLst>
                                        </p:cTn>
                                        <p:tgtEl>
                                          <p:spTgt spid="40"/>
                                        </p:tgtEl>
                                        <p:attrNameLst>
                                          <p:attrName>style.visibility</p:attrName>
                                        </p:attrNameLst>
                                      </p:cBhvr>
                                      <p:to>
                                        <p:strVal val="visible"/>
                                      </p:to>
                                    </p:set>
                                    <p:anim calcmode="lin" valueType="num">
                                      <p:cBhvr additive="base">
                                        <p:cTn id="17" dur="500" fill="hold"/>
                                        <p:tgtEl>
                                          <p:spTgt spid="40"/>
                                        </p:tgtEl>
                                        <p:attrNameLst>
                                          <p:attrName>ppt_x</p:attrName>
                                        </p:attrNameLst>
                                      </p:cBhvr>
                                      <p:tavLst>
                                        <p:tav tm="0">
                                          <p:val>
                                            <p:strVal val="#ppt_x"/>
                                          </p:val>
                                        </p:tav>
                                        <p:tav tm="100000">
                                          <p:val>
                                            <p:strVal val="#ppt_x"/>
                                          </p:val>
                                        </p:tav>
                                      </p:tavLst>
                                    </p:anim>
                                    <p:anim calcmode="lin" valueType="num">
                                      <p:cBhvr additive="base">
                                        <p:cTn id="18" dur="500" fill="hold"/>
                                        <p:tgtEl>
                                          <p:spTgt spid="40"/>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4" fill="hold" grpId="0" nodeType="afterEffect">
                                  <p:stCondLst>
                                    <p:cond delay="0"/>
                                  </p:stCondLst>
                                  <p:childTnLst>
                                    <p:set>
                                      <p:cBhvr>
                                        <p:cTn id="21" dur="1" fill="hold">
                                          <p:stCondLst>
                                            <p:cond delay="0"/>
                                          </p:stCondLst>
                                        </p:cTn>
                                        <p:tgtEl>
                                          <p:spTgt spid="42"/>
                                        </p:tgtEl>
                                        <p:attrNameLst>
                                          <p:attrName>style.visibility</p:attrName>
                                        </p:attrNameLst>
                                      </p:cBhvr>
                                      <p:to>
                                        <p:strVal val="visible"/>
                                      </p:to>
                                    </p:set>
                                    <p:anim calcmode="lin" valueType="num">
                                      <p:cBhvr additive="base">
                                        <p:cTn id="22" dur="500" fill="hold"/>
                                        <p:tgtEl>
                                          <p:spTgt spid="42"/>
                                        </p:tgtEl>
                                        <p:attrNameLst>
                                          <p:attrName>ppt_x</p:attrName>
                                        </p:attrNameLst>
                                      </p:cBhvr>
                                      <p:tavLst>
                                        <p:tav tm="0">
                                          <p:val>
                                            <p:strVal val="#ppt_x"/>
                                          </p:val>
                                        </p:tav>
                                        <p:tav tm="100000">
                                          <p:val>
                                            <p:strVal val="#ppt_x"/>
                                          </p:val>
                                        </p:tav>
                                      </p:tavLst>
                                    </p:anim>
                                    <p:anim calcmode="lin" valueType="num">
                                      <p:cBhvr additive="base">
                                        <p:cTn id="23" dur="500" fill="hold"/>
                                        <p:tgtEl>
                                          <p:spTgt spid="42"/>
                                        </p:tgtEl>
                                        <p:attrNameLst>
                                          <p:attrName>ppt_y</p:attrName>
                                        </p:attrNameLst>
                                      </p:cBhvr>
                                      <p:tavLst>
                                        <p:tav tm="0">
                                          <p:val>
                                            <p:strVal val="1+#ppt_h/2"/>
                                          </p:val>
                                        </p:tav>
                                        <p:tav tm="100000">
                                          <p:val>
                                            <p:strVal val="#ppt_y"/>
                                          </p:val>
                                        </p:tav>
                                      </p:tavLst>
                                    </p:anim>
                                  </p:childTnLst>
                                </p:cTn>
                              </p:par>
                            </p:childTnLst>
                          </p:cTn>
                        </p:par>
                        <p:par>
                          <p:cTn id="24" fill="hold">
                            <p:stCondLst>
                              <p:cond delay="1500"/>
                            </p:stCondLst>
                            <p:childTnLst>
                              <p:par>
                                <p:cTn id="25" presetID="2" presetClass="entr" presetSubtype="4" fill="hold" grpId="0" nodeType="afterEffect">
                                  <p:stCondLst>
                                    <p:cond delay="0"/>
                                  </p:stCondLst>
                                  <p:childTnLst>
                                    <p:set>
                                      <p:cBhvr>
                                        <p:cTn id="26" dur="1" fill="hold">
                                          <p:stCondLst>
                                            <p:cond delay="0"/>
                                          </p:stCondLst>
                                        </p:cTn>
                                        <p:tgtEl>
                                          <p:spTgt spid="41"/>
                                        </p:tgtEl>
                                        <p:attrNameLst>
                                          <p:attrName>style.visibility</p:attrName>
                                        </p:attrNameLst>
                                      </p:cBhvr>
                                      <p:to>
                                        <p:strVal val="visible"/>
                                      </p:to>
                                    </p:set>
                                    <p:anim calcmode="lin" valueType="num">
                                      <p:cBhvr additive="base">
                                        <p:cTn id="27" dur="500" fill="hold"/>
                                        <p:tgtEl>
                                          <p:spTgt spid="41"/>
                                        </p:tgtEl>
                                        <p:attrNameLst>
                                          <p:attrName>ppt_x</p:attrName>
                                        </p:attrNameLst>
                                      </p:cBhvr>
                                      <p:tavLst>
                                        <p:tav tm="0">
                                          <p:val>
                                            <p:strVal val="#ppt_x"/>
                                          </p:val>
                                        </p:tav>
                                        <p:tav tm="100000">
                                          <p:val>
                                            <p:strVal val="#ppt_x"/>
                                          </p:val>
                                        </p:tav>
                                      </p:tavLst>
                                    </p:anim>
                                    <p:anim calcmode="lin" valueType="num">
                                      <p:cBhvr additive="base">
                                        <p:cTn id="28" dur="500" fill="hold"/>
                                        <p:tgtEl>
                                          <p:spTgt spid="41"/>
                                        </p:tgtEl>
                                        <p:attrNameLst>
                                          <p:attrName>ppt_y</p:attrName>
                                        </p:attrNameLst>
                                      </p:cBhvr>
                                      <p:tavLst>
                                        <p:tav tm="0">
                                          <p:val>
                                            <p:strVal val="1+#ppt_h/2"/>
                                          </p:val>
                                        </p:tav>
                                        <p:tav tm="100000">
                                          <p:val>
                                            <p:strVal val="#ppt_y"/>
                                          </p:val>
                                        </p:tav>
                                      </p:tavLst>
                                    </p:anim>
                                  </p:childTnLst>
                                </p:cTn>
                              </p:par>
                            </p:childTnLst>
                          </p:cTn>
                        </p:par>
                        <p:par>
                          <p:cTn id="29" fill="hold">
                            <p:stCondLst>
                              <p:cond delay="2000"/>
                            </p:stCondLst>
                            <p:childTnLst>
                              <p:par>
                                <p:cTn id="30" presetID="2" presetClass="entr" presetSubtype="4" fill="hold" grpId="0" nodeType="afterEffect">
                                  <p:stCondLst>
                                    <p:cond delay="0"/>
                                  </p:stCondLst>
                                  <p:childTnLst>
                                    <p:set>
                                      <p:cBhvr>
                                        <p:cTn id="31" dur="1" fill="hold">
                                          <p:stCondLst>
                                            <p:cond delay="0"/>
                                          </p:stCondLst>
                                        </p:cTn>
                                        <p:tgtEl>
                                          <p:spTgt spid="43"/>
                                        </p:tgtEl>
                                        <p:attrNameLst>
                                          <p:attrName>style.visibility</p:attrName>
                                        </p:attrNameLst>
                                      </p:cBhvr>
                                      <p:to>
                                        <p:strVal val="visible"/>
                                      </p:to>
                                    </p:set>
                                    <p:anim calcmode="lin" valueType="num">
                                      <p:cBhvr additive="base">
                                        <p:cTn id="32" dur="500" fill="hold"/>
                                        <p:tgtEl>
                                          <p:spTgt spid="43"/>
                                        </p:tgtEl>
                                        <p:attrNameLst>
                                          <p:attrName>ppt_x</p:attrName>
                                        </p:attrNameLst>
                                      </p:cBhvr>
                                      <p:tavLst>
                                        <p:tav tm="0">
                                          <p:val>
                                            <p:strVal val="#ppt_x"/>
                                          </p:val>
                                        </p:tav>
                                        <p:tav tm="100000">
                                          <p:val>
                                            <p:strVal val="#ppt_x"/>
                                          </p:val>
                                        </p:tav>
                                      </p:tavLst>
                                    </p:anim>
                                    <p:anim calcmode="lin" valueType="num">
                                      <p:cBhvr additive="base">
                                        <p:cTn id="33"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6159"/>
                                        </p:tgtEl>
                                        <p:attrNameLst>
                                          <p:attrName>style.visibility</p:attrName>
                                        </p:attrNameLst>
                                      </p:cBhvr>
                                      <p:to>
                                        <p:strVal val="visible"/>
                                      </p:to>
                                    </p:set>
                                    <p:animEffect transition="in" filter="blinds(horizontal)">
                                      <p:cBhvr>
                                        <p:cTn id="38" dur="500"/>
                                        <p:tgtEl>
                                          <p:spTgt spid="6159"/>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blinds(horizontal)">
                                      <p:cBhvr>
                                        <p:cTn id="43" dur="500"/>
                                        <p:tgtEl>
                                          <p:spTgt spid="4"/>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blinds(horizontal)">
                                      <p:cBhvr>
                                        <p:cTn id="48" dur="500"/>
                                        <p:tgtEl>
                                          <p:spTgt spid="5"/>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blinds(horizontal)">
                                      <p:cBhvr>
                                        <p:cTn id="53" dur="500"/>
                                        <p:tgtEl>
                                          <p:spTgt spid="6"/>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6160"/>
                                        </p:tgtEl>
                                        <p:attrNameLst>
                                          <p:attrName>style.visibility</p:attrName>
                                        </p:attrNameLst>
                                      </p:cBhvr>
                                      <p:to>
                                        <p:strVal val="visible"/>
                                      </p:to>
                                    </p:set>
                                    <p:animEffect transition="in" filter="blinds(horizontal)">
                                      <p:cBhvr>
                                        <p:cTn id="58" dur="500"/>
                                        <p:tgtEl>
                                          <p:spTgt spid="6160"/>
                                        </p:tgtEl>
                                      </p:cBhvr>
                                    </p:animEffect>
                                  </p:childTnLst>
                                </p:cTn>
                              </p:par>
                              <p:par>
                                <p:cTn id="59" presetID="3" presetClass="entr" presetSubtype="10" fill="hold" nodeType="with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blinds(horizontal)">
                                      <p:cBhvr>
                                        <p:cTn id="61" dur="500"/>
                                        <p:tgtEl>
                                          <p:spTgt spid="7"/>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6172"/>
                                        </p:tgtEl>
                                        <p:attrNameLst>
                                          <p:attrName>style.visibility</p:attrName>
                                        </p:attrNameLst>
                                      </p:cBhvr>
                                      <p:to>
                                        <p:strVal val="visible"/>
                                      </p:to>
                                    </p:set>
                                    <p:animEffect transition="in" filter="blinds(horizontal)">
                                      <p:cBhvr>
                                        <p:cTn id="66" dur="500"/>
                                        <p:tgtEl>
                                          <p:spTgt spid="6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9" grpId="0"/>
      <p:bldP spid="6172" grpId="0" animBg="1"/>
      <p:bldP spid="39" grpId="0"/>
      <p:bldP spid="40" grpId="0"/>
      <p:bldP spid="41" grpId="0"/>
      <p:bldP spid="42" grpId="0"/>
      <p:bldP spid="4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639564" y="2149428"/>
            <a:ext cx="2971800" cy="3486150"/>
            <a:chOff x="240" y="912"/>
            <a:chExt cx="2496" cy="2928"/>
          </a:xfrm>
        </p:grpSpPr>
        <p:sp>
          <p:nvSpPr>
            <p:cNvPr id="9219" name="Rectangle 3"/>
            <p:cNvSpPr>
              <a:spLocks noChangeArrowheads="1"/>
            </p:cNvSpPr>
            <p:nvPr/>
          </p:nvSpPr>
          <p:spPr bwMode="auto">
            <a:xfrm>
              <a:off x="240" y="912"/>
              <a:ext cx="2304" cy="2928"/>
            </a:xfrm>
            <a:prstGeom prst="rect">
              <a:avLst/>
            </a:prstGeom>
            <a:solidFill>
              <a:schemeClr val="bg1"/>
            </a:solidFill>
            <a:ln w="9525">
              <a:solidFill>
                <a:srgbClr val="006666"/>
              </a:solidFill>
              <a:miter lim="800000"/>
              <a:headEnd/>
              <a:tailEnd/>
            </a:ln>
            <a:effectLst/>
          </p:spPr>
          <p:txBody>
            <a:bodyPr wrap="none" anchor="ctr"/>
            <a:lstStyle/>
            <a:p>
              <a:endParaRPr lang="zh-CN" altLang="en-US" sz="1050"/>
            </a:p>
          </p:txBody>
        </p:sp>
        <p:sp>
          <p:nvSpPr>
            <p:cNvPr id="9220" name="Rectangle 4"/>
            <p:cNvSpPr>
              <a:spLocks noChangeArrowheads="1"/>
            </p:cNvSpPr>
            <p:nvPr/>
          </p:nvSpPr>
          <p:spPr bwMode="auto">
            <a:xfrm>
              <a:off x="1440" y="1056"/>
              <a:ext cx="288" cy="240"/>
            </a:xfrm>
            <a:prstGeom prst="rect">
              <a:avLst/>
            </a:prstGeom>
            <a:gradFill rotWithShape="0">
              <a:gsLst>
                <a:gs pos="0">
                  <a:schemeClr val="accent1">
                    <a:gamma/>
                    <a:shade val="36078"/>
                    <a:invGamma/>
                  </a:schemeClr>
                </a:gs>
                <a:gs pos="50000">
                  <a:schemeClr val="accent1"/>
                </a:gs>
                <a:gs pos="100000">
                  <a:schemeClr val="accent1">
                    <a:gamma/>
                    <a:shade val="36078"/>
                    <a:invGamma/>
                  </a:schemeClr>
                </a:gs>
              </a:gsLst>
              <a:lin ang="0" scaled="1"/>
            </a:gradFill>
            <a:ln w="9525">
              <a:solidFill>
                <a:schemeClr val="tx1"/>
              </a:solidFill>
              <a:miter lim="800000"/>
              <a:headEnd/>
              <a:tailEnd/>
            </a:ln>
            <a:effectLst/>
          </p:spPr>
          <p:txBody>
            <a:bodyPr wrap="none" anchor="ctr"/>
            <a:lstStyle/>
            <a:p>
              <a:endParaRPr lang="zh-CN" altLang="en-US" sz="1050"/>
            </a:p>
          </p:txBody>
        </p:sp>
        <p:sp>
          <p:nvSpPr>
            <p:cNvPr id="9221" name="AutoShape 5"/>
            <p:cNvSpPr>
              <a:spLocks noChangeArrowheads="1"/>
            </p:cNvSpPr>
            <p:nvPr/>
          </p:nvSpPr>
          <p:spPr bwMode="auto">
            <a:xfrm>
              <a:off x="1440" y="1296"/>
              <a:ext cx="288" cy="96"/>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gradFill rotWithShape="0">
              <a:gsLst>
                <a:gs pos="0">
                  <a:schemeClr val="accent1">
                    <a:gamma/>
                    <a:shade val="26275"/>
                    <a:invGamma/>
                  </a:schemeClr>
                </a:gs>
                <a:gs pos="50000">
                  <a:schemeClr val="accent1"/>
                </a:gs>
                <a:gs pos="100000">
                  <a:schemeClr val="accent1">
                    <a:gamma/>
                    <a:shade val="26275"/>
                    <a:invGamma/>
                  </a:schemeClr>
                </a:gs>
              </a:gsLst>
              <a:lin ang="0" scaled="1"/>
            </a:gradFill>
            <a:ln w="9525">
              <a:solidFill>
                <a:schemeClr val="tx1"/>
              </a:solidFill>
              <a:miter lim="800000"/>
              <a:headEnd/>
              <a:tailEnd/>
            </a:ln>
            <a:effectLst/>
          </p:spPr>
          <p:txBody>
            <a:bodyPr wrap="none" anchor="ctr"/>
            <a:lstStyle/>
            <a:p>
              <a:endParaRPr lang="zh-CN" altLang="en-US" sz="1050"/>
            </a:p>
          </p:txBody>
        </p:sp>
        <p:sp>
          <p:nvSpPr>
            <p:cNvPr id="9222" name="Oval 6"/>
            <p:cNvSpPr>
              <a:spLocks noChangeArrowheads="1"/>
            </p:cNvSpPr>
            <p:nvPr/>
          </p:nvSpPr>
          <p:spPr bwMode="auto">
            <a:xfrm>
              <a:off x="912" y="1728"/>
              <a:ext cx="96" cy="624"/>
            </a:xfrm>
            <a:prstGeom prst="ellipse">
              <a:avLst/>
            </a:prstGeom>
            <a:solidFill>
              <a:srgbClr val="00FFCC">
                <a:alpha val="50000"/>
              </a:srgbClr>
            </a:solidFill>
            <a:ln w="9525">
              <a:solidFill>
                <a:schemeClr val="tx2"/>
              </a:solidFill>
              <a:round/>
              <a:headEnd/>
              <a:tailEnd/>
            </a:ln>
            <a:effectLst/>
          </p:spPr>
          <p:txBody>
            <a:bodyPr wrap="none" anchor="ctr"/>
            <a:lstStyle/>
            <a:p>
              <a:endParaRPr lang="zh-CN" altLang="en-US" sz="1050"/>
            </a:p>
          </p:txBody>
        </p:sp>
        <p:sp>
          <p:nvSpPr>
            <p:cNvPr id="9223" name="Line 7"/>
            <p:cNvSpPr>
              <a:spLocks noChangeShapeType="1"/>
            </p:cNvSpPr>
            <p:nvPr/>
          </p:nvSpPr>
          <p:spPr bwMode="auto">
            <a:xfrm flipV="1">
              <a:off x="576" y="1872"/>
              <a:ext cx="336" cy="192"/>
            </a:xfrm>
            <a:prstGeom prst="line">
              <a:avLst/>
            </a:prstGeom>
            <a:noFill/>
            <a:ln w="28575">
              <a:solidFill>
                <a:srgbClr val="FF9900"/>
              </a:solidFill>
              <a:round/>
              <a:headEnd type="none" w="sm" len="lg"/>
              <a:tailEnd type="none" w="sm" len="lg"/>
            </a:ln>
            <a:effectLst/>
          </p:spPr>
          <p:txBody>
            <a:bodyPr wrap="none" anchor="ctr"/>
            <a:lstStyle/>
            <a:p>
              <a:endParaRPr lang="zh-CN" altLang="en-US" sz="1050"/>
            </a:p>
          </p:txBody>
        </p:sp>
        <p:sp>
          <p:nvSpPr>
            <p:cNvPr id="9224" name="Line 8"/>
            <p:cNvSpPr>
              <a:spLocks noChangeShapeType="1"/>
            </p:cNvSpPr>
            <p:nvPr/>
          </p:nvSpPr>
          <p:spPr bwMode="auto">
            <a:xfrm>
              <a:off x="576" y="2064"/>
              <a:ext cx="336" cy="144"/>
            </a:xfrm>
            <a:prstGeom prst="line">
              <a:avLst/>
            </a:prstGeom>
            <a:noFill/>
            <a:ln w="28575">
              <a:solidFill>
                <a:srgbClr val="FF9900"/>
              </a:solidFill>
              <a:round/>
              <a:headEnd type="none" w="sm" len="lg"/>
              <a:tailEnd type="none" w="sm" len="lg"/>
            </a:ln>
            <a:effectLst/>
          </p:spPr>
          <p:txBody>
            <a:bodyPr wrap="none" anchor="ctr"/>
            <a:lstStyle/>
            <a:p>
              <a:endParaRPr lang="zh-CN" altLang="en-US" sz="1050"/>
            </a:p>
          </p:txBody>
        </p:sp>
        <p:sp>
          <p:nvSpPr>
            <p:cNvPr id="9225" name="Line 9"/>
            <p:cNvSpPr>
              <a:spLocks noChangeShapeType="1"/>
            </p:cNvSpPr>
            <p:nvPr/>
          </p:nvSpPr>
          <p:spPr bwMode="auto">
            <a:xfrm>
              <a:off x="912" y="1872"/>
              <a:ext cx="432" cy="0"/>
            </a:xfrm>
            <a:prstGeom prst="line">
              <a:avLst/>
            </a:prstGeom>
            <a:noFill/>
            <a:ln w="28575">
              <a:solidFill>
                <a:srgbClr val="FF9900"/>
              </a:solidFill>
              <a:round/>
              <a:headEnd type="none" w="sm" len="lg"/>
              <a:tailEnd type="none" w="sm" len="lg"/>
            </a:ln>
            <a:effectLst/>
          </p:spPr>
          <p:txBody>
            <a:bodyPr wrap="none" anchor="ctr"/>
            <a:lstStyle/>
            <a:p>
              <a:endParaRPr lang="zh-CN" altLang="en-US" sz="1050"/>
            </a:p>
          </p:txBody>
        </p:sp>
        <p:sp>
          <p:nvSpPr>
            <p:cNvPr id="9226" name="Oval 10"/>
            <p:cNvSpPr>
              <a:spLocks noChangeArrowheads="1"/>
            </p:cNvSpPr>
            <p:nvPr/>
          </p:nvSpPr>
          <p:spPr bwMode="auto">
            <a:xfrm>
              <a:off x="1968" y="2832"/>
              <a:ext cx="192" cy="192"/>
            </a:xfrm>
            <a:prstGeom prst="ellipse">
              <a:avLst/>
            </a:prstGeom>
            <a:gradFill rotWithShape="0">
              <a:gsLst>
                <a:gs pos="0">
                  <a:schemeClr val="accent1"/>
                </a:gs>
                <a:gs pos="100000">
                  <a:schemeClr val="accent1">
                    <a:gamma/>
                    <a:shade val="56078"/>
                    <a:invGamma/>
                  </a:schemeClr>
                </a:gs>
              </a:gsLst>
              <a:path path="shape">
                <a:fillToRect l="50000" t="50000" r="50000" b="50000"/>
              </a:path>
            </a:gradFill>
            <a:ln w="9525">
              <a:solidFill>
                <a:schemeClr val="tx1"/>
              </a:solidFill>
              <a:round/>
              <a:headEnd/>
              <a:tailEnd/>
            </a:ln>
            <a:effectLst/>
          </p:spPr>
          <p:txBody>
            <a:bodyPr wrap="none" anchor="ctr"/>
            <a:lstStyle/>
            <a:p>
              <a:endParaRPr lang="zh-CN" altLang="en-US" sz="1050"/>
            </a:p>
          </p:txBody>
        </p:sp>
        <p:sp>
          <p:nvSpPr>
            <p:cNvPr id="9227" name="Line 11"/>
            <p:cNvSpPr>
              <a:spLocks noChangeShapeType="1"/>
            </p:cNvSpPr>
            <p:nvPr/>
          </p:nvSpPr>
          <p:spPr bwMode="auto">
            <a:xfrm>
              <a:off x="912" y="3024"/>
              <a:ext cx="1200" cy="0"/>
            </a:xfrm>
            <a:prstGeom prst="line">
              <a:avLst/>
            </a:prstGeom>
            <a:noFill/>
            <a:ln w="38100">
              <a:solidFill>
                <a:srgbClr val="0000FF"/>
              </a:solidFill>
              <a:round/>
              <a:headEnd type="none" w="sm" len="lg"/>
              <a:tailEnd type="none" w="sm" len="lg"/>
            </a:ln>
            <a:effectLst/>
          </p:spPr>
          <p:txBody>
            <a:bodyPr wrap="none" anchor="ctr"/>
            <a:lstStyle/>
            <a:p>
              <a:endParaRPr lang="zh-CN" altLang="en-US" sz="1050"/>
            </a:p>
          </p:txBody>
        </p:sp>
        <p:sp>
          <p:nvSpPr>
            <p:cNvPr id="9228" name="Line 12"/>
            <p:cNvSpPr>
              <a:spLocks noChangeShapeType="1"/>
            </p:cNvSpPr>
            <p:nvPr/>
          </p:nvSpPr>
          <p:spPr bwMode="auto">
            <a:xfrm flipV="1">
              <a:off x="912" y="2832"/>
              <a:ext cx="1200" cy="192"/>
            </a:xfrm>
            <a:prstGeom prst="line">
              <a:avLst/>
            </a:prstGeom>
            <a:noFill/>
            <a:ln w="38100">
              <a:solidFill>
                <a:srgbClr val="0000FF"/>
              </a:solidFill>
              <a:round/>
              <a:headEnd type="none" w="sm" len="lg"/>
              <a:tailEnd type="none" w="sm" len="lg"/>
            </a:ln>
            <a:effectLst/>
          </p:spPr>
          <p:txBody>
            <a:bodyPr wrap="none" anchor="ctr"/>
            <a:lstStyle/>
            <a:p>
              <a:endParaRPr lang="zh-CN" altLang="en-US" sz="1050"/>
            </a:p>
          </p:txBody>
        </p:sp>
        <p:sp>
          <p:nvSpPr>
            <p:cNvPr id="9229" name="Line 13"/>
            <p:cNvSpPr>
              <a:spLocks noChangeShapeType="1"/>
            </p:cNvSpPr>
            <p:nvPr/>
          </p:nvSpPr>
          <p:spPr bwMode="auto">
            <a:xfrm>
              <a:off x="1824" y="1440"/>
              <a:ext cx="0" cy="1584"/>
            </a:xfrm>
            <a:prstGeom prst="line">
              <a:avLst/>
            </a:prstGeom>
            <a:noFill/>
            <a:ln w="28575">
              <a:solidFill>
                <a:srgbClr val="FF9900"/>
              </a:solidFill>
              <a:round/>
              <a:headEnd type="none" w="sm" len="lg"/>
              <a:tailEnd type="none" w="sm" len="lg"/>
            </a:ln>
            <a:effectLst/>
          </p:spPr>
          <p:txBody>
            <a:bodyPr wrap="none" anchor="ctr"/>
            <a:lstStyle/>
            <a:p>
              <a:endParaRPr lang="zh-CN" altLang="en-US" sz="1050"/>
            </a:p>
          </p:txBody>
        </p:sp>
        <p:sp>
          <p:nvSpPr>
            <p:cNvPr id="9230" name="Line 14"/>
            <p:cNvSpPr>
              <a:spLocks noChangeShapeType="1"/>
            </p:cNvSpPr>
            <p:nvPr/>
          </p:nvSpPr>
          <p:spPr bwMode="auto">
            <a:xfrm>
              <a:off x="1344" y="1440"/>
              <a:ext cx="0" cy="1584"/>
            </a:xfrm>
            <a:prstGeom prst="line">
              <a:avLst/>
            </a:prstGeom>
            <a:noFill/>
            <a:ln w="28575">
              <a:solidFill>
                <a:srgbClr val="FF9900"/>
              </a:solidFill>
              <a:round/>
              <a:headEnd type="none" w="sm" len="lg"/>
              <a:tailEnd type="none" w="sm" len="lg"/>
            </a:ln>
            <a:effectLst/>
          </p:spPr>
          <p:txBody>
            <a:bodyPr wrap="none" anchor="ctr"/>
            <a:lstStyle/>
            <a:p>
              <a:endParaRPr lang="zh-CN" altLang="en-US" sz="1050"/>
            </a:p>
          </p:txBody>
        </p:sp>
        <p:sp>
          <p:nvSpPr>
            <p:cNvPr id="9231" name="Line 15"/>
            <p:cNvSpPr>
              <a:spLocks noChangeShapeType="1"/>
            </p:cNvSpPr>
            <p:nvPr/>
          </p:nvSpPr>
          <p:spPr bwMode="auto">
            <a:xfrm>
              <a:off x="912" y="2208"/>
              <a:ext cx="912" cy="0"/>
            </a:xfrm>
            <a:prstGeom prst="line">
              <a:avLst/>
            </a:prstGeom>
            <a:noFill/>
            <a:ln w="28575">
              <a:solidFill>
                <a:srgbClr val="FF9900"/>
              </a:solidFill>
              <a:round/>
              <a:headEnd type="none" w="sm" len="lg"/>
              <a:tailEnd type="none" w="sm" len="lg"/>
            </a:ln>
            <a:effectLst/>
          </p:spPr>
          <p:txBody>
            <a:bodyPr wrap="none" anchor="ctr"/>
            <a:lstStyle/>
            <a:p>
              <a:endParaRPr lang="zh-CN" altLang="en-US" sz="1050"/>
            </a:p>
          </p:txBody>
        </p:sp>
        <p:sp>
          <p:nvSpPr>
            <p:cNvPr id="9232" name="Line 16"/>
            <p:cNvSpPr>
              <a:spLocks noChangeShapeType="1"/>
            </p:cNvSpPr>
            <p:nvPr/>
          </p:nvSpPr>
          <p:spPr bwMode="auto">
            <a:xfrm>
              <a:off x="2016" y="2832"/>
              <a:ext cx="480" cy="0"/>
            </a:xfrm>
            <a:prstGeom prst="line">
              <a:avLst/>
            </a:prstGeom>
            <a:noFill/>
            <a:ln w="19050">
              <a:solidFill>
                <a:srgbClr val="0000FF"/>
              </a:solidFill>
              <a:prstDash val="dash"/>
              <a:round/>
              <a:headEnd type="none" w="sm" len="lg"/>
              <a:tailEnd type="none" w="sm" len="lg"/>
            </a:ln>
            <a:effectLst/>
          </p:spPr>
          <p:txBody>
            <a:bodyPr wrap="none" anchor="ctr"/>
            <a:lstStyle/>
            <a:p>
              <a:endParaRPr lang="zh-CN" altLang="en-US" sz="1050"/>
            </a:p>
          </p:txBody>
        </p:sp>
        <p:sp>
          <p:nvSpPr>
            <p:cNvPr id="9233" name="Line 17"/>
            <p:cNvSpPr>
              <a:spLocks noChangeShapeType="1"/>
            </p:cNvSpPr>
            <p:nvPr/>
          </p:nvSpPr>
          <p:spPr bwMode="auto">
            <a:xfrm>
              <a:off x="2016" y="3024"/>
              <a:ext cx="480" cy="0"/>
            </a:xfrm>
            <a:prstGeom prst="line">
              <a:avLst/>
            </a:prstGeom>
            <a:noFill/>
            <a:ln w="19050">
              <a:solidFill>
                <a:srgbClr val="0000FF"/>
              </a:solidFill>
              <a:prstDash val="dash"/>
              <a:round/>
              <a:headEnd type="none" w="sm" len="lg"/>
              <a:tailEnd type="none" w="sm" len="lg"/>
            </a:ln>
            <a:effectLst/>
          </p:spPr>
          <p:txBody>
            <a:bodyPr wrap="none" anchor="ctr"/>
            <a:lstStyle/>
            <a:p>
              <a:endParaRPr lang="zh-CN" altLang="en-US" sz="1050"/>
            </a:p>
          </p:txBody>
        </p:sp>
        <p:sp>
          <p:nvSpPr>
            <p:cNvPr id="9234" name="Line 18"/>
            <p:cNvSpPr>
              <a:spLocks noChangeShapeType="1"/>
            </p:cNvSpPr>
            <p:nvPr/>
          </p:nvSpPr>
          <p:spPr bwMode="auto">
            <a:xfrm>
              <a:off x="2304" y="2592"/>
              <a:ext cx="0" cy="240"/>
            </a:xfrm>
            <a:prstGeom prst="line">
              <a:avLst/>
            </a:prstGeom>
            <a:noFill/>
            <a:ln w="19050">
              <a:solidFill>
                <a:srgbClr val="FF0066"/>
              </a:solidFill>
              <a:prstDash val="dash"/>
              <a:round/>
              <a:headEnd type="none" w="sm" len="lg"/>
              <a:tailEnd type="triangle" w="sm" len="lg"/>
            </a:ln>
            <a:effectLst/>
          </p:spPr>
          <p:txBody>
            <a:bodyPr wrap="none" anchor="ctr"/>
            <a:lstStyle/>
            <a:p>
              <a:endParaRPr lang="zh-CN" altLang="en-US" sz="1050"/>
            </a:p>
          </p:txBody>
        </p:sp>
        <p:sp>
          <p:nvSpPr>
            <p:cNvPr id="9235" name="Text Box 19"/>
            <p:cNvSpPr txBox="1">
              <a:spLocks noChangeArrowheads="1"/>
            </p:cNvSpPr>
            <p:nvPr/>
          </p:nvSpPr>
          <p:spPr bwMode="auto">
            <a:xfrm>
              <a:off x="384" y="1920"/>
              <a:ext cx="816" cy="349"/>
            </a:xfrm>
            <a:prstGeom prst="rect">
              <a:avLst/>
            </a:prstGeom>
            <a:noFill/>
            <a:ln w="9525">
              <a:noFill/>
              <a:miter lim="800000"/>
              <a:headEnd/>
              <a:tailEnd/>
            </a:ln>
            <a:effectLst/>
          </p:spPr>
          <p:txBody>
            <a:bodyPr>
              <a:spAutoFit/>
            </a:bodyPr>
            <a:lstStyle/>
            <a:p>
              <a:pPr>
                <a:spcBef>
                  <a:spcPct val="50000"/>
                </a:spcBef>
              </a:pPr>
              <a:r>
                <a:rPr lang="en-US" altLang="en-US" sz="2100">
                  <a:solidFill>
                    <a:srgbClr val="C80000"/>
                  </a:solidFill>
                  <a:latin typeface="Times New Roman" pitchFamily="18" charset="0"/>
                </a:rPr>
                <a:t>S</a:t>
              </a:r>
              <a:endParaRPr lang="en-US" altLang="zh-CN" sz="2100">
                <a:solidFill>
                  <a:srgbClr val="C80000"/>
                </a:solidFill>
                <a:latin typeface="Times New Roman" pitchFamily="18" charset="0"/>
              </a:endParaRPr>
            </a:p>
          </p:txBody>
        </p:sp>
        <p:sp>
          <p:nvSpPr>
            <p:cNvPr id="9236" name="Text Box 20"/>
            <p:cNvSpPr txBox="1">
              <a:spLocks noChangeArrowheads="1"/>
            </p:cNvSpPr>
            <p:nvPr/>
          </p:nvSpPr>
          <p:spPr bwMode="auto">
            <a:xfrm>
              <a:off x="1872" y="2064"/>
              <a:ext cx="864" cy="349"/>
            </a:xfrm>
            <a:prstGeom prst="rect">
              <a:avLst/>
            </a:prstGeom>
            <a:noFill/>
            <a:ln w="9525">
              <a:noFill/>
              <a:miter lim="800000"/>
              <a:headEnd/>
              <a:tailEnd/>
            </a:ln>
            <a:effectLst/>
          </p:spPr>
          <p:txBody>
            <a:bodyPr>
              <a:spAutoFit/>
            </a:bodyPr>
            <a:lstStyle/>
            <a:p>
              <a:pPr>
                <a:spcBef>
                  <a:spcPct val="50000"/>
                </a:spcBef>
              </a:pPr>
              <a:r>
                <a:rPr lang="en-US" altLang="zh-CN" sz="2100">
                  <a:solidFill>
                    <a:srgbClr val="000000"/>
                  </a:solidFill>
                  <a:latin typeface="Times New Roman" pitchFamily="18" charset="0"/>
                </a:rPr>
                <a:t>M</a:t>
              </a:r>
            </a:p>
          </p:txBody>
        </p:sp>
        <p:sp>
          <p:nvSpPr>
            <p:cNvPr id="9237" name="Line 21"/>
            <p:cNvSpPr>
              <a:spLocks noChangeShapeType="1"/>
            </p:cNvSpPr>
            <p:nvPr/>
          </p:nvSpPr>
          <p:spPr bwMode="auto">
            <a:xfrm>
              <a:off x="1336" y="2352"/>
              <a:ext cx="0" cy="336"/>
            </a:xfrm>
            <a:prstGeom prst="line">
              <a:avLst/>
            </a:prstGeom>
            <a:noFill/>
            <a:ln w="28575">
              <a:solidFill>
                <a:srgbClr val="FF9900"/>
              </a:solidFill>
              <a:round/>
              <a:headEnd type="triangle" w="sm" len="lg"/>
              <a:tailEnd type="triangle" w="sm" len="lg"/>
            </a:ln>
            <a:effectLst/>
          </p:spPr>
          <p:txBody>
            <a:bodyPr wrap="none" anchor="ctr"/>
            <a:lstStyle/>
            <a:p>
              <a:endParaRPr lang="zh-CN" altLang="en-US" sz="1050"/>
            </a:p>
          </p:txBody>
        </p:sp>
        <p:sp>
          <p:nvSpPr>
            <p:cNvPr id="9238" name="Line 22"/>
            <p:cNvSpPr>
              <a:spLocks noChangeShapeType="1"/>
            </p:cNvSpPr>
            <p:nvPr/>
          </p:nvSpPr>
          <p:spPr bwMode="auto">
            <a:xfrm>
              <a:off x="1816" y="2400"/>
              <a:ext cx="0" cy="336"/>
            </a:xfrm>
            <a:prstGeom prst="line">
              <a:avLst/>
            </a:prstGeom>
            <a:noFill/>
            <a:ln w="28575">
              <a:solidFill>
                <a:srgbClr val="FF9900"/>
              </a:solidFill>
              <a:round/>
              <a:headEnd type="triangle" w="sm" len="lg"/>
              <a:tailEnd type="triangle" w="sm" len="lg"/>
            </a:ln>
            <a:effectLst/>
          </p:spPr>
          <p:txBody>
            <a:bodyPr wrap="none" anchor="ctr"/>
            <a:lstStyle/>
            <a:p>
              <a:endParaRPr lang="zh-CN" altLang="en-US" sz="1050"/>
            </a:p>
          </p:txBody>
        </p:sp>
        <p:sp>
          <p:nvSpPr>
            <p:cNvPr id="9239" name="Line 23"/>
            <p:cNvSpPr>
              <a:spLocks noChangeShapeType="1"/>
            </p:cNvSpPr>
            <p:nvPr/>
          </p:nvSpPr>
          <p:spPr bwMode="auto">
            <a:xfrm>
              <a:off x="1104" y="1872"/>
              <a:ext cx="144" cy="0"/>
            </a:xfrm>
            <a:prstGeom prst="line">
              <a:avLst/>
            </a:prstGeom>
            <a:noFill/>
            <a:ln w="28575">
              <a:solidFill>
                <a:srgbClr val="FF9900"/>
              </a:solidFill>
              <a:round/>
              <a:headEnd type="none" w="sm" len="lg"/>
              <a:tailEnd type="triangle" w="sm" len="lg"/>
            </a:ln>
            <a:effectLst/>
          </p:spPr>
          <p:txBody>
            <a:bodyPr wrap="none" anchor="ctr"/>
            <a:lstStyle/>
            <a:p>
              <a:endParaRPr lang="zh-CN" altLang="en-US" sz="1050"/>
            </a:p>
          </p:txBody>
        </p:sp>
        <p:sp>
          <p:nvSpPr>
            <p:cNvPr id="9240" name="Line 24"/>
            <p:cNvSpPr>
              <a:spLocks noChangeShapeType="1"/>
            </p:cNvSpPr>
            <p:nvPr/>
          </p:nvSpPr>
          <p:spPr bwMode="auto">
            <a:xfrm>
              <a:off x="1104" y="2208"/>
              <a:ext cx="144" cy="0"/>
            </a:xfrm>
            <a:prstGeom prst="line">
              <a:avLst/>
            </a:prstGeom>
            <a:noFill/>
            <a:ln w="28575">
              <a:solidFill>
                <a:srgbClr val="FF9900"/>
              </a:solidFill>
              <a:round/>
              <a:headEnd type="none" w="sm" len="lg"/>
              <a:tailEnd type="triangle" w="sm" len="lg"/>
            </a:ln>
            <a:effectLst/>
          </p:spPr>
          <p:txBody>
            <a:bodyPr wrap="none" anchor="ctr"/>
            <a:lstStyle/>
            <a:p>
              <a:endParaRPr lang="zh-CN" altLang="en-US" sz="1050"/>
            </a:p>
          </p:txBody>
        </p:sp>
        <p:sp>
          <p:nvSpPr>
            <p:cNvPr id="9241" name="Freeform 25"/>
            <p:cNvSpPr>
              <a:spLocks/>
            </p:cNvSpPr>
            <p:nvPr/>
          </p:nvSpPr>
          <p:spPr bwMode="auto">
            <a:xfrm>
              <a:off x="1340" y="1504"/>
              <a:ext cx="1" cy="128"/>
            </a:xfrm>
            <a:custGeom>
              <a:avLst/>
              <a:gdLst/>
              <a:ahLst/>
              <a:cxnLst>
                <a:cxn ang="0">
                  <a:pos x="0" y="128"/>
                </a:cxn>
                <a:cxn ang="0">
                  <a:pos x="0" y="0"/>
                </a:cxn>
              </a:cxnLst>
              <a:rect l="0" t="0" r="r" b="b"/>
              <a:pathLst>
                <a:path w="1" h="128">
                  <a:moveTo>
                    <a:pt x="0" y="128"/>
                  </a:moveTo>
                  <a:lnTo>
                    <a:pt x="0" y="0"/>
                  </a:lnTo>
                </a:path>
              </a:pathLst>
            </a:custGeom>
            <a:noFill/>
            <a:ln w="28575">
              <a:solidFill>
                <a:srgbClr val="FF9900"/>
              </a:solidFill>
              <a:round/>
              <a:headEnd type="none" w="sm" len="lg"/>
              <a:tailEnd type="triangle" w="sm" len="lg"/>
            </a:ln>
            <a:effectLst/>
          </p:spPr>
          <p:txBody>
            <a:bodyPr wrap="none" anchor="ctr"/>
            <a:lstStyle/>
            <a:p>
              <a:endParaRPr lang="zh-CN" altLang="en-US" sz="1050"/>
            </a:p>
          </p:txBody>
        </p:sp>
        <p:sp>
          <p:nvSpPr>
            <p:cNvPr id="9242" name="Freeform 26"/>
            <p:cNvSpPr>
              <a:spLocks/>
            </p:cNvSpPr>
            <p:nvPr/>
          </p:nvSpPr>
          <p:spPr bwMode="auto">
            <a:xfrm>
              <a:off x="1820" y="1500"/>
              <a:ext cx="4" cy="132"/>
            </a:xfrm>
            <a:custGeom>
              <a:avLst/>
              <a:gdLst/>
              <a:ahLst/>
              <a:cxnLst>
                <a:cxn ang="0">
                  <a:pos x="4" y="132"/>
                </a:cxn>
                <a:cxn ang="0">
                  <a:pos x="0" y="0"/>
                </a:cxn>
              </a:cxnLst>
              <a:rect l="0" t="0" r="r" b="b"/>
              <a:pathLst>
                <a:path w="4" h="132">
                  <a:moveTo>
                    <a:pt x="4" y="132"/>
                  </a:moveTo>
                  <a:lnTo>
                    <a:pt x="0" y="0"/>
                  </a:lnTo>
                </a:path>
              </a:pathLst>
            </a:custGeom>
            <a:noFill/>
            <a:ln w="28575">
              <a:solidFill>
                <a:srgbClr val="FF9900"/>
              </a:solidFill>
              <a:round/>
              <a:headEnd type="none" w="sm" len="lg"/>
              <a:tailEnd type="triangle" w="sm" len="lg"/>
            </a:ln>
            <a:effectLst/>
          </p:spPr>
          <p:txBody>
            <a:bodyPr wrap="none" anchor="ctr"/>
            <a:lstStyle/>
            <a:p>
              <a:endParaRPr lang="zh-CN" altLang="en-US" sz="1050"/>
            </a:p>
          </p:txBody>
        </p:sp>
        <p:sp>
          <p:nvSpPr>
            <p:cNvPr id="9243" name="Line 27"/>
            <p:cNvSpPr>
              <a:spLocks noChangeShapeType="1"/>
            </p:cNvSpPr>
            <p:nvPr/>
          </p:nvSpPr>
          <p:spPr bwMode="auto">
            <a:xfrm flipV="1">
              <a:off x="2304" y="3024"/>
              <a:ext cx="0" cy="192"/>
            </a:xfrm>
            <a:prstGeom prst="line">
              <a:avLst/>
            </a:prstGeom>
            <a:noFill/>
            <a:ln w="19050">
              <a:solidFill>
                <a:srgbClr val="FF0066"/>
              </a:solidFill>
              <a:prstDash val="dash"/>
              <a:round/>
              <a:headEnd type="none" w="sm" len="lg"/>
              <a:tailEnd type="triangle" w="sm" len="lg"/>
            </a:ln>
            <a:effectLst/>
          </p:spPr>
          <p:txBody>
            <a:bodyPr wrap="none" anchor="ctr"/>
            <a:lstStyle/>
            <a:p>
              <a:endParaRPr lang="zh-CN" altLang="en-US" sz="1050"/>
            </a:p>
          </p:txBody>
        </p:sp>
        <p:sp>
          <p:nvSpPr>
            <p:cNvPr id="9244" name="Arc 28"/>
            <p:cNvSpPr>
              <a:spLocks/>
            </p:cNvSpPr>
            <p:nvPr/>
          </p:nvSpPr>
          <p:spPr bwMode="auto">
            <a:xfrm rot="18616959" flipV="1">
              <a:off x="1440" y="2931"/>
              <a:ext cx="92" cy="89"/>
            </a:xfrm>
            <a:custGeom>
              <a:avLst/>
              <a:gdLst>
                <a:gd name="G0" fmla="+- 0 0 0"/>
                <a:gd name="G1" fmla="+- 20038 0 0"/>
                <a:gd name="G2" fmla="+- 21600 0 0"/>
                <a:gd name="T0" fmla="*/ 8065 w 20674"/>
                <a:gd name="T1" fmla="*/ 0 h 20038"/>
                <a:gd name="T2" fmla="*/ 20674 w 20674"/>
                <a:gd name="T3" fmla="*/ 13782 h 20038"/>
                <a:gd name="T4" fmla="*/ 0 w 20674"/>
                <a:gd name="T5" fmla="*/ 20038 h 20038"/>
              </a:gdLst>
              <a:ahLst/>
              <a:cxnLst>
                <a:cxn ang="0">
                  <a:pos x="T0" y="T1"/>
                </a:cxn>
                <a:cxn ang="0">
                  <a:pos x="T2" y="T3"/>
                </a:cxn>
                <a:cxn ang="0">
                  <a:pos x="T4" y="T5"/>
                </a:cxn>
              </a:cxnLst>
              <a:rect l="0" t="0" r="r" b="b"/>
              <a:pathLst>
                <a:path w="20674" h="20038" fill="none" extrusionOk="0">
                  <a:moveTo>
                    <a:pt x="8064" y="0"/>
                  </a:moveTo>
                  <a:cubicBezTo>
                    <a:pt x="14139" y="2445"/>
                    <a:pt x="18777" y="7514"/>
                    <a:pt x="20674" y="13781"/>
                  </a:cubicBezTo>
                </a:path>
                <a:path w="20674" h="20038" stroke="0" extrusionOk="0">
                  <a:moveTo>
                    <a:pt x="8064" y="0"/>
                  </a:moveTo>
                  <a:cubicBezTo>
                    <a:pt x="14139" y="2445"/>
                    <a:pt x="18777" y="7514"/>
                    <a:pt x="20674" y="13781"/>
                  </a:cubicBezTo>
                  <a:lnTo>
                    <a:pt x="0" y="20038"/>
                  </a:lnTo>
                  <a:close/>
                </a:path>
              </a:pathLst>
            </a:custGeom>
            <a:noFill/>
            <a:ln w="38100">
              <a:solidFill>
                <a:srgbClr val="FF0000"/>
              </a:solidFill>
              <a:round/>
              <a:headEnd type="none" w="sm" len="lg"/>
              <a:tailEnd type="none" w="sm" len="lg"/>
            </a:ln>
            <a:effectLst/>
          </p:spPr>
          <p:txBody>
            <a:bodyPr wrap="none" anchor="ctr"/>
            <a:lstStyle/>
            <a:p>
              <a:endParaRPr lang="zh-CN" altLang="en-US" sz="1050"/>
            </a:p>
          </p:txBody>
        </p:sp>
        <p:sp>
          <p:nvSpPr>
            <p:cNvPr id="9245" name="Rectangle 29"/>
            <p:cNvSpPr>
              <a:spLocks noChangeArrowheads="1"/>
            </p:cNvSpPr>
            <p:nvPr/>
          </p:nvSpPr>
          <p:spPr bwMode="auto">
            <a:xfrm rot="-3075295">
              <a:off x="1541" y="1588"/>
              <a:ext cx="62" cy="821"/>
            </a:xfrm>
            <a:prstGeom prst="rect">
              <a:avLst/>
            </a:prstGeom>
            <a:solidFill>
              <a:srgbClr val="CCFFFF">
                <a:alpha val="50000"/>
              </a:srgbClr>
            </a:solidFill>
            <a:ln w="9525">
              <a:solidFill>
                <a:schemeClr val="tx2"/>
              </a:solidFill>
              <a:miter lim="800000"/>
              <a:headEnd/>
              <a:tailEnd/>
            </a:ln>
            <a:effectLst/>
          </p:spPr>
          <p:txBody>
            <a:bodyPr wrap="none" anchor="ctr"/>
            <a:lstStyle/>
            <a:p>
              <a:endParaRPr lang="zh-CN" altLang="en-US" sz="1050"/>
            </a:p>
          </p:txBody>
        </p:sp>
        <p:graphicFrame>
          <p:nvGraphicFramePr>
            <p:cNvPr id="9246" name="Object 30"/>
            <p:cNvGraphicFramePr>
              <a:graphicFrameLocks noChangeAspect="1"/>
            </p:cNvGraphicFramePr>
            <p:nvPr/>
          </p:nvGraphicFramePr>
          <p:xfrm>
            <a:off x="2208" y="2796"/>
            <a:ext cx="240" cy="228"/>
          </p:xfrm>
          <a:graphic>
            <a:graphicData uri="http://schemas.openxmlformats.org/presentationml/2006/ole">
              <mc:AlternateContent xmlns:mc="http://schemas.openxmlformats.org/markup-compatibility/2006">
                <mc:Choice xmlns:v="urn:schemas-microsoft-com:vml" Requires="v">
                  <p:oleObj name="Equation" r:id="rId2" imgW="241300" imgH="228600" progId="Equation.3">
                    <p:embed/>
                  </p:oleObj>
                </mc:Choice>
                <mc:Fallback>
                  <p:oleObj name="Equation" r:id="rId2" imgW="241300" imgH="228600" progId="Equation.3">
                    <p:embed/>
                    <p:pic>
                      <p:nvPicPr>
                        <p:cNvPr id="9246" name="Object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8" y="2796"/>
                          <a:ext cx="240" cy="2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47" name="Object 31"/>
            <p:cNvGraphicFramePr>
              <a:graphicFrameLocks noChangeAspect="1"/>
            </p:cNvGraphicFramePr>
            <p:nvPr/>
          </p:nvGraphicFramePr>
          <p:xfrm>
            <a:off x="1776" y="1128"/>
            <a:ext cx="192" cy="216"/>
          </p:xfrm>
          <a:graphic>
            <a:graphicData uri="http://schemas.openxmlformats.org/presentationml/2006/ole">
              <mc:AlternateContent xmlns:mc="http://schemas.openxmlformats.org/markup-compatibility/2006">
                <mc:Choice xmlns:v="urn:schemas-microsoft-com:vml" Requires="v">
                  <p:oleObj name="Equation" r:id="rId4" imgW="203112" imgH="228501" progId="Equation.3">
                    <p:embed/>
                  </p:oleObj>
                </mc:Choice>
                <mc:Fallback>
                  <p:oleObj name="Equation" r:id="rId4" imgW="203112" imgH="228501" progId="Equation.3">
                    <p:embed/>
                    <p:pic>
                      <p:nvPicPr>
                        <p:cNvPr id="9247" name="Object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6" y="1128"/>
                          <a:ext cx="192" cy="2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48" name="Object 32"/>
            <p:cNvGraphicFramePr>
              <a:graphicFrameLocks noChangeAspect="1"/>
            </p:cNvGraphicFramePr>
            <p:nvPr/>
          </p:nvGraphicFramePr>
          <p:xfrm>
            <a:off x="885" y="1488"/>
            <a:ext cx="171" cy="192"/>
          </p:xfrm>
          <a:graphic>
            <a:graphicData uri="http://schemas.openxmlformats.org/presentationml/2006/ole">
              <mc:AlternateContent xmlns:mc="http://schemas.openxmlformats.org/markup-compatibility/2006">
                <mc:Choice xmlns:v="urn:schemas-microsoft-com:vml" Requires="v">
                  <p:oleObj name="Equation" r:id="rId6" imgW="203112" imgH="228501" progId="Equation.3">
                    <p:embed/>
                  </p:oleObj>
                </mc:Choice>
                <mc:Fallback>
                  <p:oleObj name="Equation" r:id="rId6" imgW="203112" imgH="228501" progId="Equation.3">
                    <p:embed/>
                    <p:pic>
                      <p:nvPicPr>
                        <p:cNvPr id="9248" name="Object 3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5" y="1488"/>
                          <a:ext cx="171" cy="1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Group 33"/>
          <p:cNvGrpSpPr>
            <a:grpSpLocks/>
          </p:cNvGrpSpPr>
          <p:nvPr/>
        </p:nvGrpSpPr>
        <p:grpSpPr bwMode="auto">
          <a:xfrm>
            <a:off x="5696714" y="3921077"/>
            <a:ext cx="1371600" cy="415528"/>
            <a:chOff x="288" y="2448"/>
            <a:chExt cx="1152" cy="349"/>
          </a:xfrm>
        </p:grpSpPr>
        <p:sp>
          <p:nvSpPr>
            <p:cNvPr id="9250" name="AutoShape 34"/>
            <p:cNvSpPr>
              <a:spLocks noChangeArrowheads="1"/>
            </p:cNvSpPr>
            <p:nvPr/>
          </p:nvSpPr>
          <p:spPr bwMode="auto">
            <a:xfrm>
              <a:off x="288" y="2496"/>
              <a:ext cx="912" cy="288"/>
            </a:xfrm>
            <a:prstGeom prst="wedgeRectCallout">
              <a:avLst>
                <a:gd name="adj1" fmla="val 77083"/>
                <a:gd name="adj2" fmla="val 130903"/>
              </a:avLst>
            </a:prstGeom>
            <a:gradFill rotWithShape="0">
              <a:gsLst>
                <a:gs pos="0">
                  <a:schemeClr val="accent1"/>
                </a:gs>
                <a:gs pos="100000">
                  <a:srgbClr val="FFFFFF"/>
                </a:gs>
              </a:gsLst>
              <a:lin ang="5400000" scaled="1"/>
            </a:gradFill>
            <a:ln w="9525">
              <a:solidFill>
                <a:srgbClr val="006666"/>
              </a:solidFill>
              <a:miter lim="800000"/>
              <a:headEnd/>
              <a:tailEnd/>
            </a:ln>
            <a:effectLst/>
          </p:spPr>
          <p:txBody>
            <a:bodyPr/>
            <a:lstStyle/>
            <a:p>
              <a:pPr algn="ctr"/>
              <a:endParaRPr lang="zh-CN" altLang="zh-CN" sz="2100" b="1">
                <a:solidFill>
                  <a:srgbClr val="1C1C1C"/>
                </a:solidFill>
                <a:latin typeface="Times New Roman" pitchFamily="18" charset="0"/>
              </a:endParaRPr>
            </a:p>
          </p:txBody>
        </p:sp>
        <p:sp>
          <p:nvSpPr>
            <p:cNvPr id="9251" name="Text Box 35"/>
            <p:cNvSpPr txBox="1">
              <a:spLocks noChangeArrowheads="1"/>
            </p:cNvSpPr>
            <p:nvPr/>
          </p:nvSpPr>
          <p:spPr bwMode="auto">
            <a:xfrm>
              <a:off x="288" y="2448"/>
              <a:ext cx="1152" cy="349"/>
            </a:xfrm>
            <a:prstGeom prst="rect">
              <a:avLst/>
            </a:prstGeom>
            <a:noFill/>
            <a:ln w="9525">
              <a:noFill/>
              <a:miter lim="800000"/>
              <a:headEnd/>
              <a:tailEnd/>
            </a:ln>
            <a:effectLst/>
          </p:spPr>
          <p:txBody>
            <a:bodyPr>
              <a:spAutoFit/>
            </a:bodyPr>
            <a:lstStyle/>
            <a:p>
              <a:pPr>
                <a:spcBef>
                  <a:spcPct val="50000"/>
                </a:spcBef>
              </a:pPr>
              <a:r>
                <a:rPr lang="zh-CN" altLang="en-US" sz="2100" b="1">
                  <a:solidFill>
                    <a:srgbClr val="000000"/>
                  </a:solidFill>
                  <a:latin typeface="Times New Roman" pitchFamily="18" charset="0"/>
                </a:rPr>
                <a:t>劈尖角</a:t>
              </a:r>
            </a:p>
          </p:txBody>
        </p:sp>
        <p:graphicFrame>
          <p:nvGraphicFramePr>
            <p:cNvPr id="9252" name="Object 36"/>
            <p:cNvGraphicFramePr>
              <a:graphicFrameLocks noChangeAspect="1"/>
            </p:cNvGraphicFramePr>
            <p:nvPr/>
          </p:nvGraphicFramePr>
          <p:xfrm>
            <a:off x="1008" y="2496"/>
            <a:ext cx="176" cy="240"/>
          </p:xfrm>
          <a:graphic>
            <a:graphicData uri="http://schemas.openxmlformats.org/presentationml/2006/ole">
              <mc:AlternateContent xmlns:mc="http://schemas.openxmlformats.org/markup-compatibility/2006">
                <mc:Choice xmlns:v="urn:schemas-microsoft-com:vml" Requires="v">
                  <p:oleObj name="公式" r:id="rId8" imgW="177646" imgH="241091" progId="Equation.3">
                    <p:embed/>
                  </p:oleObj>
                </mc:Choice>
                <mc:Fallback>
                  <p:oleObj name="公式" r:id="rId8" imgW="177646" imgH="241091" progId="Equation.3">
                    <p:embed/>
                    <p:pic>
                      <p:nvPicPr>
                        <p:cNvPr id="9252" name="Object 3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08" y="2496"/>
                          <a:ext cx="176" cy="240"/>
                        </a:xfrm>
                        <a:prstGeom prst="rect">
                          <a:avLst/>
                        </a:prstGeom>
                        <a:noFill/>
                        <a:extLst>
                          <a:ext uri="{909E8E84-426E-40DD-AFC4-6F175D3DCCD1}">
                            <a14:hiddenFill xmlns:a14="http://schemas.microsoft.com/office/drawing/2010/main">
                              <a:solidFill>
                                <a:schemeClr val="accent2"/>
                              </a:solidFill>
                            </a14:hiddenFill>
                          </a:ext>
                        </a:extLst>
                      </p:spPr>
                    </p:pic>
                  </p:oleObj>
                </mc:Fallback>
              </mc:AlternateContent>
            </a:graphicData>
          </a:graphic>
        </p:graphicFrame>
      </p:grpSp>
      <p:grpSp>
        <p:nvGrpSpPr>
          <p:cNvPr id="4" name="Group 37"/>
          <p:cNvGrpSpPr>
            <a:grpSpLocks/>
          </p:cNvGrpSpPr>
          <p:nvPr/>
        </p:nvGrpSpPr>
        <p:grpSpPr bwMode="auto">
          <a:xfrm>
            <a:off x="6725414" y="4721178"/>
            <a:ext cx="1028700" cy="800100"/>
            <a:chOff x="1104" y="3072"/>
            <a:chExt cx="864" cy="672"/>
          </a:xfrm>
        </p:grpSpPr>
        <p:sp>
          <p:nvSpPr>
            <p:cNvPr id="9254" name="Line 38"/>
            <p:cNvSpPr>
              <a:spLocks noChangeShapeType="1"/>
            </p:cNvSpPr>
            <p:nvPr/>
          </p:nvSpPr>
          <p:spPr bwMode="auto">
            <a:xfrm>
              <a:off x="1392" y="3408"/>
              <a:ext cx="0" cy="336"/>
            </a:xfrm>
            <a:prstGeom prst="line">
              <a:avLst/>
            </a:prstGeom>
            <a:noFill/>
            <a:ln w="19050">
              <a:solidFill>
                <a:srgbClr val="0000FF"/>
              </a:solidFill>
              <a:round/>
              <a:headEnd type="none" w="sm" len="lg"/>
              <a:tailEnd type="none" w="sm" len="lg"/>
            </a:ln>
            <a:effectLst/>
          </p:spPr>
          <p:txBody>
            <a:bodyPr wrap="none" anchor="ctr"/>
            <a:lstStyle/>
            <a:p>
              <a:endParaRPr lang="zh-CN" altLang="en-US" sz="1050"/>
            </a:p>
          </p:txBody>
        </p:sp>
        <p:sp>
          <p:nvSpPr>
            <p:cNvPr id="9255" name="Line 39"/>
            <p:cNvSpPr>
              <a:spLocks noChangeShapeType="1"/>
            </p:cNvSpPr>
            <p:nvPr/>
          </p:nvSpPr>
          <p:spPr bwMode="auto">
            <a:xfrm>
              <a:off x="1488" y="3408"/>
              <a:ext cx="0" cy="336"/>
            </a:xfrm>
            <a:prstGeom prst="line">
              <a:avLst/>
            </a:prstGeom>
            <a:noFill/>
            <a:ln w="19050">
              <a:solidFill>
                <a:srgbClr val="0000FF"/>
              </a:solidFill>
              <a:round/>
              <a:headEnd type="none" w="sm" len="lg"/>
              <a:tailEnd type="none" w="sm" len="lg"/>
            </a:ln>
            <a:effectLst/>
          </p:spPr>
          <p:txBody>
            <a:bodyPr wrap="none" anchor="ctr"/>
            <a:lstStyle/>
            <a:p>
              <a:endParaRPr lang="zh-CN" altLang="en-US" sz="1050"/>
            </a:p>
          </p:txBody>
        </p:sp>
        <p:grpSp>
          <p:nvGrpSpPr>
            <p:cNvPr id="5" name="Group 40"/>
            <p:cNvGrpSpPr>
              <a:grpSpLocks/>
            </p:cNvGrpSpPr>
            <p:nvPr/>
          </p:nvGrpSpPr>
          <p:grpSpPr bwMode="auto">
            <a:xfrm>
              <a:off x="1104" y="3072"/>
              <a:ext cx="864" cy="432"/>
              <a:chOff x="3312" y="3408"/>
              <a:chExt cx="864" cy="432"/>
            </a:xfrm>
          </p:grpSpPr>
          <p:sp>
            <p:nvSpPr>
              <p:cNvPr id="9257" name="Rectangle 41"/>
              <p:cNvSpPr>
                <a:spLocks noChangeArrowheads="1"/>
              </p:cNvSpPr>
              <p:nvPr/>
            </p:nvSpPr>
            <p:spPr bwMode="auto">
              <a:xfrm>
                <a:off x="3312" y="3408"/>
                <a:ext cx="96" cy="432"/>
              </a:xfrm>
              <a:prstGeom prst="rect">
                <a:avLst/>
              </a:prstGeom>
              <a:gradFill rotWithShape="0">
                <a:gsLst>
                  <a:gs pos="0">
                    <a:srgbClr val="FFFF99">
                      <a:gamma/>
                      <a:shade val="26275"/>
                      <a:invGamma/>
                    </a:srgbClr>
                  </a:gs>
                  <a:gs pos="50000">
                    <a:srgbClr val="FFFF99"/>
                  </a:gs>
                  <a:gs pos="100000">
                    <a:srgbClr val="FFFF99">
                      <a:gamma/>
                      <a:shade val="26275"/>
                      <a:invGamma/>
                    </a:srgbClr>
                  </a:gs>
                </a:gsLst>
                <a:lin ang="0" scaled="1"/>
              </a:gradFill>
              <a:ln w="9525">
                <a:solidFill>
                  <a:schemeClr val="tx1"/>
                </a:solidFill>
                <a:miter lim="800000"/>
                <a:headEnd/>
                <a:tailEnd/>
              </a:ln>
              <a:effectLst/>
            </p:spPr>
            <p:txBody>
              <a:bodyPr wrap="none" anchor="ctr"/>
              <a:lstStyle/>
              <a:p>
                <a:endParaRPr lang="zh-CN" altLang="en-US" sz="1050"/>
              </a:p>
            </p:txBody>
          </p:sp>
          <p:sp>
            <p:nvSpPr>
              <p:cNvPr id="9258" name="Rectangle 42"/>
              <p:cNvSpPr>
                <a:spLocks noChangeArrowheads="1"/>
              </p:cNvSpPr>
              <p:nvPr/>
            </p:nvSpPr>
            <p:spPr bwMode="auto">
              <a:xfrm>
                <a:off x="3408" y="3408"/>
                <a:ext cx="96" cy="432"/>
              </a:xfrm>
              <a:prstGeom prst="rect">
                <a:avLst/>
              </a:prstGeom>
              <a:gradFill rotWithShape="0">
                <a:gsLst>
                  <a:gs pos="0">
                    <a:srgbClr val="FFFF99">
                      <a:gamma/>
                      <a:shade val="26275"/>
                      <a:invGamma/>
                    </a:srgbClr>
                  </a:gs>
                  <a:gs pos="50000">
                    <a:srgbClr val="FFFF99"/>
                  </a:gs>
                  <a:gs pos="100000">
                    <a:srgbClr val="FFFF99">
                      <a:gamma/>
                      <a:shade val="26275"/>
                      <a:invGamma/>
                    </a:srgbClr>
                  </a:gs>
                </a:gsLst>
                <a:lin ang="0" scaled="1"/>
              </a:gradFill>
              <a:ln w="9525">
                <a:solidFill>
                  <a:schemeClr val="tx1"/>
                </a:solidFill>
                <a:miter lim="800000"/>
                <a:headEnd/>
                <a:tailEnd/>
              </a:ln>
              <a:effectLst/>
            </p:spPr>
            <p:txBody>
              <a:bodyPr wrap="none" anchor="ctr"/>
              <a:lstStyle/>
              <a:p>
                <a:endParaRPr lang="zh-CN" altLang="en-US" sz="1050"/>
              </a:p>
            </p:txBody>
          </p:sp>
          <p:sp>
            <p:nvSpPr>
              <p:cNvPr id="9259" name="Rectangle 43"/>
              <p:cNvSpPr>
                <a:spLocks noChangeArrowheads="1"/>
              </p:cNvSpPr>
              <p:nvPr/>
            </p:nvSpPr>
            <p:spPr bwMode="auto">
              <a:xfrm>
                <a:off x="3504" y="3408"/>
                <a:ext cx="96" cy="432"/>
              </a:xfrm>
              <a:prstGeom prst="rect">
                <a:avLst/>
              </a:prstGeom>
              <a:gradFill rotWithShape="0">
                <a:gsLst>
                  <a:gs pos="0">
                    <a:srgbClr val="FFFF99">
                      <a:gamma/>
                      <a:shade val="26275"/>
                      <a:invGamma/>
                    </a:srgbClr>
                  </a:gs>
                  <a:gs pos="50000">
                    <a:srgbClr val="FFFF99"/>
                  </a:gs>
                  <a:gs pos="100000">
                    <a:srgbClr val="FFFF99">
                      <a:gamma/>
                      <a:shade val="26275"/>
                      <a:invGamma/>
                    </a:srgbClr>
                  </a:gs>
                </a:gsLst>
                <a:lin ang="0" scaled="1"/>
              </a:gradFill>
              <a:ln w="9525">
                <a:solidFill>
                  <a:schemeClr val="tx1"/>
                </a:solidFill>
                <a:miter lim="800000"/>
                <a:headEnd/>
                <a:tailEnd/>
              </a:ln>
              <a:effectLst/>
            </p:spPr>
            <p:txBody>
              <a:bodyPr wrap="none" anchor="ctr"/>
              <a:lstStyle/>
              <a:p>
                <a:endParaRPr lang="zh-CN" altLang="en-US" sz="1050"/>
              </a:p>
            </p:txBody>
          </p:sp>
          <p:sp>
            <p:nvSpPr>
              <p:cNvPr id="9260" name="Rectangle 44"/>
              <p:cNvSpPr>
                <a:spLocks noChangeArrowheads="1"/>
              </p:cNvSpPr>
              <p:nvPr/>
            </p:nvSpPr>
            <p:spPr bwMode="auto">
              <a:xfrm>
                <a:off x="3600" y="3408"/>
                <a:ext cx="96" cy="432"/>
              </a:xfrm>
              <a:prstGeom prst="rect">
                <a:avLst/>
              </a:prstGeom>
              <a:gradFill rotWithShape="0">
                <a:gsLst>
                  <a:gs pos="0">
                    <a:srgbClr val="FFFF99">
                      <a:gamma/>
                      <a:shade val="26275"/>
                      <a:invGamma/>
                    </a:srgbClr>
                  </a:gs>
                  <a:gs pos="50000">
                    <a:srgbClr val="FFFF99"/>
                  </a:gs>
                  <a:gs pos="100000">
                    <a:srgbClr val="FFFF99">
                      <a:gamma/>
                      <a:shade val="26275"/>
                      <a:invGamma/>
                    </a:srgbClr>
                  </a:gs>
                </a:gsLst>
                <a:lin ang="0" scaled="1"/>
              </a:gradFill>
              <a:ln w="9525">
                <a:solidFill>
                  <a:schemeClr val="tx1"/>
                </a:solidFill>
                <a:miter lim="800000"/>
                <a:headEnd/>
                <a:tailEnd/>
              </a:ln>
              <a:effectLst/>
            </p:spPr>
            <p:txBody>
              <a:bodyPr wrap="none" anchor="ctr"/>
              <a:lstStyle/>
              <a:p>
                <a:endParaRPr lang="zh-CN" altLang="en-US" sz="1050"/>
              </a:p>
            </p:txBody>
          </p:sp>
          <p:sp>
            <p:nvSpPr>
              <p:cNvPr id="9261" name="Rectangle 45"/>
              <p:cNvSpPr>
                <a:spLocks noChangeArrowheads="1"/>
              </p:cNvSpPr>
              <p:nvPr/>
            </p:nvSpPr>
            <p:spPr bwMode="auto">
              <a:xfrm>
                <a:off x="3696" y="3408"/>
                <a:ext cx="96" cy="432"/>
              </a:xfrm>
              <a:prstGeom prst="rect">
                <a:avLst/>
              </a:prstGeom>
              <a:gradFill rotWithShape="0">
                <a:gsLst>
                  <a:gs pos="0">
                    <a:srgbClr val="FFFF99">
                      <a:gamma/>
                      <a:shade val="26275"/>
                      <a:invGamma/>
                    </a:srgbClr>
                  </a:gs>
                  <a:gs pos="50000">
                    <a:srgbClr val="FFFF99"/>
                  </a:gs>
                  <a:gs pos="100000">
                    <a:srgbClr val="FFFF99">
                      <a:gamma/>
                      <a:shade val="26275"/>
                      <a:invGamma/>
                    </a:srgbClr>
                  </a:gs>
                </a:gsLst>
                <a:lin ang="0" scaled="1"/>
              </a:gradFill>
              <a:ln w="9525">
                <a:solidFill>
                  <a:schemeClr val="tx1"/>
                </a:solidFill>
                <a:miter lim="800000"/>
                <a:headEnd/>
                <a:tailEnd/>
              </a:ln>
              <a:effectLst/>
            </p:spPr>
            <p:txBody>
              <a:bodyPr wrap="none" anchor="ctr"/>
              <a:lstStyle/>
              <a:p>
                <a:endParaRPr lang="zh-CN" altLang="en-US" sz="1050"/>
              </a:p>
            </p:txBody>
          </p:sp>
          <p:sp>
            <p:nvSpPr>
              <p:cNvPr id="9262" name="Rectangle 46"/>
              <p:cNvSpPr>
                <a:spLocks noChangeArrowheads="1"/>
              </p:cNvSpPr>
              <p:nvPr/>
            </p:nvSpPr>
            <p:spPr bwMode="auto">
              <a:xfrm>
                <a:off x="3792" y="3408"/>
                <a:ext cx="96" cy="432"/>
              </a:xfrm>
              <a:prstGeom prst="rect">
                <a:avLst/>
              </a:prstGeom>
              <a:gradFill rotWithShape="0">
                <a:gsLst>
                  <a:gs pos="0">
                    <a:srgbClr val="FFFF99">
                      <a:gamma/>
                      <a:shade val="26275"/>
                      <a:invGamma/>
                    </a:srgbClr>
                  </a:gs>
                  <a:gs pos="50000">
                    <a:srgbClr val="FFFF99"/>
                  </a:gs>
                  <a:gs pos="100000">
                    <a:srgbClr val="FFFF99">
                      <a:gamma/>
                      <a:shade val="26275"/>
                      <a:invGamma/>
                    </a:srgbClr>
                  </a:gs>
                </a:gsLst>
                <a:lin ang="0" scaled="1"/>
              </a:gradFill>
              <a:ln w="9525">
                <a:solidFill>
                  <a:schemeClr val="tx1"/>
                </a:solidFill>
                <a:miter lim="800000"/>
                <a:headEnd/>
                <a:tailEnd/>
              </a:ln>
              <a:effectLst/>
            </p:spPr>
            <p:txBody>
              <a:bodyPr wrap="none" anchor="ctr"/>
              <a:lstStyle/>
              <a:p>
                <a:endParaRPr lang="zh-CN" altLang="en-US" sz="1050"/>
              </a:p>
            </p:txBody>
          </p:sp>
          <p:sp>
            <p:nvSpPr>
              <p:cNvPr id="9263" name="Rectangle 47"/>
              <p:cNvSpPr>
                <a:spLocks noChangeArrowheads="1"/>
              </p:cNvSpPr>
              <p:nvPr/>
            </p:nvSpPr>
            <p:spPr bwMode="auto">
              <a:xfrm>
                <a:off x="3888" y="3408"/>
                <a:ext cx="96" cy="432"/>
              </a:xfrm>
              <a:prstGeom prst="rect">
                <a:avLst/>
              </a:prstGeom>
              <a:gradFill rotWithShape="0">
                <a:gsLst>
                  <a:gs pos="0">
                    <a:srgbClr val="FFFF99">
                      <a:gamma/>
                      <a:shade val="26275"/>
                      <a:invGamma/>
                    </a:srgbClr>
                  </a:gs>
                  <a:gs pos="50000">
                    <a:srgbClr val="FFFF99"/>
                  </a:gs>
                  <a:gs pos="100000">
                    <a:srgbClr val="FFFF99">
                      <a:gamma/>
                      <a:shade val="26275"/>
                      <a:invGamma/>
                    </a:srgbClr>
                  </a:gs>
                </a:gsLst>
                <a:lin ang="0" scaled="1"/>
              </a:gradFill>
              <a:ln w="9525">
                <a:solidFill>
                  <a:schemeClr val="tx1"/>
                </a:solidFill>
                <a:miter lim="800000"/>
                <a:headEnd/>
                <a:tailEnd/>
              </a:ln>
              <a:effectLst/>
            </p:spPr>
            <p:txBody>
              <a:bodyPr wrap="none" anchor="ctr"/>
              <a:lstStyle/>
              <a:p>
                <a:endParaRPr lang="zh-CN" altLang="en-US" sz="1050"/>
              </a:p>
            </p:txBody>
          </p:sp>
          <p:sp>
            <p:nvSpPr>
              <p:cNvPr id="9264" name="Rectangle 48"/>
              <p:cNvSpPr>
                <a:spLocks noChangeArrowheads="1"/>
              </p:cNvSpPr>
              <p:nvPr/>
            </p:nvSpPr>
            <p:spPr bwMode="auto">
              <a:xfrm>
                <a:off x="3984" y="3408"/>
                <a:ext cx="96" cy="432"/>
              </a:xfrm>
              <a:prstGeom prst="rect">
                <a:avLst/>
              </a:prstGeom>
              <a:gradFill rotWithShape="0">
                <a:gsLst>
                  <a:gs pos="0">
                    <a:srgbClr val="FFFF99">
                      <a:gamma/>
                      <a:shade val="26275"/>
                      <a:invGamma/>
                    </a:srgbClr>
                  </a:gs>
                  <a:gs pos="50000">
                    <a:srgbClr val="FFFF99"/>
                  </a:gs>
                  <a:gs pos="100000">
                    <a:srgbClr val="FFFF99">
                      <a:gamma/>
                      <a:shade val="26275"/>
                      <a:invGamma/>
                    </a:srgbClr>
                  </a:gs>
                </a:gsLst>
                <a:lin ang="0" scaled="1"/>
              </a:gradFill>
              <a:ln w="9525">
                <a:solidFill>
                  <a:schemeClr val="tx1"/>
                </a:solidFill>
                <a:miter lim="800000"/>
                <a:headEnd/>
                <a:tailEnd/>
              </a:ln>
              <a:effectLst/>
            </p:spPr>
            <p:txBody>
              <a:bodyPr wrap="none" anchor="ctr"/>
              <a:lstStyle/>
              <a:p>
                <a:endParaRPr lang="zh-CN" altLang="en-US" sz="1050"/>
              </a:p>
            </p:txBody>
          </p:sp>
          <p:sp>
            <p:nvSpPr>
              <p:cNvPr id="9265" name="Rectangle 49"/>
              <p:cNvSpPr>
                <a:spLocks noChangeArrowheads="1"/>
              </p:cNvSpPr>
              <p:nvPr/>
            </p:nvSpPr>
            <p:spPr bwMode="auto">
              <a:xfrm>
                <a:off x="4080" y="3408"/>
                <a:ext cx="96" cy="432"/>
              </a:xfrm>
              <a:prstGeom prst="rect">
                <a:avLst/>
              </a:prstGeom>
              <a:gradFill rotWithShape="0">
                <a:gsLst>
                  <a:gs pos="0">
                    <a:srgbClr val="FFFF99">
                      <a:gamma/>
                      <a:shade val="26275"/>
                      <a:invGamma/>
                    </a:srgbClr>
                  </a:gs>
                  <a:gs pos="50000">
                    <a:srgbClr val="FFFF99"/>
                  </a:gs>
                  <a:gs pos="100000">
                    <a:srgbClr val="FFFF99">
                      <a:gamma/>
                      <a:shade val="26275"/>
                      <a:invGamma/>
                    </a:srgbClr>
                  </a:gs>
                </a:gsLst>
                <a:lin ang="0" scaled="1"/>
              </a:gradFill>
              <a:ln w="9525">
                <a:solidFill>
                  <a:schemeClr val="tx1"/>
                </a:solidFill>
                <a:miter lim="800000"/>
                <a:headEnd/>
                <a:tailEnd/>
              </a:ln>
              <a:effectLst/>
            </p:spPr>
            <p:txBody>
              <a:bodyPr wrap="none" anchor="ctr"/>
              <a:lstStyle/>
              <a:p>
                <a:endParaRPr lang="zh-CN" altLang="en-US" sz="1050"/>
              </a:p>
            </p:txBody>
          </p:sp>
        </p:grpSp>
        <p:sp>
          <p:nvSpPr>
            <p:cNvPr id="9266" name="Line 50"/>
            <p:cNvSpPr>
              <a:spLocks noChangeShapeType="1"/>
            </p:cNvSpPr>
            <p:nvPr/>
          </p:nvSpPr>
          <p:spPr bwMode="auto">
            <a:xfrm>
              <a:off x="1152" y="3600"/>
              <a:ext cx="240" cy="0"/>
            </a:xfrm>
            <a:prstGeom prst="line">
              <a:avLst/>
            </a:prstGeom>
            <a:noFill/>
            <a:ln w="19050">
              <a:solidFill>
                <a:srgbClr val="FF3300"/>
              </a:solidFill>
              <a:prstDash val="dash"/>
              <a:round/>
              <a:headEnd type="none" w="sm" len="lg"/>
              <a:tailEnd type="triangle" w="sm" len="lg"/>
            </a:ln>
            <a:effectLst/>
          </p:spPr>
          <p:txBody>
            <a:bodyPr wrap="none" anchor="ctr"/>
            <a:lstStyle/>
            <a:p>
              <a:endParaRPr lang="zh-CN" altLang="en-US" sz="1050"/>
            </a:p>
          </p:txBody>
        </p:sp>
        <p:sp>
          <p:nvSpPr>
            <p:cNvPr id="9267" name="Line 51"/>
            <p:cNvSpPr>
              <a:spLocks noChangeShapeType="1"/>
            </p:cNvSpPr>
            <p:nvPr/>
          </p:nvSpPr>
          <p:spPr bwMode="auto">
            <a:xfrm flipH="1">
              <a:off x="1488" y="3600"/>
              <a:ext cx="240" cy="0"/>
            </a:xfrm>
            <a:prstGeom prst="line">
              <a:avLst/>
            </a:prstGeom>
            <a:noFill/>
            <a:ln w="19050">
              <a:solidFill>
                <a:srgbClr val="FF3300"/>
              </a:solidFill>
              <a:prstDash val="dash"/>
              <a:round/>
              <a:headEnd type="none" w="sm" len="lg"/>
              <a:tailEnd type="triangle" w="sm" len="lg"/>
            </a:ln>
            <a:effectLst/>
          </p:spPr>
          <p:txBody>
            <a:bodyPr wrap="none" anchor="ctr"/>
            <a:lstStyle/>
            <a:p>
              <a:endParaRPr lang="zh-CN" altLang="en-US" sz="1050"/>
            </a:p>
          </p:txBody>
        </p:sp>
        <p:graphicFrame>
          <p:nvGraphicFramePr>
            <p:cNvPr id="9268" name="Object 52"/>
            <p:cNvGraphicFramePr>
              <a:graphicFrameLocks noChangeAspect="1"/>
            </p:cNvGraphicFramePr>
            <p:nvPr/>
          </p:nvGraphicFramePr>
          <p:xfrm>
            <a:off x="1714" y="3545"/>
            <a:ext cx="109" cy="190"/>
          </p:xfrm>
          <a:graphic>
            <a:graphicData uri="http://schemas.openxmlformats.org/presentationml/2006/ole">
              <mc:AlternateContent xmlns:mc="http://schemas.openxmlformats.org/markup-compatibility/2006">
                <mc:Choice xmlns:v="urn:schemas-microsoft-com:vml" Requires="v">
                  <p:oleObj name="Equation" r:id="rId10" imgW="101468" imgH="177569" progId="">
                    <p:embed/>
                  </p:oleObj>
                </mc:Choice>
                <mc:Fallback>
                  <p:oleObj name="Equation" r:id="rId10" imgW="101468" imgH="177569" progId="">
                    <p:embed/>
                    <p:pic>
                      <p:nvPicPr>
                        <p:cNvPr id="9268" name="Object 5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14" y="3545"/>
                          <a:ext cx="109" cy="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pic>
        <p:nvPicPr>
          <p:cNvPr id="9269" name="Picture 53" descr="空气劈尖"/>
          <p:cNvPicPr>
            <a:picLocks noChangeAspect="1" noChangeArrowheads="1" noCrop="1"/>
          </p:cNvPicPr>
          <p:nvPr/>
        </p:nvPicPr>
        <p:blipFill>
          <a:blip r:embed="rId12" cstate="print"/>
          <a:srcRect/>
          <a:stretch>
            <a:fillRect/>
          </a:stretch>
        </p:blipFill>
        <p:spPr bwMode="auto">
          <a:xfrm>
            <a:off x="594271" y="2103724"/>
            <a:ext cx="3725466" cy="3520407"/>
          </a:xfrm>
          <a:prstGeom prst="rect">
            <a:avLst/>
          </a:prstGeom>
          <a:noFill/>
        </p:spPr>
      </p:pic>
      <p:sp>
        <p:nvSpPr>
          <p:cNvPr id="9270" name="Text Box 54"/>
          <p:cNvSpPr txBox="1">
            <a:spLocks noChangeArrowheads="1"/>
          </p:cNvSpPr>
          <p:nvPr/>
        </p:nvSpPr>
        <p:spPr bwMode="auto">
          <a:xfrm>
            <a:off x="1051149" y="2115172"/>
            <a:ext cx="1415772" cy="461665"/>
          </a:xfrm>
          <a:prstGeom prst="rect">
            <a:avLst/>
          </a:prstGeom>
          <a:noFill/>
          <a:ln w="9525">
            <a:noFill/>
            <a:miter lim="800000"/>
            <a:headEnd/>
            <a:tailEnd/>
          </a:ln>
          <a:effectLst/>
        </p:spPr>
        <p:txBody>
          <a:bodyPr wrap="none">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空气劈尖</a:t>
            </a:r>
          </a:p>
        </p:txBody>
      </p:sp>
      <p:sp>
        <p:nvSpPr>
          <p:cNvPr id="9271" name="Rectangle 55"/>
          <p:cNvSpPr>
            <a:spLocks noChangeArrowheads="1"/>
          </p:cNvSpPr>
          <p:nvPr/>
        </p:nvSpPr>
        <p:spPr bwMode="auto">
          <a:xfrm>
            <a:off x="5639565" y="2154056"/>
            <a:ext cx="800219" cy="461665"/>
          </a:xfrm>
          <a:prstGeom prst="rect">
            <a:avLst/>
          </a:prstGeom>
          <a:noFill/>
          <a:ln w="9525">
            <a:noFill/>
            <a:miter lim="800000"/>
            <a:headEnd/>
            <a:tailEnd/>
          </a:ln>
          <a:effectLst/>
        </p:spPr>
        <p:txBody>
          <a:bodyPr wrap="none">
            <a:spAutoFit/>
          </a:bodyPr>
          <a:lstStyle/>
          <a:p>
            <a:r>
              <a:rPr lang="zh-CN" altLang="en-US" sz="2400" b="1">
                <a:solidFill>
                  <a:srgbClr val="FF0000"/>
                </a:solidFill>
                <a:latin typeface="微软雅黑" panose="020B0503020204020204" pitchFamily="34" charset="-122"/>
                <a:ea typeface="微软雅黑" panose="020B0503020204020204" pitchFamily="34" charset="-122"/>
              </a:rPr>
              <a:t>装置</a:t>
            </a:r>
          </a:p>
        </p:txBody>
      </p:sp>
      <p:sp>
        <p:nvSpPr>
          <p:cNvPr id="6" name="WordArt 51">
            <a:extLst>
              <a:ext uri="{FF2B5EF4-FFF2-40B4-BE49-F238E27FC236}">
                <a16:creationId xmlns:a16="http://schemas.microsoft.com/office/drawing/2014/main" id="{F3A1F721-EABA-D5F3-7238-ACCEDF2478E9}"/>
              </a:ext>
            </a:extLst>
          </p:cNvPr>
          <p:cNvSpPr>
            <a:spLocks noChangeArrowheads="1" noChangeShapeType="1"/>
          </p:cNvSpPr>
          <p:nvPr/>
        </p:nvSpPr>
        <p:spPr bwMode="auto">
          <a:xfrm>
            <a:off x="142844" y="71414"/>
            <a:ext cx="1729499" cy="409097"/>
          </a:xfrm>
          <a:prstGeom prst="rect">
            <a:avLst/>
          </a:prstGeom>
        </p:spPr>
        <p:txBody>
          <a:bodyPr wrap="none" fromWordArt="1">
            <a:prstTxWarp prst="textPlain">
              <a:avLst>
                <a:gd name="adj" fmla="val 50000"/>
              </a:avLst>
            </a:prstTxWarp>
          </a:bodyPr>
          <a:lstStyle/>
          <a:p>
            <a:pPr algn="ctr"/>
            <a:r>
              <a:rPr lang="zh-CN" altLang="en-US" sz="3600" dirty="0">
                <a:ln w="9525">
                  <a:noFill/>
                  <a:round/>
                  <a:headEnd/>
                  <a:tailEnd/>
                </a:ln>
                <a:gradFill rotWithShape="0">
                  <a:gsLst>
                    <a:gs pos="0">
                      <a:schemeClr val="bg1"/>
                    </a:gs>
                    <a:gs pos="100000">
                      <a:srgbClr val="FFFE7D"/>
                    </a:gs>
                  </a:gsLst>
                  <a:lin ang="5400000" scaled="1"/>
                </a:gradFill>
                <a:effectLst>
                  <a:outerShdw dist="38100" dir="5400000" algn="ctr" rotWithShape="0">
                    <a:srgbClr val="4D4D4D">
                      <a:alpha val="76999"/>
                    </a:srgbClr>
                  </a:outerShdw>
                </a:effectLst>
                <a:latin typeface="华文琥珀"/>
                <a:ea typeface="华文琥珀"/>
              </a:rPr>
              <a:t>实验介绍</a:t>
            </a:r>
          </a:p>
        </p:txBody>
      </p:sp>
      <p:sp>
        <p:nvSpPr>
          <p:cNvPr id="7" name="文本框 6">
            <a:extLst>
              <a:ext uri="{FF2B5EF4-FFF2-40B4-BE49-F238E27FC236}">
                <a16:creationId xmlns:a16="http://schemas.microsoft.com/office/drawing/2014/main" id="{C34AC59C-993E-9402-2A87-AA3F93F7454E}"/>
              </a:ext>
            </a:extLst>
          </p:cNvPr>
          <p:cNvSpPr txBox="1"/>
          <p:nvPr/>
        </p:nvSpPr>
        <p:spPr>
          <a:xfrm>
            <a:off x="142844" y="866898"/>
            <a:ext cx="2227386" cy="523220"/>
          </a:xfrm>
          <a:prstGeom prst="rect">
            <a:avLst/>
          </a:prstGeom>
          <a:noFill/>
        </p:spPr>
        <p:txBody>
          <a:bodyPr wrap="square" rtlCol="0">
            <a:spAutoFit/>
          </a:bodyPr>
          <a:lstStyle/>
          <a:p>
            <a:r>
              <a:rPr lang="zh-CN" altLang="en-US" sz="2800" b="1" dirty="0">
                <a:solidFill>
                  <a:srgbClr val="0000FF"/>
                </a:solidFill>
                <a:latin typeface="微软雅黑" panose="020B0503020204020204" pitchFamily="34" charset="-122"/>
                <a:ea typeface="微软雅黑" panose="020B0503020204020204" pitchFamily="34" charset="-122"/>
              </a:rPr>
              <a:t>劈尖模型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71"/>
                                        </p:tgtEl>
                                        <p:attrNameLst>
                                          <p:attrName>style.visibility</p:attrName>
                                        </p:attrNameLst>
                                      </p:cBhvr>
                                      <p:to>
                                        <p:strVal val="visible"/>
                                      </p:to>
                                    </p:set>
                                    <p:animEffect transition="in" filter="blinds(horizontal)">
                                      <p:cBhvr>
                                        <p:cTn id="7" dur="500"/>
                                        <p:tgtEl>
                                          <p:spTgt spid="927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ox(out)">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7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566679" y="4993534"/>
            <a:ext cx="4695839" cy="941155"/>
          </a:xfrm>
          <a:prstGeom prst="rect">
            <a:avLst/>
          </a:prstGeom>
          <a:noFill/>
          <a:ln w="9525">
            <a:noFill/>
            <a:miter lim="800000"/>
            <a:headEnd/>
            <a:tailEnd/>
          </a:ln>
          <a:effectLst/>
        </p:spPr>
        <p:txBody>
          <a:bodyPr wrap="square">
            <a:spAutoFit/>
          </a:bodyPr>
          <a:lstStyle/>
          <a:p>
            <a:pPr>
              <a:lnSpc>
                <a:spcPct val="120000"/>
              </a:lnSpc>
            </a:pPr>
            <a:r>
              <a:rPr lang="zh-CN" altLang="en-US" sz="2400" b="1" dirty="0">
                <a:solidFill>
                  <a:srgbClr val="FF0000"/>
                </a:solidFill>
                <a:latin typeface="微软雅黑" panose="020B0503020204020204" pitchFamily="34" charset="-122"/>
                <a:ea typeface="微软雅黑" panose="020B0503020204020204" pitchFamily="34" charset="-122"/>
              </a:rPr>
              <a:t>注意：</a:t>
            </a:r>
            <a:r>
              <a:rPr lang="zh-CN" altLang="en-US" sz="2400" b="1" dirty="0">
                <a:latin typeface="微软雅黑" panose="020B0503020204020204" pitchFamily="34" charset="-122"/>
                <a:ea typeface="微软雅黑" panose="020B0503020204020204" pitchFamily="34" charset="-122"/>
              </a:rPr>
              <a:t>上下两表面间距相等的轨迹决定条纹形状</a:t>
            </a:r>
            <a:endParaRPr lang="en-US" altLang="zh-CN" sz="2400" b="1" dirty="0">
              <a:latin typeface="微软雅黑" panose="020B0503020204020204" pitchFamily="34" charset="-122"/>
              <a:ea typeface="微软雅黑" panose="020B0503020204020204" pitchFamily="34" charset="-122"/>
            </a:endParaRPr>
          </a:p>
        </p:txBody>
      </p:sp>
      <p:sp>
        <p:nvSpPr>
          <p:cNvPr id="10243" name="Rectangle 3"/>
          <p:cNvSpPr>
            <a:spLocks noChangeArrowheads="1"/>
          </p:cNvSpPr>
          <p:nvPr/>
        </p:nvSpPr>
        <p:spPr bwMode="auto">
          <a:xfrm>
            <a:off x="525535" y="1904824"/>
            <a:ext cx="4598597" cy="1421928"/>
          </a:xfrm>
          <a:prstGeom prst="rect">
            <a:avLst/>
          </a:prstGeom>
          <a:noFill/>
          <a:ln w="9525">
            <a:noFill/>
            <a:miter lim="800000"/>
            <a:headEnd/>
            <a:tailEnd/>
          </a:ln>
          <a:effectLst/>
        </p:spPr>
        <p:txBody>
          <a:bodyPr wrap="square" anchor="ctr">
            <a:spAutoFit/>
          </a:bodyPr>
          <a:lstStyle/>
          <a:p>
            <a:pPr>
              <a:lnSpc>
                <a:spcPct val="120000"/>
              </a:lnSpc>
            </a:pPr>
            <a:r>
              <a:rPr lang="zh-CN" altLang="en-US" sz="2400" b="1" dirty="0">
                <a:latin typeface="微软雅黑" panose="020B0503020204020204" pitchFamily="34" charset="-122"/>
                <a:ea typeface="微软雅黑" panose="020B0503020204020204" pitchFamily="34" charset="-122"/>
              </a:rPr>
              <a:t>单色平行光垂直照射劈尖，入射光经劈尖上、下表面反射，两束反射光在上表面相遇而产生干涉。</a:t>
            </a:r>
          </a:p>
        </p:txBody>
      </p:sp>
      <p:grpSp>
        <p:nvGrpSpPr>
          <p:cNvPr id="2" name="Group 4"/>
          <p:cNvGrpSpPr>
            <a:grpSpLocks/>
          </p:cNvGrpSpPr>
          <p:nvPr/>
        </p:nvGrpSpPr>
        <p:grpSpPr bwMode="auto">
          <a:xfrm>
            <a:off x="5375553" y="1882944"/>
            <a:ext cx="3300096" cy="1657161"/>
            <a:chOff x="2818" y="82"/>
            <a:chExt cx="2784" cy="1398"/>
          </a:xfrm>
        </p:grpSpPr>
        <p:grpSp>
          <p:nvGrpSpPr>
            <p:cNvPr id="3" name="Group 5"/>
            <p:cNvGrpSpPr>
              <a:grpSpLocks/>
            </p:cNvGrpSpPr>
            <p:nvPr/>
          </p:nvGrpSpPr>
          <p:grpSpPr bwMode="auto">
            <a:xfrm>
              <a:off x="2818" y="82"/>
              <a:ext cx="2784" cy="1398"/>
              <a:chOff x="2688" y="528"/>
              <a:chExt cx="2784" cy="1488"/>
            </a:xfrm>
          </p:grpSpPr>
          <p:sp>
            <p:nvSpPr>
              <p:cNvPr id="10246" name="Rectangle 6"/>
              <p:cNvSpPr>
                <a:spLocks noChangeArrowheads="1"/>
              </p:cNvSpPr>
              <p:nvPr/>
            </p:nvSpPr>
            <p:spPr bwMode="auto">
              <a:xfrm>
                <a:off x="2688" y="528"/>
                <a:ext cx="2784" cy="1488"/>
              </a:xfrm>
              <a:prstGeom prst="rect">
                <a:avLst/>
              </a:prstGeom>
              <a:solidFill>
                <a:schemeClr val="bg1"/>
              </a:solidFill>
              <a:ln w="28575">
                <a:solidFill>
                  <a:srgbClr val="008080"/>
                </a:solidFill>
                <a:miter lim="800000"/>
                <a:headEnd/>
                <a:tailEnd/>
              </a:ln>
              <a:effectLst/>
            </p:spPr>
            <p:txBody>
              <a:bodyPr wrap="none" anchor="ctr"/>
              <a:lstStyle/>
              <a:p>
                <a:endParaRPr lang="zh-CN" altLang="en-US" sz="1050"/>
              </a:p>
            </p:txBody>
          </p:sp>
          <p:sp>
            <p:nvSpPr>
              <p:cNvPr id="10247" name="Rectangle 7" descr="宽上对角线"/>
              <p:cNvSpPr>
                <a:spLocks noChangeArrowheads="1"/>
              </p:cNvSpPr>
              <p:nvPr/>
            </p:nvSpPr>
            <p:spPr bwMode="auto">
              <a:xfrm>
                <a:off x="3072" y="1488"/>
                <a:ext cx="2016" cy="288"/>
              </a:xfrm>
              <a:prstGeom prst="rect">
                <a:avLst/>
              </a:prstGeom>
              <a:pattFill prst="wdUpDiag">
                <a:fgClr>
                  <a:srgbClr val="008000">
                    <a:alpha val="27000"/>
                  </a:srgbClr>
                </a:fgClr>
                <a:bgClr>
                  <a:srgbClr val="FFFFFF">
                    <a:alpha val="27000"/>
                  </a:srgbClr>
                </a:bgClr>
              </a:pattFill>
              <a:ln w="28575">
                <a:solidFill>
                  <a:srgbClr val="008080"/>
                </a:solidFill>
                <a:miter lim="800000"/>
                <a:headEnd/>
                <a:tailEnd/>
              </a:ln>
              <a:effectLst/>
            </p:spPr>
            <p:txBody>
              <a:bodyPr wrap="none" anchor="ctr"/>
              <a:lstStyle/>
              <a:p>
                <a:endParaRPr lang="zh-CN" altLang="en-US" sz="1050"/>
              </a:p>
            </p:txBody>
          </p:sp>
          <p:sp>
            <p:nvSpPr>
              <p:cNvPr id="10248" name="Rectangle 8" descr="宽上对角线"/>
              <p:cNvSpPr>
                <a:spLocks noChangeArrowheads="1"/>
              </p:cNvSpPr>
              <p:nvPr/>
            </p:nvSpPr>
            <p:spPr bwMode="auto">
              <a:xfrm rot="-316683">
                <a:off x="3049" y="1104"/>
                <a:ext cx="2016" cy="288"/>
              </a:xfrm>
              <a:prstGeom prst="rect">
                <a:avLst/>
              </a:prstGeom>
              <a:pattFill prst="wdUpDiag">
                <a:fgClr>
                  <a:srgbClr val="008000">
                    <a:alpha val="27000"/>
                  </a:srgbClr>
                </a:fgClr>
                <a:bgClr>
                  <a:srgbClr val="FFFFFF">
                    <a:alpha val="27000"/>
                  </a:srgbClr>
                </a:bgClr>
              </a:pattFill>
              <a:ln w="28575">
                <a:solidFill>
                  <a:srgbClr val="008080"/>
                </a:solidFill>
                <a:miter lim="800000"/>
                <a:headEnd/>
                <a:tailEnd/>
              </a:ln>
              <a:effectLst/>
            </p:spPr>
            <p:txBody>
              <a:bodyPr wrap="none" anchor="ctr"/>
              <a:lstStyle/>
              <a:p>
                <a:endParaRPr lang="zh-CN" altLang="en-US" sz="1050"/>
              </a:p>
            </p:txBody>
          </p:sp>
          <p:sp>
            <p:nvSpPr>
              <p:cNvPr id="10249" name="Oval 9"/>
              <p:cNvSpPr>
                <a:spLocks noChangeArrowheads="1"/>
              </p:cNvSpPr>
              <p:nvPr/>
            </p:nvSpPr>
            <p:spPr bwMode="auto">
              <a:xfrm>
                <a:off x="4896" y="1296"/>
                <a:ext cx="192" cy="192"/>
              </a:xfrm>
              <a:prstGeom prst="ellipse">
                <a:avLst/>
              </a:prstGeom>
              <a:gradFill rotWithShape="0">
                <a:gsLst>
                  <a:gs pos="0">
                    <a:schemeClr val="accent1"/>
                  </a:gs>
                  <a:gs pos="100000">
                    <a:schemeClr val="accent1">
                      <a:gamma/>
                      <a:shade val="56078"/>
                      <a:invGamma/>
                    </a:schemeClr>
                  </a:gs>
                </a:gsLst>
                <a:path path="shape">
                  <a:fillToRect l="50000" t="50000" r="50000" b="50000"/>
                </a:path>
              </a:gradFill>
              <a:ln w="28575">
                <a:solidFill>
                  <a:srgbClr val="003366"/>
                </a:solidFill>
                <a:round/>
                <a:headEnd/>
                <a:tailEnd/>
              </a:ln>
              <a:effectLst/>
            </p:spPr>
            <p:txBody>
              <a:bodyPr wrap="none" anchor="ctr"/>
              <a:lstStyle/>
              <a:p>
                <a:endParaRPr lang="zh-CN" altLang="en-US" sz="1050"/>
              </a:p>
            </p:txBody>
          </p:sp>
          <p:graphicFrame>
            <p:nvGraphicFramePr>
              <p:cNvPr id="10250" name="Object 10"/>
              <p:cNvGraphicFramePr>
                <a:graphicFrameLocks noChangeAspect="1"/>
              </p:cNvGraphicFramePr>
              <p:nvPr/>
            </p:nvGraphicFramePr>
            <p:xfrm>
              <a:off x="3251" y="1158"/>
              <a:ext cx="226" cy="231"/>
            </p:xfrm>
            <a:graphic>
              <a:graphicData uri="http://schemas.openxmlformats.org/presentationml/2006/ole">
                <mc:AlternateContent xmlns:mc="http://schemas.openxmlformats.org/markup-compatibility/2006">
                  <mc:Choice xmlns:v="urn:schemas-microsoft-com:vml" Requires="v">
                    <p:oleObj name="公式" r:id="rId2" imgW="164885" imgH="215619" progId="Equation.3">
                      <p:embed/>
                    </p:oleObj>
                  </mc:Choice>
                  <mc:Fallback>
                    <p:oleObj name="公式" r:id="rId2" imgW="164885" imgH="215619" progId="Equation.3">
                      <p:embed/>
                      <p:pic>
                        <p:nvPicPr>
                          <p:cNvPr id="1025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1" y="1158"/>
                            <a:ext cx="226" cy="2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51" name="Object 11"/>
              <p:cNvGraphicFramePr>
                <a:graphicFrameLocks noChangeAspect="1"/>
              </p:cNvGraphicFramePr>
              <p:nvPr/>
            </p:nvGraphicFramePr>
            <p:xfrm>
              <a:off x="3250" y="1487"/>
              <a:ext cx="227" cy="244"/>
            </p:xfrm>
            <a:graphic>
              <a:graphicData uri="http://schemas.openxmlformats.org/presentationml/2006/ole">
                <mc:AlternateContent xmlns:mc="http://schemas.openxmlformats.org/markup-compatibility/2006">
                  <mc:Choice xmlns:v="urn:schemas-microsoft-com:vml" Requires="v">
                    <p:oleObj name="Equation" r:id="rId4" imgW="165028" imgH="228501" progId="">
                      <p:embed/>
                    </p:oleObj>
                  </mc:Choice>
                  <mc:Fallback>
                    <p:oleObj name="Equation" r:id="rId4" imgW="165028" imgH="228501" progId="">
                      <p:embed/>
                      <p:pic>
                        <p:nvPicPr>
                          <p:cNvPr id="10251"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50" y="1487"/>
                            <a:ext cx="227" cy="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0252" name="AutoShape 12"/>
            <p:cNvSpPr>
              <a:spLocks noChangeArrowheads="1"/>
            </p:cNvSpPr>
            <p:nvPr/>
          </p:nvSpPr>
          <p:spPr bwMode="auto">
            <a:xfrm flipH="1">
              <a:off x="3288" y="799"/>
              <a:ext cx="1905" cy="182"/>
            </a:xfrm>
            <a:prstGeom prst="rtTriangle">
              <a:avLst/>
            </a:prstGeom>
            <a:solidFill>
              <a:srgbClr val="8FCCD1">
                <a:alpha val="39999"/>
              </a:srgbClr>
            </a:solidFill>
            <a:ln w="28575">
              <a:solidFill>
                <a:srgbClr val="008080"/>
              </a:solidFill>
              <a:miter lim="800000"/>
              <a:headEnd/>
              <a:tailEnd/>
            </a:ln>
            <a:effectLst/>
          </p:spPr>
          <p:txBody>
            <a:bodyPr wrap="none" anchor="ctr"/>
            <a:lstStyle/>
            <a:p>
              <a:endParaRPr lang="zh-CN" altLang="en-US" sz="1050"/>
            </a:p>
          </p:txBody>
        </p:sp>
        <p:grpSp>
          <p:nvGrpSpPr>
            <p:cNvPr id="4" name="Group 13"/>
            <p:cNvGrpSpPr>
              <a:grpSpLocks/>
            </p:cNvGrpSpPr>
            <p:nvPr/>
          </p:nvGrpSpPr>
          <p:grpSpPr bwMode="auto">
            <a:xfrm>
              <a:off x="4930" y="164"/>
              <a:ext cx="288" cy="304"/>
              <a:chOff x="4752" y="672"/>
              <a:chExt cx="288" cy="304"/>
            </a:xfrm>
          </p:grpSpPr>
          <p:sp>
            <p:nvSpPr>
              <p:cNvPr id="10254" name="AutoShape 14"/>
              <p:cNvSpPr>
                <a:spLocks noChangeArrowheads="1"/>
              </p:cNvSpPr>
              <p:nvPr/>
            </p:nvSpPr>
            <p:spPr bwMode="auto">
              <a:xfrm>
                <a:off x="4752" y="672"/>
                <a:ext cx="288" cy="288"/>
              </a:xfrm>
              <a:prstGeom prst="wedgeRectCallout">
                <a:avLst>
                  <a:gd name="adj1" fmla="val -51042"/>
                  <a:gd name="adj2" fmla="val 211111"/>
                </a:avLst>
              </a:prstGeom>
              <a:gradFill rotWithShape="0">
                <a:gsLst>
                  <a:gs pos="0">
                    <a:srgbClr val="FCDCED"/>
                  </a:gs>
                  <a:gs pos="100000">
                    <a:srgbClr val="FFFFFF"/>
                  </a:gs>
                </a:gsLst>
                <a:lin ang="5400000" scaled="1"/>
              </a:gradFill>
              <a:ln w="9525">
                <a:solidFill>
                  <a:srgbClr val="CC00CC"/>
                </a:solidFill>
                <a:miter lim="800000"/>
                <a:headEnd/>
                <a:tailEnd/>
              </a:ln>
              <a:effectLst/>
            </p:spPr>
            <p:txBody>
              <a:bodyPr/>
              <a:lstStyle/>
              <a:p>
                <a:pPr algn="ctr"/>
                <a:endParaRPr lang="zh-CN" altLang="zh-CN" sz="2100" b="1">
                  <a:solidFill>
                    <a:srgbClr val="1C1C1C"/>
                  </a:solidFill>
                  <a:latin typeface="Times New Roman" pitchFamily="18" charset="0"/>
                  <a:ea typeface="黑体" pitchFamily="2" charset="-122"/>
                </a:endParaRPr>
              </a:p>
            </p:txBody>
          </p:sp>
          <p:graphicFrame>
            <p:nvGraphicFramePr>
              <p:cNvPr id="10255" name="Object 15"/>
              <p:cNvGraphicFramePr>
                <a:graphicFrameLocks noChangeAspect="1"/>
              </p:cNvGraphicFramePr>
              <p:nvPr/>
            </p:nvGraphicFramePr>
            <p:xfrm>
              <a:off x="4800" y="703"/>
              <a:ext cx="240" cy="273"/>
            </p:xfrm>
            <a:graphic>
              <a:graphicData uri="http://schemas.openxmlformats.org/presentationml/2006/ole">
                <mc:AlternateContent xmlns:mc="http://schemas.openxmlformats.org/markup-compatibility/2006">
                  <mc:Choice xmlns:v="urn:schemas-microsoft-com:vml" Requires="v">
                    <p:oleObj name="公式" r:id="rId6" imgW="177569" imgH="215619" progId="Equation.3">
                      <p:embed/>
                    </p:oleObj>
                  </mc:Choice>
                  <mc:Fallback>
                    <p:oleObj name="公式" r:id="rId6" imgW="177569" imgH="215619" progId="Equation.3">
                      <p:embed/>
                      <p:pic>
                        <p:nvPicPr>
                          <p:cNvPr id="10255"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00" y="703"/>
                            <a:ext cx="240" cy="273"/>
                          </a:xfrm>
                          <a:prstGeom prst="rect">
                            <a:avLst/>
                          </a:prstGeom>
                          <a:noFill/>
                          <a:ln>
                            <a:noFill/>
                          </a:ln>
                          <a:extLst>
                            <a:ext uri="{909E8E84-426E-40DD-AFC4-6F175D3DCCD1}">
                              <a14:hiddenFill xmlns:a14="http://schemas.microsoft.com/office/drawing/2010/main">
                                <a:solidFill>
                                  <a:srgbClr val="FFD9FF"/>
                                </a:solidFill>
                              </a14:hiddenFill>
                            </a:ext>
                            <a:ext uri="{91240B29-F687-4F45-9708-019B960494DF}">
                              <a14:hiddenLine xmlns:a14="http://schemas.microsoft.com/office/drawing/2010/main" w="9525">
                                <a:solidFill>
                                  <a:srgbClr val="FF0066"/>
                                </a:solidFill>
                                <a:miter lim="800000"/>
                                <a:headEnd/>
                                <a:tailEnd/>
                              </a14:hiddenLine>
                            </a:ext>
                          </a:extLst>
                        </p:spPr>
                      </p:pic>
                    </p:oleObj>
                  </mc:Fallback>
                </mc:AlternateContent>
              </a:graphicData>
            </a:graphic>
          </p:graphicFrame>
        </p:grpSp>
      </p:grpSp>
      <p:sp>
        <p:nvSpPr>
          <p:cNvPr id="10256" name="Line 16"/>
          <p:cNvSpPr>
            <a:spLocks noChangeShapeType="1"/>
          </p:cNvSpPr>
          <p:nvPr/>
        </p:nvSpPr>
        <p:spPr bwMode="auto">
          <a:xfrm>
            <a:off x="6861454" y="1926996"/>
            <a:ext cx="1" cy="971332"/>
          </a:xfrm>
          <a:prstGeom prst="line">
            <a:avLst/>
          </a:prstGeom>
          <a:noFill/>
          <a:ln w="28575">
            <a:solidFill>
              <a:srgbClr val="CC6600"/>
            </a:solidFill>
            <a:round/>
            <a:headEnd type="none" w="sm" len="lg"/>
            <a:tailEnd type="stealth" w="lg" len="lg"/>
          </a:ln>
          <a:effectLst/>
        </p:spPr>
        <p:txBody>
          <a:bodyPr wrap="none" anchor="ctr"/>
          <a:lstStyle/>
          <a:p>
            <a:endParaRPr lang="zh-CN" altLang="en-US" sz="1050"/>
          </a:p>
        </p:txBody>
      </p:sp>
      <p:sp>
        <p:nvSpPr>
          <p:cNvPr id="10257" name="Line 17"/>
          <p:cNvSpPr>
            <a:spLocks noChangeShapeType="1"/>
          </p:cNvSpPr>
          <p:nvPr/>
        </p:nvSpPr>
        <p:spPr bwMode="auto">
          <a:xfrm>
            <a:off x="6975754" y="2035523"/>
            <a:ext cx="1" cy="809444"/>
          </a:xfrm>
          <a:prstGeom prst="line">
            <a:avLst/>
          </a:prstGeom>
          <a:noFill/>
          <a:ln w="28575">
            <a:solidFill>
              <a:srgbClr val="CC6600"/>
            </a:solidFill>
            <a:round/>
            <a:headEnd type="none" w="sm" len="lg"/>
            <a:tailEnd type="stealth" w="lg" len="lg"/>
          </a:ln>
          <a:effectLst/>
        </p:spPr>
        <p:txBody>
          <a:bodyPr wrap="none" anchor="ctr"/>
          <a:lstStyle/>
          <a:p>
            <a:endParaRPr lang="zh-CN" altLang="en-US" sz="1050"/>
          </a:p>
        </p:txBody>
      </p:sp>
      <p:sp>
        <p:nvSpPr>
          <p:cNvPr id="10258" name="Line 18"/>
          <p:cNvSpPr>
            <a:spLocks noChangeShapeType="1"/>
          </p:cNvSpPr>
          <p:nvPr/>
        </p:nvSpPr>
        <p:spPr bwMode="auto">
          <a:xfrm>
            <a:off x="7090054" y="2034756"/>
            <a:ext cx="1" cy="917369"/>
          </a:xfrm>
          <a:prstGeom prst="line">
            <a:avLst/>
          </a:prstGeom>
          <a:noFill/>
          <a:ln w="28575">
            <a:solidFill>
              <a:srgbClr val="CC6600"/>
            </a:solidFill>
            <a:round/>
            <a:headEnd type="none" w="sm" len="lg"/>
            <a:tailEnd type="stealth" w="lg" len="lg"/>
          </a:ln>
          <a:effectLst/>
        </p:spPr>
        <p:txBody>
          <a:bodyPr wrap="none" anchor="ctr"/>
          <a:lstStyle/>
          <a:p>
            <a:endParaRPr lang="zh-CN" altLang="en-US" sz="1050"/>
          </a:p>
        </p:txBody>
      </p:sp>
      <p:grpSp>
        <p:nvGrpSpPr>
          <p:cNvPr id="5" name="Group 19"/>
          <p:cNvGrpSpPr>
            <a:grpSpLocks/>
          </p:cNvGrpSpPr>
          <p:nvPr/>
        </p:nvGrpSpPr>
        <p:grpSpPr bwMode="auto">
          <a:xfrm>
            <a:off x="6907889" y="2574696"/>
            <a:ext cx="937635" cy="737306"/>
            <a:chOff x="4105" y="1130"/>
            <a:chExt cx="791" cy="622"/>
          </a:xfrm>
        </p:grpSpPr>
        <p:sp>
          <p:nvSpPr>
            <p:cNvPr id="10260" name="Line 20"/>
            <p:cNvSpPr>
              <a:spLocks noChangeShapeType="1"/>
            </p:cNvSpPr>
            <p:nvPr/>
          </p:nvSpPr>
          <p:spPr bwMode="auto">
            <a:xfrm>
              <a:off x="4105" y="1370"/>
              <a:ext cx="720" cy="0"/>
            </a:xfrm>
            <a:prstGeom prst="line">
              <a:avLst/>
            </a:prstGeom>
            <a:noFill/>
            <a:ln w="28575">
              <a:solidFill>
                <a:srgbClr val="CC0099"/>
              </a:solidFill>
              <a:prstDash val="dash"/>
              <a:round/>
              <a:headEnd type="none" w="sm" len="lg"/>
              <a:tailEnd type="none" w="sm" len="lg"/>
            </a:ln>
            <a:effectLst/>
          </p:spPr>
          <p:txBody>
            <a:bodyPr wrap="none" anchor="ctr"/>
            <a:lstStyle/>
            <a:p>
              <a:endParaRPr lang="zh-CN" altLang="en-US" sz="1050"/>
            </a:p>
          </p:txBody>
        </p:sp>
        <p:sp>
          <p:nvSpPr>
            <p:cNvPr id="10261" name="Line 21"/>
            <p:cNvSpPr>
              <a:spLocks noChangeShapeType="1"/>
            </p:cNvSpPr>
            <p:nvPr/>
          </p:nvSpPr>
          <p:spPr bwMode="auto">
            <a:xfrm>
              <a:off x="4633" y="1130"/>
              <a:ext cx="0" cy="240"/>
            </a:xfrm>
            <a:prstGeom prst="line">
              <a:avLst/>
            </a:prstGeom>
            <a:noFill/>
            <a:ln w="28575">
              <a:solidFill>
                <a:srgbClr val="FF0066"/>
              </a:solidFill>
              <a:round/>
              <a:headEnd type="none" w="sm" len="lg"/>
              <a:tailEnd type="stealth" w="med" len="lg"/>
            </a:ln>
            <a:effectLst/>
          </p:spPr>
          <p:txBody>
            <a:bodyPr wrap="none" anchor="ctr"/>
            <a:lstStyle/>
            <a:p>
              <a:endParaRPr lang="zh-CN" altLang="en-US" sz="1050"/>
            </a:p>
          </p:txBody>
        </p:sp>
        <p:sp>
          <p:nvSpPr>
            <p:cNvPr id="10262" name="Line 22"/>
            <p:cNvSpPr>
              <a:spLocks noChangeShapeType="1"/>
            </p:cNvSpPr>
            <p:nvPr/>
          </p:nvSpPr>
          <p:spPr bwMode="auto">
            <a:xfrm>
              <a:off x="4633" y="1466"/>
              <a:ext cx="0" cy="240"/>
            </a:xfrm>
            <a:prstGeom prst="line">
              <a:avLst/>
            </a:prstGeom>
            <a:noFill/>
            <a:ln w="28575">
              <a:solidFill>
                <a:srgbClr val="FF0066"/>
              </a:solidFill>
              <a:round/>
              <a:headEnd type="stealth" w="med" len="lg"/>
              <a:tailEnd type="none" w="sm" len="lg"/>
            </a:ln>
            <a:effectLst/>
          </p:spPr>
          <p:txBody>
            <a:bodyPr wrap="none" anchor="ctr"/>
            <a:lstStyle/>
            <a:p>
              <a:endParaRPr lang="zh-CN" altLang="en-US" sz="1050"/>
            </a:p>
          </p:txBody>
        </p:sp>
        <p:graphicFrame>
          <p:nvGraphicFramePr>
            <p:cNvPr id="10263" name="Object 23"/>
            <p:cNvGraphicFramePr>
              <a:graphicFrameLocks noChangeAspect="1"/>
            </p:cNvGraphicFramePr>
            <p:nvPr/>
          </p:nvGraphicFramePr>
          <p:xfrm>
            <a:off x="4674" y="1479"/>
            <a:ext cx="222" cy="273"/>
          </p:xfrm>
          <a:graphic>
            <a:graphicData uri="http://schemas.openxmlformats.org/presentationml/2006/ole">
              <mc:AlternateContent xmlns:mc="http://schemas.openxmlformats.org/markup-compatibility/2006">
                <mc:Choice xmlns:v="urn:schemas-microsoft-com:vml" Requires="v">
                  <p:oleObj name="公式" r:id="rId8" imgW="114201" imgH="139579" progId="Equation.3">
                    <p:embed/>
                  </p:oleObj>
                </mc:Choice>
                <mc:Fallback>
                  <p:oleObj name="公式" r:id="rId8" imgW="114201" imgH="139579" progId="Equation.3">
                    <p:embed/>
                    <p:pic>
                      <p:nvPicPr>
                        <p:cNvPr id="10263" name="Object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74" y="1479"/>
                          <a:ext cx="222" cy="2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 name="Group 24"/>
          <p:cNvGrpSpPr>
            <a:grpSpLocks/>
          </p:cNvGrpSpPr>
          <p:nvPr/>
        </p:nvGrpSpPr>
        <p:grpSpPr bwMode="auto">
          <a:xfrm>
            <a:off x="6420922" y="2898547"/>
            <a:ext cx="244188" cy="322423"/>
            <a:chOff x="3787" y="935"/>
            <a:chExt cx="206" cy="272"/>
          </a:xfrm>
        </p:grpSpPr>
        <p:graphicFrame>
          <p:nvGraphicFramePr>
            <p:cNvPr id="10265" name="Object 25"/>
            <p:cNvGraphicFramePr>
              <a:graphicFrameLocks noChangeAspect="1"/>
            </p:cNvGraphicFramePr>
            <p:nvPr/>
          </p:nvGraphicFramePr>
          <p:xfrm>
            <a:off x="3787" y="991"/>
            <a:ext cx="206" cy="216"/>
          </p:xfrm>
          <a:graphic>
            <a:graphicData uri="http://schemas.openxmlformats.org/presentationml/2006/ole">
              <mc:AlternateContent xmlns:mc="http://schemas.openxmlformats.org/markup-compatibility/2006">
                <mc:Choice xmlns:v="urn:schemas-microsoft-com:vml" Requires="v">
                  <p:oleObj name="公式" r:id="rId10" imgW="177492" imgH="177492" progId="Equation.3">
                    <p:embed/>
                  </p:oleObj>
                </mc:Choice>
                <mc:Fallback>
                  <p:oleObj name="公式" r:id="rId10" imgW="177492" imgH="177492" progId="Equation.3">
                    <p:embed/>
                    <p:pic>
                      <p:nvPicPr>
                        <p:cNvPr id="10265" name="Object 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87" y="991"/>
                          <a:ext cx="206" cy="2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66" name="Arc 26"/>
            <p:cNvSpPr>
              <a:spLocks/>
            </p:cNvSpPr>
            <p:nvPr/>
          </p:nvSpPr>
          <p:spPr bwMode="auto">
            <a:xfrm rot="2368673">
              <a:off x="3923" y="935"/>
              <a:ext cx="39" cy="91"/>
            </a:xfrm>
            <a:custGeom>
              <a:avLst/>
              <a:gdLst>
                <a:gd name="G0" fmla="+- 0 0 0"/>
                <a:gd name="G1" fmla="+- 21600 0 0"/>
                <a:gd name="G2" fmla="+- 21600 0 0"/>
                <a:gd name="T0" fmla="*/ 0 w 18826"/>
                <a:gd name="T1" fmla="*/ 0 h 21600"/>
                <a:gd name="T2" fmla="*/ 18826 w 18826"/>
                <a:gd name="T3" fmla="*/ 11010 h 21600"/>
                <a:gd name="T4" fmla="*/ 0 w 18826"/>
                <a:gd name="T5" fmla="*/ 21600 h 21600"/>
              </a:gdLst>
              <a:ahLst/>
              <a:cxnLst>
                <a:cxn ang="0">
                  <a:pos x="T0" y="T1"/>
                </a:cxn>
                <a:cxn ang="0">
                  <a:pos x="T2" y="T3"/>
                </a:cxn>
                <a:cxn ang="0">
                  <a:pos x="T4" y="T5"/>
                </a:cxn>
              </a:cxnLst>
              <a:rect l="0" t="0" r="r" b="b"/>
              <a:pathLst>
                <a:path w="18826" h="21600" fill="none" extrusionOk="0">
                  <a:moveTo>
                    <a:pt x="-1" y="0"/>
                  </a:moveTo>
                  <a:cubicBezTo>
                    <a:pt x="7803" y="0"/>
                    <a:pt x="15000" y="4208"/>
                    <a:pt x="18825" y="11010"/>
                  </a:cubicBezTo>
                </a:path>
                <a:path w="18826" h="21600" stroke="0" extrusionOk="0">
                  <a:moveTo>
                    <a:pt x="-1" y="0"/>
                  </a:moveTo>
                  <a:cubicBezTo>
                    <a:pt x="7803" y="0"/>
                    <a:pt x="15000" y="4208"/>
                    <a:pt x="18825" y="11010"/>
                  </a:cubicBezTo>
                  <a:lnTo>
                    <a:pt x="0" y="21600"/>
                  </a:lnTo>
                  <a:close/>
                </a:path>
              </a:pathLst>
            </a:custGeom>
            <a:noFill/>
            <a:ln w="28575">
              <a:solidFill>
                <a:schemeClr val="tx1"/>
              </a:solidFill>
              <a:round/>
              <a:headEnd/>
              <a:tailEnd/>
            </a:ln>
            <a:effectLst/>
          </p:spPr>
          <p:txBody>
            <a:bodyPr wrap="none" anchor="ctr"/>
            <a:lstStyle/>
            <a:p>
              <a:endParaRPr lang="zh-CN" altLang="en-US" sz="1050"/>
            </a:p>
          </p:txBody>
        </p:sp>
      </p:grpSp>
      <p:grpSp>
        <p:nvGrpSpPr>
          <p:cNvPr id="7" name="Group 27"/>
          <p:cNvGrpSpPr>
            <a:grpSpLocks/>
          </p:cNvGrpSpPr>
          <p:nvPr/>
        </p:nvGrpSpPr>
        <p:grpSpPr bwMode="auto">
          <a:xfrm>
            <a:off x="5762308" y="3843131"/>
            <a:ext cx="2555081" cy="1164431"/>
            <a:chOff x="2880" y="2064"/>
            <a:chExt cx="2783" cy="1267"/>
          </a:xfrm>
        </p:grpSpPr>
        <p:grpSp>
          <p:nvGrpSpPr>
            <p:cNvPr id="8" name="Group 28"/>
            <p:cNvGrpSpPr>
              <a:grpSpLocks/>
            </p:cNvGrpSpPr>
            <p:nvPr/>
          </p:nvGrpSpPr>
          <p:grpSpPr bwMode="auto">
            <a:xfrm>
              <a:off x="2880" y="2064"/>
              <a:ext cx="2783" cy="1267"/>
              <a:chOff x="2736" y="1037"/>
              <a:chExt cx="2783" cy="1267"/>
            </a:xfrm>
          </p:grpSpPr>
          <p:sp>
            <p:nvSpPr>
              <p:cNvPr id="10269" name="AutoShape 29"/>
              <p:cNvSpPr>
                <a:spLocks noChangeArrowheads="1"/>
              </p:cNvSpPr>
              <p:nvPr/>
            </p:nvSpPr>
            <p:spPr bwMode="auto">
              <a:xfrm>
                <a:off x="2847" y="1577"/>
                <a:ext cx="2577" cy="727"/>
              </a:xfrm>
              <a:prstGeom prst="parallelogram">
                <a:avLst>
                  <a:gd name="adj" fmla="val 56436"/>
                </a:avLst>
              </a:prstGeom>
              <a:solidFill>
                <a:srgbClr val="CCFFFF"/>
              </a:solidFill>
              <a:ln w="28575">
                <a:solidFill>
                  <a:srgbClr val="008080"/>
                </a:solidFill>
                <a:miter lim="800000"/>
                <a:headEnd/>
                <a:tailEnd/>
              </a:ln>
              <a:effectLst/>
            </p:spPr>
            <p:txBody>
              <a:bodyPr wrap="none" anchor="ctr"/>
              <a:lstStyle/>
              <a:p>
                <a:endParaRPr lang="zh-CN" altLang="en-US" sz="1050"/>
              </a:p>
            </p:txBody>
          </p:sp>
          <p:sp>
            <p:nvSpPr>
              <p:cNvPr id="10270" name="AutoShape 30"/>
              <p:cNvSpPr>
                <a:spLocks noChangeArrowheads="1"/>
              </p:cNvSpPr>
              <p:nvPr/>
            </p:nvSpPr>
            <p:spPr bwMode="auto">
              <a:xfrm rot="-845873">
                <a:off x="2736" y="1369"/>
                <a:ext cx="2783" cy="587"/>
              </a:xfrm>
              <a:prstGeom prst="flowChartInputOutput">
                <a:avLst/>
              </a:prstGeom>
              <a:solidFill>
                <a:srgbClr val="CCECFF"/>
              </a:solidFill>
              <a:ln w="28575">
                <a:solidFill>
                  <a:srgbClr val="008080"/>
                </a:solidFill>
                <a:miter lim="800000"/>
                <a:headEnd/>
                <a:tailEnd/>
              </a:ln>
              <a:effectLst/>
            </p:spPr>
            <p:txBody>
              <a:bodyPr wrap="none" anchor="ctr"/>
              <a:lstStyle/>
              <a:p>
                <a:endParaRPr lang="zh-CN" altLang="en-US" sz="1050"/>
              </a:p>
            </p:txBody>
          </p:sp>
          <p:sp>
            <p:nvSpPr>
              <p:cNvPr id="10271" name="Freeform 31"/>
              <p:cNvSpPr>
                <a:spLocks/>
              </p:cNvSpPr>
              <p:nvPr/>
            </p:nvSpPr>
            <p:spPr bwMode="auto">
              <a:xfrm>
                <a:off x="5014" y="1037"/>
                <a:ext cx="400" cy="1267"/>
              </a:xfrm>
              <a:custGeom>
                <a:avLst/>
                <a:gdLst/>
                <a:ahLst/>
                <a:cxnLst>
                  <a:cxn ang="0">
                    <a:pos x="0" y="739"/>
                  </a:cxn>
                  <a:cxn ang="0">
                    <a:pos x="0" y="1267"/>
                  </a:cxn>
                  <a:cxn ang="0">
                    <a:pos x="400" y="556"/>
                  </a:cxn>
                  <a:cxn ang="0">
                    <a:pos x="400" y="0"/>
                  </a:cxn>
                  <a:cxn ang="0">
                    <a:pos x="0" y="691"/>
                  </a:cxn>
                  <a:cxn ang="0">
                    <a:pos x="0" y="739"/>
                  </a:cxn>
                </a:cxnLst>
                <a:rect l="0" t="0" r="r" b="b"/>
                <a:pathLst>
                  <a:path w="400" h="1267">
                    <a:moveTo>
                      <a:pt x="0" y="739"/>
                    </a:moveTo>
                    <a:lnTo>
                      <a:pt x="0" y="1267"/>
                    </a:lnTo>
                    <a:lnTo>
                      <a:pt x="400" y="556"/>
                    </a:lnTo>
                    <a:lnTo>
                      <a:pt x="400" y="0"/>
                    </a:lnTo>
                    <a:lnTo>
                      <a:pt x="0" y="691"/>
                    </a:lnTo>
                    <a:lnTo>
                      <a:pt x="0" y="739"/>
                    </a:lnTo>
                    <a:close/>
                  </a:path>
                </a:pathLst>
              </a:custGeom>
              <a:solidFill>
                <a:srgbClr val="CCFFFF"/>
              </a:solidFill>
              <a:ln w="28575" cap="flat" cmpd="sng">
                <a:solidFill>
                  <a:srgbClr val="008080"/>
                </a:solidFill>
                <a:prstDash val="solid"/>
                <a:round/>
                <a:headEnd type="none" w="med" len="med"/>
                <a:tailEnd type="none" w="med" len="med"/>
              </a:ln>
              <a:effectLst/>
            </p:spPr>
            <p:txBody>
              <a:bodyPr wrap="none" anchor="ctr"/>
              <a:lstStyle/>
              <a:p>
                <a:endParaRPr lang="zh-CN" altLang="en-US" sz="1050"/>
              </a:p>
            </p:txBody>
          </p:sp>
        </p:grpSp>
        <p:graphicFrame>
          <p:nvGraphicFramePr>
            <p:cNvPr id="10272" name="Object 32"/>
            <p:cNvGraphicFramePr>
              <a:graphicFrameLocks noChangeAspect="1"/>
            </p:cNvGraphicFramePr>
            <p:nvPr/>
          </p:nvGraphicFramePr>
          <p:xfrm>
            <a:off x="4793" y="3056"/>
            <a:ext cx="191" cy="176"/>
          </p:xfrm>
          <a:graphic>
            <a:graphicData uri="http://schemas.openxmlformats.org/presentationml/2006/ole">
              <mc:AlternateContent xmlns:mc="http://schemas.openxmlformats.org/markup-compatibility/2006">
                <mc:Choice xmlns:v="urn:schemas-microsoft-com:vml" Requires="v">
                  <p:oleObj name="公式" r:id="rId12" imgW="304668" imgH="279279" progId="Equation.3">
                    <p:embed/>
                  </p:oleObj>
                </mc:Choice>
                <mc:Fallback>
                  <p:oleObj name="公式" r:id="rId12" imgW="304668" imgH="279279" progId="Equation.3">
                    <p:embed/>
                    <p:pic>
                      <p:nvPicPr>
                        <p:cNvPr id="10272" name="Object 3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93" y="3056"/>
                          <a:ext cx="191" cy="1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0273" name="Text Box 33"/>
          <p:cNvSpPr txBox="1">
            <a:spLocks noChangeArrowheads="1"/>
          </p:cNvSpPr>
          <p:nvPr/>
        </p:nvSpPr>
        <p:spPr bwMode="auto">
          <a:xfrm>
            <a:off x="561709" y="3549360"/>
            <a:ext cx="4500211" cy="941155"/>
          </a:xfrm>
          <a:prstGeom prst="rect">
            <a:avLst/>
          </a:prstGeom>
          <a:noFill/>
          <a:ln w="19050">
            <a:noFill/>
            <a:miter lim="800000"/>
            <a:headEnd/>
            <a:tailEnd type="none" w="med" len="lg"/>
          </a:ln>
          <a:effectLst/>
        </p:spPr>
        <p:txBody>
          <a:bodyPr wrap="square">
            <a:spAutoFit/>
          </a:bodyPr>
          <a:lstStyle/>
          <a:p>
            <a:pPr>
              <a:lnSpc>
                <a:spcPct val="120000"/>
              </a:lnSpc>
              <a:spcBef>
                <a:spcPct val="50000"/>
              </a:spcBef>
            </a:pPr>
            <a:r>
              <a:rPr kumimoji="1" lang="zh-CN" altLang="en-US" sz="2400" b="1" dirty="0">
                <a:solidFill>
                  <a:srgbClr val="FF0000"/>
                </a:solidFill>
                <a:latin typeface="微软雅黑" panose="020B0503020204020204" pitchFamily="34" charset="-122"/>
                <a:ea typeface="微软雅黑" panose="020B0503020204020204" pitchFamily="34" charset="-122"/>
              </a:rPr>
              <a:t>干涉条纹为平行于</a:t>
            </a:r>
            <a:r>
              <a:rPr lang="zh-CN" altLang="en-US" sz="2400" b="1" dirty="0">
                <a:solidFill>
                  <a:srgbClr val="FF0000"/>
                </a:solidFill>
                <a:latin typeface="微软雅黑" panose="020B0503020204020204" pitchFamily="34" charset="-122"/>
                <a:ea typeface="微软雅黑" panose="020B0503020204020204" pitchFamily="34" charset="-122"/>
              </a:rPr>
              <a:t>棱边</a:t>
            </a:r>
            <a:r>
              <a:rPr kumimoji="1" lang="zh-CN" altLang="en-US" sz="2400" b="1" dirty="0">
                <a:solidFill>
                  <a:srgbClr val="FF0000"/>
                </a:solidFill>
                <a:latin typeface="微软雅黑" panose="020B0503020204020204" pitchFamily="34" charset="-122"/>
                <a:ea typeface="微软雅黑" panose="020B0503020204020204" pitchFamily="34" charset="-122"/>
              </a:rPr>
              <a:t>的一系列明暗相间的直条纹。</a:t>
            </a:r>
          </a:p>
        </p:txBody>
      </p:sp>
      <p:grpSp>
        <p:nvGrpSpPr>
          <p:cNvPr id="9" name="Group 34"/>
          <p:cNvGrpSpPr>
            <a:grpSpLocks/>
          </p:cNvGrpSpPr>
          <p:nvPr/>
        </p:nvGrpSpPr>
        <p:grpSpPr bwMode="auto">
          <a:xfrm>
            <a:off x="5878989" y="5089714"/>
            <a:ext cx="2006203" cy="758428"/>
            <a:chOff x="424" y="1888"/>
            <a:chExt cx="1272" cy="637"/>
          </a:xfrm>
        </p:grpSpPr>
        <p:sp>
          <p:nvSpPr>
            <p:cNvPr id="10275" name="Rectangle 35"/>
            <p:cNvSpPr>
              <a:spLocks noChangeArrowheads="1"/>
            </p:cNvSpPr>
            <p:nvPr/>
          </p:nvSpPr>
          <p:spPr bwMode="auto">
            <a:xfrm>
              <a:off x="424" y="1888"/>
              <a:ext cx="188" cy="637"/>
            </a:xfrm>
            <a:prstGeom prst="rect">
              <a:avLst/>
            </a:prstGeom>
            <a:gradFill rotWithShape="1">
              <a:gsLst>
                <a:gs pos="0">
                  <a:srgbClr val="FF9900">
                    <a:gamma/>
                    <a:shade val="0"/>
                    <a:invGamma/>
                  </a:srgbClr>
                </a:gs>
                <a:gs pos="50000">
                  <a:srgbClr val="FF9900"/>
                </a:gs>
                <a:gs pos="100000">
                  <a:srgbClr val="FF9900">
                    <a:gamma/>
                    <a:shade val="0"/>
                    <a:invGamma/>
                  </a:srgbClr>
                </a:gs>
              </a:gsLst>
              <a:lin ang="0" scaled="1"/>
            </a:gradFill>
            <a:ln w="9525">
              <a:noFill/>
              <a:miter lim="800000"/>
              <a:headEnd/>
              <a:tailEnd/>
            </a:ln>
            <a:effectLst/>
          </p:spPr>
          <p:txBody>
            <a:bodyPr wrap="none" anchor="ctr"/>
            <a:lstStyle/>
            <a:p>
              <a:endParaRPr lang="zh-CN" altLang="en-US" sz="1050"/>
            </a:p>
          </p:txBody>
        </p:sp>
        <p:sp>
          <p:nvSpPr>
            <p:cNvPr id="10276" name="Rectangle 36"/>
            <p:cNvSpPr>
              <a:spLocks noChangeArrowheads="1"/>
            </p:cNvSpPr>
            <p:nvPr/>
          </p:nvSpPr>
          <p:spPr bwMode="auto">
            <a:xfrm>
              <a:off x="789" y="1888"/>
              <a:ext cx="189" cy="637"/>
            </a:xfrm>
            <a:prstGeom prst="rect">
              <a:avLst/>
            </a:prstGeom>
            <a:gradFill rotWithShape="1">
              <a:gsLst>
                <a:gs pos="0">
                  <a:srgbClr val="FF9900">
                    <a:gamma/>
                    <a:shade val="0"/>
                    <a:invGamma/>
                  </a:srgbClr>
                </a:gs>
                <a:gs pos="50000">
                  <a:srgbClr val="FF9900"/>
                </a:gs>
                <a:gs pos="100000">
                  <a:srgbClr val="FF9900">
                    <a:gamma/>
                    <a:shade val="0"/>
                    <a:invGamma/>
                  </a:srgbClr>
                </a:gs>
              </a:gsLst>
              <a:lin ang="0" scaled="1"/>
            </a:gradFill>
            <a:ln w="9525">
              <a:noFill/>
              <a:miter lim="800000"/>
              <a:headEnd/>
              <a:tailEnd/>
            </a:ln>
            <a:effectLst/>
          </p:spPr>
          <p:txBody>
            <a:bodyPr wrap="none" anchor="ctr"/>
            <a:lstStyle/>
            <a:p>
              <a:endParaRPr lang="zh-CN" altLang="en-US" sz="1050"/>
            </a:p>
          </p:txBody>
        </p:sp>
        <p:sp>
          <p:nvSpPr>
            <p:cNvPr id="10277" name="Rectangle 37"/>
            <p:cNvSpPr>
              <a:spLocks noChangeArrowheads="1"/>
            </p:cNvSpPr>
            <p:nvPr/>
          </p:nvSpPr>
          <p:spPr bwMode="auto">
            <a:xfrm>
              <a:off x="601" y="1888"/>
              <a:ext cx="188" cy="637"/>
            </a:xfrm>
            <a:prstGeom prst="rect">
              <a:avLst/>
            </a:prstGeom>
            <a:gradFill rotWithShape="1">
              <a:gsLst>
                <a:gs pos="0">
                  <a:srgbClr val="FF9900">
                    <a:gamma/>
                    <a:shade val="0"/>
                    <a:invGamma/>
                  </a:srgbClr>
                </a:gs>
                <a:gs pos="50000">
                  <a:srgbClr val="FF9900"/>
                </a:gs>
                <a:gs pos="100000">
                  <a:srgbClr val="FF9900">
                    <a:gamma/>
                    <a:shade val="0"/>
                    <a:invGamma/>
                  </a:srgbClr>
                </a:gs>
              </a:gsLst>
              <a:lin ang="0" scaled="1"/>
            </a:gradFill>
            <a:ln w="9525">
              <a:noFill/>
              <a:miter lim="800000"/>
              <a:headEnd/>
              <a:tailEnd/>
            </a:ln>
            <a:effectLst/>
          </p:spPr>
          <p:txBody>
            <a:bodyPr wrap="none" anchor="ctr"/>
            <a:lstStyle/>
            <a:p>
              <a:endParaRPr lang="zh-CN" altLang="en-US" sz="1050"/>
            </a:p>
          </p:txBody>
        </p:sp>
        <p:sp>
          <p:nvSpPr>
            <p:cNvPr id="10278" name="Rectangle 38"/>
            <p:cNvSpPr>
              <a:spLocks noChangeArrowheads="1"/>
            </p:cNvSpPr>
            <p:nvPr/>
          </p:nvSpPr>
          <p:spPr bwMode="auto">
            <a:xfrm>
              <a:off x="971" y="1888"/>
              <a:ext cx="188" cy="637"/>
            </a:xfrm>
            <a:prstGeom prst="rect">
              <a:avLst/>
            </a:prstGeom>
            <a:gradFill rotWithShape="1">
              <a:gsLst>
                <a:gs pos="0">
                  <a:srgbClr val="FF9900">
                    <a:gamma/>
                    <a:shade val="0"/>
                    <a:invGamma/>
                  </a:srgbClr>
                </a:gs>
                <a:gs pos="50000">
                  <a:srgbClr val="FF9900"/>
                </a:gs>
                <a:gs pos="100000">
                  <a:srgbClr val="FF9900">
                    <a:gamma/>
                    <a:shade val="0"/>
                    <a:invGamma/>
                  </a:srgbClr>
                </a:gs>
              </a:gsLst>
              <a:lin ang="0" scaled="1"/>
            </a:gradFill>
            <a:ln w="9525">
              <a:noFill/>
              <a:miter lim="800000"/>
              <a:headEnd/>
              <a:tailEnd/>
            </a:ln>
            <a:effectLst/>
          </p:spPr>
          <p:txBody>
            <a:bodyPr wrap="none" anchor="ctr"/>
            <a:lstStyle/>
            <a:p>
              <a:endParaRPr lang="zh-CN" altLang="en-US" sz="1050"/>
            </a:p>
          </p:txBody>
        </p:sp>
        <p:sp>
          <p:nvSpPr>
            <p:cNvPr id="10279" name="Rectangle 39"/>
            <p:cNvSpPr>
              <a:spLocks noChangeArrowheads="1"/>
            </p:cNvSpPr>
            <p:nvPr/>
          </p:nvSpPr>
          <p:spPr bwMode="auto">
            <a:xfrm>
              <a:off x="1326" y="1888"/>
              <a:ext cx="188" cy="637"/>
            </a:xfrm>
            <a:prstGeom prst="rect">
              <a:avLst/>
            </a:prstGeom>
            <a:gradFill rotWithShape="1">
              <a:gsLst>
                <a:gs pos="0">
                  <a:srgbClr val="FF9900">
                    <a:gamma/>
                    <a:shade val="0"/>
                    <a:invGamma/>
                  </a:srgbClr>
                </a:gs>
                <a:gs pos="50000">
                  <a:srgbClr val="FF9900"/>
                </a:gs>
                <a:gs pos="100000">
                  <a:srgbClr val="FF9900">
                    <a:gamma/>
                    <a:shade val="0"/>
                    <a:invGamma/>
                  </a:srgbClr>
                </a:gs>
              </a:gsLst>
              <a:lin ang="0" scaled="1"/>
            </a:gradFill>
            <a:ln w="9525">
              <a:noFill/>
              <a:miter lim="800000"/>
              <a:headEnd/>
              <a:tailEnd/>
            </a:ln>
            <a:effectLst/>
          </p:spPr>
          <p:txBody>
            <a:bodyPr wrap="none" anchor="ctr"/>
            <a:lstStyle/>
            <a:p>
              <a:endParaRPr lang="zh-CN" altLang="en-US" sz="1050"/>
            </a:p>
          </p:txBody>
        </p:sp>
        <p:sp>
          <p:nvSpPr>
            <p:cNvPr id="10280" name="Rectangle 40"/>
            <p:cNvSpPr>
              <a:spLocks noChangeArrowheads="1"/>
            </p:cNvSpPr>
            <p:nvPr/>
          </p:nvSpPr>
          <p:spPr bwMode="auto">
            <a:xfrm>
              <a:off x="1146" y="1888"/>
              <a:ext cx="187" cy="637"/>
            </a:xfrm>
            <a:prstGeom prst="rect">
              <a:avLst/>
            </a:prstGeom>
            <a:gradFill rotWithShape="1">
              <a:gsLst>
                <a:gs pos="0">
                  <a:srgbClr val="FF9900">
                    <a:gamma/>
                    <a:shade val="0"/>
                    <a:invGamma/>
                  </a:srgbClr>
                </a:gs>
                <a:gs pos="50000">
                  <a:srgbClr val="FF9900"/>
                </a:gs>
                <a:gs pos="100000">
                  <a:srgbClr val="FF9900">
                    <a:gamma/>
                    <a:shade val="0"/>
                    <a:invGamma/>
                  </a:srgbClr>
                </a:gs>
              </a:gsLst>
              <a:lin ang="0" scaled="1"/>
            </a:gradFill>
            <a:ln w="9525">
              <a:noFill/>
              <a:miter lim="800000"/>
              <a:headEnd/>
              <a:tailEnd/>
            </a:ln>
            <a:effectLst/>
          </p:spPr>
          <p:txBody>
            <a:bodyPr wrap="none" anchor="ctr"/>
            <a:lstStyle/>
            <a:p>
              <a:endParaRPr lang="zh-CN" altLang="en-US" sz="1050"/>
            </a:p>
          </p:txBody>
        </p:sp>
        <p:sp>
          <p:nvSpPr>
            <p:cNvPr id="10281" name="Rectangle 41"/>
            <p:cNvSpPr>
              <a:spLocks noChangeArrowheads="1"/>
            </p:cNvSpPr>
            <p:nvPr/>
          </p:nvSpPr>
          <p:spPr bwMode="auto">
            <a:xfrm>
              <a:off x="1509" y="1888"/>
              <a:ext cx="187" cy="637"/>
            </a:xfrm>
            <a:prstGeom prst="rect">
              <a:avLst/>
            </a:prstGeom>
            <a:gradFill rotWithShape="1">
              <a:gsLst>
                <a:gs pos="0">
                  <a:srgbClr val="FF9900">
                    <a:gamma/>
                    <a:shade val="0"/>
                    <a:invGamma/>
                  </a:srgbClr>
                </a:gs>
                <a:gs pos="50000">
                  <a:srgbClr val="FF9900"/>
                </a:gs>
                <a:gs pos="100000">
                  <a:srgbClr val="FF9900">
                    <a:gamma/>
                    <a:shade val="0"/>
                    <a:invGamma/>
                  </a:srgbClr>
                </a:gs>
              </a:gsLst>
              <a:lin ang="0" scaled="1"/>
            </a:gradFill>
            <a:ln w="9525">
              <a:noFill/>
              <a:miter lim="800000"/>
              <a:headEnd/>
              <a:tailEnd/>
            </a:ln>
            <a:effectLst/>
          </p:spPr>
          <p:txBody>
            <a:bodyPr wrap="none" anchor="ctr"/>
            <a:lstStyle/>
            <a:p>
              <a:endParaRPr lang="zh-CN" altLang="en-US" sz="1050"/>
            </a:p>
          </p:txBody>
        </p:sp>
      </p:grpSp>
      <p:grpSp>
        <p:nvGrpSpPr>
          <p:cNvPr id="10" name="Group 42"/>
          <p:cNvGrpSpPr>
            <a:grpSpLocks/>
          </p:cNvGrpSpPr>
          <p:nvPr/>
        </p:nvGrpSpPr>
        <p:grpSpPr bwMode="auto">
          <a:xfrm>
            <a:off x="5762308" y="3850274"/>
            <a:ext cx="2555081" cy="1164431"/>
            <a:chOff x="2736" y="1037"/>
            <a:chExt cx="2783" cy="1267"/>
          </a:xfrm>
        </p:grpSpPr>
        <p:sp>
          <p:nvSpPr>
            <p:cNvPr id="10283" name="AutoShape 43"/>
            <p:cNvSpPr>
              <a:spLocks noChangeArrowheads="1"/>
            </p:cNvSpPr>
            <p:nvPr/>
          </p:nvSpPr>
          <p:spPr bwMode="auto">
            <a:xfrm>
              <a:off x="2847" y="1577"/>
              <a:ext cx="2577" cy="727"/>
            </a:xfrm>
            <a:prstGeom prst="parallelogram">
              <a:avLst>
                <a:gd name="adj" fmla="val 56436"/>
              </a:avLst>
            </a:prstGeom>
            <a:solidFill>
              <a:srgbClr val="CCFFFF"/>
            </a:solidFill>
            <a:ln w="28575">
              <a:solidFill>
                <a:srgbClr val="008080"/>
              </a:solidFill>
              <a:miter lim="800000"/>
              <a:headEnd/>
              <a:tailEnd/>
            </a:ln>
            <a:effectLst/>
          </p:spPr>
          <p:txBody>
            <a:bodyPr wrap="none" anchor="ctr"/>
            <a:lstStyle/>
            <a:p>
              <a:endParaRPr lang="zh-CN" altLang="en-US" sz="1050"/>
            </a:p>
          </p:txBody>
        </p:sp>
        <p:sp>
          <p:nvSpPr>
            <p:cNvPr id="10284" name="AutoShape 44"/>
            <p:cNvSpPr>
              <a:spLocks noChangeArrowheads="1"/>
            </p:cNvSpPr>
            <p:nvPr/>
          </p:nvSpPr>
          <p:spPr bwMode="auto">
            <a:xfrm rot="-845873">
              <a:off x="2736" y="1369"/>
              <a:ext cx="2783" cy="587"/>
            </a:xfrm>
            <a:prstGeom prst="flowChartInputOutput">
              <a:avLst/>
            </a:prstGeom>
            <a:solidFill>
              <a:schemeClr val="tx1">
                <a:alpha val="50000"/>
              </a:schemeClr>
            </a:solidFill>
            <a:ln w="28575">
              <a:solidFill>
                <a:srgbClr val="008080"/>
              </a:solidFill>
              <a:miter lim="800000"/>
              <a:headEnd/>
              <a:tailEnd/>
            </a:ln>
            <a:effectLst/>
          </p:spPr>
          <p:txBody>
            <a:bodyPr wrap="none" anchor="ctr"/>
            <a:lstStyle/>
            <a:p>
              <a:pPr algn="ctr"/>
              <a:endParaRPr lang="zh-CN" altLang="zh-CN" sz="2100" b="1" u="sng">
                <a:latin typeface="Times New Roman" pitchFamily="18" charset="0"/>
                <a:ea typeface="黑体" pitchFamily="2" charset="-122"/>
              </a:endParaRPr>
            </a:p>
          </p:txBody>
        </p:sp>
        <p:sp>
          <p:nvSpPr>
            <p:cNvPr id="10285" name="Freeform 45"/>
            <p:cNvSpPr>
              <a:spLocks/>
            </p:cNvSpPr>
            <p:nvPr/>
          </p:nvSpPr>
          <p:spPr bwMode="auto">
            <a:xfrm>
              <a:off x="5014" y="1037"/>
              <a:ext cx="400" cy="1267"/>
            </a:xfrm>
            <a:custGeom>
              <a:avLst/>
              <a:gdLst/>
              <a:ahLst/>
              <a:cxnLst>
                <a:cxn ang="0">
                  <a:pos x="0" y="739"/>
                </a:cxn>
                <a:cxn ang="0">
                  <a:pos x="0" y="1267"/>
                </a:cxn>
                <a:cxn ang="0">
                  <a:pos x="400" y="556"/>
                </a:cxn>
                <a:cxn ang="0">
                  <a:pos x="400" y="0"/>
                </a:cxn>
                <a:cxn ang="0">
                  <a:pos x="0" y="691"/>
                </a:cxn>
                <a:cxn ang="0">
                  <a:pos x="0" y="739"/>
                </a:cxn>
              </a:cxnLst>
              <a:rect l="0" t="0" r="r" b="b"/>
              <a:pathLst>
                <a:path w="400" h="1267">
                  <a:moveTo>
                    <a:pt x="0" y="739"/>
                  </a:moveTo>
                  <a:lnTo>
                    <a:pt x="0" y="1267"/>
                  </a:lnTo>
                  <a:lnTo>
                    <a:pt x="400" y="556"/>
                  </a:lnTo>
                  <a:lnTo>
                    <a:pt x="400" y="0"/>
                  </a:lnTo>
                  <a:lnTo>
                    <a:pt x="0" y="691"/>
                  </a:lnTo>
                  <a:lnTo>
                    <a:pt x="0" y="739"/>
                  </a:lnTo>
                  <a:close/>
                </a:path>
              </a:pathLst>
            </a:custGeom>
            <a:solidFill>
              <a:srgbClr val="CCECFF"/>
            </a:solidFill>
            <a:ln w="28575" cap="flat" cmpd="sng">
              <a:solidFill>
                <a:srgbClr val="008080"/>
              </a:solidFill>
              <a:prstDash val="solid"/>
              <a:round/>
              <a:headEnd type="none" w="med" len="med"/>
              <a:tailEnd type="none" w="med" len="med"/>
            </a:ln>
            <a:effectLst/>
          </p:spPr>
          <p:txBody>
            <a:bodyPr wrap="none" anchor="ctr"/>
            <a:lstStyle/>
            <a:p>
              <a:endParaRPr lang="zh-CN" altLang="en-US" sz="1050"/>
            </a:p>
          </p:txBody>
        </p:sp>
      </p:grpSp>
      <p:grpSp>
        <p:nvGrpSpPr>
          <p:cNvPr id="11" name="Group 46"/>
          <p:cNvGrpSpPr>
            <a:grpSpLocks/>
          </p:cNvGrpSpPr>
          <p:nvPr/>
        </p:nvGrpSpPr>
        <p:grpSpPr bwMode="auto">
          <a:xfrm>
            <a:off x="6021864" y="3877658"/>
            <a:ext cx="1999059" cy="1052513"/>
            <a:chOff x="3020" y="1303"/>
            <a:chExt cx="2171" cy="1145"/>
          </a:xfrm>
        </p:grpSpPr>
        <p:sp>
          <p:nvSpPr>
            <p:cNvPr id="10287" name="Freeform 47"/>
            <p:cNvSpPr>
              <a:spLocks/>
            </p:cNvSpPr>
            <p:nvPr/>
          </p:nvSpPr>
          <p:spPr bwMode="auto">
            <a:xfrm>
              <a:off x="3020" y="1722"/>
              <a:ext cx="511" cy="726"/>
            </a:xfrm>
            <a:custGeom>
              <a:avLst/>
              <a:gdLst/>
              <a:ahLst/>
              <a:cxnLst>
                <a:cxn ang="0">
                  <a:pos x="384" y="40"/>
                </a:cxn>
                <a:cxn ang="0">
                  <a:pos x="0" y="726"/>
                </a:cxn>
                <a:cxn ang="0">
                  <a:pos x="162" y="688"/>
                </a:cxn>
                <a:cxn ang="0">
                  <a:pos x="141" y="689"/>
                </a:cxn>
                <a:cxn ang="0">
                  <a:pos x="511" y="0"/>
                </a:cxn>
                <a:cxn ang="0">
                  <a:pos x="384" y="40"/>
                </a:cxn>
              </a:cxnLst>
              <a:rect l="0" t="0" r="r" b="b"/>
              <a:pathLst>
                <a:path w="511" h="726">
                  <a:moveTo>
                    <a:pt x="384" y="40"/>
                  </a:moveTo>
                  <a:lnTo>
                    <a:pt x="0" y="726"/>
                  </a:lnTo>
                  <a:lnTo>
                    <a:pt x="162" y="688"/>
                  </a:lnTo>
                  <a:lnTo>
                    <a:pt x="141" y="689"/>
                  </a:lnTo>
                  <a:lnTo>
                    <a:pt x="511" y="0"/>
                  </a:lnTo>
                  <a:lnTo>
                    <a:pt x="384" y="40"/>
                  </a:lnTo>
                  <a:close/>
                </a:path>
              </a:pathLst>
            </a:custGeom>
            <a:solidFill>
              <a:srgbClr val="FF9900"/>
            </a:solidFill>
            <a:ln w="19050" cap="flat" cmpd="sng">
              <a:noFill/>
              <a:prstDash val="solid"/>
              <a:round/>
              <a:headEnd type="none" w="med" len="med"/>
              <a:tailEnd type="none" w="med" len="med"/>
            </a:ln>
            <a:effectLst/>
          </p:spPr>
          <p:txBody>
            <a:bodyPr wrap="none" anchor="ctr"/>
            <a:lstStyle/>
            <a:p>
              <a:endParaRPr lang="zh-CN" altLang="en-US" sz="1050"/>
            </a:p>
          </p:txBody>
        </p:sp>
        <p:sp>
          <p:nvSpPr>
            <p:cNvPr id="10288" name="Freeform 48"/>
            <p:cNvSpPr>
              <a:spLocks/>
            </p:cNvSpPr>
            <p:nvPr/>
          </p:nvSpPr>
          <p:spPr bwMode="auto">
            <a:xfrm>
              <a:off x="3288" y="1653"/>
              <a:ext cx="511" cy="726"/>
            </a:xfrm>
            <a:custGeom>
              <a:avLst/>
              <a:gdLst/>
              <a:ahLst/>
              <a:cxnLst>
                <a:cxn ang="0">
                  <a:pos x="384" y="40"/>
                </a:cxn>
                <a:cxn ang="0">
                  <a:pos x="0" y="726"/>
                </a:cxn>
                <a:cxn ang="0">
                  <a:pos x="162" y="688"/>
                </a:cxn>
                <a:cxn ang="0">
                  <a:pos x="141" y="689"/>
                </a:cxn>
                <a:cxn ang="0">
                  <a:pos x="511" y="0"/>
                </a:cxn>
                <a:cxn ang="0">
                  <a:pos x="384" y="40"/>
                </a:cxn>
              </a:cxnLst>
              <a:rect l="0" t="0" r="r" b="b"/>
              <a:pathLst>
                <a:path w="511" h="726">
                  <a:moveTo>
                    <a:pt x="384" y="40"/>
                  </a:moveTo>
                  <a:lnTo>
                    <a:pt x="0" y="726"/>
                  </a:lnTo>
                  <a:lnTo>
                    <a:pt x="162" y="688"/>
                  </a:lnTo>
                  <a:lnTo>
                    <a:pt x="141" y="689"/>
                  </a:lnTo>
                  <a:lnTo>
                    <a:pt x="511" y="0"/>
                  </a:lnTo>
                  <a:lnTo>
                    <a:pt x="384" y="40"/>
                  </a:lnTo>
                  <a:close/>
                </a:path>
              </a:pathLst>
            </a:custGeom>
            <a:solidFill>
              <a:srgbClr val="FF9900"/>
            </a:solidFill>
            <a:ln w="19050" cap="flat" cmpd="sng">
              <a:noFill/>
              <a:prstDash val="solid"/>
              <a:round/>
              <a:headEnd type="none" w="med" len="med"/>
              <a:tailEnd type="none" w="med" len="med"/>
            </a:ln>
            <a:effectLst/>
          </p:spPr>
          <p:txBody>
            <a:bodyPr wrap="none" anchor="ctr"/>
            <a:lstStyle/>
            <a:p>
              <a:endParaRPr lang="zh-CN" altLang="en-US" sz="1050"/>
            </a:p>
          </p:txBody>
        </p:sp>
        <p:sp>
          <p:nvSpPr>
            <p:cNvPr id="10289" name="Freeform 49"/>
            <p:cNvSpPr>
              <a:spLocks/>
            </p:cNvSpPr>
            <p:nvPr/>
          </p:nvSpPr>
          <p:spPr bwMode="auto">
            <a:xfrm>
              <a:off x="3562" y="1584"/>
              <a:ext cx="511" cy="726"/>
            </a:xfrm>
            <a:custGeom>
              <a:avLst/>
              <a:gdLst/>
              <a:ahLst/>
              <a:cxnLst>
                <a:cxn ang="0">
                  <a:pos x="384" y="40"/>
                </a:cxn>
                <a:cxn ang="0">
                  <a:pos x="0" y="726"/>
                </a:cxn>
                <a:cxn ang="0">
                  <a:pos x="162" y="688"/>
                </a:cxn>
                <a:cxn ang="0">
                  <a:pos x="141" y="689"/>
                </a:cxn>
                <a:cxn ang="0">
                  <a:pos x="511" y="0"/>
                </a:cxn>
                <a:cxn ang="0">
                  <a:pos x="384" y="40"/>
                </a:cxn>
              </a:cxnLst>
              <a:rect l="0" t="0" r="r" b="b"/>
              <a:pathLst>
                <a:path w="511" h="726">
                  <a:moveTo>
                    <a:pt x="384" y="40"/>
                  </a:moveTo>
                  <a:lnTo>
                    <a:pt x="0" y="726"/>
                  </a:lnTo>
                  <a:lnTo>
                    <a:pt x="162" y="688"/>
                  </a:lnTo>
                  <a:lnTo>
                    <a:pt x="141" y="689"/>
                  </a:lnTo>
                  <a:lnTo>
                    <a:pt x="511" y="0"/>
                  </a:lnTo>
                  <a:lnTo>
                    <a:pt x="384" y="40"/>
                  </a:lnTo>
                  <a:close/>
                </a:path>
              </a:pathLst>
            </a:custGeom>
            <a:solidFill>
              <a:srgbClr val="FF9900"/>
            </a:solidFill>
            <a:ln w="19050" cap="flat" cmpd="sng">
              <a:noFill/>
              <a:prstDash val="solid"/>
              <a:round/>
              <a:headEnd type="none" w="med" len="med"/>
              <a:tailEnd type="none" w="med" len="med"/>
            </a:ln>
            <a:effectLst/>
          </p:spPr>
          <p:txBody>
            <a:bodyPr wrap="none" anchor="ctr"/>
            <a:lstStyle/>
            <a:p>
              <a:endParaRPr lang="zh-CN" altLang="en-US" sz="1050"/>
            </a:p>
          </p:txBody>
        </p:sp>
        <p:sp>
          <p:nvSpPr>
            <p:cNvPr id="10290" name="Freeform 50"/>
            <p:cNvSpPr>
              <a:spLocks/>
            </p:cNvSpPr>
            <p:nvPr/>
          </p:nvSpPr>
          <p:spPr bwMode="auto">
            <a:xfrm>
              <a:off x="3843" y="1509"/>
              <a:ext cx="511" cy="726"/>
            </a:xfrm>
            <a:custGeom>
              <a:avLst/>
              <a:gdLst/>
              <a:ahLst/>
              <a:cxnLst>
                <a:cxn ang="0">
                  <a:pos x="384" y="40"/>
                </a:cxn>
                <a:cxn ang="0">
                  <a:pos x="0" y="726"/>
                </a:cxn>
                <a:cxn ang="0">
                  <a:pos x="162" y="688"/>
                </a:cxn>
                <a:cxn ang="0">
                  <a:pos x="141" y="689"/>
                </a:cxn>
                <a:cxn ang="0">
                  <a:pos x="511" y="0"/>
                </a:cxn>
                <a:cxn ang="0">
                  <a:pos x="384" y="40"/>
                </a:cxn>
              </a:cxnLst>
              <a:rect l="0" t="0" r="r" b="b"/>
              <a:pathLst>
                <a:path w="511" h="726">
                  <a:moveTo>
                    <a:pt x="384" y="40"/>
                  </a:moveTo>
                  <a:lnTo>
                    <a:pt x="0" y="726"/>
                  </a:lnTo>
                  <a:lnTo>
                    <a:pt x="162" y="688"/>
                  </a:lnTo>
                  <a:lnTo>
                    <a:pt x="141" y="689"/>
                  </a:lnTo>
                  <a:lnTo>
                    <a:pt x="511" y="0"/>
                  </a:lnTo>
                  <a:lnTo>
                    <a:pt x="384" y="40"/>
                  </a:lnTo>
                  <a:close/>
                </a:path>
              </a:pathLst>
            </a:custGeom>
            <a:solidFill>
              <a:srgbClr val="FF9900"/>
            </a:solidFill>
            <a:ln w="19050" cap="flat" cmpd="sng">
              <a:noFill/>
              <a:prstDash val="solid"/>
              <a:round/>
              <a:headEnd type="none" w="med" len="med"/>
              <a:tailEnd type="none" w="med" len="med"/>
            </a:ln>
            <a:effectLst/>
          </p:spPr>
          <p:txBody>
            <a:bodyPr wrap="none" anchor="ctr"/>
            <a:lstStyle/>
            <a:p>
              <a:endParaRPr lang="zh-CN" altLang="en-US" sz="1050"/>
            </a:p>
          </p:txBody>
        </p:sp>
        <p:sp>
          <p:nvSpPr>
            <p:cNvPr id="10291" name="Freeform 51"/>
            <p:cNvSpPr>
              <a:spLocks/>
            </p:cNvSpPr>
            <p:nvPr/>
          </p:nvSpPr>
          <p:spPr bwMode="auto">
            <a:xfrm>
              <a:off x="4118" y="1447"/>
              <a:ext cx="511" cy="726"/>
            </a:xfrm>
            <a:custGeom>
              <a:avLst/>
              <a:gdLst/>
              <a:ahLst/>
              <a:cxnLst>
                <a:cxn ang="0">
                  <a:pos x="384" y="40"/>
                </a:cxn>
                <a:cxn ang="0">
                  <a:pos x="0" y="726"/>
                </a:cxn>
                <a:cxn ang="0">
                  <a:pos x="162" y="688"/>
                </a:cxn>
                <a:cxn ang="0">
                  <a:pos x="141" y="689"/>
                </a:cxn>
                <a:cxn ang="0">
                  <a:pos x="511" y="0"/>
                </a:cxn>
                <a:cxn ang="0">
                  <a:pos x="384" y="40"/>
                </a:cxn>
              </a:cxnLst>
              <a:rect l="0" t="0" r="r" b="b"/>
              <a:pathLst>
                <a:path w="511" h="726">
                  <a:moveTo>
                    <a:pt x="384" y="40"/>
                  </a:moveTo>
                  <a:lnTo>
                    <a:pt x="0" y="726"/>
                  </a:lnTo>
                  <a:lnTo>
                    <a:pt x="162" y="688"/>
                  </a:lnTo>
                  <a:lnTo>
                    <a:pt x="141" y="689"/>
                  </a:lnTo>
                  <a:lnTo>
                    <a:pt x="511" y="0"/>
                  </a:lnTo>
                  <a:lnTo>
                    <a:pt x="384" y="40"/>
                  </a:lnTo>
                  <a:close/>
                </a:path>
              </a:pathLst>
            </a:custGeom>
            <a:solidFill>
              <a:srgbClr val="FF9900"/>
            </a:solidFill>
            <a:ln w="19050" cap="flat" cmpd="sng">
              <a:noFill/>
              <a:prstDash val="solid"/>
              <a:round/>
              <a:headEnd type="none" w="med" len="med"/>
              <a:tailEnd type="none" w="med" len="med"/>
            </a:ln>
            <a:effectLst/>
          </p:spPr>
          <p:txBody>
            <a:bodyPr wrap="none" anchor="ctr"/>
            <a:lstStyle/>
            <a:p>
              <a:endParaRPr lang="zh-CN" altLang="en-US" sz="1050"/>
            </a:p>
          </p:txBody>
        </p:sp>
        <p:sp>
          <p:nvSpPr>
            <p:cNvPr id="10292" name="Freeform 52"/>
            <p:cNvSpPr>
              <a:spLocks/>
            </p:cNvSpPr>
            <p:nvPr/>
          </p:nvSpPr>
          <p:spPr bwMode="auto">
            <a:xfrm>
              <a:off x="4392" y="1378"/>
              <a:ext cx="511" cy="726"/>
            </a:xfrm>
            <a:custGeom>
              <a:avLst/>
              <a:gdLst/>
              <a:ahLst/>
              <a:cxnLst>
                <a:cxn ang="0">
                  <a:pos x="384" y="40"/>
                </a:cxn>
                <a:cxn ang="0">
                  <a:pos x="0" y="726"/>
                </a:cxn>
                <a:cxn ang="0">
                  <a:pos x="162" y="688"/>
                </a:cxn>
                <a:cxn ang="0">
                  <a:pos x="141" y="689"/>
                </a:cxn>
                <a:cxn ang="0">
                  <a:pos x="511" y="0"/>
                </a:cxn>
                <a:cxn ang="0">
                  <a:pos x="384" y="40"/>
                </a:cxn>
              </a:cxnLst>
              <a:rect l="0" t="0" r="r" b="b"/>
              <a:pathLst>
                <a:path w="511" h="726">
                  <a:moveTo>
                    <a:pt x="384" y="40"/>
                  </a:moveTo>
                  <a:lnTo>
                    <a:pt x="0" y="726"/>
                  </a:lnTo>
                  <a:lnTo>
                    <a:pt x="162" y="688"/>
                  </a:lnTo>
                  <a:lnTo>
                    <a:pt x="141" y="689"/>
                  </a:lnTo>
                  <a:lnTo>
                    <a:pt x="511" y="0"/>
                  </a:lnTo>
                  <a:lnTo>
                    <a:pt x="384" y="40"/>
                  </a:lnTo>
                  <a:close/>
                </a:path>
              </a:pathLst>
            </a:custGeom>
            <a:solidFill>
              <a:srgbClr val="FF9900"/>
            </a:solidFill>
            <a:ln w="19050" cap="flat" cmpd="sng">
              <a:noFill/>
              <a:prstDash val="solid"/>
              <a:round/>
              <a:headEnd type="none" w="med" len="med"/>
              <a:tailEnd type="none" w="med" len="med"/>
            </a:ln>
            <a:effectLst/>
          </p:spPr>
          <p:txBody>
            <a:bodyPr wrap="none" anchor="ctr"/>
            <a:lstStyle/>
            <a:p>
              <a:endParaRPr lang="zh-CN" altLang="en-US" sz="1050"/>
            </a:p>
          </p:txBody>
        </p:sp>
        <p:sp>
          <p:nvSpPr>
            <p:cNvPr id="10293" name="Freeform 53"/>
            <p:cNvSpPr>
              <a:spLocks/>
            </p:cNvSpPr>
            <p:nvPr/>
          </p:nvSpPr>
          <p:spPr bwMode="auto">
            <a:xfrm>
              <a:off x="4680" y="1303"/>
              <a:ext cx="511" cy="726"/>
            </a:xfrm>
            <a:custGeom>
              <a:avLst/>
              <a:gdLst/>
              <a:ahLst/>
              <a:cxnLst>
                <a:cxn ang="0">
                  <a:pos x="384" y="40"/>
                </a:cxn>
                <a:cxn ang="0">
                  <a:pos x="0" y="726"/>
                </a:cxn>
                <a:cxn ang="0">
                  <a:pos x="162" y="688"/>
                </a:cxn>
                <a:cxn ang="0">
                  <a:pos x="141" y="689"/>
                </a:cxn>
                <a:cxn ang="0">
                  <a:pos x="511" y="0"/>
                </a:cxn>
                <a:cxn ang="0">
                  <a:pos x="384" y="40"/>
                </a:cxn>
              </a:cxnLst>
              <a:rect l="0" t="0" r="r" b="b"/>
              <a:pathLst>
                <a:path w="511" h="726">
                  <a:moveTo>
                    <a:pt x="384" y="40"/>
                  </a:moveTo>
                  <a:lnTo>
                    <a:pt x="0" y="726"/>
                  </a:lnTo>
                  <a:lnTo>
                    <a:pt x="162" y="688"/>
                  </a:lnTo>
                  <a:lnTo>
                    <a:pt x="141" y="689"/>
                  </a:lnTo>
                  <a:lnTo>
                    <a:pt x="511" y="0"/>
                  </a:lnTo>
                  <a:lnTo>
                    <a:pt x="384" y="40"/>
                  </a:lnTo>
                  <a:close/>
                </a:path>
              </a:pathLst>
            </a:custGeom>
            <a:solidFill>
              <a:srgbClr val="FF9900"/>
            </a:solidFill>
            <a:ln w="19050" cap="flat" cmpd="sng">
              <a:noFill/>
              <a:prstDash val="solid"/>
              <a:round/>
              <a:headEnd type="none" w="med" len="med"/>
              <a:tailEnd type="none" w="med" len="med"/>
            </a:ln>
            <a:effectLst/>
          </p:spPr>
          <p:txBody>
            <a:bodyPr wrap="none" anchor="ctr"/>
            <a:lstStyle/>
            <a:p>
              <a:endParaRPr lang="zh-CN" altLang="en-US" sz="1050"/>
            </a:p>
          </p:txBody>
        </p:sp>
      </p:grpSp>
      <p:grpSp>
        <p:nvGrpSpPr>
          <p:cNvPr id="12" name="Group 54"/>
          <p:cNvGrpSpPr>
            <a:grpSpLocks/>
          </p:cNvGrpSpPr>
          <p:nvPr/>
        </p:nvGrpSpPr>
        <p:grpSpPr bwMode="auto">
          <a:xfrm>
            <a:off x="6156405" y="3595479"/>
            <a:ext cx="1754981" cy="848916"/>
            <a:chOff x="4013" y="177"/>
            <a:chExt cx="1474" cy="713"/>
          </a:xfrm>
        </p:grpSpPr>
        <p:grpSp>
          <p:nvGrpSpPr>
            <p:cNvPr id="13" name="Group 55"/>
            <p:cNvGrpSpPr>
              <a:grpSpLocks/>
            </p:cNvGrpSpPr>
            <p:nvPr/>
          </p:nvGrpSpPr>
          <p:grpSpPr bwMode="auto">
            <a:xfrm>
              <a:off x="4468" y="177"/>
              <a:ext cx="1019" cy="713"/>
              <a:chOff x="3312" y="768"/>
              <a:chExt cx="1152" cy="1152"/>
            </a:xfrm>
          </p:grpSpPr>
          <p:sp>
            <p:nvSpPr>
              <p:cNvPr id="10296" name="Line 56"/>
              <p:cNvSpPr>
                <a:spLocks noChangeShapeType="1"/>
              </p:cNvSpPr>
              <p:nvPr/>
            </p:nvSpPr>
            <p:spPr bwMode="auto">
              <a:xfrm>
                <a:off x="3745" y="768"/>
                <a:ext cx="0" cy="1152"/>
              </a:xfrm>
              <a:prstGeom prst="line">
                <a:avLst/>
              </a:prstGeom>
              <a:noFill/>
              <a:ln w="28575">
                <a:solidFill>
                  <a:srgbClr val="CC6600"/>
                </a:solidFill>
                <a:round/>
                <a:headEnd/>
                <a:tailEnd type="stealth" w="med" len="lg"/>
              </a:ln>
              <a:effectLst/>
            </p:spPr>
            <p:txBody>
              <a:bodyPr wrap="none" anchor="ctr"/>
              <a:lstStyle/>
              <a:p>
                <a:endParaRPr lang="zh-CN" altLang="en-US" sz="1050"/>
              </a:p>
            </p:txBody>
          </p:sp>
          <p:sp>
            <p:nvSpPr>
              <p:cNvPr id="10297" name="Line 57"/>
              <p:cNvSpPr>
                <a:spLocks noChangeShapeType="1"/>
              </p:cNvSpPr>
              <p:nvPr/>
            </p:nvSpPr>
            <p:spPr bwMode="auto">
              <a:xfrm>
                <a:off x="3984" y="768"/>
                <a:ext cx="0" cy="1152"/>
              </a:xfrm>
              <a:prstGeom prst="line">
                <a:avLst/>
              </a:prstGeom>
              <a:noFill/>
              <a:ln w="28575">
                <a:solidFill>
                  <a:srgbClr val="CC6600"/>
                </a:solidFill>
                <a:round/>
                <a:headEnd/>
                <a:tailEnd type="stealth" w="med" len="lg"/>
              </a:ln>
              <a:effectLst/>
            </p:spPr>
            <p:txBody>
              <a:bodyPr wrap="none" anchor="ctr"/>
              <a:lstStyle/>
              <a:p>
                <a:endParaRPr lang="zh-CN" altLang="en-US" sz="1050"/>
              </a:p>
            </p:txBody>
          </p:sp>
          <p:sp>
            <p:nvSpPr>
              <p:cNvPr id="10298" name="Line 58"/>
              <p:cNvSpPr>
                <a:spLocks noChangeShapeType="1"/>
              </p:cNvSpPr>
              <p:nvPr/>
            </p:nvSpPr>
            <p:spPr bwMode="auto">
              <a:xfrm>
                <a:off x="4224" y="768"/>
                <a:ext cx="0" cy="1152"/>
              </a:xfrm>
              <a:prstGeom prst="line">
                <a:avLst/>
              </a:prstGeom>
              <a:noFill/>
              <a:ln w="28575">
                <a:solidFill>
                  <a:srgbClr val="CC6600"/>
                </a:solidFill>
                <a:round/>
                <a:headEnd/>
                <a:tailEnd type="stealth" w="med" len="lg"/>
              </a:ln>
              <a:effectLst/>
            </p:spPr>
            <p:txBody>
              <a:bodyPr wrap="none" anchor="ctr"/>
              <a:lstStyle/>
              <a:p>
                <a:endParaRPr lang="zh-CN" altLang="en-US" sz="1050"/>
              </a:p>
            </p:txBody>
          </p:sp>
          <p:sp>
            <p:nvSpPr>
              <p:cNvPr id="10299" name="Line 59"/>
              <p:cNvSpPr>
                <a:spLocks noChangeShapeType="1"/>
              </p:cNvSpPr>
              <p:nvPr/>
            </p:nvSpPr>
            <p:spPr bwMode="auto">
              <a:xfrm>
                <a:off x="4464" y="768"/>
                <a:ext cx="0" cy="1152"/>
              </a:xfrm>
              <a:prstGeom prst="line">
                <a:avLst/>
              </a:prstGeom>
              <a:noFill/>
              <a:ln w="28575">
                <a:solidFill>
                  <a:srgbClr val="CC6600"/>
                </a:solidFill>
                <a:round/>
                <a:headEnd/>
                <a:tailEnd type="stealth" w="med" len="lg"/>
              </a:ln>
              <a:effectLst/>
            </p:spPr>
            <p:txBody>
              <a:bodyPr wrap="none" anchor="ctr"/>
              <a:lstStyle/>
              <a:p>
                <a:endParaRPr lang="zh-CN" altLang="en-US" sz="1050"/>
              </a:p>
            </p:txBody>
          </p:sp>
          <p:graphicFrame>
            <p:nvGraphicFramePr>
              <p:cNvPr id="10300" name="Object 60"/>
              <p:cNvGraphicFramePr>
                <a:graphicFrameLocks noChangeAspect="1"/>
              </p:cNvGraphicFramePr>
              <p:nvPr/>
            </p:nvGraphicFramePr>
            <p:xfrm>
              <a:off x="3312" y="1008"/>
              <a:ext cx="191" cy="240"/>
            </p:xfrm>
            <a:graphic>
              <a:graphicData uri="http://schemas.openxmlformats.org/presentationml/2006/ole">
                <mc:AlternateContent xmlns:mc="http://schemas.openxmlformats.org/markup-compatibility/2006">
                  <mc:Choice xmlns:v="urn:schemas-microsoft-com:vml" Requires="v">
                    <p:oleObj name="公式" r:id="rId14" imgW="304668" imgH="380835" progId="Equation.3">
                      <p:embed/>
                    </p:oleObj>
                  </mc:Choice>
                  <mc:Fallback>
                    <p:oleObj name="公式" r:id="rId14" imgW="304668" imgH="380835" progId="Equation.3">
                      <p:embed/>
                      <p:pic>
                        <p:nvPicPr>
                          <p:cNvPr id="10300" name="Object 6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12" y="1008"/>
                            <a:ext cx="191"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0301" name="Line 61"/>
            <p:cNvSpPr>
              <a:spLocks noChangeShapeType="1"/>
            </p:cNvSpPr>
            <p:nvPr/>
          </p:nvSpPr>
          <p:spPr bwMode="auto">
            <a:xfrm>
              <a:off x="4013" y="177"/>
              <a:ext cx="0" cy="713"/>
            </a:xfrm>
            <a:prstGeom prst="line">
              <a:avLst/>
            </a:prstGeom>
            <a:noFill/>
            <a:ln w="28575">
              <a:solidFill>
                <a:srgbClr val="CC6600"/>
              </a:solidFill>
              <a:round/>
              <a:headEnd/>
              <a:tailEnd type="stealth" w="med" len="lg"/>
            </a:ln>
            <a:effectLst/>
          </p:spPr>
          <p:txBody>
            <a:bodyPr wrap="none" anchor="ctr"/>
            <a:lstStyle/>
            <a:p>
              <a:endParaRPr lang="zh-CN" altLang="en-US" sz="1050"/>
            </a:p>
          </p:txBody>
        </p:sp>
        <p:sp>
          <p:nvSpPr>
            <p:cNvPr id="10302" name="Line 62"/>
            <p:cNvSpPr>
              <a:spLocks noChangeShapeType="1"/>
            </p:cNvSpPr>
            <p:nvPr/>
          </p:nvSpPr>
          <p:spPr bwMode="auto">
            <a:xfrm>
              <a:off x="4224" y="177"/>
              <a:ext cx="0" cy="713"/>
            </a:xfrm>
            <a:prstGeom prst="line">
              <a:avLst/>
            </a:prstGeom>
            <a:noFill/>
            <a:ln w="28575">
              <a:solidFill>
                <a:srgbClr val="CC6600"/>
              </a:solidFill>
              <a:round/>
              <a:headEnd/>
              <a:tailEnd type="stealth" w="med" len="lg"/>
            </a:ln>
            <a:effectLst/>
          </p:spPr>
          <p:txBody>
            <a:bodyPr wrap="none" anchor="ctr"/>
            <a:lstStyle/>
            <a:p>
              <a:endParaRPr lang="zh-CN" altLang="en-US" sz="1050"/>
            </a:p>
          </p:txBody>
        </p:sp>
        <p:sp>
          <p:nvSpPr>
            <p:cNvPr id="10303" name="Line 63"/>
            <p:cNvSpPr>
              <a:spLocks noChangeShapeType="1"/>
            </p:cNvSpPr>
            <p:nvPr/>
          </p:nvSpPr>
          <p:spPr bwMode="auto">
            <a:xfrm>
              <a:off x="4437" y="177"/>
              <a:ext cx="0" cy="713"/>
            </a:xfrm>
            <a:prstGeom prst="line">
              <a:avLst/>
            </a:prstGeom>
            <a:noFill/>
            <a:ln w="28575">
              <a:solidFill>
                <a:srgbClr val="CC6600"/>
              </a:solidFill>
              <a:round/>
              <a:headEnd/>
              <a:tailEnd type="stealth" w="med" len="lg"/>
            </a:ln>
            <a:effectLst/>
          </p:spPr>
          <p:txBody>
            <a:bodyPr wrap="none" anchor="ctr"/>
            <a:lstStyle/>
            <a:p>
              <a:endParaRPr lang="zh-CN" altLang="en-US" sz="1050"/>
            </a:p>
          </p:txBody>
        </p:sp>
        <p:sp>
          <p:nvSpPr>
            <p:cNvPr id="10304" name="Line 64"/>
            <p:cNvSpPr>
              <a:spLocks noChangeShapeType="1"/>
            </p:cNvSpPr>
            <p:nvPr/>
          </p:nvSpPr>
          <p:spPr bwMode="auto">
            <a:xfrm>
              <a:off x="4649" y="177"/>
              <a:ext cx="0" cy="713"/>
            </a:xfrm>
            <a:prstGeom prst="line">
              <a:avLst/>
            </a:prstGeom>
            <a:noFill/>
            <a:ln w="28575">
              <a:solidFill>
                <a:srgbClr val="CC6600"/>
              </a:solidFill>
              <a:round/>
              <a:headEnd/>
              <a:tailEnd type="stealth" w="med" len="lg"/>
            </a:ln>
            <a:effectLst/>
          </p:spPr>
          <p:txBody>
            <a:bodyPr wrap="none" anchor="ctr"/>
            <a:lstStyle/>
            <a:p>
              <a:endParaRPr lang="zh-CN" altLang="en-US" sz="1050"/>
            </a:p>
          </p:txBody>
        </p:sp>
      </p:grpSp>
      <p:grpSp>
        <p:nvGrpSpPr>
          <p:cNvPr id="14" name="Group 65"/>
          <p:cNvGrpSpPr>
            <a:grpSpLocks/>
          </p:cNvGrpSpPr>
          <p:nvPr/>
        </p:nvGrpSpPr>
        <p:grpSpPr bwMode="auto">
          <a:xfrm>
            <a:off x="6438581" y="4780152"/>
            <a:ext cx="395288" cy="257175"/>
            <a:chOff x="894" y="1626"/>
            <a:chExt cx="332" cy="216"/>
          </a:xfrm>
        </p:grpSpPr>
        <p:graphicFrame>
          <p:nvGraphicFramePr>
            <p:cNvPr id="10306" name="Object 66"/>
            <p:cNvGraphicFramePr>
              <a:graphicFrameLocks noChangeAspect="1"/>
            </p:cNvGraphicFramePr>
            <p:nvPr/>
          </p:nvGraphicFramePr>
          <p:xfrm>
            <a:off x="1020" y="1626"/>
            <a:ext cx="206" cy="216"/>
          </p:xfrm>
          <a:graphic>
            <a:graphicData uri="http://schemas.openxmlformats.org/presentationml/2006/ole">
              <mc:AlternateContent xmlns:mc="http://schemas.openxmlformats.org/markup-compatibility/2006">
                <mc:Choice xmlns:v="urn:schemas-microsoft-com:vml" Requires="v">
                  <p:oleObj name="公式" r:id="rId16" imgW="177492" imgH="177492" progId="Equation.3">
                    <p:embed/>
                  </p:oleObj>
                </mc:Choice>
                <mc:Fallback>
                  <p:oleObj name="公式" r:id="rId16" imgW="177492" imgH="177492" progId="Equation.3">
                    <p:embed/>
                    <p:pic>
                      <p:nvPicPr>
                        <p:cNvPr id="10306" name="Object 6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20" y="1626"/>
                          <a:ext cx="206" cy="2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07" name="Arc 67"/>
            <p:cNvSpPr>
              <a:spLocks/>
            </p:cNvSpPr>
            <p:nvPr/>
          </p:nvSpPr>
          <p:spPr bwMode="auto">
            <a:xfrm>
              <a:off x="894" y="1683"/>
              <a:ext cx="45" cy="135"/>
            </a:xfrm>
            <a:custGeom>
              <a:avLst/>
              <a:gdLst>
                <a:gd name="G0" fmla="+- 0 0 0"/>
                <a:gd name="G1" fmla="+- 21600 0 0"/>
                <a:gd name="G2" fmla="+- 21600 0 0"/>
                <a:gd name="T0" fmla="*/ 0 w 21600"/>
                <a:gd name="T1" fmla="*/ 0 h 32051"/>
                <a:gd name="T2" fmla="*/ 18903 w 21600"/>
                <a:gd name="T3" fmla="*/ 32051 h 32051"/>
                <a:gd name="T4" fmla="*/ 0 w 21600"/>
                <a:gd name="T5" fmla="*/ 21600 h 32051"/>
              </a:gdLst>
              <a:ahLst/>
              <a:cxnLst>
                <a:cxn ang="0">
                  <a:pos x="T0" y="T1"/>
                </a:cxn>
                <a:cxn ang="0">
                  <a:pos x="T2" y="T3"/>
                </a:cxn>
                <a:cxn ang="0">
                  <a:pos x="T4" y="T5"/>
                </a:cxn>
              </a:cxnLst>
              <a:rect l="0" t="0" r="r" b="b"/>
              <a:pathLst>
                <a:path w="21600" h="32051" fill="none" extrusionOk="0">
                  <a:moveTo>
                    <a:pt x="-1" y="0"/>
                  </a:moveTo>
                  <a:cubicBezTo>
                    <a:pt x="11929" y="0"/>
                    <a:pt x="21600" y="9670"/>
                    <a:pt x="21600" y="21600"/>
                  </a:cubicBezTo>
                  <a:cubicBezTo>
                    <a:pt x="21600" y="25255"/>
                    <a:pt x="20672" y="28851"/>
                    <a:pt x="18903" y="32051"/>
                  </a:cubicBezTo>
                </a:path>
                <a:path w="21600" h="32051" stroke="0" extrusionOk="0">
                  <a:moveTo>
                    <a:pt x="-1" y="0"/>
                  </a:moveTo>
                  <a:cubicBezTo>
                    <a:pt x="11929" y="0"/>
                    <a:pt x="21600" y="9670"/>
                    <a:pt x="21600" y="21600"/>
                  </a:cubicBezTo>
                  <a:cubicBezTo>
                    <a:pt x="21600" y="25255"/>
                    <a:pt x="20672" y="28851"/>
                    <a:pt x="18903" y="32051"/>
                  </a:cubicBezTo>
                  <a:lnTo>
                    <a:pt x="0" y="21600"/>
                  </a:lnTo>
                  <a:close/>
                </a:path>
              </a:pathLst>
            </a:custGeom>
            <a:noFill/>
            <a:ln w="28575">
              <a:solidFill>
                <a:srgbClr val="0000CC"/>
              </a:solidFill>
              <a:round/>
              <a:headEnd/>
              <a:tailEnd/>
            </a:ln>
            <a:effectLst/>
          </p:spPr>
          <p:txBody>
            <a:bodyPr wrap="none" anchor="ctr"/>
            <a:lstStyle/>
            <a:p>
              <a:endParaRPr lang="zh-CN" altLang="en-US" sz="1050"/>
            </a:p>
          </p:txBody>
        </p:sp>
      </p:grpSp>
      <p:sp>
        <p:nvSpPr>
          <p:cNvPr id="15" name="WordArt 51">
            <a:extLst>
              <a:ext uri="{FF2B5EF4-FFF2-40B4-BE49-F238E27FC236}">
                <a16:creationId xmlns:a16="http://schemas.microsoft.com/office/drawing/2014/main" id="{839A029A-BB6B-490C-1FCC-93221673C34B}"/>
              </a:ext>
            </a:extLst>
          </p:cNvPr>
          <p:cNvSpPr>
            <a:spLocks noChangeArrowheads="1" noChangeShapeType="1"/>
          </p:cNvSpPr>
          <p:nvPr/>
        </p:nvSpPr>
        <p:spPr bwMode="auto">
          <a:xfrm>
            <a:off x="142844" y="71414"/>
            <a:ext cx="1729499" cy="409097"/>
          </a:xfrm>
          <a:prstGeom prst="rect">
            <a:avLst/>
          </a:prstGeom>
        </p:spPr>
        <p:txBody>
          <a:bodyPr wrap="none" fromWordArt="1">
            <a:prstTxWarp prst="textPlain">
              <a:avLst>
                <a:gd name="adj" fmla="val 50000"/>
              </a:avLst>
            </a:prstTxWarp>
          </a:bodyPr>
          <a:lstStyle/>
          <a:p>
            <a:pPr algn="ctr"/>
            <a:r>
              <a:rPr lang="zh-CN" altLang="en-US" sz="3600" dirty="0">
                <a:ln w="9525">
                  <a:noFill/>
                  <a:round/>
                  <a:headEnd/>
                  <a:tailEnd/>
                </a:ln>
                <a:gradFill rotWithShape="0">
                  <a:gsLst>
                    <a:gs pos="0">
                      <a:schemeClr val="bg1"/>
                    </a:gs>
                    <a:gs pos="100000">
                      <a:srgbClr val="FFFE7D"/>
                    </a:gs>
                  </a:gsLst>
                  <a:lin ang="5400000" scaled="1"/>
                </a:gradFill>
                <a:effectLst>
                  <a:outerShdw dist="38100" dir="5400000" algn="ctr" rotWithShape="0">
                    <a:srgbClr val="4D4D4D">
                      <a:alpha val="76999"/>
                    </a:srgbClr>
                  </a:outerShdw>
                </a:effectLst>
                <a:latin typeface="华文琥珀"/>
                <a:ea typeface="华文琥珀"/>
              </a:rPr>
              <a:t>实验介绍</a:t>
            </a:r>
          </a:p>
        </p:txBody>
      </p:sp>
      <p:sp>
        <p:nvSpPr>
          <p:cNvPr id="17" name="文本框 16">
            <a:extLst>
              <a:ext uri="{FF2B5EF4-FFF2-40B4-BE49-F238E27FC236}">
                <a16:creationId xmlns:a16="http://schemas.microsoft.com/office/drawing/2014/main" id="{DD8FC6B4-C18F-13D1-43F7-BA62C21ED54E}"/>
              </a:ext>
            </a:extLst>
          </p:cNvPr>
          <p:cNvSpPr txBox="1"/>
          <p:nvPr/>
        </p:nvSpPr>
        <p:spPr>
          <a:xfrm>
            <a:off x="142844" y="866898"/>
            <a:ext cx="2227386" cy="523220"/>
          </a:xfrm>
          <a:prstGeom prst="rect">
            <a:avLst/>
          </a:prstGeom>
          <a:noFill/>
        </p:spPr>
        <p:txBody>
          <a:bodyPr wrap="square" rtlCol="0">
            <a:spAutoFit/>
          </a:bodyPr>
          <a:lstStyle/>
          <a:p>
            <a:r>
              <a:rPr lang="zh-CN" altLang="en-US" sz="2800" b="1" dirty="0">
                <a:solidFill>
                  <a:srgbClr val="0000FF"/>
                </a:solidFill>
                <a:latin typeface="微软雅黑" panose="020B0503020204020204" pitchFamily="34" charset="-122"/>
                <a:ea typeface="微软雅黑" panose="020B0503020204020204" pitchFamily="34" charset="-122"/>
              </a:rPr>
              <a:t>劈尖模型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243"/>
                                        </p:tgtEl>
                                        <p:attrNameLst>
                                          <p:attrName>style.visibility</p:attrName>
                                        </p:attrNameLst>
                                      </p:cBhvr>
                                      <p:to>
                                        <p:strVal val="visible"/>
                                      </p:to>
                                    </p:set>
                                    <p:animEffect transition="in" filter="checkerboard(across)">
                                      <p:cBhvr>
                                        <p:cTn id="7" dur="500"/>
                                        <p:tgtEl>
                                          <p:spTgt spid="10243"/>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 fill="hold" grpId="0" nodeType="clickEffect">
                                  <p:stCondLst>
                                    <p:cond delay="0"/>
                                  </p:stCondLst>
                                  <p:childTnLst>
                                    <p:set>
                                      <p:cBhvr>
                                        <p:cTn id="11" dur="1" fill="hold">
                                          <p:stCondLst>
                                            <p:cond delay="0"/>
                                          </p:stCondLst>
                                        </p:cTn>
                                        <p:tgtEl>
                                          <p:spTgt spid="10256"/>
                                        </p:tgtEl>
                                        <p:attrNameLst>
                                          <p:attrName>style.visibility</p:attrName>
                                        </p:attrNameLst>
                                      </p:cBhvr>
                                      <p:to>
                                        <p:strVal val="visible"/>
                                      </p:to>
                                    </p:set>
                                    <p:anim calcmode="lin" valueType="num">
                                      <p:cBhvr>
                                        <p:cTn id="12" dur="500" fill="hold"/>
                                        <p:tgtEl>
                                          <p:spTgt spid="10256"/>
                                        </p:tgtEl>
                                        <p:attrNameLst>
                                          <p:attrName>ppt_x</p:attrName>
                                        </p:attrNameLst>
                                      </p:cBhvr>
                                      <p:tavLst>
                                        <p:tav tm="0">
                                          <p:val>
                                            <p:strVal val="#ppt_x"/>
                                          </p:val>
                                        </p:tav>
                                        <p:tav tm="100000">
                                          <p:val>
                                            <p:strVal val="#ppt_x"/>
                                          </p:val>
                                        </p:tav>
                                      </p:tavLst>
                                    </p:anim>
                                    <p:anim calcmode="lin" valueType="num">
                                      <p:cBhvr>
                                        <p:cTn id="13" dur="500" fill="hold"/>
                                        <p:tgtEl>
                                          <p:spTgt spid="10256"/>
                                        </p:tgtEl>
                                        <p:attrNameLst>
                                          <p:attrName>ppt_y</p:attrName>
                                        </p:attrNameLst>
                                      </p:cBhvr>
                                      <p:tavLst>
                                        <p:tav tm="0">
                                          <p:val>
                                            <p:strVal val="#ppt_y-#ppt_h/2"/>
                                          </p:val>
                                        </p:tav>
                                        <p:tav tm="100000">
                                          <p:val>
                                            <p:strVal val="#ppt_y"/>
                                          </p:val>
                                        </p:tav>
                                      </p:tavLst>
                                    </p:anim>
                                    <p:anim calcmode="lin" valueType="num">
                                      <p:cBhvr>
                                        <p:cTn id="14" dur="500" fill="hold"/>
                                        <p:tgtEl>
                                          <p:spTgt spid="10256"/>
                                        </p:tgtEl>
                                        <p:attrNameLst>
                                          <p:attrName>ppt_w</p:attrName>
                                        </p:attrNameLst>
                                      </p:cBhvr>
                                      <p:tavLst>
                                        <p:tav tm="0">
                                          <p:val>
                                            <p:strVal val="#ppt_w"/>
                                          </p:val>
                                        </p:tav>
                                        <p:tav tm="100000">
                                          <p:val>
                                            <p:strVal val="#ppt_w"/>
                                          </p:val>
                                        </p:tav>
                                      </p:tavLst>
                                    </p:anim>
                                    <p:anim calcmode="lin" valueType="num">
                                      <p:cBhvr>
                                        <p:cTn id="15" dur="500" fill="hold"/>
                                        <p:tgtEl>
                                          <p:spTgt spid="10256"/>
                                        </p:tgtEl>
                                        <p:attrNameLst>
                                          <p:attrName>ppt_h</p:attrName>
                                        </p:attrNameLst>
                                      </p:cBhvr>
                                      <p:tavLst>
                                        <p:tav tm="0">
                                          <p:val>
                                            <p:fltVal val="0"/>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8" presetClass="entr" presetSubtype="3" fill="hold" grpId="0" nodeType="clickEffect">
                                  <p:stCondLst>
                                    <p:cond delay="0"/>
                                  </p:stCondLst>
                                  <p:childTnLst>
                                    <p:set>
                                      <p:cBhvr>
                                        <p:cTn id="19" dur="1" fill="hold">
                                          <p:stCondLst>
                                            <p:cond delay="0"/>
                                          </p:stCondLst>
                                        </p:cTn>
                                        <p:tgtEl>
                                          <p:spTgt spid="10257"/>
                                        </p:tgtEl>
                                        <p:attrNameLst>
                                          <p:attrName>style.visibility</p:attrName>
                                        </p:attrNameLst>
                                      </p:cBhvr>
                                      <p:to>
                                        <p:strVal val="visible"/>
                                      </p:to>
                                    </p:set>
                                    <p:animEffect transition="in" filter="strips(upRight)">
                                      <p:cBhvr>
                                        <p:cTn id="20" dur="500"/>
                                        <p:tgtEl>
                                          <p:spTgt spid="10257"/>
                                        </p:tgtEl>
                                      </p:cBhvr>
                                    </p:animEffect>
                                  </p:childTnLst>
                                </p:cTn>
                              </p:par>
                            </p:childTnLst>
                          </p:cTn>
                        </p:par>
                      </p:childTnLst>
                    </p:cTn>
                  </p:par>
                  <p:par>
                    <p:cTn id="21" fill="hold">
                      <p:stCondLst>
                        <p:cond delay="indefinite"/>
                      </p:stCondLst>
                      <p:childTnLst>
                        <p:par>
                          <p:cTn id="22" fill="hold">
                            <p:stCondLst>
                              <p:cond delay="0"/>
                            </p:stCondLst>
                            <p:childTnLst>
                              <p:par>
                                <p:cTn id="23" presetID="18" presetClass="entr" presetSubtype="3" fill="hold" grpId="0" nodeType="clickEffect">
                                  <p:stCondLst>
                                    <p:cond delay="0"/>
                                  </p:stCondLst>
                                  <p:childTnLst>
                                    <p:set>
                                      <p:cBhvr>
                                        <p:cTn id="24" dur="1" fill="hold">
                                          <p:stCondLst>
                                            <p:cond delay="0"/>
                                          </p:stCondLst>
                                        </p:cTn>
                                        <p:tgtEl>
                                          <p:spTgt spid="10258"/>
                                        </p:tgtEl>
                                        <p:attrNameLst>
                                          <p:attrName>style.visibility</p:attrName>
                                        </p:attrNameLst>
                                      </p:cBhvr>
                                      <p:to>
                                        <p:strVal val="visible"/>
                                      </p:to>
                                    </p:set>
                                    <p:animEffect transition="in" filter="strips(upRight)">
                                      <p:cBhvr>
                                        <p:cTn id="25" dur="500"/>
                                        <p:tgtEl>
                                          <p:spTgt spid="10258"/>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blinds(horizontal)">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p:cTn id="35" dur="500" fill="hold"/>
                                        <p:tgtEl>
                                          <p:spTgt spid="7"/>
                                        </p:tgtEl>
                                        <p:attrNameLst>
                                          <p:attrName>ppt_w</p:attrName>
                                        </p:attrNameLst>
                                      </p:cBhvr>
                                      <p:tavLst>
                                        <p:tav tm="0">
                                          <p:val>
                                            <p:fltVal val="0"/>
                                          </p:val>
                                        </p:tav>
                                        <p:tav tm="100000">
                                          <p:val>
                                            <p:strVal val="#ppt_w"/>
                                          </p:val>
                                        </p:tav>
                                      </p:tavLst>
                                    </p:anim>
                                    <p:anim calcmode="lin" valueType="num">
                                      <p:cBhvr>
                                        <p:cTn id="36"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blinds(horizontal)">
                                      <p:cBhvr>
                                        <p:cTn id="41" dur="5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blinds(horizontal)">
                                      <p:cBhvr>
                                        <p:cTn id="46" dur="500"/>
                                        <p:tgtEl>
                                          <p:spTgt spid="12"/>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blinds(horizontal)">
                                      <p:cBhvr>
                                        <p:cTn id="57" dur="500"/>
                                        <p:tgtEl>
                                          <p:spTgt spid="9"/>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6" fill="hold" grpId="0" nodeType="clickEffect">
                                  <p:stCondLst>
                                    <p:cond delay="0"/>
                                  </p:stCondLst>
                                  <p:childTnLst>
                                    <p:set>
                                      <p:cBhvr>
                                        <p:cTn id="61" dur="1" fill="hold">
                                          <p:stCondLst>
                                            <p:cond delay="0"/>
                                          </p:stCondLst>
                                        </p:cTn>
                                        <p:tgtEl>
                                          <p:spTgt spid="10273"/>
                                        </p:tgtEl>
                                        <p:attrNameLst>
                                          <p:attrName>style.visibility</p:attrName>
                                        </p:attrNameLst>
                                      </p:cBhvr>
                                      <p:to>
                                        <p:strVal val="visible"/>
                                      </p:to>
                                    </p:set>
                                    <p:animEffect transition="in" filter="strips(downRight)">
                                      <p:cBhvr>
                                        <p:cTn id="62" dur="500"/>
                                        <p:tgtEl>
                                          <p:spTgt spid="10273"/>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0242"/>
                                        </p:tgtEl>
                                        <p:attrNameLst>
                                          <p:attrName>style.visibility</p:attrName>
                                        </p:attrNameLst>
                                      </p:cBhvr>
                                      <p:to>
                                        <p:strVal val="visible"/>
                                      </p:to>
                                    </p:set>
                                    <p:animEffect transition="in" filter="blinds(horizontal)">
                                      <p:cBhvr>
                                        <p:cTn id="67" dur="500"/>
                                        <p:tgtEl>
                                          <p:spTgt spid="10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p:bldP spid="10243" grpId="0"/>
      <p:bldP spid="10256" grpId="0" animBg="1"/>
      <p:bldP spid="10257" grpId="0" animBg="1"/>
      <p:bldP spid="10258" grpId="0" animBg="1"/>
      <p:bldP spid="10273"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5505846" y="2450130"/>
            <a:ext cx="269259" cy="63270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1267" name="Object 3"/>
          <p:cNvGraphicFramePr>
            <a:graphicFrameLocks noChangeAspect="1"/>
          </p:cNvGraphicFramePr>
          <p:nvPr/>
        </p:nvGraphicFramePr>
        <p:xfrm>
          <a:off x="3977422" y="2391628"/>
          <a:ext cx="1828800" cy="746125"/>
        </p:xfrm>
        <a:graphic>
          <a:graphicData uri="http://schemas.openxmlformats.org/presentationml/2006/ole">
            <mc:AlternateContent xmlns:mc="http://schemas.openxmlformats.org/markup-compatibility/2006">
              <mc:Choice xmlns:v="urn:schemas-microsoft-com:vml" Requires="v">
                <p:oleObj name="公式" r:id="rId3" imgW="914400" imgH="393700" progId="Equation.3">
                  <p:embed/>
                </p:oleObj>
              </mc:Choice>
              <mc:Fallback>
                <p:oleObj name="公式" r:id="rId3" imgW="914400" imgH="393700" progId="Equation.3">
                  <p:embed/>
                  <p:pic>
                    <p:nvPicPr>
                      <p:cNvPr id="1126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77422" y="2391628"/>
                        <a:ext cx="1828800" cy="746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4"/>
          <p:cNvGrpSpPr>
            <a:grpSpLocks/>
          </p:cNvGrpSpPr>
          <p:nvPr/>
        </p:nvGrpSpPr>
        <p:grpSpPr bwMode="auto">
          <a:xfrm>
            <a:off x="4181017" y="3346112"/>
            <a:ext cx="463154" cy="628650"/>
            <a:chOff x="113" y="1976"/>
            <a:chExt cx="389" cy="528"/>
          </a:xfrm>
        </p:grpSpPr>
        <p:graphicFrame>
          <p:nvGraphicFramePr>
            <p:cNvPr id="11269" name="Object 5"/>
            <p:cNvGraphicFramePr>
              <a:graphicFrameLocks noChangeAspect="1"/>
            </p:cNvGraphicFramePr>
            <p:nvPr/>
          </p:nvGraphicFramePr>
          <p:xfrm>
            <a:off x="113" y="2115"/>
            <a:ext cx="227" cy="208"/>
          </p:xfrm>
          <a:graphic>
            <a:graphicData uri="http://schemas.openxmlformats.org/presentationml/2006/ole">
              <mc:AlternateContent xmlns:mc="http://schemas.openxmlformats.org/markup-compatibility/2006">
                <mc:Choice xmlns:v="urn:schemas-microsoft-com:vml" Requires="v">
                  <p:oleObj name="公式" r:id="rId5" imgW="139639" imgH="101556" progId="Equation.3">
                    <p:embed/>
                  </p:oleObj>
                </mc:Choice>
                <mc:Fallback>
                  <p:oleObj name="公式" r:id="rId5" imgW="139639" imgH="101556" progId="Equation.3">
                    <p:embed/>
                    <p:pic>
                      <p:nvPicPr>
                        <p:cNvPr id="11269"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 y="2115"/>
                          <a:ext cx="227" cy="2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0" name="AutoShape 6"/>
            <p:cNvSpPr>
              <a:spLocks/>
            </p:cNvSpPr>
            <p:nvPr/>
          </p:nvSpPr>
          <p:spPr bwMode="auto">
            <a:xfrm>
              <a:off x="406" y="1976"/>
              <a:ext cx="96" cy="528"/>
            </a:xfrm>
            <a:prstGeom prst="leftBrace">
              <a:avLst>
                <a:gd name="adj1" fmla="val 45833"/>
                <a:gd name="adj2" fmla="val 50000"/>
              </a:avLst>
            </a:prstGeom>
            <a:noFill/>
            <a:ln w="28575">
              <a:solidFill>
                <a:srgbClr val="FF3300"/>
              </a:solidFill>
              <a:round/>
              <a:headEnd/>
              <a:tailEnd/>
            </a:ln>
            <a:effec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grpSp>
        <p:nvGrpSpPr>
          <p:cNvPr id="3" name="Group 7"/>
          <p:cNvGrpSpPr>
            <a:grpSpLocks/>
          </p:cNvGrpSpPr>
          <p:nvPr/>
        </p:nvGrpSpPr>
        <p:grpSpPr bwMode="auto">
          <a:xfrm>
            <a:off x="4720373" y="3129416"/>
            <a:ext cx="3401615" cy="461962"/>
            <a:chOff x="567" y="1833"/>
            <a:chExt cx="2857" cy="388"/>
          </a:xfrm>
        </p:grpSpPr>
        <p:graphicFrame>
          <p:nvGraphicFramePr>
            <p:cNvPr id="11272" name="Object 8"/>
            <p:cNvGraphicFramePr>
              <a:graphicFrameLocks noChangeAspect="1"/>
            </p:cNvGraphicFramePr>
            <p:nvPr/>
          </p:nvGraphicFramePr>
          <p:xfrm>
            <a:off x="567" y="1842"/>
            <a:ext cx="1497" cy="338"/>
          </p:xfrm>
          <a:graphic>
            <a:graphicData uri="http://schemas.openxmlformats.org/presentationml/2006/ole">
              <mc:AlternateContent xmlns:mc="http://schemas.openxmlformats.org/markup-compatibility/2006">
                <mc:Choice xmlns:v="urn:schemas-microsoft-com:vml" Requires="v">
                  <p:oleObj name="公式" r:id="rId7" imgW="977476" imgH="215806" progId="Equation.3">
                    <p:embed/>
                  </p:oleObj>
                </mc:Choice>
                <mc:Fallback>
                  <p:oleObj name="公式" r:id="rId7" imgW="977476" imgH="215806" progId="Equation.3">
                    <p:embed/>
                    <p:pic>
                      <p:nvPicPr>
                        <p:cNvPr id="11272"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7" y="1842"/>
                          <a:ext cx="1497" cy="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3" name="Text Box 9"/>
            <p:cNvSpPr txBox="1">
              <a:spLocks noChangeArrowheads="1"/>
            </p:cNvSpPr>
            <p:nvPr/>
          </p:nvSpPr>
          <p:spPr bwMode="auto">
            <a:xfrm>
              <a:off x="2224" y="1833"/>
              <a:ext cx="1200" cy="388"/>
            </a:xfrm>
            <a:prstGeom prst="rect">
              <a:avLst/>
            </a:prstGeom>
            <a:noFill/>
            <a:ln w="9525">
              <a:noFill/>
              <a:miter lim="800000"/>
              <a:headEnd/>
              <a:tailEnd/>
            </a:ln>
            <a:effectLst/>
          </p:spPr>
          <p:txBody>
            <a:bodyPr>
              <a:spAutoFit/>
            </a:bodyPr>
            <a:lstStyle/>
            <a:p>
              <a:pPr>
                <a:spcBef>
                  <a:spcPct val="50000"/>
                </a:spcBef>
              </a:pPr>
              <a:r>
                <a:rPr lang="zh-CN" altLang="zh-CN" sz="2400" b="1" dirty="0">
                  <a:solidFill>
                    <a:srgbClr val="FF0000"/>
                  </a:solidFill>
                  <a:latin typeface="微软雅黑" panose="020B0503020204020204" pitchFamily="34" charset="-122"/>
                  <a:ea typeface="微软雅黑" panose="020B0503020204020204" pitchFamily="34" charset="-122"/>
                </a:rPr>
                <a:t>明纹</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grpSp>
      <p:grpSp>
        <p:nvGrpSpPr>
          <p:cNvPr id="4" name="Group 10"/>
          <p:cNvGrpSpPr>
            <a:grpSpLocks/>
          </p:cNvGrpSpPr>
          <p:nvPr/>
        </p:nvGrpSpPr>
        <p:grpSpPr bwMode="auto">
          <a:xfrm>
            <a:off x="4699230" y="3613641"/>
            <a:ext cx="3186113" cy="676275"/>
            <a:chOff x="476" y="2160"/>
            <a:chExt cx="2676" cy="568"/>
          </a:xfrm>
        </p:grpSpPr>
        <p:graphicFrame>
          <p:nvGraphicFramePr>
            <p:cNvPr id="11275" name="Object 11"/>
            <p:cNvGraphicFramePr>
              <a:graphicFrameLocks noChangeAspect="1"/>
            </p:cNvGraphicFramePr>
            <p:nvPr/>
          </p:nvGraphicFramePr>
          <p:xfrm>
            <a:off x="476" y="2160"/>
            <a:ext cx="1769" cy="568"/>
          </p:xfrm>
          <a:graphic>
            <a:graphicData uri="http://schemas.openxmlformats.org/presentationml/2006/ole">
              <mc:AlternateContent xmlns:mc="http://schemas.openxmlformats.org/markup-compatibility/2006">
                <mc:Choice xmlns:v="urn:schemas-microsoft-com:vml" Requires="v">
                  <p:oleObj name="公式" r:id="rId9" imgW="1434477" imgH="406224" progId="Equation.3">
                    <p:embed/>
                  </p:oleObj>
                </mc:Choice>
                <mc:Fallback>
                  <p:oleObj name="公式" r:id="rId9" imgW="1434477" imgH="406224" progId="Equation.3">
                    <p:embed/>
                    <p:pic>
                      <p:nvPicPr>
                        <p:cNvPr id="11275"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6" y="2160"/>
                          <a:ext cx="1769" cy="5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6" name="Text Box 12"/>
            <p:cNvSpPr txBox="1">
              <a:spLocks noChangeArrowheads="1"/>
            </p:cNvSpPr>
            <p:nvPr/>
          </p:nvSpPr>
          <p:spPr bwMode="auto">
            <a:xfrm>
              <a:off x="2240" y="2251"/>
              <a:ext cx="912" cy="388"/>
            </a:xfrm>
            <a:prstGeom prst="rect">
              <a:avLst/>
            </a:prstGeom>
            <a:noFill/>
            <a:ln w="9525">
              <a:noFill/>
              <a:miter lim="800000"/>
              <a:headEnd/>
              <a:tailEnd/>
            </a:ln>
            <a:effectLst/>
          </p:spPr>
          <p:txBody>
            <a:bodyPr>
              <a:spAutoFit/>
            </a:bodyPr>
            <a:lstStyle/>
            <a:p>
              <a:pPr>
                <a:spcBef>
                  <a:spcPct val="50000"/>
                </a:spcBef>
              </a:pPr>
              <a:r>
                <a:rPr lang="zh-CN" altLang="en-US" sz="2400" b="1" dirty="0">
                  <a:solidFill>
                    <a:srgbClr val="FF0000"/>
                  </a:solidFill>
                  <a:latin typeface="微软雅黑" panose="020B0503020204020204" pitchFamily="34" charset="-122"/>
                  <a:ea typeface="微软雅黑" panose="020B0503020204020204" pitchFamily="34" charset="-122"/>
                </a:rPr>
                <a:t>暗纹</a:t>
              </a:r>
            </a:p>
          </p:txBody>
        </p:sp>
      </p:grpSp>
      <p:sp>
        <p:nvSpPr>
          <p:cNvPr id="11277" name="Text Box 13"/>
          <p:cNvSpPr txBox="1">
            <a:spLocks noChangeArrowheads="1"/>
          </p:cNvSpPr>
          <p:nvPr/>
        </p:nvSpPr>
        <p:spPr bwMode="auto">
          <a:xfrm>
            <a:off x="1008376" y="1437051"/>
            <a:ext cx="5698331" cy="461665"/>
          </a:xfrm>
          <a:prstGeom prst="rect">
            <a:avLst/>
          </a:prstGeom>
          <a:noFill/>
          <a:ln w="9525">
            <a:noFill/>
            <a:miter lim="800000"/>
            <a:headEnd/>
            <a:tailEnd/>
          </a:ln>
          <a:effectLst/>
        </p:spPr>
        <p:txBody>
          <a:bodyPr wrap="square">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相干加强、相干减弱的条件</a:t>
            </a:r>
          </a:p>
        </p:txBody>
      </p:sp>
      <p:grpSp>
        <p:nvGrpSpPr>
          <p:cNvPr id="5" name="Group 14"/>
          <p:cNvGrpSpPr>
            <a:grpSpLocks/>
          </p:cNvGrpSpPr>
          <p:nvPr/>
        </p:nvGrpSpPr>
        <p:grpSpPr bwMode="auto">
          <a:xfrm>
            <a:off x="548423" y="2913051"/>
            <a:ext cx="3314700" cy="1664494"/>
            <a:chOff x="2971" y="1442"/>
            <a:chExt cx="2784" cy="1398"/>
          </a:xfrm>
        </p:grpSpPr>
        <p:grpSp>
          <p:nvGrpSpPr>
            <p:cNvPr id="6" name="Group 15"/>
            <p:cNvGrpSpPr>
              <a:grpSpLocks/>
            </p:cNvGrpSpPr>
            <p:nvPr/>
          </p:nvGrpSpPr>
          <p:grpSpPr bwMode="auto">
            <a:xfrm>
              <a:off x="2971" y="1442"/>
              <a:ext cx="2784" cy="1398"/>
              <a:chOff x="2818" y="82"/>
              <a:chExt cx="2784" cy="1398"/>
            </a:xfrm>
          </p:grpSpPr>
          <p:grpSp>
            <p:nvGrpSpPr>
              <p:cNvPr id="7" name="Group 16"/>
              <p:cNvGrpSpPr>
                <a:grpSpLocks/>
              </p:cNvGrpSpPr>
              <p:nvPr/>
            </p:nvGrpSpPr>
            <p:grpSpPr bwMode="auto">
              <a:xfrm>
                <a:off x="2818" y="82"/>
                <a:ext cx="2784" cy="1398"/>
                <a:chOff x="2688" y="528"/>
                <a:chExt cx="2784" cy="1488"/>
              </a:xfrm>
            </p:grpSpPr>
            <p:sp>
              <p:nvSpPr>
                <p:cNvPr id="11281" name="Rectangle 17"/>
                <p:cNvSpPr>
                  <a:spLocks noChangeArrowheads="1"/>
                </p:cNvSpPr>
                <p:nvPr/>
              </p:nvSpPr>
              <p:spPr bwMode="auto">
                <a:xfrm>
                  <a:off x="2688" y="528"/>
                  <a:ext cx="2784" cy="1488"/>
                </a:xfrm>
                <a:prstGeom prst="rect">
                  <a:avLst/>
                </a:prstGeom>
                <a:solidFill>
                  <a:schemeClr val="bg1"/>
                </a:solidFill>
                <a:ln w="28575">
                  <a:solidFill>
                    <a:srgbClr val="006666"/>
                  </a:solidFill>
                  <a:miter lim="800000"/>
                  <a:headEnd/>
                  <a:tailEnd/>
                </a:ln>
                <a:effectLst/>
              </p:spPr>
              <p:txBody>
                <a:bodyPr wrap="none" anchor="ctr"/>
                <a:lstStyle/>
                <a:p>
                  <a:endParaRPr lang="zh-CN" altLang="en-US" sz="1050"/>
                </a:p>
              </p:txBody>
            </p:sp>
            <p:sp>
              <p:nvSpPr>
                <p:cNvPr id="11282" name="Rectangle 18" descr="宽上对角线"/>
                <p:cNvSpPr>
                  <a:spLocks noChangeArrowheads="1"/>
                </p:cNvSpPr>
                <p:nvPr/>
              </p:nvSpPr>
              <p:spPr bwMode="auto">
                <a:xfrm>
                  <a:off x="3072" y="1488"/>
                  <a:ext cx="2016" cy="288"/>
                </a:xfrm>
                <a:prstGeom prst="rect">
                  <a:avLst/>
                </a:prstGeom>
                <a:pattFill prst="wdUpDiag">
                  <a:fgClr>
                    <a:srgbClr val="008000">
                      <a:alpha val="20000"/>
                    </a:srgbClr>
                  </a:fgClr>
                  <a:bgClr>
                    <a:srgbClr val="FFFFFF">
                      <a:alpha val="20000"/>
                    </a:srgbClr>
                  </a:bgClr>
                </a:pattFill>
                <a:ln w="28575">
                  <a:solidFill>
                    <a:srgbClr val="008000"/>
                  </a:solidFill>
                  <a:miter lim="800000"/>
                  <a:headEnd/>
                  <a:tailEnd/>
                </a:ln>
                <a:effectLst/>
              </p:spPr>
              <p:txBody>
                <a:bodyPr wrap="none" anchor="ctr"/>
                <a:lstStyle/>
                <a:p>
                  <a:endParaRPr lang="zh-CN" altLang="en-US" sz="1050"/>
                </a:p>
              </p:txBody>
            </p:sp>
            <p:sp>
              <p:nvSpPr>
                <p:cNvPr id="11283" name="Rectangle 19" descr="宽上对角线"/>
                <p:cNvSpPr>
                  <a:spLocks noChangeArrowheads="1"/>
                </p:cNvSpPr>
                <p:nvPr/>
              </p:nvSpPr>
              <p:spPr bwMode="auto">
                <a:xfrm rot="-316683">
                  <a:off x="3049" y="1104"/>
                  <a:ext cx="2016" cy="288"/>
                </a:xfrm>
                <a:prstGeom prst="rect">
                  <a:avLst/>
                </a:prstGeom>
                <a:pattFill prst="wdUpDiag">
                  <a:fgClr>
                    <a:srgbClr val="008000">
                      <a:alpha val="16000"/>
                    </a:srgbClr>
                  </a:fgClr>
                  <a:bgClr>
                    <a:srgbClr val="FFFFFF">
                      <a:alpha val="16000"/>
                    </a:srgbClr>
                  </a:bgClr>
                </a:pattFill>
                <a:ln w="28575">
                  <a:solidFill>
                    <a:srgbClr val="008000"/>
                  </a:solidFill>
                  <a:miter lim="800000"/>
                  <a:headEnd/>
                  <a:tailEnd/>
                </a:ln>
                <a:effectLst/>
              </p:spPr>
              <p:txBody>
                <a:bodyPr wrap="none" anchor="ctr"/>
                <a:lstStyle/>
                <a:p>
                  <a:endParaRPr lang="zh-CN" altLang="en-US" sz="1050"/>
                </a:p>
              </p:txBody>
            </p:sp>
            <p:sp>
              <p:nvSpPr>
                <p:cNvPr id="11284" name="Oval 20"/>
                <p:cNvSpPr>
                  <a:spLocks noChangeArrowheads="1"/>
                </p:cNvSpPr>
                <p:nvPr/>
              </p:nvSpPr>
              <p:spPr bwMode="auto">
                <a:xfrm>
                  <a:off x="4896" y="1296"/>
                  <a:ext cx="192" cy="192"/>
                </a:xfrm>
                <a:prstGeom prst="ellipse">
                  <a:avLst/>
                </a:prstGeom>
                <a:gradFill rotWithShape="0">
                  <a:gsLst>
                    <a:gs pos="0">
                      <a:schemeClr val="accent1"/>
                    </a:gs>
                    <a:gs pos="100000">
                      <a:schemeClr val="accent1">
                        <a:gamma/>
                        <a:shade val="56078"/>
                        <a:invGamma/>
                      </a:schemeClr>
                    </a:gs>
                  </a:gsLst>
                  <a:path path="shape">
                    <a:fillToRect l="50000" t="50000" r="50000" b="50000"/>
                  </a:path>
                </a:gradFill>
                <a:ln w="28575">
                  <a:solidFill>
                    <a:srgbClr val="003366"/>
                  </a:solidFill>
                  <a:round/>
                  <a:headEnd/>
                  <a:tailEnd/>
                </a:ln>
                <a:effectLst/>
              </p:spPr>
              <p:txBody>
                <a:bodyPr wrap="none" anchor="ctr"/>
                <a:lstStyle/>
                <a:p>
                  <a:endParaRPr lang="zh-CN" altLang="en-US" sz="1050"/>
                </a:p>
              </p:txBody>
            </p:sp>
            <p:graphicFrame>
              <p:nvGraphicFramePr>
                <p:cNvPr id="11285" name="Object 21"/>
                <p:cNvGraphicFramePr>
                  <a:graphicFrameLocks noChangeAspect="1"/>
                </p:cNvGraphicFramePr>
                <p:nvPr/>
              </p:nvGraphicFramePr>
              <p:xfrm>
                <a:off x="3251" y="1158"/>
                <a:ext cx="226" cy="231"/>
              </p:xfrm>
              <a:graphic>
                <a:graphicData uri="http://schemas.openxmlformats.org/presentationml/2006/ole">
                  <mc:AlternateContent xmlns:mc="http://schemas.openxmlformats.org/markup-compatibility/2006">
                    <mc:Choice xmlns:v="urn:schemas-microsoft-com:vml" Requires="v">
                      <p:oleObj name="公式" r:id="rId11" imgW="164885" imgH="215619" progId="Equation.3">
                        <p:embed/>
                      </p:oleObj>
                    </mc:Choice>
                    <mc:Fallback>
                      <p:oleObj name="公式" r:id="rId11" imgW="164885" imgH="215619" progId="Equation.3">
                        <p:embed/>
                        <p:pic>
                          <p:nvPicPr>
                            <p:cNvPr id="11285"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51" y="1158"/>
                              <a:ext cx="226" cy="2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86" name="Object 22"/>
                <p:cNvGraphicFramePr>
                  <a:graphicFrameLocks noChangeAspect="1"/>
                </p:cNvGraphicFramePr>
                <p:nvPr/>
              </p:nvGraphicFramePr>
              <p:xfrm>
                <a:off x="3251" y="1487"/>
                <a:ext cx="226" cy="244"/>
              </p:xfrm>
              <a:graphic>
                <a:graphicData uri="http://schemas.openxmlformats.org/presentationml/2006/ole">
                  <mc:AlternateContent xmlns:mc="http://schemas.openxmlformats.org/markup-compatibility/2006">
                    <mc:Choice xmlns:v="urn:schemas-microsoft-com:vml" Requires="v">
                      <p:oleObj name="Equation" r:id="rId13" imgW="165028" imgH="228501" progId="">
                        <p:embed/>
                      </p:oleObj>
                    </mc:Choice>
                    <mc:Fallback>
                      <p:oleObj name="Equation" r:id="rId13" imgW="165028" imgH="228501" progId="">
                        <p:embed/>
                        <p:pic>
                          <p:nvPicPr>
                            <p:cNvPr id="11286"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51" y="1487"/>
                              <a:ext cx="226" cy="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1287" name="AutoShape 23"/>
              <p:cNvSpPr>
                <a:spLocks noChangeArrowheads="1"/>
              </p:cNvSpPr>
              <p:nvPr/>
            </p:nvSpPr>
            <p:spPr bwMode="auto">
              <a:xfrm flipH="1">
                <a:off x="3288" y="799"/>
                <a:ext cx="1905" cy="182"/>
              </a:xfrm>
              <a:prstGeom prst="rtTriangle">
                <a:avLst/>
              </a:prstGeom>
              <a:solidFill>
                <a:srgbClr val="8FCCD1">
                  <a:alpha val="39999"/>
                </a:srgbClr>
              </a:solidFill>
              <a:ln w="28575">
                <a:solidFill>
                  <a:srgbClr val="008080"/>
                </a:solidFill>
                <a:miter lim="800000"/>
                <a:headEnd/>
                <a:tailEnd/>
              </a:ln>
              <a:effectLst/>
            </p:spPr>
            <p:txBody>
              <a:bodyPr wrap="none" anchor="ctr"/>
              <a:lstStyle/>
              <a:p>
                <a:endParaRPr lang="zh-CN" altLang="en-US" sz="1050"/>
              </a:p>
            </p:txBody>
          </p:sp>
          <p:grpSp>
            <p:nvGrpSpPr>
              <p:cNvPr id="8" name="Group 24"/>
              <p:cNvGrpSpPr>
                <a:grpSpLocks/>
              </p:cNvGrpSpPr>
              <p:nvPr/>
            </p:nvGrpSpPr>
            <p:grpSpPr bwMode="auto">
              <a:xfrm>
                <a:off x="4930" y="164"/>
                <a:ext cx="288" cy="304"/>
                <a:chOff x="4752" y="672"/>
                <a:chExt cx="288" cy="304"/>
              </a:xfrm>
            </p:grpSpPr>
            <p:sp>
              <p:nvSpPr>
                <p:cNvPr id="11289" name="AutoShape 25"/>
                <p:cNvSpPr>
                  <a:spLocks noChangeArrowheads="1"/>
                </p:cNvSpPr>
                <p:nvPr/>
              </p:nvSpPr>
              <p:spPr bwMode="auto">
                <a:xfrm>
                  <a:off x="4752" y="672"/>
                  <a:ext cx="288" cy="288"/>
                </a:xfrm>
                <a:prstGeom prst="wedgeRectCallout">
                  <a:avLst>
                    <a:gd name="adj1" fmla="val -51042"/>
                    <a:gd name="adj2" fmla="val 211111"/>
                  </a:avLst>
                </a:prstGeom>
                <a:gradFill rotWithShape="0">
                  <a:gsLst>
                    <a:gs pos="0">
                      <a:srgbClr val="FCDCED"/>
                    </a:gs>
                    <a:gs pos="100000">
                      <a:srgbClr val="FFFFFF"/>
                    </a:gs>
                  </a:gsLst>
                  <a:lin ang="5400000" scaled="1"/>
                </a:gradFill>
                <a:ln w="9525">
                  <a:solidFill>
                    <a:srgbClr val="CC00CC"/>
                  </a:solidFill>
                  <a:miter lim="800000"/>
                  <a:headEnd/>
                  <a:tailEnd/>
                </a:ln>
                <a:effectLst/>
              </p:spPr>
              <p:txBody>
                <a:bodyPr/>
                <a:lstStyle/>
                <a:p>
                  <a:pPr algn="ctr"/>
                  <a:endParaRPr lang="zh-CN" altLang="zh-CN" sz="2100" b="1">
                    <a:solidFill>
                      <a:srgbClr val="1C1C1C"/>
                    </a:solidFill>
                    <a:latin typeface="Times New Roman" pitchFamily="18" charset="0"/>
                    <a:ea typeface="黑体" pitchFamily="2" charset="-122"/>
                  </a:endParaRPr>
                </a:p>
              </p:txBody>
            </p:sp>
            <p:graphicFrame>
              <p:nvGraphicFramePr>
                <p:cNvPr id="11290" name="Object 26"/>
                <p:cNvGraphicFramePr>
                  <a:graphicFrameLocks noChangeAspect="1"/>
                </p:cNvGraphicFramePr>
                <p:nvPr/>
              </p:nvGraphicFramePr>
              <p:xfrm>
                <a:off x="4800" y="703"/>
                <a:ext cx="240" cy="273"/>
              </p:xfrm>
              <a:graphic>
                <a:graphicData uri="http://schemas.openxmlformats.org/presentationml/2006/ole">
                  <mc:AlternateContent xmlns:mc="http://schemas.openxmlformats.org/markup-compatibility/2006">
                    <mc:Choice xmlns:v="urn:schemas-microsoft-com:vml" Requires="v">
                      <p:oleObj name="公式" r:id="rId15" imgW="177569" imgH="215619" progId="Equation.3">
                        <p:embed/>
                      </p:oleObj>
                    </mc:Choice>
                    <mc:Fallback>
                      <p:oleObj name="公式" r:id="rId15" imgW="177569" imgH="215619" progId="Equation.3">
                        <p:embed/>
                        <p:pic>
                          <p:nvPicPr>
                            <p:cNvPr id="11290" name="Object 2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00" y="703"/>
                              <a:ext cx="240" cy="273"/>
                            </a:xfrm>
                            <a:prstGeom prst="rect">
                              <a:avLst/>
                            </a:prstGeom>
                            <a:noFill/>
                            <a:ln>
                              <a:noFill/>
                            </a:ln>
                            <a:extLst>
                              <a:ext uri="{909E8E84-426E-40DD-AFC4-6F175D3DCCD1}">
                                <a14:hiddenFill xmlns:a14="http://schemas.microsoft.com/office/drawing/2010/main">
                                  <a:solidFill>
                                    <a:srgbClr val="FFD9FF"/>
                                  </a:solidFill>
                                </a14:hiddenFill>
                              </a:ext>
                              <a:ext uri="{91240B29-F687-4F45-9708-019B960494DF}">
                                <a14:hiddenLine xmlns:a14="http://schemas.microsoft.com/office/drawing/2010/main" w="9525">
                                  <a:solidFill>
                                    <a:srgbClr val="FF0066"/>
                                  </a:solidFill>
                                  <a:miter lim="800000"/>
                                  <a:headEnd/>
                                  <a:tailEnd/>
                                </a14:hiddenLine>
                              </a:ext>
                            </a:extLst>
                          </p:spPr>
                        </p:pic>
                      </p:oleObj>
                    </mc:Fallback>
                  </mc:AlternateContent>
                </a:graphicData>
              </a:graphic>
            </p:graphicFrame>
          </p:grpSp>
        </p:grpSp>
        <p:grpSp>
          <p:nvGrpSpPr>
            <p:cNvPr id="9" name="Group 27"/>
            <p:cNvGrpSpPr>
              <a:grpSpLocks/>
            </p:cNvGrpSpPr>
            <p:nvPr/>
          </p:nvGrpSpPr>
          <p:grpSpPr bwMode="auto">
            <a:xfrm>
              <a:off x="3849" y="1479"/>
              <a:ext cx="1250" cy="1253"/>
              <a:chOff x="3849" y="1479"/>
              <a:chExt cx="1250" cy="1253"/>
            </a:xfrm>
          </p:grpSpPr>
          <p:sp>
            <p:nvSpPr>
              <p:cNvPr id="11292" name="Line 28"/>
              <p:cNvSpPr>
                <a:spLocks noChangeShapeType="1"/>
              </p:cNvSpPr>
              <p:nvPr/>
            </p:nvSpPr>
            <p:spPr bwMode="auto">
              <a:xfrm>
                <a:off x="4219" y="1479"/>
                <a:ext cx="0" cy="864"/>
              </a:xfrm>
              <a:prstGeom prst="line">
                <a:avLst/>
              </a:prstGeom>
              <a:noFill/>
              <a:ln w="28575">
                <a:solidFill>
                  <a:srgbClr val="CC6600"/>
                </a:solidFill>
                <a:round/>
                <a:headEnd type="none" w="sm" len="lg"/>
                <a:tailEnd type="stealth" w="lg" len="lg"/>
              </a:ln>
              <a:effectLst/>
            </p:spPr>
            <p:txBody>
              <a:bodyPr wrap="none" anchor="ctr"/>
              <a:lstStyle/>
              <a:p>
                <a:endParaRPr lang="zh-CN" altLang="en-US" sz="1050"/>
              </a:p>
            </p:txBody>
          </p:sp>
          <p:sp>
            <p:nvSpPr>
              <p:cNvPr id="11293" name="Line 29"/>
              <p:cNvSpPr>
                <a:spLocks noChangeShapeType="1"/>
              </p:cNvSpPr>
              <p:nvPr/>
            </p:nvSpPr>
            <p:spPr bwMode="auto">
              <a:xfrm flipV="1">
                <a:off x="4315" y="1530"/>
                <a:ext cx="0" cy="720"/>
              </a:xfrm>
              <a:prstGeom prst="line">
                <a:avLst/>
              </a:prstGeom>
              <a:noFill/>
              <a:ln w="28575">
                <a:solidFill>
                  <a:srgbClr val="CC6600"/>
                </a:solidFill>
                <a:round/>
                <a:headEnd type="none" w="sm" len="lg"/>
                <a:tailEnd type="stealth" w="lg" len="lg"/>
              </a:ln>
              <a:effectLst/>
            </p:spPr>
            <p:txBody>
              <a:bodyPr wrap="none" anchor="ctr"/>
              <a:lstStyle/>
              <a:p>
                <a:endParaRPr lang="zh-CN" altLang="en-US" sz="1050"/>
              </a:p>
            </p:txBody>
          </p:sp>
          <p:sp>
            <p:nvSpPr>
              <p:cNvPr id="11294" name="Line 30"/>
              <p:cNvSpPr>
                <a:spLocks noChangeShapeType="1"/>
              </p:cNvSpPr>
              <p:nvPr/>
            </p:nvSpPr>
            <p:spPr bwMode="auto">
              <a:xfrm flipV="1">
                <a:off x="4411" y="1524"/>
                <a:ext cx="0" cy="816"/>
              </a:xfrm>
              <a:prstGeom prst="line">
                <a:avLst/>
              </a:prstGeom>
              <a:noFill/>
              <a:ln w="28575">
                <a:solidFill>
                  <a:srgbClr val="CC6600"/>
                </a:solidFill>
                <a:round/>
                <a:headEnd type="none" w="sm" len="lg"/>
                <a:tailEnd type="stealth" w="lg" len="lg"/>
              </a:ln>
              <a:effectLst/>
            </p:spPr>
            <p:txBody>
              <a:bodyPr wrap="none" anchor="ctr"/>
              <a:lstStyle/>
              <a:p>
                <a:endParaRPr lang="zh-CN" altLang="en-US" sz="1050"/>
              </a:p>
            </p:txBody>
          </p:sp>
          <p:grpSp>
            <p:nvGrpSpPr>
              <p:cNvPr id="10" name="Group 31"/>
              <p:cNvGrpSpPr>
                <a:grpSpLocks/>
              </p:cNvGrpSpPr>
              <p:nvPr/>
            </p:nvGrpSpPr>
            <p:grpSpPr bwMode="auto">
              <a:xfrm>
                <a:off x="4258" y="2023"/>
                <a:ext cx="841" cy="709"/>
                <a:chOff x="4105" y="1130"/>
                <a:chExt cx="841" cy="709"/>
              </a:xfrm>
            </p:grpSpPr>
            <p:sp>
              <p:nvSpPr>
                <p:cNvPr id="11296" name="Line 32"/>
                <p:cNvSpPr>
                  <a:spLocks noChangeShapeType="1"/>
                </p:cNvSpPr>
                <p:nvPr/>
              </p:nvSpPr>
              <p:spPr bwMode="auto">
                <a:xfrm>
                  <a:off x="4105" y="1370"/>
                  <a:ext cx="720" cy="0"/>
                </a:xfrm>
                <a:prstGeom prst="line">
                  <a:avLst/>
                </a:prstGeom>
                <a:noFill/>
                <a:ln w="28575">
                  <a:solidFill>
                    <a:srgbClr val="CC0099"/>
                  </a:solidFill>
                  <a:prstDash val="dash"/>
                  <a:round/>
                  <a:headEnd type="none" w="sm" len="lg"/>
                  <a:tailEnd type="none" w="sm" len="lg"/>
                </a:ln>
                <a:effectLst/>
              </p:spPr>
              <p:txBody>
                <a:bodyPr wrap="none" anchor="ctr"/>
                <a:lstStyle/>
                <a:p>
                  <a:endParaRPr lang="zh-CN" altLang="en-US" sz="1050"/>
                </a:p>
              </p:txBody>
            </p:sp>
            <p:sp>
              <p:nvSpPr>
                <p:cNvPr id="11297" name="Line 33"/>
                <p:cNvSpPr>
                  <a:spLocks noChangeShapeType="1"/>
                </p:cNvSpPr>
                <p:nvPr/>
              </p:nvSpPr>
              <p:spPr bwMode="auto">
                <a:xfrm>
                  <a:off x="4633" y="1130"/>
                  <a:ext cx="0" cy="240"/>
                </a:xfrm>
                <a:prstGeom prst="line">
                  <a:avLst/>
                </a:prstGeom>
                <a:noFill/>
                <a:ln w="28575">
                  <a:solidFill>
                    <a:srgbClr val="FF0066"/>
                  </a:solidFill>
                  <a:round/>
                  <a:headEnd type="none" w="sm" len="lg"/>
                  <a:tailEnd type="triangle" w="sm" len="lg"/>
                </a:ln>
                <a:effectLst/>
              </p:spPr>
              <p:txBody>
                <a:bodyPr wrap="none" anchor="ctr"/>
                <a:lstStyle/>
                <a:p>
                  <a:endParaRPr lang="zh-CN" altLang="en-US" sz="1050"/>
                </a:p>
              </p:txBody>
            </p:sp>
            <p:sp>
              <p:nvSpPr>
                <p:cNvPr id="11298" name="Line 34"/>
                <p:cNvSpPr>
                  <a:spLocks noChangeShapeType="1"/>
                </p:cNvSpPr>
                <p:nvPr/>
              </p:nvSpPr>
              <p:spPr bwMode="auto">
                <a:xfrm>
                  <a:off x="4633" y="1466"/>
                  <a:ext cx="0" cy="240"/>
                </a:xfrm>
                <a:prstGeom prst="line">
                  <a:avLst/>
                </a:prstGeom>
                <a:noFill/>
                <a:ln w="28575">
                  <a:solidFill>
                    <a:srgbClr val="FF0066"/>
                  </a:solidFill>
                  <a:round/>
                  <a:headEnd type="triangle" w="sm" len="lg"/>
                  <a:tailEnd type="none" w="sm" len="lg"/>
                </a:ln>
                <a:effectLst/>
              </p:spPr>
              <p:txBody>
                <a:bodyPr wrap="none" anchor="ctr"/>
                <a:lstStyle/>
                <a:p>
                  <a:endParaRPr lang="zh-CN" altLang="en-US" sz="1050"/>
                </a:p>
              </p:txBody>
            </p:sp>
            <p:graphicFrame>
              <p:nvGraphicFramePr>
                <p:cNvPr id="11299" name="Object 35"/>
                <p:cNvGraphicFramePr>
                  <a:graphicFrameLocks noChangeAspect="1"/>
                </p:cNvGraphicFramePr>
                <p:nvPr/>
              </p:nvGraphicFramePr>
              <p:xfrm>
                <a:off x="4625" y="1392"/>
                <a:ext cx="321" cy="447"/>
              </p:xfrm>
              <a:graphic>
                <a:graphicData uri="http://schemas.openxmlformats.org/presentationml/2006/ole">
                  <mc:AlternateContent xmlns:mc="http://schemas.openxmlformats.org/markup-compatibility/2006">
                    <mc:Choice xmlns:v="urn:schemas-microsoft-com:vml" Requires="v">
                      <p:oleObj name="公式" r:id="rId17" imgW="165028" imgH="228501" progId="Equation.3">
                        <p:embed/>
                      </p:oleObj>
                    </mc:Choice>
                    <mc:Fallback>
                      <p:oleObj name="公式" r:id="rId17" imgW="165028" imgH="228501" progId="Equation.3">
                        <p:embed/>
                        <p:pic>
                          <p:nvPicPr>
                            <p:cNvPr id="11299" name="Object 3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25" y="1392"/>
                              <a:ext cx="321" cy="4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1" name="Group 36"/>
              <p:cNvGrpSpPr>
                <a:grpSpLocks/>
              </p:cNvGrpSpPr>
              <p:nvPr/>
            </p:nvGrpSpPr>
            <p:grpSpPr bwMode="auto">
              <a:xfrm>
                <a:off x="3849" y="2295"/>
                <a:ext cx="206" cy="272"/>
                <a:chOff x="3787" y="935"/>
                <a:chExt cx="206" cy="272"/>
              </a:xfrm>
            </p:grpSpPr>
            <p:graphicFrame>
              <p:nvGraphicFramePr>
                <p:cNvPr id="11301" name="Object 37"/>
                <p:cNvGraphicFramePr>
                  <a:graphicFrameLocks noChangeAspect="1"/>
                </p:cNvGraphicFramePr>
                <p:nvPr/>
              </p:nvGraphicFramePr>
              <p:xfrm>
                <a:off x="3787" y="991"/>
                <a:ext cx="206" cy="216"/>
              </p:xfrm>
              <a:graphic>
                <a:graphicData uri="http://schemas.openxmlformats.org/presentationml/2006/ole">
                  <mc:AlternateContent xmlns:mc="http://schemas.openxmlformats.org/markup-compatibility/2006">
                    <mc:Choice xmlns:v="urn:schemas-microsoft-com:vml" Requires="v">
                      <p:oleObj name="公式" r:id="rId19" imgW="177492" imgH="177492" progId="Equation.3">
                        <p:embed/>
                      </p:oleObj>
                    </mc:Choice>
                    <mc:Fallback>
                      <p:oleObj name="公式" r:id="rId19" imgW="177492" imgH="177492" progId="Equation.3">
                        <p:embed/>
                        <p:pic>
                          <p:nvPicPr>
                            <p:cNvPr id="11301" name="Object 3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787" y="991"/>
                              <a:ext cx="206" cy="2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302" name="Arc 38"/>
                <p:cNvSpPr>
                  <a:spLocks/>
                </p:cNvSpPr>
                <p:nvPr/>
              </p:nvSpPr>
              <p:spPr bwMode="auto">
                <a:xfrm rot="2368673">
                  <a:off x="3923" y="935"/>
                  <a:ext cx="39" cy="91"/>
                </a:xfrm>
                <a:custGeom>
                  <a:avLst/>
                  <a:gdLst>
                    <a:gd name="G0" fmla="+- 0 0 0"/>
                    <a:gd name="G1" fmla="+- 21600 0 0"/>
                    <a:gd name="G2" fmla="+- 21600 0 0"/>
                    <a:gd name="T0" fmla="*/ 0 w 18826"/>
                    <a:gd name="T1" fmla="*/ 0 h 21600"/>
                    <a:gd name="T2" fmla="*/ 18826 w 18826"/>
                    <a:gd name="T3" fmla="*/ 11010 h 21600"/>
                    <a:gd name="T4" fmla="*/ 0 w 18826"/>
                    <a:gd name="T5" fmla="*/ 21600 h 21600"/>
                  </a:gdLst>
                  <a:ahLst/>
                  <a:cxnLst>
                    <a:cxn ang="0">
                      <a:pos x="T0" y="T1"/>
                    </a:cxn>
                    <a:cxn ang="0">
                      <a:pos x="T2" y="T3"/>
                    </a:cxn>
                    <a:cxn ang="0">
                      <a:pos x="T4" y="T5"/>
                    </a:cxn>
                  </a:cxnLst>
                  <a:rect l="0" t="0" r="r" b="b"/>
                  <a:pathLst>
                    <a:path w="18826" h="21600" fill="none" extrusionOk="0">
                      <a:moveTo>
                        <a:pt x="-1" y="0"/>
                      </a:moveTo>
                      <a:cubicBezTo>
                        <a:pt x="7803" y="0"/>
                        <a:pt x="15000" y="4208"/>
                        <a:pt x="18825" y="11010"/>
                      </a:cubicBezTo>
                    </a:path>
                    <a:path w="18826" h="21600" stroke="0" extrusionOk="0">
                      <a:moveTo>
                        <a:pt x="-1" y="0"/>
                      </a:moveTo>
                      <a:cubicBezTo>
                        <a:pt x="7803" y="0"/>
                        <a:pt x="15000" y="4208"/>
                        <a:pt x="18825" y="11010"/>
                      </a:cubicBezTo>
                      <a:lnTo>
                        <a:pt x="0" y="21600"/>
                      </a:lnTo>
                      <a:close/>
                    </a:path>
                  </a:pathLst>
                </a:custGeom>
                <a:noFill/>
                <a:ln w="28575">
                  <a:solidFill>
                    <a:schemeClr val="tx1"/>
                  </a:solidFill>
                  <a:round/>
                  <a:headEnd/>
                  <a:tailEnd/>
                </a:ln>
                <a:effectLst/>
              </p:spPr>
              <p:txBody>
                <a:bodyPr wrap="none" anchor="ctr"/>
                <a:lstStyle/>
                <a:p>
                  <a:endParaRPr lang="zh-CN" altLang="en-US" sz="1050"/>
                </a:p>
              </p:txBody>
            </p:sp>
          </p:grpSp>
        </p:grpSp>
      </p:grpSp>
      <p:sp>
        <p:nvSpPr>
          <p:cNvPr id="11303" name="Text Box 39"/>
          <p:cNvSpPr txBox="1">
            <a:spLocks noChangeArrowheads="1"/>
          </p:cNvSpPr>
          <p:nvPr/>
        </p:nvSpPr>
        <p:spPr bwMode="auto">
          <a:xfrm>
            <a:off x="544720" y="4608480"/>
            <a:ext cx="8198903" cy="918555"/>
          </a:xfrm>
          <a:prstGeom prst="rect">
            <a:avLst/>
          </a:prstGeom>
          <a:noFill/>
          <a:ln w="9525">
            <a:noFill/>
            <a:miter lim="800000"/>
            <a:headEnd/>
            <a:tailEnd/>
          </a:ln>
          <a:effectLst/>
        </p:spPr>
        <p:txBody>
          <a:bodyPr wrap="square" lIns="69056" tIns="34529" rIns="69056" bIns="34529">
            <a:spAutoFit/>
          </a:bodyPr>
          <a:lstStyle/>
          <a:p>
            <a:pPr eaLnBrk="0" hangingPunct="0">
              <a:lnSpc>
                <a:spcPct val="120000"/>
              </a:lnSpc>
            </a:pPr>
            <a:r>
              <a:rPr kumimoji="1" lang="zh-CN" altLang="en-US" sz="2400" b="1" dirty="0">
                <a:latin typeface="微软雅黑" panose="020B0503020204020204" pitchFamily="34" charset="-122"/>
                <a:ea typeface="微软雅黑" panose="020B0503020204020204" pitchFamily="34" charset="-122"/>
              </a:rPr>
              <a:t>劈尖上厚度 </a:t>
            </a:r>
            <a:r>
              <a:rPr kumimoji="1" lang="en-US" altLang="zh-CN" sz="2400" b="1" i="1" dirty="0" err="1">
                <a:latin typeface="微软雅黑" panose="020B0503020204020204" pitchFamily="34" charset="-122"/>
                <a:ea typeface="微软雅黑" panose="020B0503020204020204" pitchFamily="34" charset="-122"/>
              </a:rPr>
              <a:t>e</a:t>
            </a:r>
            <a:r>
              <a:rPr kumimoji="1" lang="en-US" altLang="zh-CN" sz="2400" b="1" i="1" baseline="-25000" dirty="0" err="1">
                <a:latin typeface="微软雅黑" panose="020B0503020204020204" pitchFamily="34" charset="-122"/>
                <a:ea typeface="微软雅黑" panose="020B0503020204020204" pitchFamily="34" charset="-122"/>
              </a:rPr>
              <a:t>k</a:t>
            </a:r>
            <a:r>
              <a:rPr kumimoji="1" lang="en-US" altLang="zh-CN" sz="2400" b="1" i="1" dirty="0">
                <a:latin typeface="微软雅黑" panose="020B0503020204020204" pitchFamily="34" charset="-122"/>
                <a:ea typeface="微软雅黑" panose="020B0503020204020204" pitchFamily="34" charset="-122"/>
              </a:rPr>
              <a:t> </a:t>
            </a:r>
            <a:r>
              <a:rPr kumimoji="1" lang="zh-CN" altLang="en-US" sz="2400" b="1" dirty="0">
                <a:latin typeface="微软雅黑" panose="020B0503020204020204" pitchFamily="34" charset="-122"/>
                <a:ea typeface="微软雅黑" panose="020B0503020204020204" pitchFamily="34" charset="-122"/>
              </a:rPr>
              <a:t>相同的地方，两相干光的光程差相同，对应同一级条纹。 　        </a:t>
            </a:r>
            <a:r>
              <a:rPr kumimoji="1" lang="en-US" altLang="zh-CN" sz="2400" b="1" dirty="0">
                <a:solidFill>
                  <a:srgbClr val="FF0000"/>
                </a:solidFill>
                <a:latin typeface="微软雅黑" panose="020B0503020204020204" pitchFamily="34" charset="-122"/>
                <a:ea typeface="微软雅黑" panose="020B0503020204020204" pitchFamily="34" charset="-122"/>
              </a:rPr>
              <a:t>—— </a:t>
            </a:r>
            <a:r>
              <a:rPr kumimoji="1" lang="zh-CN" altLang="en-US" sz="2400" b="1" dirty="0">
                <a:solidFill>
                  <a:srgbClr val="FF0000"/>
                </a:solidFill>
                <a:latin typeface="微软雅黑" panose="020B0503020204020204" pitchFamily="34" charset="-122"/>
                <a:ea typeface="微软雅黑" panose="020B0503020204020204" pitchFamily="34" charset="-122"/>
              </a:rPr>
              <a:t>等厚干涉</a:t>
            </a:r>
          </a:p>
        </p:txBody>
      </p:sp>
      <p:sp>
        <p:nvSpPr>
          <p:cNvPr id="11304" name="Text Box 40"/>
          <p:cNvSpPr txBox="1">
            <a:spLocks noChangeArrowheads="1"/>
          </p:cNvSpPr>
          <p:nvPr/>
        </p:nvSpPr>
        <p:spPr bwMode="auto">
          <a:xfrm>
            <a:off x="544718" y="1931850"/>
            <a:ext cx="7340624" cy="941155"/>
          </a:xfrm>
          <a:prstGeom prst="rect">
            <a:avLst/>
          </a:prstGeom>
          <a:noFill/>
          <a:ln w="9525">
            <a:noFill/>
            <a:miter lim="800000"/>
            <a:headEnd/>
            <a:tailEnd/>
          </a:ln>
          <a:effectLst/>
        </p:spPr>
        <p:txBody>
          <a:bodyPr wrap="square">
            <a:spAutoFit/>
          </a:bodyPr>
          <a:lstStyle/>
          <a:p>
            <a:pPr>
              <a:lnSpc>
                <a:spcPct val="120000"/>
              </a:lnSpc>
            </a:pPr>
            <a:r>
              <a:rPr lang="zh-CN" altLang="en-US" sz="2400" b="1" dirty="0">
                <a:latin typeface="微软雅黑" panose="020B0503020204020204" pitchFamily="34" charset="-122"/>
                <a:ea typeface="微软雅黑" panose="020B0503020204020204" pitchFamily="34" charset="-122"/>
              </a:rPr>
              <a:t>     当光垂直入射时，经劈尖上、下表面反射的</a:t>
            </a:r>
            <a:r>
              <a:rPr lang="zh-CN" altLang="en-US" sz="2400" b="1" dirty="0">
                <a:solidFill>
                  <a:srgbClr val="FF0000"/>
                </a:solidFill>
                <a:latin typeface="微软雅黑" panose="020B0503020204020204" pitchFamily="34" charset="-122"/>
                <a:ea typeface="微软雅黑" panose="020B0503020204020204" pitchFamily="34" charset="-122"/>
              </a:rPr>
              <a:t>两束</a:t>
            </a:r>
            <a:endParaRPr lang="en-US" altLang="zh-CN" sz="2400" b="1" dirty="0">
              <a:solidFill>
                <a:srgbClr val="FF0000"/>
              </a:solidFill>
              <a:latin typeface="微软雅黑" panose="020B0503020204020204" pitchFamily="34" charset="-122"/>
              <a:ea typeface="微软雅黑" panose="020B0503020204020204" pitchFamily="34" charset="-122"/>
            </a:endParaRPr>
          </a:p>
          <a:p>
            <a:pPr>
              <a:lnSpc>
                <a:spcPct val="120000"/>
              </a:lnSpc>
            </a:pPr>
            <a:r>
              <a:rPr lang="en-US" altLang="zh-CN" sz="2400" b="1" dirty="0">
                <a:solidFill>
                  <a:srgbClr val="FF0000"/>
                </a:solidFill>
                <a:latin typeface="微软雅黑" panose="020B0503020204020204" pitchFamily="34" charset="-122"/>
                <a:ea typeface="微软雅黑" panose="020B0503020204020204" pitchFamily="34" charset="-122"/>
              </a:rPr>
              <a:t>     </a:t>
            </a:r>
            <a:r>
              <a:rPr lang="zh-CN" altLang="en-US" sz="2400" b="1" dirty="0">
                <a:solidFill>
                  <a:srgbClr val="FF0000"/>
                </a:solidFill>
                <a:latin typeface="微软雅黑" panose="020B0503020204020204" pitchFamily="34" charset="-122"/>
                <a:ea typeface="微软雅黑" panose="020B0503020204020204" pitchFamily="34" charset="-122"/>
              </a:rPr>
              <a:t>反射光的</a:t>
            </a:r>
            <a:r>
              <a:rPr kumimoji="1" lang="zh-CN" altLang="en-US" sz="2400" b="1" dirty="0">
                <a:solidFill>
                  <a:srgbClr val="FF0000"/>
                </a:solidFill>
                <a:latin typeface="微软雅黑" panose="020B0503020204020204" pitchFamily="34" charset="-122"/>
                <a:ea typeface="微软雅黑" panose="020B0503020204020204" pitchFamily="34" charset="-122"/>
              </a:rPr>
              <a:t>光程差</a:t>
            </a:r>
            <a:r>
              <a:rPr kumimoji="1" lang="zh-CN" altLang="en-US" sz="2400" b="1" dirty="0">
                <a:latin typeface="微软雅黑" panose="020B0503020204020204" pitchFamily="34" charset="-122"/>
                <a:ea typeface="微软雅黑" panose="020B0503020204020204" pitchFamily="34" charset="-122"/>
              </a:rPr>
              <a:t>为</a:t>
            </a:r>
            <a:r>
              <a:rPr lang="zh-CN" altLang="en-US" sz="2400" b="1" dirty="0">
                <a:latin typeface="微软雅黑" panose="020B0503020204020204" pitchFamily="34" charset="-122"/>
                <a:ea typeface="微软雅黑" panose="020B0503020204020204" pitchFamily="34" charset="-122"/>
              </a:rPr>
              <a:t>：</a:t>
            </a:r>
          </a:p>
        </p:txBody>
      </p:sp>
      <p:sp>
        <p:nvSpPr>
          <p:cNvPr id="49" name="Text Box 39"/>
          <p:cNvSpPr txBox="1">
            <a:spLocks noChangeArrowheads="1"/>
          </p:cNvSpPr>
          <p:nvPr/>
        </p:nvSpPr>
        <p:spPr bwMode="auto">
          <a:xfrm>
            <a:off x="-70318" y="5540757"/>
            <a:ext cx="6103144" cy="439064"/>
          </a:xfrm>
          <a:prstGeom prst="rect">
            <a:avLst/>
          </a:prstGeom>
          <a:noFill/>
          <a:ln w="9525">
            <a:noFill/>
            <a:miter lim="800000"/>
            <a:headEnd/>
            <a:tailEnd/>
          </a:ln>
          <a:effectLst/>
        </p:spPr>
        <p:txBody>
          <a:bodyPr lIns="69056" tIns="34529" rIns="69056" bIns="34529">
            <a:spAutoFit/>
          </a:bodyPr>
          <a:lstStyle/>
          <a:p>
            <a:pPr eaLnBrk="0" hangingPunct="0"/>
            <a:r>
              <a:rPr kumimoji="1" lang="zh-CN" altLang="en-US" sz="2400" b="1" dirty="0">
                <a:latin typeface="微软雅黑" panose="020B0503020204020204" pitchFamily="34" charset="-122"/>
                <a:ea typeface="微软雅黑" panose="020B0503020204020204" pitchFamily="34" charset="-122"/>
              </a:rPr>
              <a:t>　　利用劈尖干涉条纹可实现什么测量呢？</a:t>
            </a:r>
            <a:endParaRPr kumimoji="1" lang="zh-CN" altLang="en-US" sz="2400" b="1" dirty="0">
              <a:solidFill>
                <a:srgbClr val="CC0000"/>
              </a:solidFill>
              <a:latin typeface="微软雅黑" panose="020B0503020204020204" pitchFamily="34" charset="-122"/>
              <a:ea typeface="微软雅黑" panose="020B0503020204020204" pitchFamily="34" charset="-122"/>
            </a:endParaRPr>
          </a:p>
        </p:txBody>
      </p:sp>
      <p:sp>
        <p:nvSpPr>
          <p:cNvPr id="43" name="文本框 42"/>
          <p:cNvSpPr txBox="1"/>
          <p:nvPr/>
        </p:nvSpPr>
        <p:spPr>
          <a:xfrm>
            <a:off x="182349" y="842249"/>
            <a:ext cx="3420822" cy="523220"/>
          </a:xfrm>
          <a:prstGeom prst="rect">
            <a:avLst/>
          </a:prstGeom>
          <a:noFill/>
        </p:spPr>
        <p:txBody>
          <a:bodyPr wrap="square" rtlCol="0">
            <a:spAutoFit/>
          </a:bodyPr>
          <a:lstStyle/>
          <a:p>
            <a:r>
              <a:rPr lang="zh-CN" altLang="en-US" sz="2800" b="1" dirty="0">
                <a:solidFill>
                  <a:srgbClr val="0000FF"/>
                </a:solidFill>
                <a:latin typeface="微软雅黑" panose="020B0503020204020204" pitchFamily="34" charset="-122"/>
                <a:ea typeface="微软雅黑" panose="020B0503020204020204" pitchFamily="34" charset="-122"/>
              </a:rPr>
              <a:t>劈尖－光强叠加</a:t>
            </a:r>
          </a:p>
        </p:txBody>
      </p:sp>
      <p:sp>
        <p:nvSpPr>
          <p:cNvPr id="13" name="WordArt 51">
            <a:extLst>
              <a:ext uri="{FF2B5EF4-FFF2-40B4-BE49-F238E27FC236}">
                <a16:creationId xmlns:a16="http://schemas.microsoft.com/office/drawing/2014/main" id="{26F452AE-2645-DEBE-A286-752AB6A6002D}"/>
              </a:ext>
            </a:extLst>
          </p:cNvPr>
          <p:cNvSpPr>
            <a:spLocks noChangeArrowheads="1" noChangeShapeType="1"/>
          </p:cNvSpPr>
          <p:nvPr/>
        </p:nvSpPr>
        <p:spPr bwMode="auto">
          <a:xfrm>
            <a:off x="142844" y="71414"/>
            <a:ext cx="1729499" cy="409097"/>
          </a:xfrm>
          <a:prstGeom prst="rect">
            <a:avLst/>
          </a:prstGeom>
        </p:spPr>
        <p:txBody>
          <a:bodyPr wrap="none" fromWordArt="1">
            <a:prstTxWarp prst="textPlain">
              <a:avLst>
                <a:gd name="adj" fmla="val 50000"/>
              </a:avLst>
            </a:prstTxWarp>
          </a:bodyPr>
          <a:lstStyle/>
          <a:p>
            <a:pPr algn="ctr"/>
            <a:r>
              <a:rPr lang="zh-CN" altLang="en-US" sz="3600" dirty="0">
                <a:ln w="9525">
                  <a:noFill/>
                  <a:round/>
                  <a:headEnd/>
                  <a:tailEnd/>
                </a:ln>
                <a:gradFill rotWithShape="0">
                  <a:gsLst>
                    <a:gs pos="0">
                      <a:schemeClr val="bg1"/>
                    </a:gs>
                    <a:gs pos="100000">
                      <a:srgbClr val="FFFE7D"/>
                    </a:gs>
                  </a:gsLst>
                  <a:lin ang="5400000" scaled="1"/>
                </a:gradFill>
                <a:effectLst>
                  <a:outerShdw dist="38100" dir="5400000" algn="ctr" rotWithShape="0">
                    <a:srgbClr val="4D4D4D">
                      <a:alpha val="76999"/>
                    </a:srgbClr>
                  </a:outerShdw>
                </a:effectLst>
                <a:latin typeface="华文琥珀"/>
                <a:ea typeface="华文琥珀"/>
              </a:rPr>
              <a:t>实验介绍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304"/>
                                        </p:tgtEl>
                                        <p:attrNameLst>
                                          <p:attrName>style.visibility</p:attrName>
                                        </p:attrNameLst>
                                      </p:cBhvr>
                                      <p:to>
                                        <p:strVal val="visible"/>
                                      </p:to>
                                    </p:set>
                                    <p:animEffect transition="in" filter="blinds(horizontal)">
                                      <p:cBhvr>
                                        <p:cTn id="7" dur="500"/>
                                        <p:tgtEl>
                                          <p:spTgt spid="1130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1267"/>
                                        </p:tgtEl>
                                        <p:attrNameLst>
                                          <p:attrName>style.visibility</p:attrName>
                                        </p:attrNameLst>
                                      </p:cBhvr>
                                      <p:to>
                                        <p:strVal val="visible"/>
                                      </p:to>
                                    </p:set>
                                    <p:animEffect transition="in" filter="checkerboard(across)">
                                      <p:cBhvr>
                                        <p:cTn id="12" dur="500"/>
                                        <p:tgtEl>
                                          <p:spTgt spid="11267"/>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arn(inVertical)">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linds(horizontal)">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blinds(horizontal)">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blinds(horizontal)">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1303">
                                            <p:txEl>
                                              <p:pRg st="0" end="0"/>
                                            </p:txEl>
                                          </p:spTgt>
                                        </p:tgtEl>
                                        <p:attrNameLst>
                                          <p:attrName>style.visibility</p:attrName>
                                        </p:attrNameLst>
                                      </p:cBhvr>
                                      <p:to>
                                        <p:strVal val="visible"/>
                                      </p:to>
                                    </p:set>
                                    <p:animEffect transition="in" filter="wipe(left)">
                                      <p:cBhvr>
                                        <p:cTn id="35" dur="500"/>
                                        <p:tgtEl>
                                          <p:spTgt spid="11303">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9">
                                            <p:txEl>
                                              <p:pRg st="0" end="0"/>
                                            </p:txEl>
                                          </p:spTgt>
                                        </p:tgtEl>
                                        <p:attrNameLst>
                                          <p:attrName>style.visibility</p:attrName>
                                        </p:attrNameLst>
                                      </p:cBhvr>
                                      <p:to>
                                        <p:strVal val="visible"/>
                                      </p:to>
                                    </p:set>
                                    <p:animEffect transition="in" filter="wipe(left)">
                                      <p:cBhvr>
                                        <p:cTn id="40" dur="500"/>
                                        <p:tgtEl>
                                          <p:spTgt spid="4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303" grpId="0" build="p" autoUpdateAnimBg="0"/>
      <p:bldP spid="11304" grpId="0"/>
      <p:bldP spid="49"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694135" y="3406528"/>
            <a:ext cx="4457700" cy="461665"/>
          </a:xfrm>
          <a:prstGeom prst="rect">
            <a:avLst/>
          </a:prstGeom>
          <a:noFill/>
          <a:ln w="9525">
            <a:noFill/>
            <a:miter lim="800000"/>
            <a:headEnd/>
            <a:tailEnd/>
          </a:ln>
          <a:effectLst/>
        </p:spPr>
        <p:txBody>
          <a:bodyPr>
            <a:spAutoFit/>
          </a:bodyPr>
          <a:lstStyle/>
          <a:p>
            <a:pPr>
              <a:spcBef>
                <a:spcPct val="50000"/>
              </a:spcBef>
            </a:pPr>
            <a:r>
              <a:rPr lang="en-US" altLang="zh-CN" sz="2400" b="1" dirty="0">
                <a:solidFill>
                  <a:srgbClr val="FF0000"/>
                </a:solidFill>
                <a:latin typeface="微软雅黑" panose="020B0503020204020204" pitchFamily="34" charset="-122"/>
                <a:ea typeface="微软雅黑" panose="020B0503020204020204" pitchFamily="34" charset="-122"/>
              </a:rPr>
              <a:t>2</a:t>
            </a:r>
            <a:r>
              <a:rPr lang="zh-CN" altLang="en-US" sz="2400" b="1" dirty="0">
                <a:solidFill>
                  <a:srgbClr val="FF0000"/>
                </a:solidFill>
                <a:latin typeface="微软雅黑" panose="020B0503020204020204" pitchFamily="34" charset="-122"/>
                <a:ea typeface="微软雅黑" panose="020B0503020204020204" pitchFamily="34" charset="-122"/>
              </a:rPr>
              <a:t>）</a:t>
            </a:r>
            <a:r>
              <a:rPr kumimoji="1" lang="zh-CN" altLang="en-US" sz="2400" b="1" dirty="0">
                <a:latin typeface="微软雅黑" panose="020B0503020204020204" pitchFamily="34" charset="-122"/>
                <a:ea typeface="微软雅黑" panose="020B0503020204020204" pitchFamily="34" charset="-122"/>
              </a:rPr>
              <a:t>相邻</a:t>
            </a:r>
            <a:r>
              <a:rPr lang="zh-CN" altLang="en-US" sz="2400" b="1" dirty="0">
                <a:latin typeface="微软雅黑" panose="020B0503020204020204" pitchFamily="34" charset="-122"/>
                <a:ea typeface="微软雅黑" panose="020B0503020204020204" pitchFamily="34" charset="-122"/>
              </a:rPr>
              <a:t>明纹 </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或暗纹</a:t>
            </a:r>
            <a:r>
              <a:rPr lang="en-US" altLang="zh-CN" sz="2400" b="1"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的间距</a:t>
            </a:r>
          </a:p>
        </p:txBody>
      </p:sp>
      <p:graphicFrame>
        <p:nvGraphicFramePr>
          <p:cNvPr id="15363" name="Object 3"/>
          <p:cNvGraphicFramePr>
            <a:graphicFrameLocks noChangeAspect="1"/>
          </p:cNvGraphicFramePr>
          <p:nvPr/>
        </p:nvGraphicFramePr>
        <p:xfrm>
          <a:off x="845345" y="2528138"/>
          <a:ext cx="2483644" cy="816769"/>
        </p:xfrm>
        <a:graphic>
          <a:graphicData uri="http://schemas.openxmlformats.org/presentationml/2006/ole">
            <mc:AlternateContent xmlns:mc="http://schemas.openxmlformats.org/markup-compatibility/2006">
              <mc:Choice xmlns:v="urn:schemas-microsoft-com:vml" Requires="v">
                <p:oleObj name="公式" r:id="rId3" imgW="1231366" imgH="406224" progId="Equation.3">
                  <p:embed/>
                </p:oleObj>
              </mc:Choice>
              <mc:Fallback>
                <p:oleObj name="公式" r:id="rId3" imgW="1231366" imgH="406224" progId="Equation.3">
                  <p:embed/>
                  <p:pic>
                    <p:nvPicPr>
                      <p:cNvPr id="1536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5345" y="2528138"/>
                        <a:ext cx="2483644" cy="816769"/>
                      </a:xfrm>
                      <a:prstGeom prst="rect">
                        <a:avLst/>
                      </a:prstGeom>
                      <a:noFill/>
                      <a:ln w="12700">
                        <a:solidFill>
                          <a:srgbClr val="FF0000"/>
                        </a:solidFill>
                        <a:prstDash val="sysDash"/>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4" name="Text Box 4"/>
          <p:cNvSpPr txBox="1">
            <a:spLocks noChangeArrowheads="1"/>
          </p:cNvSpPr>
          <p:nvPr/>
        </p:nvSpPr>
        <p:spPr bwMode="auto">
          <a:xfrm>
            <a:off x="696574" y="1614596"/>
            <a:ext cx="6281738" cy="461665"/>
          </a:xfrm>
          <a:prstGeom prst="rect">
            <a:avLst/>
          </a:prstGeom>
          <a:noFill/>
          <a:ln w="9525">
            <a:noFill/>
            <a:miter lim="800000"/>
            <a:headEnd/>
            <a:tailEnd/>
          </a:ln>
          <a:effectLst/>
        </p:spPr>
        <p:txBody>
          <a:bodyPr>
            <a:spAutoFit/>
          </a:bodyPr>
          <a:lstStyle/>
          <a:p>
            <a:pPr>
              <a:spcBef>
                <a:spcPct val="50000"/>
              </a:spcBef>
            </a:pPr>
            <a:r>
              <a:rPr lang="en-US" altLang="zh-CN" sz="2400" b="1" dirty="0">
                <a:solidFill>
                  <a:srgbClr val="FF0000"/>
                </a:solidFill>
                <a:latin typeface="微软雅黑" panose="020B0503020204020204" pitchFamily="34" charset="-122"/>
                <a:ea typeface="微软雅黑" panose="020B0503020204020204" pitchFamily="34" charset="-122"/>
              </a:rPr>
              <a:t>1</a:t>
            </a:r>
            <a:r>
              <a:rPr lang="zh-CN" altLang="en-US" sz="2400" b="1" dirty="0">
                <a:solidFill>
                  <a:srgbClr val="FF0000"/>
                </a:solidFill>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相邻明纹 </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或暗纹</a:t>
            </a:r>
            <a:r>
              <a:rPr lang="en-US" altLang="zh-CN" sz="2400" b="1"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所对应的薄膜厚度差</a:t>
            </a:r>
          </a:p>
        </p:txBody>
      </p:sp>
      <p:graphicFrame>
        <p:nvGraphicFramePr>
          <p:cNvPr id="15365" name="Object 5"/>
          <p:cNvGraphicFramePr>
            <a:graphicFrameLocks noChangeAspect="1"/>
          </p:cNvGraphicFramePr>
          <p:nvPr/>
        </p:nvGraphicFramePr>
        <p:xfrm>
          <a:off x="859595" y="2120506"/>
          <a:ext cx="3564731" cy="372665"/>
        </p:xfrm>
        <a:graphic>
          <a:graphicData uri="http://schemas.openxmlformats.org/presentationml/2006/ole">
            <mc:AlternateContent xmlns:mc="http://schemas.openxmlformats.org/markup-compatibility/2006">
              <mc:Choice xmlns:v="urn:schemas-microsoft-com:vml" Requires="v">
                <p:oleObj name="Equation" r:id="rId5" imgW="100879333" imgH="10353572" progId="">
                  <p:embed/>
                </p:oleObj>
              </mc:Choice>
              <mc:Fallback>
                <p:oleObj name="Equation" r:id="rId5" imgW="100879333" imgH="10353572" progId="">
                  <p:embed/>
                  <p:pic>
                    <p:nvPicPr>
                      <p:cNvPr id="15365"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9595" y="2120506"/>
                        <a:ext cx="3564731" cy="372665"/>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graphicFrame>
        <p:nvGraphicFramePr>
          <p:cNvPr id="15366" name="Object 6"/>
          <p:cNvGraphicFramePr>
            <a:graphicFrameLocks noChangeAspect="1"/>
          </p:cNvGraphicFramePr>
          <p:nvPr/>
        </p:nvGraphicFramePr>
        <p:xfrm>
          <a:off x="3974541" y="3778367"/>
          <a:ext cx="940594" cy="833438"/>
        </p:xfrm>
        <a:graphic>
          <a:graphicData uri="http://schemas.openxmlformats.org/presentationml/2006/ole">
            <mc:AlternateContent xmlns:mc="http://schemas.openxmlformats.org/markup-compatibility/2006">
              <mc:Choice xmlns:v="urn:schemas-microsoft-com:vml" Requires="v">
                <p:oleObj name="Equation" r:id="rId7" imgW="444307" imgH="393529" progId="">
                  <p:embed/>
                </p:oleObj>
              </mc:Choice>
              <mc:Fallback>
                <p:oleObj name="Equation" r:id="rId7" imgW="444307" imgH="393529" progId="">
                  <p:embed/>
                  <p:pic>
                    <p:nvPicPr>
                      <p:cNvPr id="15366"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74541" y="3778367"/>
                        <a:ext cx="940594" cy="833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7" name="Object 7"/>
          <p:cNvGraphicFramePr>
            <a:graphicFrameLocks noChangeAspect="1"/>
          </p:cNvGraphicFramePr>
          <p:nvPr/>
        </p:nvGraphicFramePr>
        <p:xfrm>
          <a:off x="842007" y="3789083"/>
          <a:ext cx="1674019" cy="853678"/>
        </p:xfrm>
        <a:graphic>
          <a:graphicData uri="http://schemas.openxmlformats.org/presentationml/2006/ole">
            <mc:AlternateContent xmlns:mc="http://schemas.openxmlformats.org/markup-compatibility/2006">
              <mc:Choice xmlns:v="urn:schemas-microsoft-com:vml" Requires="v">
                <p:oleObj name="Equation" r:id="rId9" imgW="19192796" imgH="9744062" progId="">
                  <p:embed/>
                </p:oleObj>
              </mc:Choice>
              <mc:Fallback>
                <p:oleObj name="Equation" r:id="rId9" imgW="19192796" imgH="9744062" progId="">
                  <p:embed/>
                  <p:pic>
                    <p:nvPicPr>
                      <p:cNvPr id="15367"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42007" y="3789083"/>
                        <a:ext cx="1674019" cy="8536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68" name="Object 8"/>
          <p:cNvGraphicFramePr>
            <a:graphicFrameLocks noChangeAspect="1"/>
          </p:cNvGraphicFramePr>
          <p:nvPr/>
        </p:nvGraphicFramePr>
        <p:xfrm>
          <a:off x="2514834" y="3803371"/>
          <a:ext cx="1404938" cy="839390"/>
        </p:xfrm>
        <a:graphic>
          <a:graphicData uri="http://schemas.openxmlformats.org/presentationml/2006/ole">
            <mc:AlternateContent xmlns:mc="http://schemas.openxmlformats.org/markup-compatibility/2006">
              <mc:Choice xmlns:v="urn:schemas-microsoft-com:vml" Requires="v">
                <p:oleObj name="Equation" r:id="rId11" imgW="660113" imgH="393529" progId="">
                  <p:embed/>
                </p:oleObj>
              </mc:Choice>
              <mc:Fallback>
                <p:oleObj name="Equation" r:id="rId11" imgW="660113" imgH="393529" progId="">
                  <p:embed/>
                  <p:pic>
                    <p:nvPicPr>
                      <p:cNvPr id="15368"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14834" y="3803371"/>
                        <a:ext cx="1404938" cy="839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69" name="Text Box 9"/>
          <p:cNvSpPr txBox="1">
            <a:spLocks noChangeArrowheads="1"/>
          </p:cNvSpPr>
          <p:nvPr/>
        </p:nvSpPr>
        <p:spPr bwMode="auto">
          <a:xfrm>
            <a:off x="2191369" y="4845391"/>
            <a:ext cx="6417701" cy="461665"/>
          </a:xfrm>
          <a:prstGeom prst="rect">
            <a:avLst/>
          </a:prstGeom>
          <a:noFill/>
          <a:ln w="9525">
            <a:noFill/>
            <a:miter lim="800000"/>
            <a:headEnd/>
            <a:tailEnd/>
          </a:ln>
          <a:effectLst/>
        </p:spPr>
        <p:txBody>
          <a:bodyPr wrap="square">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条纹等间距，</a:t>
            </a:r>
            <a:r>
              <a:rPr lang="zh-CN" altLang="en-US" sz="2400" b="1" i="1" dirty="0">
                <a:solidFill>
                  <a:srgbClr val="1C1C1C"/>
                </a:solidFill>
                <a:latin typeface="微软雅黑" panose="020B0503020204020204" pitchFamily="34" charset="-122"/>
                <a:ea typeface="微软雅黑" panose="020B0503020204020204" pitchFamily="34" charset="-122"/>
                <a:sym typeface="Symbol" pitchFamily="18" charset="2"/>
              </a:rPr>
              <a:t></a:t>
            </a:r>
            <a:r>
              <a:rPr lang="zh-CN" altLang="en-US" sz="2400" b="1" dirty="0">
                <a:solidFill>
                  <a:srgbClr val="1C1C1C"/>
                </a:solidFill>
                <a:latin typeface="微软雅黑" panose="020B0503020204020204" pitchFamily="34" charset="-122"/>
                <a:ea typeface="微软雅黑" panose="020B0503020204020204" pitchFamily="34" charset="-122"/>
              </a:rPr>
              <a:t> 变大时条纹变密，反之则变疏</a:t>
            </a:r>
            <a:endParaRPr lang="zh-CN" altLang="el-GR" sz="2400" b="1" dirty="0">
              <a:solidFill>
                <a:srgbClr val="9900CC"/>
              </a:solidFill>
              <a:latin typeface="微软雅黑" panose="020B0503020204020204" pitchFamily="34" charset="-122"/>
              <a:ea typeface="微软雅黑" panose="020B0503020204020204" pitchFamily="34" charset="-122"/>
              <a:cs typeface="Times New Roman" pitchFamily="18" charset="0"/>
            </a:endParaRPr>
          </a:p>
        </p:txBody>
      </p:sp>
      <p:grpSp>
        <p:nvGrpSpPr>
          <p:cNvPr id="2" name="Group 10"/>
          <p:cNvGrpSpPr>
            <a:grpSpLocks/>
          </p:cNvGrpSpPr>
          <p:nvPr/>
        </p:nvGrpSpPr>
        <p:grpSpPr bwMode="auto">
          <a:xfrm>
            <a:off x="5347693" y="2201618"/>
            <a:ext cx="2800350" cy="877491"/>
            <a:chOff x="3168" y="576"/>
            <a:chExt cx="2448" cy="768"/>
          </a:xfrm>
        </p:grpSpPr>
        <p:sp>
          <p:nvSpPr>
            <p:cNvPr id="15371" name="Freeform 11"/>
            <p:cNvSpPr>
              <a:spLocks/>
            </p:cNvSpPr>
            <p:nvPr/>
          </p:nvSpPr>
          <p:spPr bwMode="auto">
            <a:xfrm>
              <a:off x="3168" y="576"/>
              <a:ext cx="2448" cy="768"/>
            </a:xfrm>
            <a:custGeom>
              <a:avLst/>
              <a:gdLst/>
              <a:ahLst/>
              <a:cxnLst>
                <a:cxn ang="0">
                  <a:pos x="2160" y="528"/>
                </a:cxn>
                <a:cxn ang="0">
                  <a:pos x="2160" y="0"/>
                </a:cxn>
                <a:cxn ang="0">
                  <a:pos x="0" y="528"/>
                </a:cxn>
                <a:cxn ang="0">
                  <a:pos x="2160" y="528"/>
                </a:cxn>
              </a:cxnLst>
              <a:rect l="0" t="0" r="r" b="b"/>
              <a:pathLst>
                <a:path w="2160" h="528">
                  <a:moveTo>
                    <a:pt x="2160" y="528"/>
                  </a:moveTo>
                  <a:lnTo>
                    <a:pt x="2160" y="0"/>
                  </a:lnTo>
                  <a:lnTo>
                    <a:pt x="0" y="528"/>
                  </a:lnTo>
                  <a:lnTo>
                    <a:pt x="2160" y="528"/>
                  </a:lnTo>
                  <a:close/>
                </a:path>
              </a:pathLst>
            </a:custGeom>
            <a:solidFill>
              <a:srgbClr val="CCFFFF"/>
            </a:solidFill>
            <a:ln w="38100" cap="flat" cmpd="sng">
              <a:solidFill>
                <a:srgbClr val="339966"/>
              </a:solidFill>
              <a:prstDash val="solid"/>
              <a:round/>
              <a:headEnd type="none" w="med" len="med"/>
              <a:tailEnd type="none" w="med" len="lg"/>
            </a:ln>
            <a:effectLst/>
          </p:spPr>
          <p:txBody>
            <a:bodyPr wrap="none" anchor="ctr"/>
            <a:lstStyle/>
            <a:p>
              <a:endParaRPr lang="zh-CN" altLang="en-US" sz="1050"/>
            </a:p>
          </p:txBody>
        </p:sp>
        <p:sp>
          <p:nvSpPr>
            <p:cNvPr id="15372" name="Arc 12"/>
            <p:cNvSpPr>
              <a:spLocks/>
            </p:cNvSpPr>
            <p:nvPr/>
          </p:nvSpPr>
          <p:spPr bwMode="auto">
            <a:xfrm>
              <a:off x="3792" y="1152"/>
              <a:ext cx="48" cy="183"/>
            </a:xfrm>
            <a:custGeom>
              <a:avLst/>
              <a:gdLst>
                <a:gd name="G0" fmla="+- 0 0 0"/>
                <a:gd name="G1" fmla="+- 21600 0 0"/>
                <a:gd name="G2" fmla="+- 21600 0 0"/>
                <a:gd name="T0" fmla="*/ 0 w 21600"/>
                <a:gd name="T1" fmla="*/ 0 h 27396"/>
                <a:gd name="T2" fmla="*/ 20808 w 21600"/>
                <a:gd name="T3" fmla="*/ 27396 h 27396"/>
                <a:gd name="T4" fmla="*/ 0 w 21600"/>
                <a:gd name="T5" fmla="*/ 21600 h 27396"/>
              </a:gdLst>
              <a:ahLst/>
              <a:cxnLst>
                <a:cxn ang="0">
                  <a:pos x="T0" y="T1"/>
                </a:cxn>
                <a:cxn ang="0">
                  <a:pos x="T2" y="T3"/>
                </a:cxn>
                <a:cxn ang="0">
                  <a:pos x="T4" y="T5"/>
                </a:cxn>
              </a:cxnLst>
              <a:rect l="0" t="0" r="r" b="b"/>
              <a:pathLst>
                <a:path w="21600" h="27396" fill="none" extrusionOk="0">
                  <a:moveTo>
                    <a:pt x="-1" y="0"/>
                  </a:moveTo>
                  <a:cubicBezTo>
                    <a:pt x="11929" y="0"/>
                    <a:pt x="21600" y="9670"/>
                    <a:pt x="21600" y="21600"/>
                  </a:cubicBezTo>
                  <a:cubicBezTo>
                    <a:pt x="21600" y="23558"/>
                    <a:pt x="21333" y="25508"/>
                    <a:pt x="20807" y="27395"/>
                  </a:cubicBezTo>
                </a:path>
                <a:path w="21600" h="27396" stroke="0" extrusionOk="0">
                  <a:moveTo>
                    <a:pt x="-1" y="0"/>
                  </a:moveTo>
                  <a:cubicBezTo>
                    <a:pt x="11929" y="0"/>
                    <a:pt x="21600" y="9670"/>
                    <a:pt x="21600" y="21600"/>
                  </a:cubicBezTo>
                  <a:cubicBezTo>
                    <a:pt x="21600" y="23558"/>
                    <a:pt x="21333" y="25508"/>
                    <a:pt x="20807" y="27395"/>
                  </a:cubicBezTo>
                  <a:lnTo>
                    <a:pt x="0" y="21600"/>
                  </a:lnTo>
                  <a:close/>
                </a:path>
              </a:pathLst>
            </a:custGeom>
            <a:noFill/>
            <a:ln w="28575">
              <a:solidFill>
                <a:schemeClr val="tx1"/>
              </a:solidFill>
              <a:round/>
              <a:headEnd/>
              <a:tailEnd type="none" w="med" len="lg"/>
            </a:ln>
            <a:effectLst/>
          </p:spPr>
          <p:txBody>
            <a:bodyPr wrap="none" anchor="ctr"/>
            <a:lstStyle/>
            <a:p>
              <a:endParaRPr lang="zh-CN" altLang="en-US" sz="1050"/>
            </a:p>
          </p:txBody>
        </p:sp>
        <p:graphicFrame>
          <p:nvGraphicFramePr>
            <p:cNvPr id="15373" name="Object 13"/>
            <p:cNvGraphicFramePr>
              <a:graphicFrameLocks noChangeAspect="1"/>
            </p:cNvGraphicFramePr>
            <p:nvPr/>
          </p:nvGraphicFramePr>
          <p:xfrm>
            <a:off x="3936" y="1104"/>
            <a:ext cx="176" cy="240"/>
          </p:xfrm>
          <a:graphic>
            <a:graphicData uri="http://schemas.openxmlformats.org/presentationml/2006/ole">
              <mc:AlternateContent xmlns:mc="http://schemas.openxmlformats.org/markup-compatibility/2006">
                <mc:Choice xmlns:v="urn:schemas-microsoft-com:vml" Requires="v">
                  <p:oleObj name="公式" r:id="rId13" imgW="279279" imgH="380835" progId="Equation.3">
                    <p:embed/>
                  </p:oleObj>
                </mc:Choice>
                <mc:Fallback>
                  <p:oleObj name="公式" r:id="rId13" imgW="279279" imgH="380835" progId="Equation.3">
                    <p:embed/>
                    <p:pic>
                      <p:nvPicPr>
                        <p:cNvPr id="15373"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36" y="1104"/>
                          <a:ext cx="176"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Group 14"/>
          <p:cNvGrpSpPr>
            <a:grpSpLocks/>
          </p:cNvGrpSpPr>
          <p:nvPr/>
        </p:nvGrpSpPr>
        <p:grpSpPr bwMode="auto">
          <a:xfrm>
            <a:off x="6799065" y="2593333"/>
            <a:ext cx="431006" cy="540544"/>
            <a:chOff x="4468" y="1253"/>
            <a:chExt cx="362" cy="454"/>
          </a:xfrm>
        </p:grpSpPr>
        <p:sp>
          <p:nvSpPr>
            <p:cNvPr id="15375" name="Line 15"/>
            <p:cNvSpPr>
              <a:spLocks noChangeShapeType="1"/>
            </p:cNvSpPr>
            <p:nvPr/>
          </p:nvSpPr>
          <p:spPr bwMode="auto">
            <a:xfrm>
              <a:off x="4468" y="1298"/>
              <a:ext cx="0" cy="357"/>
            </a:xfrm>
            <a:prstGeom prst="line">
              <a:avLst/>
            </a:prstGeom>
            <a:noFill/>
            <a:ln w="19050">
              <a:solidFill>
                <a:schemeClr val="tx1"/>
              </a:solidFill>
              <a:prstDash val="dash"/>
              <a:round/>
              <a:headEnd/>
              <a:tailEnd type="none" w="med" len="lg"/>
            </a:ln>
            <a:effectLst/>
          </p:spPr>
          <p:txBody>
            <a:bodyPr wrap="none" anchor="ctr"/>
            <a:lstStyle/>
            <a:p>
              <a:endParaRPr lang="zh-CN" altLang="en-US" sz="1050"/>
            </a:p>
          </p:txBody>
        </p:sp>
        <p:graphicFrame>
          <p:nvGraphicFramePr>
            <p:cNvPr id="15376" name="Object 16"/>
            <p:cNvGraphicFramePr>
              <a:graphicFrameLocks noChangeAspect="1"/>
            </p:cNvGraphicFramePr>
            <p:nvPr/>
          </p:nvGraphicFramePr>
          <p:xfrm>
            <a:off x="4482" y="1253"/>
            <a:ext cx="348" cy="454"/>
          </p:xfrm>
          <a:graphic>
            <a:graphicData uri="http://schemas.openxmlformats.org/presentationml/2006/ole">
              <mc:AlternateContent xmlns:mc="http://schemas.openxmlformats.org/markup-compatibility/2006">
                <mc:Choice xmlns:v="urn:schemas-microsoft-com:vml" Requires="v">
                  <p:oleObj name="公式" r:id="rId15" imgW="165028" imgH="228501" progId="Equation.3">
                    <p:embed/>
                  </p:oleObj>
                </mc:Choice>
                <mc:Fallback>
                  <p:oleObj name="公式" r:id="rId15" imgW="165028" imgH="228501" progId="Equation.3">
                    <p:embed/>
                    <p:pic>
                      <p:nvPicPr>
                        <p:cNvPr id="15376"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482" y="1253"/>
                          <a:ext cx="348" cy="4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 name="Group 17"/>
          <p:cNvGrpSpPr>
            <a:grpSpLocks/>
          </p:cNvGrpSpPr>
          <p:nvPr/>
        </p:nvGrpSpPr>
        <p:grpSpPr bwMode="auto">
          <a:xfrm>
            <a:off x="7445574" y="2390927"/>
            <a:ext cx="648890" cy="742950"/>
            <a:chOff x="5057" y="1071"/>
            <a:chExt cx="545" cy="624"/>
          </a:xfrm>
        </p:grpSpPr>
        <p:graphicFrame>
          <p:nvGraphicFramePr>
            <p:cNvPr id="15378" name="Object 18"/>
            <p:cNvGraphicFramePr>
              <a:graphicFrameLocks noChangeAspect="1"/>
            </p:cNvGraphicFramePr>
            <p:nvPr/>
          </p:nvGraphicFramePr>
          <p:xfrm>
            <a:off x="5083" y="1253"/>
            <a:ext cx="519" cy="442"/>
          </p:xfrm>
          <a:graphic>
            <a:graphicData uri="http://schemas.openxmlformats.org/presentationml/2006/ole">
              <mc:AlternateContent xmlns:mc="http://schemas.openxmlformats.org/markup-compatibility/2006">
                <mc:Choice xmlns:v="urn:schemas-microsoft-com:vml" Requires="v">
                  <p:oleObj name="公式" r:id="rId17" imgW="266584" imgH="228501" progId="Equation.3">
                    <p:embed/>
                  </p:oleObj>
                </mc:Choice>
                <mc:Fallback>
                  <p:oleObj name="公式" r:id="rId17" imgW="266584" imgH="228501" progId="Equation.3">
                    <p:embed/>
                    <p:pic>
                      <p:nvPicPr>
                        <p:cNvPr id="15378" name="Object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83" y="1253"/>
                          <a:ext cx="519"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79" name="Line 19"/>
            <p:cNvSpPr>
              <a:spLocks noChangeShapeType="1"/>
            </p:cNvSpPr>
            <p:nvPr/>
          </p:nvSpPr>
          <p:spPr bwMode="auto">
            <a:xfrm flipV="1">
              <a:off x="5057" y="1071"/>
              <a:ext cx="0" cy="576"/>
            </a:xfrm>
            <a:prstGeom prst="line">
              <a:avLst/>
            </a:prstGeom>
            <a:noFill/>
            <a:ln w="19050">
              <a:solidFill>
                <a:schemeClr val="tx1"/>
              </a:solidFill>
              <a:prstDash val="dash"/>
              <a:round/>
              <a:headEnd/>
              <a:tailEnd type="none" w="med" len="lg"/>
            </a:ln>
            <a:effectLst/>
          </p:spPr>
          <p:txBody>
            <a:bodyPr wrap="none" anchor="ctr"/>
            <a:lstStyle/>
            <a:p>
              <a:endParaRPr lang="zh-CN" altLang="en-US" sz="1050"/>
            </a:p>
          </p:txBody>
        </p:sp>
      </p:grpSp>
      <p:grpSp>
        <p:nvGrpSpPr>
          <p:cNvPr id="5" name="Group 20"/>
          <p:cNvGrpSpPr>
            <a:grpSpLocks/>
          </p:cNvGrpSpPr>
          <p:nvPr/>
        </p:nvGrpSpPr>
        <p:grpSpPr bwMode="auto">
          <a:xfrm>
            <a:off x="7445575" y="2376640"/>
            <a:ext cx="442913" cy="297656"/>
            <a:chOff x="2088" y="595"/>
            <a:chExt cx="372" cy="250"/>
          </a:xfrm>
        </p:grpSpPr>
        <p:sp>
          <p:nvSpPr>
            <p:cNvPr id="15381" name="Line 21"/>
            <p:cNvSpPr>
              <a:spLocks noChangeShapeType="1"/>
            </p:cNvSpPr>
            <p:nvPr/>
          </p:nvSpPr>
          <p:spPr bwMode="auto">
            <a:xfrm>
              <a:off x="2088" y="637"/>
              <a:ext cx="0" cy="192"/>
            </a:xfrm>
            <a:prstGeom prst="line">
              <a:avLst/>
            </a:prstGeom>
            <a:noFill/>
            <a:ln w="38100">
              <a:solidFill>
                <a:srgbClr val="FF00FF"/>
              </a:solidFill>
              <a:round/>
              <a:headEnd/>
              <a:tailEnd type="none" w="med" len="lg"/>
            </a:ln>
            <a:effectLst/>
          </p:spPr>
          <p:txBody>
            <a:bodyPr wrap="none" anchor="ctr"/>
            <a:lstStyle/>
            <a:p>
              <a:endParaRPr lang="zh-CN" altLang="en-US" sz="1050"/>
            </a:p>
          </p:txBody>
        </p:sp>
        <p:graphicFrame>
          <p:nvGraphicFramePr>
            <p:cNvPr id="15382" name="Object 22"/>
            <p:cNvGraphicFramePr>
              <a:graphicFrameLocks noChangeAspect="1"/>
            </p:cNvGraphicFramePr>
            <p:nvPr/>
          </p:nvGraphicFramePr>
          <p:xfrm>
            <a:off x="2154" y="595"/>
            <a:ext cx="306" cy="250"/>
          </p:xfrm>
          <a:graphic>
            <a:graphicData uri="http://schemas.openxmlformats.org/presentationml/2006/ole">
              <mc:AlternateContent xmlns:mc="http://schemas.openxmlformats.org/markup-compatibility/2006">
                <mc:Choice xmlns:v="urn:schemas-microsoft-com:vml" Requires="v">
                  <p:oleObj name="公式" r:id="rId19" imgW="215619" imgH="177569" progId="Equation.3">
                    <p:embed/>
                  </p:oleObj>
                </mc:Choice>
                <mc:Fallback>
                  <p:oleObj name="公式" r:id="rId19" imgW="215619" imgH="177569" progId="Equation.3">
                    <p:embed/>
                    <p:pic>
                      <p:nvPicPr>
                        <p:cNvPr id="15382" name="Object 2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154" y="595"/>
                          <a:ext cx="3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5383" name="Line 23"/>
          <p:cNvSpPr>
            <a:spLocks noChangeShapeType="1"/>
          </p:cNvSpPr>
          <p:nvPr/>
        </p:nvSpPr>
        <p:spPr bwMode="auto">
          <a:xfrm>
            <a:off x="6776444" y="2644530"/>
            <a:ext cx="669131" cy="3572"/>
          </a:xfrm>
          <a:prstGeom prst="line">
            <a:avLst/>
          </a:prstGeom>
          <a:noFill/>
          <a:ln w="38100">
            <a:solidFill>
              <a:srgbClr val="0000CC"/>
            </a:solidFill>
            <a:prstDash val="sysDot"/>
            <a:round/>
            <a:headEnd/>
            <a:tailEnd type="none" w="med" len="lg"/>
          </a:ln>
          <a:effectLst/>
        </p:spPr>
        <p:txBody>
          <a:bodyPr wrap="none" anchor="ctr"/>
          <a:lstStyle/>
          <a:p>
            <a:endParaRPr lang="zh-CN" altLang="en-US" sz="1050"/>
          </a:p>
        </p:txBody>
      </p:sp>
      <p:grpSp>
        <p:nvGrpSpPr>
          <p:cNvPr id="6" name="Group 24"/>
          <p:cNvGrpSpPr>
            <a:grpSpLocks/>
          </p:cNvGrpSpPr>
          <p:nvPr/>
        </p:nvGrpSpPr>
        <p:grpSpPr bwMode="auto">
          <a:xfrm>
            <a:off x="6720484" y="2107558"/>
            <a:ext cx="725091" cy="528638"/>
            <a:chOff x="4312" y="391"/>
            <a:chExt cx="609" cy="444"/>
          </a:xfrm>
        </p:grpSpPr>
        <p:sp>
          <p:nvSpPr>
            <p:cNvPr id="15385" name="Line 25"/>
            <p:cNvSpPr>
              <a:spLocks noChangeShapeType="1"/>
            </p:cNvSpPr>
            <p:nvPr/>
          </p:nvSpPr>
          <p:spPr bwMode="auto">
            <a:xfrm flipH="1" flipV="1">
              <a:off x="4312" y="668"/>
              <a:ext cx="53" cy="167"/>
            </a:xfrm>
            <a:prstGeom prst="line">
              <a:avLst/>
            </a:prstGeom>
            <a:noFill/>
            <a:ln w="19050">
              <a:solidFill>
                <a:schemeClr val="tx1"/>
              </a:solidFill>
              <a:round/>
              <a:headEnd/>
              <a:tailEnd type="none" w="med" len="lg"/>
            </a:ln>
            <a:effectLst/>
          </p:spPr>
          <p:txBody>
            <a:bodyPr wrap="none" anchor="ctr"/>
            <a:lstStyle/>
            <a:p>
              <a:endParaRPr lang="zh-CN" altLang="en-US" sz="1050"/>
            </a:p>
          </p:txBody>
        </p:sp>
        <p:sp>
          <p:nvSpPr>
            <p:cNvPr id="15386" name="Line 26"/>
            <p:cNvSpPr>
              <a:spLocks noChangeShapeType="1"/>
            </p:cNvSpPr>
            <p:nvPr/>
          </p:nvSpPr>
          <p:spPr bwMode="auto">
            <a:xfrm flipH="1" flipV="1">
              <a:off x="4868" y="465"/>
              <a:ext cx="53" cy="167"/>
            </a:xfrm>
            <a:prstGeom prst="line">
              <a:avLst/>
            </a:prstGeom>
            <a:noFill/>
            <a:ln w="19050">
              <a:solidFill>
                <a:schemeClr val="tx1"/>
              </a:solidFill>
              <a:round/>
              <a:headEnd/>
              <a:tailEnd type="none" w="med" len="lg"/>
            </a:ln>
            <a:effectLst/>
          </p:spPr>
          <p:txBody>
            <a:bodyPr wrap="none" anchor="ctr"/>
            <a:lstStyle/>
            <a:p>
              <a:endParaRPr lang="zh-CN" altLang="en-US" sz="1050"/>
            </a:p>
          </p:txBody>
        </p:sp>
        <p:sp>
          <p:nvSpPr>
            <p:cNvPr id="15387" name="Line 27"/>
            <p:cNvSpPr>
              <a:spLocks noChangeShapeType="1"/>
            </p:cNvSpPr>
            <p:nvPr/>
          </p:nvSpPr>
          <p:spPr bwMode="auto">
            <a:xfrm flipV="1">
              <a:off x="4334" y="572"/>
              <a:ext cx="587" cy="185"/>
            </a:xfrm>
            <a:prstGeom prst="line">
              <a:avLst/>
            </a:prstGeom>
            <a:noFill/>
            <a:ln w="19050">
              <a:solidFill>
                <a:schemeClr val="tx1"/>
              </a:solidFill>
              <a:round/>
              <a:headEnd type="stealth" w="med" len="lg"/>
              <a:tailEnd type="stealth" w="med" len="lg"/>
            </a:ln>
            <a:effectLst/>
          </p:spPr>
          <p:txBody>
            <a:bodyPr wrap="none" anchor="ctr"/>
            <a:lstStyle/>
            <a:p>
              <a:endParaRPr lang="zh-CN" altLang="en-US" sz="1050"/>
            </a:p>
          </p:txBody>
        </p:sp>
        <p:graphicFrame>
          <p:nvGraphicFramePr>
            <p:cNvPr id="15388" name="Object 28"/>
            <p:cNvGraphicFramePr>
              <a:graphicFrameLocks noChangeAspect="1"/>
            </p:cNvGraphicFramePr>
            <p:nvPr/>
          </p:nvGraphicFramePr>
          <p:xfrm>
            <a:off x="4474" y="391"/>
            <a:ext cx="155" cy="272"/>
          </p:xfrm>
          <a:graphic>
            <a:graphicData uri="http://schemas.openxmlformats.org/presentationml/2006/ole">
              <mc:AlternateContent xmlns:mc="http://schemas.openxmlformats.org/markup-compatibility/2006">
                <mc:Choice xmlns:v="urn:schemas-microsoft-com:vml" Requires="v">
                  <p:oleObj name="公式" r:id="rId21" imgW="101468" imgH="177569" progId="Equation.3">
                    <p:embed/>
                  </p:oleObj>
                </mc:Choice>
                <mc:Fallback>
                  <p:oleObj name="公式" r:id="rId21" imgW="101468" imgH="177569" progId="Equation.3">
                    <p:embed/>
                    <p:pic>
                      <p:nvPicPr>
                        <p:cNvPr id="15388" name="Object 2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474" y="391"/>
                          <a:ext cx="155"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5389" name="Object 29"/>
          <p:cNvGraphicFramePr>
            <a:graphicFrameLocks noChangeAspect="1"/>
          </p:cNvGraphicFramePr>
          <p:nvPr/>
        </p:nvGraphicFramePr>
        <p:xfrm>
          <a:off x="881037" y="4656766"/>
          <a:ext cx="1212056" cy="769144"/>
        </p:xfrm>
        <a:graphic>
          <a:graphicData uri="http://schemas.openxmlformats.org/presentationml/2006/ole">
            <mc:AlternateContent xmlns:mc="http://schemas.openxmlformats.org/markup-compatibility/2006">
              <mc:Choice xmlns:v="urn:schemas-microsoft-com:vml" Requires="v">
                <p:oleObj name="公式" r:id="rId23" imgW="634725" imgH="406224" progId="Equation.3">
                  <p:embed/>
                </p:oleObj>
              </mc:Choice>
              <mc:Fallback>
                <p:oleObj name="公式" r:id="rId23" imgW="634725" imgH="406224" progId="Equation.3">
                  <p:embed/>
                  <p:pic>
                    <p:nvPicPr>
                      <p:cNvPr id="15389" name="Object 2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81037" y="4656766"/>
                        <a:ext cx="1212056" cy="769144"/>
                      </a:xfrm>
                      <a:prstGeom prst="rect">
                        <a:avLst/>
                      </a:prstGeom>
                      <a:noFill/>
                      <a:ln w="12700">
                        <a:solidFill>
                          <a:srgbClr val="FF0000"/>
                        </a:solidFill>
                        <a:prstDash val="sysDash"/>
                        <a:miter lim="800000"/>
                        <a:headEnd/>
                        <a:tailEnd type="none" w="med" len="lg"/>
                      </a:ln>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 name="Group 30"/>
          <p:cNvGrpSpPr>
            <a:grpSpLocks/>
          </p:cNvGrpSpPr>
          <p:nvPr/>
        </p:nvGrpSpPr>
        <p:grpSpPr bwMode="auto">
          <a:xfrm>
            <a:off x="5339358" y="3239843"/>
            <a:ext cx="2970610" cy="758429"/>
            <a:chOff x="3288" y="1251"/>
            <a:chExt cx="2232" cy="637"/>
          </a:xfrm>
        </p:grpSpPr>
        <p:sp>
          <p:nvSpPr>
            <p:cNvPr id="15391" name="Rectangle 31"/>
            <p:cNvSpPr>
              <a:spLocks noChangeArrowheads="1"/>
            </p:cNvSpPr>
            <p:nvPr/>
          </p:nvSpPr>
          <p:spPr bwMode="auto">
            <a:xfrm>
              <a:off x="3288" y="1251"/>
              <a:ext cx="462" cy="637"/>
            </a:xfrm>
            <a:prstGeom prst="rect">
              <a:avLst/>
            </a:prstGeom>
            <a:gradFill rotWithShape="1">
              <a:gsLst>
                <a:gs pos="0">
                  <a:srgbClr val="FF9900">
                    <a:gamma/>
                    <a:shade val="0"/>
                    <a:invGamma/>
                  </a:srgbClr>
                </a:gs>
                <a:gs pos="50000">
                  <a:srgbClr val="FF9900"/>
                </a:gs>
                <a:gs pos="100000">
                  <a:srgbClr val="FF9900">
                    <a:gamma/>
                    <a:shade val="0"/>
                    <a:invGamma/>
                  </a:srgbClr>
                </a:gs>
              </a:gsLst>
              <a:lin ang="0" scaled="1"/>
            </a:gradFill>
            <a:ln w="9525">
              <a:noFill/>
              <a:miter lim="800000"/>
              <a:headEnd/>
              <a:tailEnd/>
            </a:ln>
            <a:effectLst/>
          </p:spPr>
          <p:txBody>
            <a:bodyPr wrap="none" anchor="ctr"/>
            <a:lstStyle/>
            <a:p>
              <a:endParaRPr lang="zh-CN" altLang="en-US" sz="1050"/>
            </a:p>
          </p:txBody>
        </p:sp>
        <p:sp>
          <p:nvSpPr>
            <p:cNvPr id="15392" name="Rectangle 32"/>
            <p:cNvSpPr>
              <a:spLocks noChangeArrowheads="1"/>
            </p:cNvSpPr>
            <p:nvPr/>
          </p:nvSpPr>
          <p:spPr bwMode="auto">
            <a:xfrm>
              <a:off x="4184" y="1251"/>
              <a:ext cx="464" cy="637"/>
            </a:xfrm>
            <a:prstGeom prst="rect">
              <a:avLst/>
            </a:prstGeom>
            <a:gradFill rotWithShape="1">
              <a:gsLst>
                <a:gs pos="0">
                  <a:srgbClr val="FF9900">
                    <a:gamma/>
                    <a:shade val="0"/>
                    <a:invGamma/>
                  </a:srgbClr>
                </a:gs>
                <a:gs pos="50000">
                  <a:srgbClr val="FF9900"/>
                </a:gs>
                <a:gs pos="100000">
                  <a:srgbClr val="FF9900">
                    <a:gamma/>
                    <a:shade val="0"/>
                    <a:invGamma/>
                  </a:srgbClr>
                </a:gs>
              </a:gsLst>
              <a:lin ang="0" scaled="1"/>
            </a:gradFill>
            <a:ln w="9525">
              <a:noFill/>
              <a:miter lim="800000"/>
              <a:headEnd/>
              <a:tailEnd/>
            </a:ln>
            <a:effectLst/>
          </p:spPr>
          <p:txBody>
            <a:bodyPr wrap="none" anchor="ctr"/>
            <a:lstStyle/>
            <a:p>
              <a:endParaRPr lang="zh-CN" altLang="en-US" sz="1050"/>
            </a:p>
          </p:txBody>
        </p:sp>
        <p:sp>
          <p:nvSpPr>
            <p:cNvPr id="15393" name="Rectangle 33"/>
            <p:cNvSpPr>
              <a:spLocks noChangeArrowheads="1"/>
            </p:cNvSpPr>
            <p:nvPr/>
          </p:nvSpPr>
          <p:spPr bwMode="auto">
            <a:xfrm>
              <a:off x="3723" y="1251"/>
              <a:ext cx="461" cy="637"/>
            </a:xfrm>
            <a:prstGeom prst="rect">
              <a:avLst/>
            </a:prstGeom>
            <a:gradFill rotWithShape="1">
              <a:gsLst>
                <a:gs pos="0">
                  <a:srgbClr val="FF9900">
                    <a:gamma/>
                    <a:shade val="0"/>
                    <a:invGamma/>
                  </a:srgbClr>
                </a:gs>
                <a:gs pos="50000">
                  <a:srgbClr val="FF9900"/>
                </a:gs>
                <a:gs pos="100000">
                  <a:srgbClr val="FF9900">
                    <a:gamma/>
                    <a:shade val="0"/>
                    <a:invGamma/>
                  </a:srgbClr>
                </a:gs>
              </a:gsLst>
              <a:lin ang="0" scaled="1"/>
            </a:gradFill>
            <a:ln w="9525">
              <a:noFill/>
              <a:miter lim="800000"/>
              <a:headEnd/>
              <a:tailEnd/>
            </a:ln>
            <a:effectLst/>
          </p:spPr>
          <p:txBody>
            <a:bodyPr wrap="none" anchor="ctr"/>
            <a:lstStyle/>
            <a:p>
              <a:endParaRPr lang="zh-CN" altLang="en-US" sz="1050"/>
            </a:p>
          </p:txBody>
        </p:sp>
        <p:sp>
          <p:nvSpPr>
            <p:cNvPr id="15394" name="Rectangle 34"/>
            <p:cNvSpPr>
              <a:spLocks noChangeArrowheads="1"/>
            </p:cNvSpPr>
            <p:nvPr/>
          </p:nvSpPr>
          <p:spPr bwMode="auto">
            <a:xfrm>
              <a:off x="4631" y="1251"/>
              <a:ext cx="461" cy="637"/>
            </a:xfrm>
            <a:prstGeom prst="rect">
              <a:avLst/>
            </a:prstGeom>
            <a:gradFill rotWithShape="1">
              <a:gsLst>
                <a:gs pos="0">
                  <a:srgbClr val="FF9900">
                    <a:gamma/>
                    <a:shade val="0"/>
                    <a:invGamma/>
                  </a:srgbClr>
                </a:gs>
                <a:gs pos="50000">
                  <a:srgbClr val="FF9900"/>
                </a:gs>
                <a:gs pos="100000">
                  <a:srgbClr val="FF9900">
                    <a:gamma/>
                    <a:shade val="0"/>
                    <a:invGamma/>
                  </a:srgbClr>
                </a:gs>
              </a:gsLst>
              <a:lin ang="0" scaled="1"/>
            </a:gradFill>
            <a:ln w="9525">
              <a:noFill/>
              <a:miter lim="800000"/>
              <a:headEnd/>
              <a:tailEnd/>
            </a:ln>
            <a:effectLst/>
          </p:spPr>
          <p:txBody>
            <a:bodyPr wrap="none" anchor="ctr"/>
            <a:lstStyle/>
            <a:p>
              <a:endParaRPr lang="zh-CN" altLang="en-US" sz="1050"/>
            </a:p>
          </p:txBody>
        </p:sp>
        <p:sp>
          <p:nvSpPr>
            <p:cNvPr id="15395" name="Rectangle 35"/>
            <p:cNvSpPr>
              <a:spLocks noChangeArrowheads="1"/>
            </p:cNvSpPr>
            <p:nvPr/>
          </p:nvSpPr>
          <p:spPr bwMode="auto">
            <a:xfrm>
              <a:off x="5061" y="1251"/>
              <a:ext cx="459" cy="637"/>
            </a:xfrm>
            <a:prstGeom prst="rect">
              <a:avLst/>
            </a:prstGeom>
            <a:gradFill rotWithShape="1">
              <a:gsLst>
                <a:gs pos="0">
                  <a:srgbClr val="FF9900">
                    <a:gamma/>
                    <a:shade val="0"/>
                    <a:invGamma/>
                  </a:srgbClr>
                </a:gs>
                <a:gs pos="50000">
                  <a:srgbClr val="FF9900"/>
                </a:gs>
                <a:gs pos="100000">
                  <a:srgbClr val="FF9900">
                    <a:gamma/>
                    <a:shade val="0"/>
                    <a:invGamma/>
                  </a:srgbClr>
                </a:gs>
              </a:gsLst>
              <a:lin ang="0" scaled="1"/>
            </a:gradFill>
            <a:ln w="9525">
              <a:noFill/>
              <a:miter lim="800000"/>
              <a:headEnd/>
              <a:tailEnd/>
            </a:ln>
            <a:effectLst/>
          </p:spPr>
          <p:txBody>
            <a:bodyPr wrap="none" anchor="ctr"/>
            <a:lstStyle/>
            <a:p>
              <a:endParaRPr lang="zh-CN" altLang="en-US" sz="1050"/>
            </a:p>
          </p:txBody>
        </p:sp>
      </p:grpSp>
      <p:grpSp>
        <p:nvGrpSpPr>
          <p:cNvPr id="8" name="Group 36"/>
          <p:cNvGrpSpPr>
            <a:grpSpLocks/>
          </p:cNvGrpSpPr>
          <p:nvPr/>
        </p:nvGrpSpPr>
        <p:grpSpPr bwMode="auto">
          <a:xfrm>
            <a:off x="6797874" y="4050658"/>
            <a:ext cx="647700" cy="540544"/>
            <a:chOff x="4105" y="3294"/>
            <a:chExt cx="317" cy="454"/>
          </a:xfrm>
        </p:grpSpPr>
        <p:sp>
          <p:nvSpPr>
            <p:cNvPr id="15397" name="Line 37"/>
            <p:cNvSpPr>
              <a:spLocks noChangeShapeType="1"/>
            </p:cNvSpPr>
            <p:nvPr/>
          </p:nvSpPr>
          <p:spPr bwMode="auto">
            <a:xfrm>
              <a:off x="4105" y="3385"/>
              <a:ext cx="317" cy="0"/>
            </a:xfrm>
            <a:prstGeom prst="line">
              <a:avLst/>
            </a:prstGeom>
            <a:noFill/>
            <a:ln w="28575">
              <a:solidFill>
                <a:schemeClr val="tx1"/>
              </a:solidFill>
              <a:round/>
              <a:headEnd type="triangle" w="med" len="lg"/>
              <a:tailEnd type="triangle" w="med" len="lg"/>
            </a:ln>
            <a:effectLst/>
          </p:spPr>
          <p:txBody>
            <a:bodyPr wrap="none" anchor="ctr"/>
            <a:lstStyle/>
            <a:p>
              <a:endParaRPr lang="zh-CN" altLang="en-US" sz="1050"/>
            </a:p>
          </p:txBody>
        </p:sp>
        <p:graphicFrame>
          <p:nvGraphicFramePr>
            <p:cNvPr id="15398" name="Object 38"/>
            <p:cNvGraphicFramePr>
              <a:graphicFrameLocks noChangeAspect="1"/>
            </p:cNvGraphicFramePr>
            <p:nvPr/>
          </p:nvGraphicFramePr>
          <p:xfrm>
            <a:off x="4150" y="3460"/>
            <a:ext cx="186" cy="288"/>
          </p:xfrm>
          <a:graphic>
            <a:graphicData uri="http://schemas.openxmlformats.org/presentationml/2006/ole">
              <mc:AlternateContent xmlns:mc="http://schemas.openxmlformats.org/markup-compatibility/2006">
                <mc:Choice xmlns:v="urn:schemas-microsoft-com:vml" Requires="v">
                  <p:oleObj name="公式" r:id="rId25" imgW="101468" imgH="177569" progId="Equation.3">
                    <p:embed/>
                  </p:oleObj>
                </mc:Choice>
                <mc:Fallback>
                  <p:oleObj name="公式" r:id="rId25" imgW="101468" imgH="177569" progId="Equation.3">
                    <p:embed/>
                    <p:pic>
                      <p:nvPicPr>
                        <p:cNvPr id="15398" name="Object 3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150" y="3460"/>
                          <a:ext cx="186"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99" name="Line 39"/>
            <p:cNvSpPr>
              <a:spLocks noChangeShapeType="1"/>
            </p:cNvSpPr>
            <p:nvPr/>
          </p:nvSpPr>
          <p:spPr bwMode="auto">
            <a:xfrm>
              <a:off x="4105" y="3294"/>
              <a:ext cx="0" cy="181"/>
            </a:xfrm>
            <a:prstGeom prst="line">
              <a:avLst/>
            </a:prstGeom>
            <a:noFill/>
            <a:ln w="28575">
              <a:solidFill>
                <a:schemeClr val="tx1"/>
              </a:solidFill>
              <a:round/>
              <a:headEnd/>
              <a:tailEnd/>
            </a:ln>
            <a:effectLst/>
          </p:spPr>
          <p:txBody>
            <a:bodyPr/>
            <a:lstStyle/>
            <a:p>
              <a:endParaRPr lang="zh-CN" altLang="en-US" sz="1050"/>
            </a:p>
          </p:txBody>
        </p:sp>
        <p:sp>
          <p:nvSpPr>
            <p:cNvPr id="15400" name="Line 40"/>
            <p:cNvSpPr>
              <a:spLocks noChangeShapeType="1"/>
            </p:cNvSpPr>
            <p:nvPr/>
          </p:nvSpPr>
          <p:spPr bwMode="auto">
            <a:xfrm>
              <a:off x="4422" y="3294"/>
              <a:ext cx="0" cy="181"/>
            </a:xfrm>
            <a:prstGeom prst="line">
              <a:avLst/>
            </a:prstGeom>
            <a:noFill/>
            <a:ln w="28575">
              <a:solidFill>
                <a:schemeClr val="tx1"/>
              </a:solidFill>
              <a:round/>
              <a:headEnd/>
              <a:tailEnd/>
            </a:ln>
            <a:effectLst/>
          </p:spPr>
          <p:txBody>
            <a:bodyPr/>
            <a:lstStyle/>
            <a:p>
              <a:endParaRPr lang="zh-CN" altLang="en-US" sz="1050"/>
            </a:p>
          </p:txBody>
        </p:sp>
      </p:grpSp>
      <p:sp>
        <p:nvSpPr>
          <p:cNvPr id="43" name="文本框 42"/>
          <p:cNvSpPr txBox="1"/>
          <p:nvPr/>
        </p:nvSpPr>
        <p:spPr>
          <a:xfrm>
            <a:off x="142843" y="907194"/>
            <a:ext cx="4281483" cy="523220"/>
          </a:xfrm>
          <a:prstGeom prst="rect">
            <a:avLst/>
          </a:prstGeom>
          <a:noFill/>
        </p:spPr>
        <p:txBody>
          <a:bodyPr wrap="square" rtlCol="0">
            <a:spAutoFit/>
          </a:bodyPr>
          <a:lstStyle/>
          <a:p>
            <a:r>
              <a:rPr lang="zh-CN" altLang="en-US" sz="2800" b="1" dirty="0">
                <a:solidFill>
                  <a:srgbClr val="0000FF"/>
                </a:solidFill>
                <a:latin typeface="微软雅黑" panose="020B0503020204020204" pitchFamily="34" charset="-122"/>
                <a:ea typeface="微软雅黑" panose="020B0503020204020204" pitchFamily="34" charset="-122"/>
              </a:rPr>
              <a:t>劈尖测量微小物体厚度</a:t>
            </a:r>
          </a:p>
        </p:txBody>
      </p:sp>
      <p:sp>
        <p:nvSpPr>
          <p:cNvPr id="9" name="WordArt 51">
            <a:extLst>
              <a:ext uri="{FF2B5EF4-FFF2-40B4-BE49-F238E27FC236}">
                <a16:creationId xmlns:a16="http://schemas.microsoft.com/office/drawing/2014/main" id="{7F913238-B138-F67D-DE59-4EB4A6B22206}"/>
              </a:ext>
            </a:extLst>
          </p:cNvPr>
          <p:cNvSpPr>
            <a:spLocks noChangeArrowheads="1" noChangeShapeType="1"/>
          </p:cNvSpPr>
          <p:nvPr/>
        </p:nvSpPr>
        <p:spPr bwMode="auto">
          <a:xfrm>
            <a:off x="142844" y="71414"/>
            <a:ext cx="1729499" cy="409097"/>
          </a:xfrm>
          <a:prstGeom prst="rect">
            <a:avLst/>
          </a:prstGeom>
        </p:spPr>
        <p:txBody>
          <a:bodyPr wrap="none" fromWordArt="1">
            <a:prstTxWarp prst="textPlain">
              <a:avLst>
                <a:gd name="adj" fmla="val 50000"/>
              </a:avLst>
            </a:prstTxWarp>
          </a:bodyPr>
          <a:lstStyle/>
          <a:p>
            <a:pPr algn="ctr"/>
            <a:r>
              <a:rPr lang="zh-CN" altLang="en-US" sz="3600" dirty="0">
                <a:ln w="9525">
                  <a:noFill/>
                  <a:round/>
                  <a:headEnd/>
                  <a:tailEnd/>
                </a:ln>
                <a:gradFill rotWithShape="0">
                  <a:gsLst>
                    <a:gs pos="0">
                      <a:schemeClr val="bg1"/>
                    </a:gs>
                    <a:gs pos="100000">
                      <a:srgbClr val="FFFE7D"/>
                    </a:gs>
                  </a:gsLst>
                  <a:lin ang="5400000" scaled="1"/>
                </a:gradFill>
                <a:effectLst>
                  <a:outerShdw dist="38100" dir="5400000" algn="ctr" rotWithShape="0">
                    <a:srgbClr val="4D4D4D">
                      <a:alpha val="76999"/>
                    </a:srgbClr>
                  </a:outerShdw>
                </a:effectLst>
                <a:latin typeface="华文琥珀"/>
                <a:ea typeface="华文琥珀"/>
              </a:rPr>
              <a:t>实验介绍</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365"/>
                                        </p:tgtEl>
                                        <p:attrNameLst>
                                          <p:attrName>style.visibility</p:attrName>
                                        </p:attrNameLst>
                                      </p:cBhvr>
                                      <p:to>
                                        <p:strVal val="visible"/>
                                      </p:to>
                                    </p:set>
                                    <p:animEffect transition="in" filter="wipe(left)">
                                      <p:cBhvr>
                                        <p:cTn id="17" dur="500"/>
                                        <p:tgtEl>
                                          <p:spTgt spid="1536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383"/>
                                        </p:tgtEl>
                                        <p:attrNameLst>
                                          <p:attrName>style.visibility</p:attrName>
                                        </p:attrNameLst>
                                      </p:cBhvr>
                                      <p:to>
                                        <p:strVal val="visible"/>
                                      </p:to>
                                    </p:set>
                                    <p:animEffect transition="in" filter="blinds(horizontal)">
                                      <p:cBhvr>
                                        <p:cTn id="22" dur="500"/>
                                        <p:tgtEl>
                                          <p:spTgt spid="1538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nodeType="clickEffect">
                                  <p:stCondLst>
                                    <p:cond delay="0"/>
                                  </p:stCondLst>
                                  <p:childTnLst>
                                    <p:set>
                                      <p:cBhvr>
                                        <p:cTn id="31" dur="1" fill="hold">
                                          <p:stCondLst>
                                            <p:cond delay="0"/>
                                          </p:stCondLst>
                                        </p:cTn>
                                        <p:tgtEl>
                                          <p:spTgt spid="15363"/>
                                        </p:tgtEl>
                                        <p:attrNameLst>
                                          <p:attrName>style.visibility</p:attrName>
                                        </p:attrNameLst>
                                      </p:cBhvr>
                                      <p:to>
                                        <p:strVal val="visible"/>
                                      </p:to>
                                    </p:set>
                                    <p:animEffect transition="in" filter="blinds(vertical)">
                                      <p:cBhvr>
                                        <p:cTn id="32" dur="500"/>
                                        <p:tgtEl>
                                          <p:spTgt spid="1536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5362"/>
                                        </p:tgtEl>
                                        <p:attrNameLst>
                                          <p:attrName>style.visibility</p:attrName>
                                        </p:attrNameLst>
                                      </p:cBhvr>
                                      <p:to>
                                        <p:strVal val="visible"/>
                                      </p:to>
                                    </p:set>
                                    <p:animEffect transition="in" filter="blinds(horizontal)">
                                      <p:cBhvr>
                                        <p:cTn id="37" dur="500"/>
                                        <p:tgtEl>
                                          <p:spTgt spid="1536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linds(horizontal)">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blinds(horizontal)">
                                      <p:cBhvr>
                                        <p:cTn id="47" dur="5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5367"/>
                                        </p:tgtEl>
                                        <p:attrNameLst>
                                          <p:attrName>style.visibility</p:attrName>
                                        </p:attrNameLst>
                                      </p:cBhvr>
                                      <p:to>
                                        <p:strVal val="visible"/>
                                      </p:to>
                                    </p:set>
                                    <p:animEffect transition="in" filter="wipe(left)">
                                      <p:cBhvr>
                                        <p:cTn id="52" dur="500"/>
                                        <p:tgtEl>
                                          <p:spTgt spid="1536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5368"/>
                                        </p:tgtEl>
                                        <p:attrNameLst>
                                          <p:attrName>style.visibility</p:attrName>
                                        </p:attrNameLst>
                                      </p:cBhvr>
                                      <p:to>
                                        <p:strVal val="visible"/>
                                      </p:to>
                                    </p:set>
                                    <p:animEffect transition="in" filter="wipe(left)">
                                      <p:cBhvr>
                                        <p:cTn id="57" dur="500"/>
                                        <p:tgtEl>
                                          <p:spTgt spid="1536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5366"/>
                                        </p:tgtEl>
                                        <p:attrNameLst>
                                          <p:attrName>style.visibility</p:attrName>
                                        </p:attrNameLst>
                                      </p:cBhvr>
                                      <p:to>
                                        <p:strVal val="visible"/>
                                      </p:to>
                                    </p:set>
                                    <p:animEffect transition="in" filter="wipe(left)">
                                      <p:cBhvr>
                                        <p:cTn id="62" dur="500"/>
                                        <p:tgtEl>
                                          <p:spTgt spid="1536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5389"/>
                                        </p:tgtEl>
                                        <p:attrNameLst>
                                          <p:attrName>style.visibility</p:attrName>
                                        </p:attrNameLst>
                                      </p:cBhvr>
                                      <p:to>
                                        <p:strVal val="visible"/>
                                      </p:to>
                                    </p:set>
                                    <p:animEffect transition="in" filter="wipe(left)">
                                      <p:cBhvr>
                                        <p:cTn id="67" dur="500"/>
                                        <p:tgtEl>
                                          <p:spTgt spid="15389"/>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5369"/>
                                        </p:tgtEl>
                                        <p:attrNameLst>
                                          <p:attrName>style.visibility</p:attrName>
                                        </p:attrNameLst>
                                      </p:cBhvr>
                                      <p:to>
                                        <p:strVal val="visible"/>
                                      </p:to>
                                    </p:set>
                                    <p:animEffect transition="in" filter="blinds(horizontal)">
                                      <p:cBhvr>
                                        <p:cTn id="72" dur="500"/>
                                        <p:tgtEl>
                                          <p:spTgt spid="153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utoUpdateAnimBg="0"/>
      <p:bldP spid="15369" grpId="0"/>
      <p:bldP spid="1538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a:extLst>
              <a:ext uri="{FF2B5EF4-FFF2-40B4-BE49-F238E27FC236}">
                <a16:creationId xmlns:a16="http://schemas.microsoft.com/office/drawing/2014/main" id="{0659C5B8-E0CD-D685-D264-9C549595D727}"/>
              </a:ext>
            </a:extLst>
          </p:cNvPr>
          <p:cNvGrpSpPr/>
          <p:nvPr/>
        </p:nvGrpSpPr>
        <p:grpSpPr>
          <a:xfrm>
            <a:off x="561771" y="1827209"/>
            <a:ext cx="3552112" cy="2070384"/>
            <a:chOff x="580164" y="2275781"/>
            <a:chExt cx="3132350" cy="1610079"/>
          </a:xfrm>
        </p:grpSpPr>
        <p:sp>
          <p:nvSpPr>
            <p:cNvPr id="6" name="Rectangle 33"/>
            <p:cNvSpPr>
              <a:spLocks noChangeArrowheads="1"/>
            </p:cNvSpPr>
            <p:nvPr/>
          </p:nvSpPr>
          <p:spPr bwMode="auto">
            <a:xfrm>
              <a:off x="580164" y="3483341"/>
              <a:ext cx="2286768" cy="80504"/>
            </a:xfrm>
            <a:prstGeom prst="rect">
              <a:avLst/>
            </a:prstGeom>
            <a:solidFill>
              <a:schemeClr val="accent1"/>
            </a:solidFill>
            <a:ln w="9525">
              <a:solidFill>
                <a:schemeClr val="tx1"/>
              </a:solidFill>
              <a:miter lim="800000"/>
              <a:headEnd/>
              <a:tailEnd/>
            </a:ln>
          </p:spPr>
          <p:txBody>
            <a:bodyPr wrap="none" anchor="ctr"/>
            <a:lstStyle/>
            <a:p>
              <a:endParaRPr lang="zh-CN" altLang="en-US" sz="1050"/>
            </a:p>
          </p:txBody>
        </p:sp>
        <p:sp>
          <p:nvSpPr>
            <p:cNvPr id="7" name="Rectangle 34"/>
            <p:cNvSpPr>
              <a:spLocks noChangeArrowheads="1"/>
            </p:cNvSpPr>
            <p:nvPr/>
          </p:nvSpPr>
          <p:spPr bwMode="auto">
            <a:xfrm rot="21063867">
              <a:off x="580164" y="3241829"/>
              <a:ext cx="2286768" cy="83858"/>
            </a:xfrm>
            <a:prstGeom prst="rect">
              <a:avLst/>
            </a:prstGeom>
            <a:solidFill>
              <a:schemeClr val="accent1"/>
            </a:solidFill>
            <a:ln w="9525">
              <a:solidFill>
                <a:schemeClr val="tx1"/>
              </a:solidFill>
              <a:miter lim="800000"/>
              <a:headEnd/>
              <a:tailEnd/>
            </a:ln>
          </p:spPr>
          <p:txBody>
            <a:bodyPr wrap="none" anchor="ctr"/>
            <a:lstStyle/>
            <a:p>
              <a:endParaRPr lang="zh-CN" altLang="en-US" sz="1050"/>
            </a:p>
          </p:txBody>
        </p:sp>
        <p:sp>
          <p:nvSpPr>
            <p:cNvPr id="8" name="Rectangle 35"/>
            <p:cNvSpPr>
              <a:spLocks noChangeArrowheads="1"/>
            </p:cNvSpPr>
            <p:nvPr/>
          </p:nvSpPr>
          <p:spPr bwMode="auto">
            <a:xfrm>
              <a:off x="2515122" y="3193885"/>
              <a:ext cx="791574" cy="289457"/>
            </a:xfrm>
            <a:prstGeom prst="rect">
              <a:avLst/>
            </a:prstGeom>
            <a:solidFill>
              <a:srgbClr val="FF0000"/>
            </a:solidFill>
            <a:ln w="9525">
              <a:solidFill>
                <a:schemeClr val="tx1"/>
              </a:solidFill>
              <a:miter lim="800000"/>
              <a:headEnd/>
              <a:tailEnd/>
            </a:ln>
          </p:spPr>
          <p:txBody>
            <a:bodyPr wrap="none" anchor="ctr"/>
            <a:lstStyle/>
            <a:p>
              <a:endParaRPr lang="zh-CN" altLang="en-US" sz="1050"/>
            </a:p>
          </p:txBody>
        </p:sp>
        <p:sp>
          <p:nvSpPr>
            <p:cNvPr id="9" name="Line 36"/>
            <p:cNvSpPr>
              <a:spLocks noChangeShapeType="1"/>
            </p:cNvSpPr>
            <p:nvPr/>
          </p:nvSpPr>
          <p:spPr bwMode="auto">
            <a:xfrm>
              <a:off x="1019927" y="2517293"/>
              <a:ext cx="0" cy="805040"/>
            </a:xfrm>
            <a:prstGeom prst="line">
              <a:avLst/>
            </a:prstGeom>
            <a:noFill/>
            <a:ln w="9525">
              <a:solidFill>
                <a:schemeClr val="tx1"/>
              </a:solidFill>
              <a:round/>
              <a:headEnd/>
              <a:tailEnd type="triangle" w="med" len="med"/>
            </a:ln>
          </p:spPr>
          <p:txBody>
            <a:bodyPr/>
            <a:lstStyle/>
            <a:p>
              <a:endParaRPr lang="zh-CN" altLang="en-US" sz="1050"/>
            </a:p>
          </p:txBody>
        </p:sp>
        <p:sp>
          <p:nvSpPr>
            <p:cNvPr id="10" name="Line 37"/>
            <p:cNvSpPr>
              <a:spLocks noChangeShapeType="1"/>
            </p:cNvSpPr>
            <p:nvPr/>
          </p:nvSpPr>
          <p:spPr bwMode="auto">
            <a:xfrm>
              <a:off x="1283785" y="2436789"/>
              <a:ext cx="0" cy="805040"/>
            </a:xfrm>
            <a:prstGeom prst="line">
              <a:avLst/>
            </a:prstGeom>
            <a:noFill/>
            <a:ln w="9525">
              <a:solidFill>
                <a:schemeClr val="tx1"/>
              </a:solidFill>
              <a:round/>
              <a:headEnd/>
              <a:tailEnd type="triangle" w="med" len="med"/>
            </a:ln>
          </p:spPr>
          <p:txBody>
            <a:bodyPr/>
            <a:lstStyle/>
            <a:p>
              <a:endParaRPr lang="zh-CN" altLang="en-US" sz="1050"/>
            </a:p>
          </p:txBody>
        </p:sp>
        <p:sp>
          <p:nvSpPr>
            <p:cNvPr id="11" name="Line 38"/>
            <p:cNvSpPr>
              <a:spLocks noChangeShapeType="1"/>
            </p:cNvSpPr>
            <p:nvPr/>
          </p:nvSpPr>
          <p:spPr bwMode="auto">
            <a:xfrm>
              <a:off x="1811501" y="2275781"/>
              <a:ext cx="0" cy="805040"/>
            </a:xfrm>
            <a:prstGeom prst="line">
              <a:avLst/>
            </a:prstGeom>
            <a:noFill/>
            <a:ln w="9525">
              <a:solidFill>
                <a:schemeClr val="tx1"/>
              </a:solidFill>
              <a:round/>
              <a:headEnd/>
              <a:tailEnd type="triangle" w="med" len="med"/>
            </a:ln>
          </p:spPr>
          <p:txBody>
            <a:bodyPr/>
            <a:lstStyle/>
            <a:p>
              <a:endParaRPr lang="zh-CN" altLang="en-US" sz="1050"/>
            </a:p>
          </p:txBody>
        </p:sp>
        <p:sp>
          <p:nvSpPr>
            <p:cNvPr id="12" name="Line 39"/>
            <p:cNvSpPr>
              <a:spLocks noChangeShapeType="1"/>
            </p:cNvSpPr>
            <p:nvPr/>
          </p:nvSpPr>
          <p:spPr bwMode="auto">
            <a:xfrm>
              <a:off x="1547643" y="2356285"/>
              <a:ext cx="0" cy="805040"/>
            </a:xfrm>
            <a:prstGeom prst="line">
              <a:avLst/>
            </a:prstGeom>
            <a:noFill/>
            <a:ln w="9525">
              <a:solidFill>
                <a:schemeClr val="tx1"/>
              </a:solidFill>
              <a:round/>
              <a:headEnd/>
              <a:tailEnd type="triangle" w="med" len="med"/>
            </a:ln>
          </p:spPr>
          <p:txBody>
            <a:bodyPr/>
            <a:lstStyle/>
            <a:p>
              <a:endParaRPr lang="zh-CN" altLang="en-US" sz="1050"/>
            </a:p>
          </p:txBody>
        </p:sp>
        <p:sp>
          <p:nvSpPr>
            <p:cNvPr id="13" name="Line 40"/>
            <p:cNvSpPr>
              <a:spLocks noChangeShapeType="1"/>
            </p:cNvSpPr>
            <p:nvPr/>
          </p:nvSpPr>
          <p:spPr bwMode="auto">
            <a:xfrm>
              <a:off x="580164" y="3644348"/>
              <a:ext cx="0" cy="241512"/>
            </a:xfrm>
            <a:prstGeom prst="line">
              <a:avLst/>
            </a:prstGeom>
            <a:noFill/>
            <a:ln w="9525">
              <a:solidFill>
                <a:schemeClr val="tx1"/>
              </a:solidFill>
              <a:round/>
              <a:headEnd/>
              <a:tailEnd/>
            </a:ln>
          </p:spPr>
          <p:txBody>
            <a:bodyPr/>
            <a:lstStyle/>
            <a:p>
              <a:endParaRPr lang="zh-CN" altLang="en-US" sz="1050"/>
            </a:p>
          </p:txBody>
        </p:sp>
        <p:sp>
          <p:nvSpPr>
            <p:cNvPr id="14" name="Line 41"/>
            <p:cNvSpPr>
              <a:spLocks noChangeShapeType="1"/>
            </p:cNvSpPr>
            <p:nvPr/>
          </p:nvSpPr>
          <p:spPr bwMode="auto">
            <a:xfrm>
              <a:off x="2515122" y="3644348"/>
              <a:ext cx="0" cy="241512"/>
            </a:xfrm>
            <a:prstGeom prst="line">
              <a:avLst/>
            </a:prstGeom>
            <a:noFill/>
            <a:ln w="9525">
              <a:solidFill>
                <a:schemeClr val="tx1"/>
              </a:solidFill>
              <a:round/>
              <a:headEnd/>
              <a:tailEnd/>
            </a:ln>
          </p:spPr>
          <p:txBody>
            <a:bodyPr/>
            <a:lstStyle/>
            <a:p>
              <a:endParaRPr lang="zh-CN" altLang="en-US" sz="1050"/>
            </a:p>
          </p:txBody>
        </p:sp>
        <p:sp>
          <p:nvSpPr>
            <p:cNvPr id="15" name="Line 42"/>
            <p:cNvSpPr>
              <a:spLocks noChangeShapeType="1"/>
            </p:cNvSpPr>
            <p:nvPr/>
          </p:nvSpPr>
          <p:spPr bwMode="auto">
            <a:xfrm flipH="1">
              <a:off x="668117" y="3805356"/>
              <a:ext cx="527716" cy="0"/>
            </a:xfrm>
            <a:prstGeom prst="line">
              <a:avLst/>
            </a:prstGeom>
            <a:noFill/>
            <a:ln w="9525">
              <a:solidFill>
                <a:schemeClr val="tx1"/>
              </a:solidFill>
              <a:round/>
              <a:headEnd/>
              <a:tailEnd type="triangle" w="med" len="med"/>
            </a:ln>
          </p:spPr>
          <p:txBody>
            <a:bodyPr/>
            <a:lstStyle/>
            <a:p>
              <a:endParaRPr lang="zh-CN" altLang="en-US" sz="1050"/>
            </a:p>
          </p:txBody>
        </p:sp>
        <p:sp>
          <p:nvSpPr>
            <p:cNvPr id="16" name="Line 43"/>
            <p:cNvSpPr>
              <a:spLocks noChangeShapeType="1"/>
            </p:cNvSpPr>
            <p:nvPr/>
          </p:nvSpPr>
          <p:spPr bwMode="auto">
            <a:xfrm>
              <a:off x="1899454" y="3805356"/>
              <a:ext cx="527716" cy="0"/>
            </a:xfrm>
            <a:prstGeom prst="line">
              <a:avLst/>
            </a:prstGeom>
            <a:noFill/>
            <a:ln w="9525">
              <a:solidFill>
                <a:schemeClr val="tx1"/>
              </a:solidFill>
              <a:round/>
              <a:headEnd/>
              <a:tailEnd type="triangle" w="med" len="med"/>
            </a:ln>
          </p:spPr>
          <p:txBody>
            <a:bodyPr/>
            <a:lstStyle/>
            <a:p>
              <a:endParaRPr lang="zh-CN" altLang="en-US" sz="1050"/>
            </a:p>
          </p:txBody>
        </p:sp>
        <p:sp>
          <p:nvSpPr>
            <p:cNvPr id="17" name="Text Box 44"/>
            <p:cNvSpPr txBox="1">
              <a:spLocks noChangeArrowheads="1"/>
            </p:cNvSpPr>
            <p:nvPr/>
          </p:nvSpPr>
          <p:spPr bwMode="auto">
            <a:xfrm>
              <a:off x="1371739" y="3563844"/>
              <a:ext cx="351811" cy="300082"/>
            </a:xfrm>
            <a:prstGeom prst="rect">
              <a:avLst/>
            </a:prstGeom>
            <a:noFill/>
            <a:ln w="9525">
              <a:noFill/>
              <a:miter lim="800000"/>
              <a:headEnd/>
              <a:tailEnd/>
            </a:ln>
          </p:spPr>
          <p:txBody>
            <a:bodyPr>
              <a:spAutoFit/>
            </a:bodyPr>
            <a:lstStyle/>
            <a:p>
              <a:pPr algn="l">
                <a:spcBef>
                  <a:spcPct val="50000"/>
                </a:spcBef>
              </a:pPr>
              <a:r>
                <a:rPr lang="en-US" altLang="zh-CN" sz="1350" b="1">
                  <a:latin typeface="Times New Roman" pitchFamily="18" charset="0"/>
                </a:rPr>
                <a:t>L</a:t>
              </a:r>
            </a:p>
          </p:txBody>
        </p:sp>
        <p:sp>
          <p:nvSpPr>
            <p:cNvPr id="18" name="Text Box 45"/>
            <p:cNvSpPr txBox="1">
              <a:spLocks noChangeArrowheads="1"/>
            </p:cNvSpPr>
            <p:nvPr/>
          </p:nvSpPr>
          <p:spPr bwMode="auto">
            <a:xfrm>
              <a:off x="3360703" y="3171670"/>
              <a:ext cx="351811" cy="369332"/>
            </a:xfrm>
            <a:prstGeom prst="rect">
              <a:avLst/>
            </a:prstGeom>
            <a:noFill/>
            <a:ln w="9525">
              <a:noFill/>
              <a:miter lim="800000"/>
              <a:headEnd/>
              <a:tailEnd/>
            </a:ln>
          </p:spPr>
          <p:txBody>
            <a:bodyPr>
              <a:spAutoFit/>
            </a:bodyPr>
            <a:lstStyle/>
            <a:p>
              <a:pPr algn="l">
                <a:spcBef>
                  <a:spcPct val="50000"/>
                </a:spcBef>
              </a:pPr>
              <a:r>
                <a:rPr lang="en-US" altLang="zh-CN" b="1" dirty="0">
                  <a:latin typeface="Times New Roman" pitchFamily="18" charset="0"/>
                </a:rPr>
                <a:t>d</a:t>
              </a:r>
              <a:endParaRPr lang="en-US" altLang="zh-CN" sz="1350" dirty="0">
                <a:latin typeface="Times New Roman" pitchFamily="18" charset="0"/>
              </a:endParaRPr>
            </a:p>
          </p:txBody>
        </p:sp>
        <p:sp>
          <p:nvSpPr>
            <p:cNvPr id="19" name="Line 46"/>
            <p:cNvSpPr>
              <a:spLocks noChangeShapeType="1"/>
            </p:cNvSpPr>
            <p:nvPr/>
          </p:nvSpPr>
          <p:spPr bwMode="auto">
            <a:xfrm>
              <a:off x="3394649" y="3193883"/>
              <a:ext cx="175905" cy="0"/>
            </a:xfrm>
            <a:prstGeom prst="line">
              <a:avLst/>
            </a:prstGeom>
            <a:noFill/>
            <a:ln w="9525">
              <a:solidFill>
                <a:schemeClr val="tx1"/>
              </a:solidFill>
              <a:round/>
              <a:headEnd/>
              <a:tailEnd/>
            </a:ln>
          </p:spPr>
          <p:txBody>
            <a:bodyPr/>
            <a:lstStyle/>
            <a:p>
              <a:endParaRPr lang="zh-CN" altLang="en-US" sz="1050"/>
            </a:p>
          </p:txBody>
        </p:sp>
        <p:sp>
          <p:nvSpPr>
            <p:cNvPr id="20" name="Line 47"/>
            <p:cNvSpPr>
              <a:spLocks noChangeShapeType="1"/>
            </p:cNvSpPr>
            <p:nvPr/>
          </p:nvSpPr>
          <p:spPr bwMode="auto">
            <a:xfrm>
              <a:off x="3394649" y="3483340"/>
              <a:ext cx="175905" cy="0"/>
            </a:xfrm>
            <a:prstGeom prst="line">
              <a:avLst/>
            </a:prstGeom>
            <a:noFill/>
            <a:ln w="9525">
              <a:solidFill>
                <a:schemeClr val="tx1"/>
              </a:solidFill>
              <a:round/>
              <a:headEnd/>
              <a:tailEnd/>
            </a:ln>
          </p:spPr>
          <p:txBody>
            <a:bodyPr/>
            <a:lstStyle/>
            <a:p>
              <a:endParaRPr lang="zh-CN" altLang="en-US" sz="1050"/>
            </a:p>
          </p:txBody>
        </p:sp>
      </p:grpSp>
      <p:grpSp>
        <p:nvGrpSpPr>
          <p:cNvPr id="5" name="组合 4">
            <a:extLst>
              <a:ext uri="{FF2B5EF4-FFF2-40B4-BE49-F238E27FC236}">
                <a16:creationId xmlns:a16="http://schemas.microsoft.com/office/drawing/2014/main" id="{35603E81-42F9-1877-2234-B429411FD432}"/>
              </a:ext>
            </a:extLst>
          </p:cNvPr>
          <p:cNvGrpSpPr/>
          <p:nvPr/>
        </p:nvGrpSpPr>
        <p:grpSpPr>
          <a:xfrm>
            <a:off x="5132145" y="2316034"/>
            <a:ext cx="2728063" cy="1722566"/>
            <a:chOff x="1429251" y="4372251"/>
            <a:chExt cx="2374722" cy="1207559"/>
          </a:xfrm>
        </p:grpSpPr>
        <p:sp>
          <p:nvSpPr>
            <p:cNvPr id="21" name="Rectangle 48"/>
            <p:cNvSpPr>
              <a:spLocks noChangeArrowheads="1"/>
            </p:cNvSpPr>
            <p:nvPr/>
          </p:nvSpPr>
          <p:spPr bwMode="auto">
            <a:xfrm>
              <a:off x="1429251" y="4655690"/>
              <a:ext cx="2022911" cy="563528"/>
            </a:xfrm>
            <a:prstGeom prst="rect">
              <a:avLst/>
            </a:prstGeom>
            <a:solidFill>
              <a:schemeClr val="accent2"/>
            </a:solidFill>
            <a:ln w="9525">
              <a:solidFill>
                <a:schemeClr val="tx1"/>
              </a:solidFill>
              <a:miter lim="800000"/>
              <a:headEnd/>
              <a:tailEnd/>
            </a:ln>
          </p:spPr>
          <p:txBody>
            <a:bodyPr wrap="none" anchor="ctr"/>
            <a:lstStyle/>
            <a:p>
              <a:endParaRPr lang="zh-CN" altLang="en-US" sz="1050"/>
            </a:p>
          </p:txBody>
        </p:sp>
        <p:sp>
          <p:nvSpPr>
            <p:cNvPr id="22" name="Line 49"/>
            <p:cNvSpPr>
              <a:spLocks noChangeShapeType="1"/>
            </p:cNvSpPr>
            <p:nvPr/>
          </p:nvSpPr>
          <p:spPr bwMode="auto">
            <a:xfrm>
              <a:off x="1517203" y="4653391"/>
              <a:ext cx="0" cy="563528"/>
            </a:xfrm>
            <a:prstGeom prst="line">
              <a:avLst/>
            </a:prstGeom>
            <a:noFill/>
            <a:ln w="9525">
              <a:solidFill>
                <a:schemeClr val="tx1"/>
              </a:solidFill>
              <a:round/>
              <a:headEnd/>
              <a:tailEnd/>
            </a:ln>
          </p:spPr>
          <p:txBody>
            <a:bodyPr/>
            <a:lstStyle/>
            <a:p>
              <a:endParaRPr lang="zh-CN" altLang="en-US" sz="1050"/>
            </a:p>
          </p:txBody>
        </p:sp>
        <p:sp>
          <p:nvSpPr>
            <p:cNvPr id="23" name="Line 50"/>
            <p:cNvSpPr>
              <a:spLocks noChangeShapeType="1"/>
            </p:cNvSpPr>
            <p:nvPr/>
          </p:nvSpPr>
          <p:spPr bwMode="auto">
            <a:xfrm>
              <a:off x="1605155" y="4653391"/>
              <a:ext cx="0" cy="563528"/>
            </a:xfrm>
            <a:prstGeom prst="line">
              <a:avLst/>
            </a:prstGeom>
            <a:noFill/>
            <a:ln w="9525">
              <a:solidFill>
                <a:schemeClr val="tx1"/>
              </a:solidFill>
              <a:round/>
              <a:headEnd/>
              <a:tailEnd/>
            </a:ln>
          </p:spPr>
          <p:txBody>
            <a:bodyPr/>
            <a:lstStyle/>
            <a:p>
              <a:endParaRPr lang="zh-CN" altLang="en-US" sz="1050"/>
            </a:p>
          </p:txBody>
        </p:sp>
        <p:sp>
          <p:nvSpPr>
            <p:cNvPr id="24" name="Line 51"/>
            <p:cNvSpPr>
              <a:spLocks noChangeShapeType="1"/>
            </p:cNvSpPr>
            <p:nvPr/>
          </p:nvSpPr>
          <p:spPr bwMode="auto">
            <a:xfrm>
              <a:off x="1693108" y="4653391"/>
              <a:ext cx="0" cy="563528"/>
            </a:xfrm>
            <a:prstGeom prst="line">
              <a:avLst/>
            </a:prstGeom>
            <a:noFill/>
            <a:ln w="9525">
              <a:solidFill>
                <a:schemeClr val="tx1"/>
              </a:solidFill>
              <a:round/>
              <a:headEnd/>
              <a:tailEnd/>
            </a:ln>
          </p:spPr>
          <p:txBody>
            <a:bodyPr/>
            <a:lstStyle/>
            <a:p>
              <a:endParaRPr lang="zh-CN" altLang="en-US" sz="1050"/>
            </a:p>
          </p:txBody>
        </p:sp>
        <p:sp>
          <p:nvSpPr>
            <p:cNvPr id="25" name="Line 52"/>
            <p:cNvSpPr>
              <a:spLocks noChangeShapeType="1"/>
            </p:cNvSpPr>
            <p:nvPr/>
          </p:nvSpPr>
          <p:spPr bwMode="auto">
            <a:xfrm>
              <a:off x="1781061" y="4653391"/>
              <a:ext cx="0" cy="563528"/>
            </a:xfrm>
            <a:prstGeom prst="line">
              <a:avLst/>
            </a:prstGeom>
            <a:noFill/>
            <a:ln w="9525">
              <a:solidFill>
                <a:schemeClr val="tx1"/>
              </a:solidFill>
              <a:round/>
              <a:headEnd/>
              <a:tailEnd/>
            </a:ln>
          </p:spPr>
          <p:txBody>
            <a:bodyPr/>
            <a:lstStyle/>
            <a:p>
              <a:endParaRPr lang="zh-CN" altLang="en-US" sz="1050"/>
            </a:p>
          </p:txBody>
        </p:sp>
        <p:sp>
          <p:nvSpPr>
            <p:cNvPr id="26" name="Line 53"/>
            <p:cNvSpPr>
              <a:spLocks noChangeShapeType="1"/>
            </p:cNvSpPr>
            <p:nvPr/>
          </p:nvSpPr>
          <p:spPr bwMode="auto">
            <a:xfrm>
              <a:off x="1869013" y="4653391"/>
              <a:ext cx="0" cy="563528"/>
            </a:xfrm>
            <a:prstGeom prst="line">
              <a:avLst/>
            </a:prstGeom>
            <a:noFill/>
            <a:ln w="9525">
              <a:solidFill>
                <a:schemeClr val="tx1"/>
              </a:solidFill>
              <a:round/>
              <a:headEnd/>
              <a:tailEnd/>
            </a:ln>
          </p:spPr>
          <p:txBody>
            <a:bodyPr/>
            <a:lstStyle/>
            <a:p>
              <a:endParaRPr lang="zh-CN" altLang="en-US" sz="1050"/>
            </a:p>
          </p:txBody>
        </p:sp>
        <p:sp>
          <p:nvSpPr>
            <p:cNvPr id="27" name="Line 54"/>
            <p:cNvSpPr>
              <a:spLocks noChangeShapeType="1"/>
            </p:cNvSpPr>
            <p:nvPr/>
          </p:nvSpPr>
          <p:spPr bwMode="auto">
            <a:xfrm>
              <a:off x="3012397" y="4637960"/>
              <a:ext cx="0" cy="563528"/>
            </a:xfrm>
            <a:prstGeom prst="line">
              <a:avLst/>
            </a:prstGeom>
            <a:noFill/>
            <a:ln w="9525">
              <a:solidFill>
                <a:schemeClr val="tx1"/>
              </a:solidFill>
              <a:round/>
              <a:headEnd/>
              <a:tailEnd/>
            </a:ln>
          </p:spPr>
          <p:txBody>
            <a:bodyPr/>
            <a:lstStyle/>
            <a:p>
              <a:endParaRPr lang="zh-CN" altLang="en-US" sz="1050"/>
            </a:p>
          </p:txBody>
        </p:sp>
        <p:sp>
          <p:nvSpPr>
            <p:cNvPr id="28" name="Line 55"/>
            <p:cNvSpPr>
              <a:spLocks noChangeShapeType="1"/>
            </p:cNvSpPr>
            <p:nvPr/>
          </p:nvSpPr>
          <p:spPr bwMode="auto">
            <a:xfrm>
              <a:off x="3091189" y="4653812"/>
              <a:ext cx="0" cy="563528"/>
            </a:xfrm>
            <a:prstGeom prst="line">
              <a:avLst/>
            </a:prstGeom>
            <a:noFill/>
            <a:ln w="9525">
              <a:solidFill>
                <a:schemeClr val="tx1"/>
              </a:solidFill>
              <a:round/>
              <a:headEnd/>
              <a:tailEnd/>
            </a:ln>
          </p:spPr>
          <p:txBody>
            <a:bodyPr/>
            <a:lstStyle/>
            <a:p>
              <a:endParaRPr lang="zh-CN" altLang="en-US" sz="1050"/>
            </a:p>
          </p:txBody>
        </p:sp>
        <p:sp>
          <p:nvSpPr>
            <p:cNvPr id="29" name="Line 56"/>
            <p:cNvSpPr>
              <a:spLocks noChangeShapeType="1"/>
            </p:cNvSpPr>
            <p:nvPr/>
          </p:nvSpPr>
          <p:spPr bwMode="auto">
            <a:xfrm>
              <a:off x="3188302" y="4637960"/>
              <a:ext cx="0" cy="563528"/>
            </a:xfrm>
            <a:prstGeom prst="line">
              <a:avLst/>
            </a:prstGeom>
            <a:noFill/>
            <a:ln w="9525">
              <a:solidFill>
                <a:schemeClr val="tx1"/>
              </a:solidFill>
              <a:round/>
              <a:headEnd/>
              <a:tailEnd/>
            </a:ln>
          </p:spPr>
          <p:txBody>
            <a:bodyPr/>
            <a:lstStyle/>
            <a:p>
              <a:endParaRPr lang="zh-CN" altLang="en-US" sz="1050"/>
            </a:p>
          </p:txBody>
        </p:sp>
        <p:sp>
          <p:nvSpPr>
            <p:cNvPr id="30" name="Line 57"/>
            <p:cNvSpPr>
              <a:spLocks noChangeShapeType="1"/>
            </p:cNvSpPr>
            <p:nvPr/>
          </p:nvSpPr>
          <p:spPr bwMode="auto">
            <a:xfrm>
              <a:off x="3276256" y="4637960"/>
              <a:ext cx="0" cy="563528"/>
            </a:xfrm>
            <a:prstGeom prst="line">
              <a:avLst/>
            </a:prstGeom>
            <a:noFill/>
            <a:ln w="9525">
              <a:solidFill>
                <a:schemeClr val="tx1"/>
              </a:solidFill>
              <a:round/>
              <a:headEnd/>
              <a:tailEnd/>
            </a:ln>
          </p:spPr>
          <p:txBody>
            <a:bodyPr/>
            <a:lstStyle/>
            <a:p>
              <a:endParaRPr lang="zh-CN" altLang="en-US" sz="1050"/>
            </a:p>
          </p:txBody>
        </p:sp>
        <p:sp>
          <p:nvSpPr>
            <p:cNvPr id="31" name="Line 58"/>
            <p:cNvSpPr>
              <a:spLocks noChangeShapeType="1"/>
            </p:cNvSpPr>
            <p:nvPr/>
          </p:nvSpPr>
          <p:spPr bwMode="auto">
            <a:xfrm>
              <a:off x="3364208" y="4694265"/>
              <a:ext cx="0" cy="563528"/>
            </a:xfrm>
            <a:prstGeom prst="line">
              <a:avLst/>
            </a:prstGeom>
            <a:noFill/>
            <a:ln w="9525">
              <a:solidFill>
                <a:schemeClr val="tx1"/>
              </a:solidFill>
              <a:round/>
              <a:headEnd/>
              <a:tailEnd/>
            </a:ln>
          </p:spPr>
          <p:txBody>
            <a:bodyPr/>
            <a:lstStyle/>
            <a:p>
              <a:endParaRPr lang="zh-CN" altLang="en-US" sz="1050"/>
            </a:p>
          </p:txBody>
        </p:sp>
        <p:sp>
          <p:nvSpPr>
            <p:cNvPr id="32" name="Line 59"/>
            <p:cNvSpPr>
              <a:spLocks noChangeShapeType="1"/>
            </p:cNvSpPr>
            <p:nvPr/>
          </p:nvSpPr>
          <p:spPr bwMode="auto">
            <a:xfrm>
              <a:off x="2044919" y="5016282"/>
              <a:ext cx="879527" cy="0"/>
            </a:xfrm>
            <a:prstGeom prst="line">
              <a:avLst/>
            </a:prstGeom>
            <a:noFill/>
            <a:ln w="28575">
              <a:solidFill>
                <a:schemeClr val="tx1"/>
              </a:solidFill>
              <a:prstDash val="sysDot"/>
              <a:round/>
              <a:headEnd/>
              <a:tailEnd/>
            </a:ln>
          </p:spPr>
          <p:txBody>
            <a:bodyPr/>
            <a:lstStyle/>
            <a:p>
              <a:endParaRPr lang="zh-CN" altLang="en-US" sz="1050"/>
            </a:p>
          </p:txBody>
        </p:sp>
        <p:sp>
          <p:nvSpPr>
            <p:cNvPr id="33" name="Rectangle 60"/>
            <p:cNvSpPr>
              <a:spLocks noChangeArrowheads="1"/>
            </p:cNvSpPr>
            <p:nvPr/>
          </p:nvSpPr>
          <p:spPr bwMode="auto">
            <a:xfrm>
              <a:off x="3364210" y="4372251"/>
              <a:ext cx="439763" cy="1207559"/>
            </a:xfrm>
            <a:prstGeom prst="rect">
              <a:avLst/>
            </a:prstGeom>
            <a:solidFill>
              <a:srgbClr val="FF0000"/>
            </a:solidFill>
            <a:ln w="9525">
              <a:solidFill>
                <a:schemeClr val="tx1"/>
              </a:solidFill>
              <a:miter lim="800000"/>
              <a:headEnd/>
              <a:tailEnd/>
            </a:ln>
          </p:spPr>
          <p:txBody>
            <a:bodyPr wrap="none" anchor="ctr"/>
            <a:lstStyle/>
            <a:p>
              <a:endParaRPr lang="zh-CN" altLang="en-US" sz="1050"/>
            </a:p>
          </p:txBody>
        </p:sp>
      </p:grpSp>
      <p:graphicFrame>
        <p:nvGraphicFramePr>
          <p:cNvPr id="55301" name="Object 46"/>
          <p:cNvGraphicFramePr>
            <a:graphicFrameLocks noChangeAspect="1"/>
          </p:cNvGraphicFramePr>
          <p:nvPr>
            <p:extLst>
              <p:ext uri="{D42A27DB-BD31-4B8C-83A1-F6EECF244321}">
                <p14:modId xmlns:p14="http://schemas.microsoft.com/office/powerpoint/2010/main" val="1681201625"/>
              </p:ext>
            </p:extLst>
          </p:nvPr>
        </p:nvGraphicFramePr>
        <p:xfrm>
          <a:off x="2844261" y="4346165"/>
          <a:ext cx="2679038" cy="1628486"/>
        </p:xfrm>
        <a:graphic>
          <a:graphicData uri="http://schemas.openxmlformats.org/presentationml/2006/ole">
            <mc:AlternateContent xmlns:mc="http://schemas.openxmlformats.org/markup-compatibility/2006">
              <mc:Choice xmlns:v="urn:schemas-microsoft-com:vml" Requires="v">
                <p:oleObj name="Equation" r:id="rId2" imgW="647419" imgH="393529" progId="">
                  <p:embed/>
                </p:oleObj>
              </mc:Choice>
              <mc:Fallback>
                <p:oleObj name="Equation" r:id="rId2" imgW="647419" imgH="393529" progId="">
                  <p:embed/>
                  <p:pic>
                    <p:nvPicPr>
                      <p:cNvPr id="55301" name="Object 4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4261" y="4346165"/>
                        <a:ext cx="2679038" cy="1628486"/>
                      </a:xfrm>
                      <a:prstGeom prst="rect">
                        <a:avLst/>
                      </a:prstGeom>
                      <a:noFill/>
                    </p:spPr>
                  </p:pic>
                </p:oleObj>
              </mc:Fallback>
            </mc:AlternateContent>
          </a:graphicData>
        </a:graphic>
      </p:graphicFrame>
      <p:sp>
        <p:nvSpPr>
          <p:cNvPr id="2" name="WordArt 51">
            <a:extLst>
              <a:ext uri="{FF2B5EF4-FFF2-40B4-BE49-F238E27FC236}">
                <a16:creationId xmlns:a16="http://schemas.microsoft.com/office/drawing/2014/main" id="{34061EC8-792B-F049-4D3E-049D70DEA314}"/>
              </a:ext>
            </a:extLst>
          </p:cNvPr>
          <p:cNvSpPr>
            <a:spLocks noChangeArrowheads="1" noChangeShapeType="1"/>
          </p:cNvSpPr>
          <p:nvPr/>
        </p:nvSpPr>
        <p:spPr bwMode="auto">
          <a:xfrm>
            <a:off x="142844" y="71414"/>
            <a:ext cx="1729499" cy="409097"/>
          </a:xfrm>
          <a:prstGeom prst="rect">
            <a:avLst/>
          </a:prstGeom>
        </p:spPr>
        <p:txBody>
          <a:bodyPr wrap="none" fromWordArt="1">
            <a:prstTxWarp prst="textPlain">
              <a:avLst>
                <a:gd name="adj" fmla="val 50000"/>
              </a:avLst>
            </a:prstTxWarp>
          </a:bodyPr>
          <a:lstStyle/>
          <a:p>
            <a:pPr algn="ctr"/>
            <a:r>
              <a:rPr lang="zh-CN" altLang="en-US" sz="3600" dirty="0">
                <a:ln w="9525">
                  <a:noFill/>
                  <a:round/>
                  <a:headEnd/>
                  <a:tailEnd/>
                </a:ln>
                <a:gradFill rotWithShape="0">
                  <a:gsLst>
                    <a:gs pos="0">
                      <a:schemeClr val="bg1"/>
                    </a:gs>
                    <a:gs pos="100000">
                      <a:srgbClr val="FFFE7D"/>
                    </a:gs>
                  </a:gsLst>
                  <a:lin ang="5400000" scaled="1"/>
                </a:gradFill>
                <a:effectLst>
                  <a:outerShdw dist="38100" dir="5400000" algn="ctr" rotWithShape="0">
                    <a:srgbClr val="4D4D4D">
                      <a:alpha val="76999"/>
                    </a:srgbClr>
                  </a:outerShdw>
                </a:effectLst>
                <a:latin typeface="华文琥珀"/>
                <a:ea typeface="华文琥珀"/>
              </a:rPr>
              <a:t>实验介绍</a:t>
            </a:r>
          </a:p>
        </p:txBody>
      </p:sp>
      <p:sp>
        <p:nvSpPr>
          <p:cNvPr id="4" name="文本框 3">
            <a:extLst>
              <a:ext uri="{FF2B5EF4-FFF2-40B4-BE49-F238E27FC236}">
                <a16:creationId xmlns:a16="http://schemas.microsoft.com/office/drawing/2014/main" id="{62D8BBE9-F339-FA92-34B4-EE684F44F44E}"/>
              </a:ext>
            </a:extLst>
          </p:cNvPr>
          <p:cNvSpPr txBox="1"/>
          <p:nvPr/>
        </p:nvSpPr>
        <p:spPr>
          <a:xfrm>
            <a:off x="84252" y="964561"/>
            <a:ext cx="5343556" cy="523220"/>
          </a:xfrm>
          <a:prstGeom prst="rect">
            <a:avLst/>
          </a:prstGeom>
          <a:noFill/>
        </p:spPr>
        <p:txBody>
          <a:bodyPr wrap="square" rtlCol="0">
            <a:spAutoFit/>
          </a:bodyPr>
          <a:lstStyle/>
          <a:p>
            <a:r>
              <a:rPr lang="zh-CN" altLang="en-US" sz="2800" b="1" dirty="0">
                <a:solidFill>
                  <a:srgbClr val="0000FF"/>
                </a:solidFill>
                <a:latin typeface="微软雅黑" panose="020B0503020204020204" pitchFamily="34" charset="-122"/>
                <a:ea typeface="微软雅黑" panose="020B0503020204020204" pitchFamily="34" charset="-122"/>
              </a:rPr>
              <a:t>微小物体尺度的测量</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0"/>
          <p:cNvSpPr txBox="1">
            <a:spLocks noChangeArrowheads="1"/>
          </p:cNvSpPr>
          <p:nvPr/>
        </p:nvSpPr>
        <p:spPr bwMode="auto">
          <a:xfrm>
            <a:off x="142844" y="784685"/>
            <a:ext cx="3486150" cy="523220"/>
          </a:xfrm>
          <a:prstGeom prst="rect">
            <a:avLst/>
          </a:prstGeom>
          <a:noFill/>
          <a:ln w="9525">
            <a:noFill/>
            <a:miter lim="800000"/>
            <a:headEnd/>
            <a:tailEnd/>
          </a:ln>
          <a:effectLst/>
        </p:spPr>
        <p:txBody>
          <a:bodyPr>
            <a:spAutoFit/>
          </a:bodyPr>
          <a:lstStyle/>
          <a:p>
            <a:pPr>
              <a:spcBef>
                <a:spcPct val="50000"/>
              </a:spcBef>
            </a:pPr>
            <a:r>
              <a:rPr lang="zh-CN" altLang="en-US" sz="2800" b="1" dirty="0">
                <a:solidFill>
                  <a:srgbClr val="0000FF"/>
                </a:solidFill>
                <a:latin typeface="微软雅黑" panose="020B0503020204020204" pitchFamily="34" charset="-122"/>
                <a:ea typeface="微软雅黑" panose="020B0503020204020204" pitchFamily="34" charset="-122"/>
              </a:rPr>
              <a:t>牛顿环数据处理</a:t>
            </a:r>
          </a:p>
        </p:txBody>
      </p:sp>
      <p:sp>
        <p:nvSpPr>
          <p:cNvPr id="6" name="TextBox 5"/>
          <p:cNvSpPr txBox="1"/>
          <p:nvPr/>
        </p:nvSpPr>
        <p:spPr>
          <a:xfrm>
            <a:off x="1272384" y="5825144"/>
            <a:ext cx="7066358" cy="461665"/>
          </a:xfrm>
          <a:prstGeom prst="rect">
            <a:avLst/>
          </a:prstGeom>
          <a:noFill/>
        </p:spPr>
        <p:txBody>
          <a:bodyPr wrap="none" rtlCol="0">
            <a:spAutoFit/>
          </a:bodyPr>
          <a:lstStyle/>
          <a:p>
            <a:r>
              <a:rPr lang="zh-CN" altLang="en-US" sz="2400" b="1" dirty="0">
                <a:solidFill>
                  <a:srgbClr val="C00000"/>
                </a:solidFill>
                <a:latin typeface="微软雅黑" panose="020B0503020204020204" pitchFamily="34" charset="-122"/>
                <a:ea typeface="微软雅黑" panose="020B0503020204020204" pitchFamily="34" charset="-122"/>
              </a:rPr>
              <a:t>分别计算</a:t>
            </a:r>
            <a:r>
              <a:rPr lang="en-US" altLang="zh-CN" sz="2400" b="1" dirty="0">
                <a:solidFill>
                  <a:srgbClr val="C00000"/>
                </a:solidFill>
                <a:latin typeface="微软雅黑" panose="020B0503020204020204" pitchFamily="34" charset="-122"/>
                <a:ea typeface="微软雅黑" panose="020B0503020204020204" pitchFamily="34" charset="-122"/>
              </a:rPr>
              <a:t>L</a:t>
            </a:r>
            <a:r>
              <a:rPr lang="zh-CN" altLang="en-US" sz="2400" b="1" dirty="0">
                <a:solidFill>
                  <a:srgbClr val="C00000"/>
                </a:solidFill>
                <a:latin typeface="微软雅黑" panose="020B0503020204020204" pitchFamily="34" charset="-122"/>
                <a:ea typeface="微软雅黑" panose="020B0503020204020204" pitchFamily="34" charset="-122"/>
              </a:rPr>
              <a:t>和△</a:t>
            </a:r>
            <a:r>
              <a:rPr lang="en-US" altLang="zh-CN" sz="2400" b="1" dirty="0">
                <a:solidFill>
                  <a:srgbClr val="C00000"/>
                </a:solidFill>
                <a:latin typeface="微软雅黑" panose="020B0503020204020204" pitchFamily="34" charset="-122"/>
                <a:ea typeface="微软雅黑" panose="020B0503020204020204" pitchFamily="34" charset="-122"/>
              </a:rPr>
              <a:t>L</a:t>
            </a:r>
            <a:r>
              <a:rPr lang="zh-CN" altLang="en-US" sz="2400" b="1" dirty="0">
                <a:solidFill>
                  <a:srgbClr val="C00000"/>
                </a:solidFill>
                <a:latin typeface="微软雅黑" panose="020B0503020204020204" pitchFamily="34" charset="-122"/>
                <a:ea typeface="微软雅黑" panose="020B0503020204020204" pitchFamily="34" charset="-122"/>
              </a:rPr>
              <a:t>的不确定度，进而合成</a:t>
            </a:r>
            <a:r>
              <a:rPr lang="en-US" altLang="zh-CN" sz="2400" b="1" dirty="0">
                <a:solidFill>
                  <a:srgbClr val="C00000"/>
                </a:solidFill>
                <a:latin typeface="微软雅黑" panose="020B0503020204020204" pitchFamily="34" charset="-122"/>
                <a:ea typeface="微软雅黑" panose="020B0503020204020204" pitchFamily="34" charset="-122"/>
              </a:rPr>
              <a:t>d</a:t>
            </a:r>
            <a:r>
              <a:rPr lang="zh-CN" altLang="en-US" sz="2400" b="1" dirty="0">
                <a:solidFill>
                  <a:srgbClr val="C00000"/>
                </a:solidFill>
                <a:latin typeface="微软雅黑" panose="020B0503020204020204" pitchFamily="34" charset="-122"/>
                <a:ea typeface="微软雅黑" panose="020B0503020204020204" pitchFamily="34" charset="-122"/>
              </a:rPr>
              <a:t>的不确定度</a:t>
            </a:r>
          </a:p>
        </p:txBody>
      </p:sp>
      <p:sp>
        <p:nvSpPr>
          <p:cNvPr id="7" name="Text Box 70"/>
          <p:cNvSpPr txBox="1">
            <a:spLocks noChangeArrowheads="1"/>
          </p:cNvSpPr>
          <p:nvPr/>
        </p:nvSpPr>
        <p:spPr bwMode="auto">
          <a:xfrm>
            <a:off x="142844" y="3738908"/>
            <a:ext cx="3486150" cy="523220"/>
          </a:xfrm>
          <a:prstGeom prst="rect">
            <a:avLst/>
          </a:prstGeom>
          <a:noFill/>
          <a:ln w="9525">
            <a:noFill/>
            <a:miter lim="800000"/>
            <a:headEnd/>
            <a:tailEnd/>
          </a:ln>
          <a:effectLst/>
        </p:spPr>
        <p:txBody>
          <a:bodyPr>
            <a:spAutoFit/>
          </a:bodyPr>
          <a:lstStyle/>
          <a:p>
            <a:pPr>
              <a:spcBef>
                <a:spcPct val="50000"/>
              </a:spcBef>
            </a:pPr>
            <a:r>
              <a:rPr lang="zh-CN" altLang="en-US" sz="2800" b="1" dirty="0">
                <a:solidFill>
                  <a:srgbClr val="0000FF"/>
                </a:solidFill>
                <a:latin typeface="微软雅黑" panose="020B0503020204020204" pitchFamily="34" charset="-122"/>
                <a:ea typeface="微软雅黑" panose="020B0503020204020204" pitchFamily="34" charset="-122"/>
              </a:rPr>
              <a:t>劈尖数据处理</a:t>
            </a:r>
          </a:p>
        </p:txBody>
      </p:sp>
      <p:sp>
        <p:nvSpPr>
          <p:cNvPr id="3" name="WordArt 51">
            <a:extLst>
              <a:ext uri="{FF2B5EF4-FFF2-40B4-BE49-F238E27FC236}">
                <a16:creationId xmlns:a16="http://schemas.microsoft.com/office/drawing/2014/main" id="{1A022915-233E-1EA8-B880-B7C098990A2F}"/>
              </a:ext>
            </a:extLst>
          </p:cNvPr>
          <p:cNvSpPr>
            <a:spLocks noChangeArrowheads="1" noChangeShapeType="1"/>
          </p:cNvSpPr>
          <p:nvPr/>
        </p:nvSpPr>
        <p:spPr bwMode="auto">
          <a:xfrm>
            <a:off x="142844" y="71414"/>
            <a:ext cx="1729499" cy="409097"/>
          </a:xfrm>
          <a:prstGeom prst="rect">
            <a:avLst/>
          </a:prstGeom>
        </p:spPr>
        <p:txBody>
          <a:bodyPr wrap="none" fromWordArt="1">
            <a:prstTxWarp prst="textPlain">
              <a:avLst>
                <a:gd name="adj" fmla="val 50000"/>
              </a:avLst>
            </a:prstTxWarp>
          </a:bodyPr>
          <a:lstStyle/>
          <a:p>
            <a:pPr algn="ctr"/>
            <a:r>
              <a:rPr lang="zh-CN" altLang="en-US" sz="3600" dirty="0">
                <a:ln w="9525">
                  <a:noFill/>
                  <a:round/>
                  <a:headEnd/>
                  <a:tailEnd/>
                </a:ln>
                <a:gradFill rotWithShape="0">
                  <a:gsLst>
                    <a:gs pos="0">
                      <a:schemeClr val="bg1"/>
                    </a:gs>
                    <a:gs pos="100000">
                      <a:srgbClr val="FFFE7D"/>
                    </a:gs>
                  </a:gsLst>
                  <a:lin ang="5400000" scaled="1"/>
                </a:gradFill>
                <a:effectLst>
                  <a:outerShdw dist="38100" dir="5400000" algn="ctr" rotWithShape="0">
                    <a:srgbClr val="4D4D4D">
                      <a:alpha val="76999"/>
                    </a:srgbClr>
                  </a:outerShdw>
                </a:effectLst>
                <a:latin typeface="华文琥珀"/>
                <a:ea typeface="华文琥珀"/>
              </a:rPr>
              <a:t>数据处理</a:t>
            </a:r>
          </a:p>
        </p:txBody>
      </p:sp>
      <p:graphicFrame>
        <p:nvGraphicFramePr>
          <p:cNvPr id="5" name="Object 4">
            <a:extLst>
              <a:ext uri="{FF2B5EF4-FFF2-40B4-BE49-F238E27FC236}">
                <a16:creationId xmlns:a16="http://schemas.microsoft.com/office/drawing/2014/main" id="{310FFD27-E7C1-10BB-1F33-6C1F3A25BD95}"/>
              </a:ext>
            </a:extLst>
          </p:cNvPr>
          <p:cNvGraphicFramePr>
            <a:graphicFrameLocks noChangeAspect="1"/>
          </p:cNvGraphicFramePr>
          <p:nvPr>
            <p:extLst>
              <p:ext uri="{D42A27DB-BD31-4B8C-83A1-F6EECF244321}">
                <p14:modId xmlns:p14="http://schemas.microsoft.com/office/powerpoint/2010/main" val="2096743278"/>
              </p:ext>
            </p:extLst>
          </p:nvPr>
        </p:nvGraphicFramePr>
        <p:xfrm>
          <a:off x="-671854" y="571191"/>
          <a:ext cx="11206163" cy="7381875"/>
        </p:xfrm>
        <a:graphic>
          <a:graphicData uri="http://schemas.openxmlformats.org/presentationml/2006/ole">
            <mc:AlternateContent xmlns:mc="http://schemas.openxmlformats.org/markup-compatibility/2006">
              <mc:Choice xmlns:v="urn:schemas-microsoft-com:vml" Requires="v">
                <p:oleObj name="Document" r:id="rId2" imgW="8101083" imgH="5327769" progId="Word.Document.8">
                  <p:embed/>
                </p:oleObj>
              </mc:Choice>
              <mc:Fallback>
                <p:oleObj name="Document" r:id="rId2" imgW="8101083" imgH="5327769" progId="Word.Document.8">
                  <p:embed/>
                  <p:pic>
                    <p:nvPicPr>
                      <p:cNvPr id="122884" name="Object 4"/>
                      <p:cNvPicPr>
                        <a:picLocks noChangeAspect="1" noChangeArrowheads="1"/>
                      </p:cNvPicPr>
                      <p:nvPr/>
                    </p:nvPicPr>
                    <p:blipFill>
                      <a:blip r:embed="rId3"/>
                      <a:srcRect/>
                      <a:stretch>
                        <a:fillRect/>
                      </a:stretch>
                    </p:blipFill>
                    <p:spPr bwMode="auto">
                      <a:xfrm>
                        <a:off x="-671854" y="571191"/>
                        <a:ext cx="11206163" cy="7381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2"/>
          <p:cNvPicPr>
            <a:picLocks noChangeAspect="1" noChangeArrowheads="1"/>
          </p:cNvPicPr>
          <p:nvPr/>
        </p:nvPicPr>
        <p:blipFill>
          <a:blip r:embed="rId3" cstate="print">
            <a:extLst>
              <a:ext uri="{BEBA8EAE-BF5A-486C-A8C5-ECC9F3942E4B}">
                <a14:imgProps xmlns:a14="http://schemas.microsoft.com/office/drawing/2010/main">
                  <a14:imgLayer r:embed="rId4">
                    <a14:imgEffect>
                      <a14:colorTemperature colorTemp="11200"/>
                    </a14:imgEffect>
                  </a14:imgLayer>
                </a14:imgProps>
              </a:ext>
            </a:extLst>
          </a:blip>
          <a:srcRect/>
          <a:stretch>
            <a:fillRect/>
          </a:stretch>
        </p:blipFill>
        <p:spPr bwMode="auto">
          <a:xfrm>
            <a:off x="1" y="1410454"/>
            <a:ext cx="9144000" cy="4980166"/>
          </a:xfrm>
          <a:prstGeom prst="rect">
            <a:avLst/>
          </a:prstGeom>
          <a:noFill/>
          <a:ln w="9525">
            <a:noFill/>
            <a:miter lim="800000"/>
            <a:headEnd/>
            <a:tailEnd/>
          </a:ln>
        </p:spPr>
      </p:pic>
      <p:sp>
        <p:nvSpPr>
          <p:cNvPr id="3" name="Text Box 70"/>
          <p:cNvSpPr txBox="1">
            <a:spLocks noChangeArrowheads="1"/>
          </p:cNvSpPr>
          <p:nvPr/>
        </p:nvSpPr>
        <p:spPr bwMode="auto">
          <a:xfrm>
            <a:off x="150868" y="767488"/>
            <a:ext cx="3486150" cy="523220"/>
          </a:xfrm>
          <a:prstGeom prst="rect">
            <a:avLst/>
          </a:prstGeom>
          <a:noFill/>
          <a:ln w="9525">
            <a:noFill/>
            <a:miter lim="800000"/>
            <a:headEnd/>
            <a:tailEnd/>
          </a:ln>
          <a:effectLst/>
        </p:spPr>
        <p:txBody>
          <a:bodyPr>
            <a:spAutoFit/>
          </a:bodyPr>
          <a:lstStyle/>
          <a:p>
            <a:pPr>
              <a:spcBef>
                <a:spcPct val="50000"/>
              </a:spcBef>
            </a:pPr>
            <a:r>
              <a:rPr lang="zh-CN" altLang="en-US" sz="2800" b="1" dirty="0">
                <a:solidFill>
                  <a:srgbClr val="0000FF"/>
                </a:solidFill>
                <a:latin typeface="微软雅黑" panose="020B0503020204020204" pitchFamily="34" charset="-122"/>
                <a:ea typeface="微软雅黑" panose="020B0503020204020204" pitchFamily="34" charset="-122"/>
              </a:rPr>
              <a:t>牛顿环的应用</a:t>
            </a:r>
          </a:p>
        </p:txBody>
      </p:sp>
      <p:sp>
        <p:nvSpPr>
          <p:cNvPr id="2" name="WordArt 51">
            <a:extLst>
              <a:ext uri="{FF2B5EF4-FFF2-40B4-BE49-F238E27FC236}">
                <a16:creationId xmlns:a16="http://schemas.microsoft.com/office/drawing/2014/main" id="{D5C96E6D-5919-973F-A52A-0DA8D3E09E5A}"/>
              </a:ext>
            </a:extLst>
          </p:cNvPr>
          <p:cNvSpPr>
            <a:spLocks noChangeArrowheads="1" noChangeShapeType="1"/>
          </p:cNvSpPr>
          <p:nvPr/>
        </p:nvSpPr>
        <p:spPr bwMode="auto">
          <a:xfrm>
            <a:off x="142844" y="71414"/>
            <a:ext cx="1729499" cy="409097"/>
          </a:xfrm>
          <a:prstGeom prst="rect">
            <a:avLst/>
          </a:prstGeom>
        </p:spPr>
        <p:txBody>
          <a:bodyPr wrap="none" fromWordArt="1">
            <a:prstTxWarp prst="textPlain">
              <a:avLst>
                <a:gd name="adj" fmla="val 50000"/>
              </a:avLst>
            </a:prstTxWarp>
          </a:bodyPr>
          <a:lstStyle/>
          <a:p>
            <a:pPr algn="ctr"/>
            <a:r>
              <a:rPr lang="zh-CN" altLang="en-US" sz="3600" dirty="0">
                <a:ln w="9525">
                  <a:noFill/>
                  <a:round/>
                  <a:headEnd/>
                  <a:tailEnd/>
                </a:ln>
                <a:gradFill rotWithShape="0">
                  <a:gsLst>
                    <a:gs pos="0">
                      <a:schemeClr val="bg1"/>
                    </a:gs>
                    <a:gs pos="100000">
                      <a:srgbClr val="FFFE7D"/>
                    </a:gs>
                  </a:gsLst>
                  <a:lin ang="5400000" scaled="1"/>
                </a:gradFill>
                <a:effectLst>
                  <a:outerShdw dist="38100" dir="5400000" algn="ctr" rotWithShape="0">
                    <a:srgbClr val="4D4D4D">
                      <a:alpha val="76999"/>
                    </a:srgbClr>
                  </a:outerShdw>
                </a:effectLst>
                <a:latin typeface="华文琥珀"/>
                <a:ea typeface="华文琥珀"/>
              </a:rPr>
              <a:t>知识拓展</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a:extLst>
              <a:ext uri="{FF2B5EF4-FFF2-40B4-BE49-F238E27FC236}">
                <a16:creationId xmlns:a16="http://schemas.microsoft.com/office/drawing/2014/main" id="{4B7FB08E-0A49-B3AC-182F-F41F129A7C2F}"/>
              </a:ext>
            </a:extLst>
          </p:cNvPr>
          <p:cNvGrpSpPr/>
          <p:nvPr/>
        </p:nvGrpSpPr>
        <p:grpSpPr>
          <a:xfrm>
            <a:off x="3061669" y="3500750"/>
            <a:ext cx="2768874" cy="2015188"/>
            <a:chOff x="4649392" y="2462216"/>
            <a:chExt cx="3143250" cy="1740694"/>
          </a:xfrm>
        </p:grpSpPr>
        <p:grpSp>
          <p:nvGrpSpPr>
            <p:cNvPr id="2" name="Group 2"/>
            <p:cNvGrpSpPr>
              <a:grpSpLocks/>
            </p:cNvGrpSpPr>
            <p:nvPr/>
          </p:nvGrpSpPr>
          <p:grpSpPr bwMode="auto">
            <a:xfrm>
              <a:off x="4649392" y="2462216"/>
              <a:ext cx="3143250" cy="1740694"/>
              <a:chOff x="2832" y="1658"/>
              <a:chExt cx="2640" cy="1462"/>
            </a:xfrm>
          </p:grpSpPr>
          <p:sp>
            <p:nvSpPr>
              <p:cNvPr id="25603" name="Rectangle 3"/>
              <p:cNvSpPr>
                <a:spLocks noChangeArrowheads="1"/>
              </p:cNvSpPr>
              <p:nvPr/>
            </p:nvSpPr>
            <p:spPr bwMode="auto">
              <a:xfrm>
                <a:off x="2832" y="1658"/>
                <a:ext cx="2640" cy="1462"/>
              </a:xfrm>
              <a:prstGeom prst="rect">
                <a:avLst/>
              </a:prstGeom>
              <a:solidFill>
                <a:schemeClr val="bg1"/>
              </a:solidFill>
              <a:ln w="19050">
                <a:solidFill>
                  <a:schemeClr val="tx1"/>
                </a:solidFill>
                <a:miter lim="800000"/>
                <a:headEnd/>
                <a:tailEnd/>
              </a:ln>
              <a:effectLst/>
            </p:spPr>
            <p:txBody>
              <a:bodyPr wrap="none" anchor="ctr"/>
              <a:lstStyle/>
              <a:p>
                <a:endParaRPr lang="zh-CN" altLang="en-US" sz="1050"/>
              </a:p>
            </p:txBody>
          </p:sp>
          <p:sp>
            <p:nvSpPr>
              <p:cNvPr id="25604" name="Freeform 4" descr="70%"/>
              <p:cNvSpPr>
                <a:spLocks/>
              </p:cNvSpPr>
              <p:nvPr/>
            </p:nvSpPr>
            <p:spPr bwMode="auto">
              <a:xfrm flipH="1">
                <a:off x="3264" y="2126"/>
                <a:ext cx="2016" cy="213"/>
              </a:xfrm>
              <a:custGeom>
                <a:avLst/>
                <a:gdLst/>
                <a:ahLst/>
                <a:cxnLst>
                  <a:cxn ang="0">
                    <a:pos x="0" y="192"/>
                  </a:cxn>
                  <a:cxn ang="0">
                    <a:pos x="2016" y="192"/>
                  </a:cxn>
                  <a:cxn ang="0">
                    <a:pos x="672" y="0"/>
                  </a:cxn>
                  <a:cxn ang="0">
                    <a:pos x="0" y="0"/>
                  </a:cxn>
                  <a:cxn ang="0">
                    <a:pos x="0" y="192"/>
                  </a:cxn>
                </a:cxnLst>
                <a:rect l="0" t="0" r="r" b="b"/>
                <a:pathLst>
                  <a:path w="2016" h="192">
                    <a:moveTo>
                      <a:pt x="0" y="192"/>
                    </a:moveTo>
                    <a:lnTo>
                      <a:pt x="2016" y="192"/>
                    </a:lnTo>
                    <a:lnTo>
                      <a:pt x="672" y="0"/>
                    </a:lnTo>
                    <a:lnTo>
                      <a:pt x="0" y="0"/>
                    </a:lnTo>
                    <a:lnTo>
                      <a:pt x="0" y="192"/>
                    </a:lnTo>
                    <a:close/>
                  </a:path>
                </a:pathLst>
              </a:custGeom>
              <a:pattFill prst="pct70">
                <a:fgClr>
                  <a:srgbClr val="66CCFF"/>
                </a:fgClr>
                <a:bgClr>
                  <a:srgbClr val="FFFFFF"/>
                </a:bgClr>
              </a:pattFill>
              <a:ln w="28575" cap="flat" cmpd="sng">
                <a:solidFill>
                  <a:srgbClr val="CC00FF"/>
                </a:solidFill>
                <a:prstDash val="solid"/>
                <a:round/>
                <a:headEnd/>
                <a:tailEnd/>
              </a:ln>
              <a:effectLst/>
            </p:spPr>
            <p:txBody>
              <a:bodyPr anchor="ctr">
                <a:spAutoFit/>
              </a:bodyPr>
              <a:lstStyle/>
              <a:p>
                <a:endParaRPr lang="zh-CN" altLang="en-US" sz="1050"/>
              </a:p>
            </p:txBody>
          </p:sp>
          <p:sp>
            <p:nvSpPr>
              <p:cNvPr id="25606" name="Rectangle 6"/>
              <p:cNvSpPr>
                <a:spLocks noChangeArrowheads="1"/>
              </p:cNvSpPr>
              <p:nvPr/>
            </p:nvSpPr>
            <p:spPr bwMode="auto">
              <a:xfrm>
                <a:off x="3264" y="2337"/>
                <a:ext cx="2016" cy="261"/>
              </a:xfrm>
              <a:prstGeom prst="rect">
                <a:avLst/>
              </a:prstGeom>
              <a:solidFill>
                <a:srgbClr val="ADFFEF">
                  <a:alpha val="50000"/>
                </a:srgbClr>
              </a:solidFill>
              <a:ln w="28575">
                <a:solidFill>
                  <a:schemeClr val="tx2"/>
                </a:solidFill>
                <a:miter lim="800000"/>
                <a:headEnd/>
                <a:tailEnd/>
              </a:ln>
              <a:effectLst/>
            </p:spPr>
            <p:txBody>
              <a:bodyPr wrap="none" anchor="ctr"/>
              <a:lstStyle/>
              <a:p>
                <a:endParaRPr lang="zh-CN" altLang="en-US" sz="1050"/>
              </a:p>
            </p:txBody>
          </p:sp>
          <p:graphicFrame>
            <p:nvGraphicFramePr>
              <p:cNvPr id="25607" name="Object 7"/>
              <p:cNvGraphicFramePr>
                <a:graphicFrameLocks noChangeAspect="1"/>
              </p:cNvGraphicFramePr>
              <p:nvPr/>
            </p:nvGraphicFramePr>
            <p:xfrm>
              <a:off x="3870" y="2256"/>
              <a:ext cx="210" cy="366"/>
            </p:xfrm>
            <a:graphic>
              <a:graphicData uri="http://schemas.openxmlformats.org/presentationml/2006/ole">
                <mc:AlternateContent xmlns:mc="http://schemas.openxmlformats.org/markup-compatibility/2006">
                  <mc:Choice xmlns:v="urn:schemas-microsoft-com:vml" Requires="v">
                    <p:oleObj name="Equation" r:id="rId2" imgW="190335" imgH="317225" progId="Equation.3">
                      <p:embed/>
                    </p:oleObj>
                  </mc:Choice>
                  <mc:Fallback>
                    <p:oleObj name="Equation" r:id="rId2" imgW="190335" imgH="317225" progId="Equation.3">
                      <p:embed/>
                      <p:pic>
                        <p:nvPicPr>
                          <p:cNvPr id="25607"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0" y="2256"/>
                            <a:ext cx="210" cy="3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08" name="Line 8"/>
              <p:cNvSpPr>
                <a:spLocks noChangeShapeType="1"/>
              </p:cNvSpPr>
              <p:nvPr/>
            </p:nvSpPr>
            <p:spPr bwMode="auto">
              <a:xfrm>
                <a:off x="5136" y="2128"/>
                <a:ext cx="0" cy="209"/>
              </a:xfrm>
              <a:prstGeom prst="line">
                <a:avLst/>
              </a:prstGeom>
              <a:noFill/>
              <a:ln w="19050">
                <a:solidFill>
                  <a:srgbClr val="FF0000"/>
                </a:solidFill>
                <a:round/>
                <a:headEnd type="triangle" w="sm" len="lg"/>
                <a:tailEnd type="triangle" w="sm" len="lg"/>
              </a:ln>
              <a:effectLst/>
            </p:spPr>
            <p:txBody>
              <a:bodyPr wrap="none" anchor="ctr"/>
              <a:lstStyle/>
              <a:p>
                <a:endParaRPr lang="zh-CN" altLang="en-US" sz="1050"/>
              </a:p>
            </p:txBody>
          </p:sp>
          <p:graphicFrame>
            <p:nvGraphicFramePr>
              <p:cNvPr id="25609" name="Object 9"/>
              <p:cNvGraphicFramePr>
                <a:graphicFrameLocks noChangeAspect="1"/>
              </p:cNvGraphicFramePr>
              <p:nvPr/>
            </p:nvGraphicFramePr>
            <p:xfrm>
              <a:off x="5147" y="2112"/>
              <a:ext cx="181" cy="214"/>
            </p:xfrm>
            <a:graphic>
              <a:graphicData uri="http://schemas.openxmlformats.org/presentationml/2006/ole">
                <mc:AlternateContent xmlns:mc="http://schemas.openxmlformats.org/markup-compatibility/2006">
                  <mc:Choice xmlns:v="urn:schemas-microsoft-com:vml" Requires="v">
                    <p:oleObj name="公式" r:id="rId4" imgW="152334" imgH="190417" progId="Equation.3">
                      <p:embed/>
                    </p:oleObj>
                  </mc:Choice>
                  <mc:Fallback>
                    <p:oleObj name="公式" r:id="rId4" imgW="152334" imgH="190417" progId="Equation.3">
                      <p:embed/>
                      <p:pic>
                        <p:nvPicPr>
                          <p:cNvPr id="25609"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7" y="2112"/>
                            <a:ext cx="181" cy="2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10" name="Object 10"/>
              <p:cNvGraphicFramePr>
                <a:graphicFrameLocks noChangeAspect="1"/>
              </p:cNvGraphicFramePr>
              <p:nvPr/>
            </p:nvGraphicFramePr>
            <p:xfrm>
              <a:off x="3234" y="1971"/>
              <a:ext cx="222" cy="335"/>
            </p:xfrm>
            <a:graphic>
              <a:graphicData uri="http://schemas.openxmlformats.org/presentationml/2006/ole">
                <mc:AlternateContent xmlns:mc="http://schemas.openxmlformats.org/markup-compatibility/2006">
                  <mc:Choice xmlns:v="urn:schemas-microsoft-com:vml" Requires="v">
                    <p:oleObj name="公式" r:id="rId6" imgW="215619" imgH="317087" progId="Equation.3">
                      <p:embed/>
                    </p:oleObj>
                  </mc:Choice>
                  <mc:Fallback>
                    <p:oleObj name="公式" r:id="rId6" imgW="215619" imgH="317087" progId="Equation.3">
                      <p:embed/>
                      <p:pic>
                        <p:nvPicPr>
                          <p:cNvPr id="2561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34" y="1971"/>
                            <a:ext cx="222" cy="3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11" name="Object 11"/>
              <p:cNvGraphicFramePr>
                <a:graphicFrameLocks noChangeAspect="1"/>
              </p:cNvGraphicFramePr>
              <p:nvPr/>
            </p:nvGraphicFramePr>
            <p:xfrm>
              <a:off x="3264" y="2256"/>
              <a:ext cx="240" cy="329"/>
            </p:xfrm>
            <a:graphic>
              <a:graphicData uri="http://schemas.openxmlformats.org/presentationml/2006/ole">
                <mc:AlternateContent xmlns:mc="http://schemas.openxmlformats.org/markup-compatibility/2006">
                  <mc:Choice xmlns:v="urn:schemas-microsoft-com:vml" Requires="v">
                    <p:oleObj name="公式" r:id="rId8" imgW="241091" imgH="317225" progId="Equation.3">
                      <p:embed/>
                    </p:oleObj>
                  </mc:Choice>
                  <mc:Fallback>
                    <p:oleObj name="公式" r:id="rId8" imgW="241091" imgH="317225" progId="Equation.3">
                      <p:embed/>
                      <p:pic>
                        <p:nvPicPr>
                          <p:cNvPr id="25611"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64" y="2256"/>
                            <a:ext cx="240" cy="3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12" name="Object 12"/>
              <p:cNvGraphicFramePr>
                <a:graphicFrameLocks noChangeAspect="1"/>
              </p:cNvGraphicFramePr>
              <p:nvPr/>
            </p:nvGraphicFramePr>
            <p:xfrm>
              <a:off x="4560" y="2016"/>
              <a:ext cx="432" cy="384"/>
            </p:xfrm>
            <a:graphic>
              <a:graphicData uri="http://schemas.openxmlformats.org/presentationml/2006/ole">
                <mc:AlternateContent xmlns:mc="http://schemas.openxmlformats.org/markup-compatibility/2006">
                  <mc:Choice xmlns:v="urn:schemas-microsoft-com:vml" Requires="v">
                    <p:oleObj name="Equation" r:id="rId10" imgW="291973" imgH="228501" progId="Equation.3">
                      <p:embed/>
                    </p:oleObj>
                  </mc:Choice>
                  <mc:Fallback>
                    <p:oleObj name="Equation" r:id="rId10" imgW="291973" imgH="228501" progId="Equation.3">
                      <p:embed/>
                      <p:pic>
                        <p:nvPicPr>
                          <p:cNvPr id="25612"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60" y="2016"/>
                            <a:ext cx="432" cy="384"/>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8575">
                                <a:solidFill>
                                  <a:srgbClr val="009900"/>
                                </a:solidFill>
                                <a:miter lim="800000"/>
                                <a:headEnd/>
                                <a:tailEnd/>
                              </a14:hiddenLine>
                            </a:ext>
                          </a:extLst>
                        </p:spPr>
                      </p:pic>
                    </p:oleObj>
                  </mc:Fallback>
                </mc:AlternateContent>
              </a:graphicData>
            </a:graphic>
          </p:graphicFrame>
        </p:grpSp>
        <p:grpSp>
          <p:nvGrpSpPr>
            <p:cNvPr id="13" name="组合 12">
              <a:extLst>
                <a:ext uri="{FF2B5EF4-FFF2-40B4-BE49-F238E27FC236}">
                  <a16:creationId xmlns:a16="http://schemas.microsoft.com/office/drawing/2014/main" id="{F4B9C736-8820-EE6B-C344-6A4A17572D0C}"/>
                </a:ext>
              </a:extLst>
            </p:cNvPr>
            <p:cNvGrpSpPr/>
            <p:nvPr/>
          </p:nvGrpSpPr>
          <p:grpSpPr>
            <a:xfrm>
              <a:off x="5038726" y="2602707"/>
              <a:ext cx="2525316" cy="1485900"/>
              <a:chOff x="5038726" y="2602707"/>
              <a:chExt cx="2525316" cy="1485900"/>
            </a:xfrm>
          </p:grpSpPr>
          <p:sp>
            <p:nvSpPr>
              <p:cNvPr id="25629" name="Line 29"/>
              <p:cNvSpPr>
                <a:spLocks noChangeShapeType="1"/>
              </p:cNvSpPr>
              <p:nvPr/>
            </p:nvSpPr>
            <p:spPr bwMode="auto">
              <a:xfrm>
                <a:off x="6192442" y="2602707"/>
                <a:ext cx="0" cy="679847"/>
              </a:xfrm>
              <a:prstGeom prst="line">
                <a:avLst/>
              </a:prstGeom>
              <a:noFill/>
              <a:ln w="28575">
                <a:solidFill>
                  <a:srgbClr val="0000FF"/>
                </a:solidFill>
                <a:round/>
                <a:headEnd type="none" w="sm" len="lg"/>
                <a:tailEnd type="triangle" w="sm" len="lg"/>
              </a:ln>
              <a:effectLst/>
            </p:spPr>
            <p:txBody>
              <a:bodyPr wrap="none" anchor="ctr"/>
              <a:lstStyle/>
              <a:p>
                <a:endParaRPr lang="zh-CN" altLang="en-US" sz="1050"/>
              </a:p>
            </p:txBody>
          </p:sp>
          <p:sp>
            <p:nvSpPr>
              <p:cNvPr id="25630" name="Line 30"/>
              <p:cNvSpPr>
                <a:spLocks noChangeShapeType="1"/>
              </p:cNvSpPr>
              <p:nvPr/>
            </p:nvSpPr>
            <p:spPr bwMode="auto">
              <a:xfrm flipV="1">
                <a:off x="6421042" y="2659857"/>
                <a:ext cx="0" cy="622697"/>
              </a:xfrm>
              <a:prstGeom prst="line">
                <a:avLst/>
              </a:prstGeom>
              <a:noFill/>
              <a:ln w="28575">
                <a:solidFill>
                  <a:srgbClr val="FF0066"/>
                </a:solidFill>
                <a:round/>
                <a:headEnd type="none" w="sm" len="lg"/>
                <a:tailEnd type="triangle" w="sm" len="lg"/>
              </a:ln>
              <a:effectLst/>
            </p:spPr>
            <p:txBody>
              <a:bodyPr wrap="none" anchor="ctr"/>
              <a:lstStyle/>
              <a:p>
                <a:endParaRPr lang="zh-CN" altLang="en-US" sz="1050"/>
              </a:p>
            </p:txBody>
          </p:sp>
          <p:grpSp>
            <p:nvGrpSpPr>
              <p:cNvPr id="6" name="Group 31"/>
              <p:cNvGrpSpPr>
                <a:grpSpLocks/>
              </p:cNvGrpSpPr>
              <p:nvPr/>
            </p:nvGrpSpPr>
            <p:grpSpPr bwMode="auto">
              <a:xfrm>
                <a:off x="5038726" y="3745707"/>
                <a:ext cx="2525316" cy="342900"/>
                <a:chOff x="3207" y="2016"/>
                <a:chExt cx="2121" cy="288"/>
              </a:xfrm>
            </p:grpSpPr>
            <p:grpSp>
              <p:nvGrpSpPr>
                <p:cNvPr id="7" name="Group 32"/>
                <p:cNvGrpSpPr>
                  <a:grpSpLocks/>
                </p:cNvGrpSpPr>
                <p:nvPr/>
              </p:nvGrpSpPr>
              <p:grpSpPr bwMode="auto">
                <a:xfrm>
                  <a:off x="3207" y="2016"/>
                  <a:ext cx="1572" cy="288"/>
                  <a:chOff x="3212" y="2016"/>
                  <a:chExt cx="1572" cy="288"/>
                </a:xfrm>
              </p:grpSpPr>
              <p:sp>
                <p:nvSpPr>
                  <p:cNvPr id="25633" name="Rectangle 33"/>
                  <p:cNvSpPr>
                    <a:spLocks noChangeArrowheads="1"/>
                  </p:cNvSpPr>
                  <p:nvPr/>
                </p:nvSpPr>
                <p:spPr bwMode="auto">
                  <a:xfrm flipH="1">
                    <a:off x="4331" y="2016"/>
                    <a:ext cx="152" cy="288"/>
                  </a:xfrm>
                  <a:prstGeom prst="rect">
                    <a:avLst/>
                  </a:prstGeom>
                  <a:gradFill rotWithShape="0">
                    <a:gsLst>
                      <a:gs pos="0">
                        <a:srgbClr val="F2EC00">
                          <a:gamma/>
                          <a:shade val="0"/>
                          <a:invGamma/>
                        </a:srgbClr>
                      </a:gs>
                      <a:gs pos="50000">
                        <a:srgbClr val="F2EC00"/>
                      </a:gs>
                      <a:gs pos="100000">
                        <a:srgbClr val="F2EC00">
                          <a:gamma/>
                          <a:shade val="0"/>
                          <a:invGamma/>
                        </a:srgbClr>
                      </a:gs>
                    </a:gsLst>
                    <a:lin ang="0" scaled="1"/>
                  </a:gradFill>
                  <a:ln w="9525">
                    <a:noFill/>
                    <a:miter lim="800000"/>
                    <a:headEnd/>
                    <a:tailEnd/>
                  </a:ln>
                  <a:effectLst/>
                </p:spPr>
                <p:txBody>
                  <a:bodyPr wrap="none" anchor="ctr"/>
                  <a:lstStyle/>
                  <a:p>
                    <a:endParaRPr lang="zh-CN" altLang="en-US" sz="1050"/>
                  </a:p>
                </p:txBody>
              </p:sp>
              <p:sp>
                <p:nvSpPr>
                  <p:cNvPr id="25634" name="Rectangle 34"/>
                  <p:cNvSpPr>
                    <a:spLocks noChangeArrowheads="1"/>
                  </p:cNvSpPr>
                  <p:nvPr/>
                </p:nvSpPr>
                <p:spPr bwMode="auto">
                  <a:xfrm flipH="1">
                    <a:off x="4176" y="2016"/>
                    <a:ext cx="155" cy="288"/>
                  </a:xfrm>
                  <a:prstGeom prst="rect">
                    <a:avLst/>
                  </a:prstGeom>
                  <a:gradFill rotWithShape="0">
                    <a:gsLst>
                      <a:gs pos="0">
                        <a:srgbClr val="F2EC00">
                          <a:gamma/>
                          <a:shade val="0"/>
                          <a:invGamma/>
                        </a:srgbClr>
                      </a:gs>
                      <a:gs pos="50000">
                        <a:srgbClr val="F2EC00"/>
                      </a:gs>
                      <a:gs pos="100000">
                        <a:srgbClr val="F2EC00">
                          <a:gamma/>
                          <a:shade val="0"/>
                          <a:invGamma/>
                        </a:srgbClr>
                      </a:gs>
                    </a:gsLst>
                    <a:lin ang="0" scaled="1"/>
                  </a:gradFill>
                  <a:ln w="9525">
                    <a:noFill/>
                    <a:miter lim="800000"/>
                    <a:headEnd/>
                    <a:tailEnd/>
                  </a:ln>
                  <a:effectLst/>
                </p:spPr>
                <p:txBody>
                  <a:bodyPr wrap="none" anchor="ctr"/>
                  <a:lstStyle/>
                  <a:p>
                    <a:endParaRPr lang="zh-CN" altLang="en-US" sz="1050"/>
                  </a:p>
                </p:txBody>
              </p:sp>
              <p:sp>
                <p:nvSpPr>
                  <p:cNvPr id="25635" name="Rectangle 35"/>
                  <p:cNvSpPr>
                    <a:spLocks noChangeArrowheads="1"/>
                  </p:cNvSpPr>
                  <p:nvPr/>
                </p:nvSpPr>
                <p:spPr bwMode="auto">
                  <a:xfrm flipH="1">
                    <a:off x="4023" y="2016"/>
                    <a:ext cx="153" cy="288"/>
                  </a:xfrm>
                  <a:prstGeom prst="rect">
                    <a:avLst/>
                  </a:prstGeom>
                  <a:gradFill rotWithShape="0">
                    <a:gsLst>
                      <a:gs pos="0">
                        <a:srgbClr val="F2EC00">
                          <a:gamma/>
                          <a:shade val="0"/>
                          <a:invGamma/>
                        </a:srgbClr>
                      </a:gs>
                      <a:gs pos="50000">
                        <a:srgbClr val="F2EC00"/>
                      </a:gs>
                      <a:gs pos="100000">
                        <a:srgbClr val="F2EC00">
                          <a:gamma/>
                          <a:shade val="0"/>
                          <a:invGamma/>
                        </a:srgbClr>
                      </a:gs>
                    </a:gsLst>
                    <a:lin ang="0" scaled="1"/>
                  </a:gradFill>
                  <a:ln w="9525">
                    <a:noFill/>
                    <a:miter lim="800000"/>
                    <a:headEnd/>
                    <a:tailEnd/>
                  </a:ln>
                  <a:effectLst/>
                </p:spPr>
                <p:txBody>
                  <a:bodyPr wrap="none" anchor="ctr"/>
                  <a:lstStyle/>
                  <a:p>
                    <a:endParaRPr lang="zh-CN" altLang="en-US" sz="1050"/>
                  </a:p>
                </p:txBody>
              </p:sp>
              <p:sp>
                <p:nvSpPr>
                  <p:cNvPr id="25636" name="Rectangle 36"/>
                  <p:cNvSpPr>
                    <a:spLocks noChangeArrowheads="1"/>
                  </p:cNvSpPr>
                  <p:nvPr/>
                </p:nvSpPr>
                <p:spPr bwMode="auto">
                  <a:xfrm flipH="1">
                    <a:off x="3870" y="2016"/>
                    <a:ext cx="153" cy="288"/>
                  </a:xfrm>
                  <a:prstGeom prst="rect">
                    <a:avLst/>
                  </a:prstGeom>
                  <a:gradFill rotWithShape="0">
                    <a:gsLst>
                      <a:gs pos="0">
                        <a:srgbClr val="F2EC00">
                          <a:gamma/>
                          <a:shade val="0"/>
                          <a:invGamma/>
                        </a:srgbClr>
                      </a:gs>
                      <a:gs pos="50000">
                        <a:srgbClr val="F2EC00"/>
                      </a:gs>
                      <a:gs pos="100000">
                        <a:srgbClr val="F2EC00">
                          <a:gamma/>
                          <a:shade val="0"/>
                          <a:invGamma/>
                        </a:srgbClr>
                      </a:gs>
                    </a:gsLst>
                    <a:lin ang="0" scaled="1"/>
                  </a:gradFill>
                  <a:ln w="9525">
                    <a:noFill/>
                    <a:miter lim="800000"/>
                    <a:headEnd/>
                    <a:tailEnd/>
                  </a:ln>
                  <a:effectLst/>
                </p:spPr>
                <p:txBody>
                  <a:bodyPr wrap="none" anchor="ctr"/>
                  <a:lstStyle/>
                  <a:p>
                    <a:endParaRPr lang="zh-CN" altLang="en-US" sz="1050"/>
                  </a:p>
                </p:txBody>
              </p:sp>
              <p:sp>
                <p:nvSpPr>
                  <p:cNvPr id="25637" name="Rectangle 37"/>
                  <p:cNvSpPr>
                    <a:spLocks noChangeArrowheads="1"/>
                  </p:cNvSpPr>
                  <p:nvPr/>
                </p:nvSpPr>
                <p:spPr bwMode="auto">
                  <a:xfrm flipH="1">
                    <a:off x="3717" y="2016"/>
                    <a:ext cx="153" cy="288"/>
                  </a:xfrm>
                  <a:prstGeom prst="rect">
                    <a:avLst/>
                  </a:prstGeom>
                  <a:gradFill rotWithShape="0">
                    <a:gsLst>
                      <a:gs pos="0">
                        <a:srgbClr val="F2EC00">
                          <a:gamma/>
                          <a:shade val="0"/>
                          <a:invGamma/>
                        </a:srgbClr>
                      </a:gs>
                      <a:gs pos="50000">
                        <a:srgbClr val="F2EC00"/>
                      </a:gs>
                      <a:gs pos="100000">
                        <a:srgbClr val="F2EC00">
                          <a:gamma/>
                          <a:shade val="0"/>
                          <a:invGamma/>
                        </a:srgbClr>
                      </a:gs>
                    </a:gsLst>
                    <a:lin ang="0" scaled="1"/>
                  </a:gradFill>
                  <a:ln w="9525">
                    <a:noFill/>
                    <a:miter lim="800000"/>
                    <a:headEnd/>
                    <a:tailEnd/>
                  </a:ln>
                  <a:effectLst/>
                </p:spPr>
                <p:txBody>
                  <a:bodyPr wrap="none" anchor="ctr"/>
                  <a:lstStyle/>
                  <a:p>
                    <a:endParaRPr lang="zh-CN" altLang="en-US" sz="1050"/>
                  </a:p>
                </p:txBody>
              </p:sp>
              <p:sp>
                <p:nvSpPr>
                  <p:cNvPr id="25638" name="Rectangle 38"/>
                  <p:cNvSpPr>
                    <a:spLocks noChangeArrowheads="1"/>
                  </p:cNvSpPr>
                  <p:nvPr/>
                </p:nvSpPr>
                <p:spPr bwMode="auto">
                  <a:xfrm flipH="1">
                    <a:off x="3563" y="2016"/>
                    <a:ext cx="154" cy="288"/>
                  </a:xfrm>
                  <a:prstGeom prst="rect">
                    <a:avLst/>
                  </a:prstGeom>
                  <a:gradFill rotWithShape="0">
                    <a:gsLst>
                      <a:gs pos="0">
                        <a:srgbClr val="F2EC00">
                          <a:gamma/>
                          <a:shade val="0"/>
                          <a:invGamma/>
                        </a:srgbClr>
                      </a:gs>
                      <a:gs pos="50000">
                        <a:srgbClr val="F2EC00"/>
                      </a:gs>
                      <a:gs pos="100000">
                        <a:srgbClr val="F2EC00">
                          <a:gamma/>
                          <a:shade val="0"/>
                          <a:invGamma/>
                        </a:srgbClr>
                      </a:gs>
                    </a:gsLst>
                    <a:lin ang="0" scaled="1"/>
                  </a:gradFill>
                  <a:ln w="9525">
                    <a:noFill/>
                    <a:miter lim="800000"/>
                    <a:headEnd/>
                    <a:tailEnd/>
                  </a:ln>
                  <a:effectLst/>
                </p:spPr>
                <p:txBody>
                  <a:bodyPr wrap="none" anchor="ctr"/>
                  <a:lstStyle/>
                  <a:p>
                    <a:endParaRPr lang="zh-CN" altLang="en-US" sz="1050"/>
                  </a:p>
                </p:txBody>
              </p:sp>
              <p:sp>
                <p:nvSpPr>
                  <p:cNvPr id="25639" name="Rectangle 39"/>
                  <p:cNvSpPr>
                    <a:spLocks noChangeArrowheads="1"/>
                  </p:cNvSpPr>
                  <p:nvPr/>
                </p:nvSpPr>
                <p:spPr bwMode="auto">
                  <a:xfrm flipH="1">
                    <a:off x="3410" y="2016"/>
                    <a:ext cx="153" cy="288"/>
                  </a:xfrm>
                  <a:prstGeom prst="rect">
                    <a:avLst/>
                  </a:prstGeom>
                  <a:gradFill rotWithShape="0">
                    <a:gsLst>
                      <a:gs pos="0">
                        <a:srgbClr val="F2EC00">
                          <a:gamma/>
                          <a:shade val="0"/>
                          <a:invGamma/>
                        </a:srgbClr>
                      </a:gs>
                      <a:gs pos="50000">
                        <a:srgbClr val="F2EC00"/>
                      </a:gs>
                      <a:gs pos="100000">
                        <a:srgbClr val="F2EC00">
                          <a:gamma/>
                          <a:shade val="0"/>
                          <a:invGamma/>
                        </a:srgbClr>
                      </a:gs>
                    </a:gsLst>
                    <a:lin ang="0" scaled="1"/>
                  </a:gradFill>
                  <a:ln w="9525">
                    <a:noFill/>
                    <a:miter lim="800000"/>
                    <a:headEnd/>
                    <a:tailEnd/>
                  </a:ln>
                  <a:effectLst/>
                </p:spPr>
                <p:txBody>
                  <a:bodyPr wrap="none" anchor="ctr"/>
                  <a:lstStyle/>
                  <a:p>
                    <a:endParaRPr lang="zh-CN" altLang="en-US" sz="1050"/>
                  </a:p>
                </p:txBody>
              </p:sp>
              <p:sp>
                <p:nvSpPr>
                  <p:cNvPr id="25640" name="Rectangle 40"/>
                  <p:cNvSpPr>
                    <a:spLocks noChangeArrowheads="1"/>
                  </p:cNvSpPr>
                  <p:nvPr/>
                </p:nvSpPr>
                <p:spPr bwMode="auto">
                  <a:xfrm flipH="1">
                    <a:off x="3256" y="2016"/>
                    <a:ext cx="154" cy="288"/>
                  </a:xfrm>
                  <a:prstGeom prst="rect">
                    <a:avLst/>
                  </a:prstGeom>
                  <a:gradFill rotWithShape="0">
                    <a:gsLst>
                      <a:gs pos="0">
                        <a:srgbClr val="F2EC00">
                          <a:gamma/>
                          <a:shade val="0"/>
                          <a:invGamma/>
                        </a:srgbClr>
                      </a:gs>
                      <a:gs pos="50000">
                        <a:srgbClr val="F2EC00"/>
                      </a:gs>
                      <a:gs pos="100000">
                        <a:srgbClr val="F2EC00">
                          <a:gamma/>
                          <a:shade val="0"/>
                          <a:invGamma/>
                        </a:srgbClr>
                      </a:gs>
                    </a:gsLst>
                    <a:lin ang="0" scaled="1"/>
                  </a:gradFill>
                  <a:ln w="9525">
                    <a:noFill/>
                    <a:miter lim="800000"/>
                    <a:headEnd/>
                    <a:tailEnd/>
                  </a:ln>
                  <a:effectLst/>
                </p:spPr>
                <p:txBody>
                  <a:bodyPr wrap="none" anchor="ctr"/>
                  <a:lstStyle/>
                  <a:p>
                    <a:endParaRPr lang="zh-CN" altLang="en-US" sz="1050"/>
                  </a:p>
                </p:txBody>
              </p:sp>
              <p:sp>
                <p:nvSpPr>
                  <p:cNvPr id="25641" name="Rectangle 41"/>
                  <p:cNvSpPr>
                    <a:spLocks noChangeArrowheads="1"/>
                  </p:cNvSpPr>
                  <p:nvPr/>
                </p:nvSpPr>
                <p:spPr bwMode="auto">
                  <a:xfrm flipH="1">
                    <a:off x="4483" y="2016"/>
                    <a:ext cx="154" cy="288"/>
                  </a:xfrm>
                  <a:prstGeom prst="rect">
                    <a:avLst/>
                  </a:prstGeom>
                  <a:gradFill rotWithShape="0">
                    <a:gsLst>
                      <a:gs pos="0">
                        <a:srgbClr val="F2EC00">
                          <a:gamma/>
                          <a:shade val="0"/>
                          <a:invGamma/>
                        </a:srgbClr>
                      </a:gs>
                      <a:gs pos="50000">
                        <a:srgbClr val="F2EC00"/>
                      </a:gs>
                      <a:gs pos="100000">
                        <a:srgbClr val="F2EC00">
                          <a:gamma/>
                          <a:shade val="0"/>
                          <a:invGamma/>
                        </a:srgbClr>
                      </a:gs>
                    </a:gsLst>
                    <a:lin ang="0" scaled="1"/>
                  </a:gradFill>
                  <a:ln w="9525">
                    <a:noFill/>
                    <a:miter lim="800000"/>
                    <a:headEnd/>
                    <a:tailEnd/>
                  </a:ln>
                  <a:effectLst/>
                </p:spPr>
                <p:txBody>
                  <a:bodyPr wrap="none" anchor="ctr"/>
                  <a:lstStyle/>
                  <a:p>
                    <a:endParaRPr lang="zh-CN" altLang="en-US" sz="1050"/>
                  </a:p>
                </p:txBody>
              </p:sp>
              <p:sp>
                <p:nvSpPr>
                  <p:cNvPr id="25642" name="Rectangle 42"/>
                  <p:cNvSpPr>
                    <a:spLocks noChangeArrowheads="1"/>
                  </p:cNvSpPr>
                  <p:nvPr/>
                </p:nvSpPr>
                <p:spPr bwMode="auto">
                  <a:xfrm flipH="1">
                    <a:off x="3212" y="2053"/>
                    <a:ext cx="100" cy="213"/>
                  </a:xfrm>
                  <a:prstGeom prst="rect">
                    <a:avLst/>
                  </a:prstGeom>
                  <a:solidFill>
                    <a:schemeClr val="bg1"/>
                  </a:solidFill>
                  <a:ln w="9525">
                    <a:noFill/>
                    <a:miter lim="800000"/>
                    <a:headEnd/>
                    <a:tailEnd/>
                  </a:ln>
                  <a:effectLst/>
                </p:spPr>
                <p:txBody>
                  <a:bodyPr anchor="ctr">
                    <a:spAutoFit/>
                  </a:bodyPr>
                  <a:lstStyle/>
                  <a:p>
                    <a:endParaRPr lang="zh-CN" altLang="en-US" sz="1050"/>
                  </a:p>
                </p:txBody>
              </p:sp>
              <p:sp>
                <p:nvSpPr>
                  <p:cNvPr id="25643" name="Rectangle 43"/>
                  <p:cNvSpPr>
                    <a:spLocks noChangeArrowheads="1"/>
                  </p:cNvSpPr>
                  <p:nvPr/>
                </p:nvSpPr>
                <p:spPr bwMode="auto">
                  <a:xfrm flipH="1">
                    <a:off x="4630" y="2016"/>
                    <a:ext cx="154" cy="288"/>
                  </a:xfrm>
                  <a:prstGeom prst="rect">
                    <a:avLst/>
                  </a:prstGeom>
                  <a:gradFill rotWithShape="0">
                    <a:gsLst>
                      <a:gs pos="0">
                        <a:srgbClr val="F2EC00">
                          <a:gamma/>
                          <a:shade val="0"/>
                          <a:invGamma/>
                        </a:srgbClr>
                      </a:gs>
                      <a:gs pos="50000">
                        <a:srgbClr val="F2EC00"/>
                      </a:gs>
                      <a:gs pos="100000">
                        <a:srgbClr val="F2EC00">
                          <a:gamma/>
                          <a:shade val="0"/>
                          <a:invGamma/>
                        </a:srgbClr>
                      </a:gs>
                    </a:gsLst>
                    <a:lin ang="0" scaled="1"/>
                  </a:gradFill>
                  <a:ln w="9525">
                    <a:noFill/>
                    <a:miter lim="800000"/>
                    <a:headEnd/>
                    <a:tailEnd/>
                  </a:ln>
                  <a:effectLst/>
                </p:spPr>
                <p:txBody>
                  <a:bodyPr wrap="none" anchor="ctr"/>
                  <a:lstStyle/>
                  <a:p>
                    <a:endParaRPr lang="zh-CN" altLang="en-US" sz="1050"/>
                  </a:p>
                </p:txBody>
              </p:sp>
            </p:grpSp>
            <p:sp>
              <p:nvSpPr>
                <p:cNvPr id="25644" name="Rectangle 44"/>
                <p:cNvSpPr>
                  <a:spLocks noChangeArrowheads="1"/>
                </p:cNvSpPr>
                <p:nvPr/>
              </p:nvSpPr>
              <p:spPr bwMode="auto">
                <a:xfrm flipH="1">
                  <a:off x="4641" y="2053"/>
                  <a:ext cx="687" cy="213"/>
                </a:xfrm>
                <a:prstGeom prst="rect">
                  <a:avLst/>
                </a:prstGeom>
                <a:gradFill rotWithShape="0">
                  <a:gsLst>
                    <a:gs pos="0">
                      <a:srgbClr val="000000"/>
                    </a:gs>
                    <a:gs pos="100000">
                      <a:srgbClr val="000000">
                        <a:gamma/>
                        <a:tint val="69804"/>
                        <a:invGamma/>
                      </a:srgbClr>
                    </a:gs>
                  </a:gsLst>
                  <a:lin ang="0" scaled="1"/>
                </a:gradFill>
                <a:ln w="9525">
                  <a:noFill/>
                  <a:miter lim="800000"/>
                  <a:headEnd/>
                  <a:tailEnd/>
                </a:ln>
                <a:effectLst/>
              </p:spPr>
              <p:txBody>
                <a:bodyPr anchor="ctr">
                  <a:spAutoFit/>
                </a:bodyPr>
                <a:lstStyle/>
                <a:p>
                  <a:endParaRPr lang="zh-CN" altLang="en-US" sz="1050"/>
                </a:p>
              </p:txBody>
            </p:sp>
          </p:grpSp>
          <p:sp>
            <p:nvSpPr>
              <p:cNvPr id="25645" name="Line 45"/>
              <p:cNvSpPr>
                <a:spLocks noChangeShapeType="1"/>
              </p:cNvSpPr>
              <p:nvPr/>
            </p:nvSpPr>
            <p:spPr bwMode="auto">
              <a:xfrm flipV="1">
                <a:off x="6306742" y="2659857"/>
                <a:ext cx="0" cy="451247"/>
              </a:xfrm>
              <a:prstGeom prst="line">
                <a:avLst/>
              </a:prstGeom>
              <a:noFill/>
              <a:ln w="28575">
                <a:solidFill>
                  <a:srgbClr val="FF0066"/>
                </a:solidFill>
                <a:round/>
                <a:headEnd type="none" w="sm" len="lg"/>
                <a:tailEnd type="triangle" w="sm" len="lg"/>
              </a:ln>
              <a:effectLst/>
            </p:spPr>
            <p:txBody>
              <a:bodyPr wrap="none" anchor="ctr"/>
              <a:lstStyle/>
              <a:p>
                <a:endParaRPr lang="zh-CN" altLang="en-US" sz="1050"/>
              </a:p>
            </p:txBody>
          </p:sp>
        </p:grpSp>
      </p:grpSp>
      <p:grpSp>
        <p:nvGrpSpPr>
          <p:cNvPr id="16" name="组合 15">
            <a:extLst>
              <a:ext uri="{FF2B5EF4-FFF2-40B4-BE49-F238E27FC236}">
                <a16:creationId xmlns:a16="http://schemas.microsoft.com/office/drawing/2014/main" id="{8D09355C-CE03-3E91-C209-85FA4CCA5A63}"/>
              </a:ext>
            </a:extLst>
          </p:cNvPr>
          <p:cNvGrpSpPr/>
          <p:nvPr/>
        </p:nvGrpSpPr>
        <p:grpSpPr>
          <a:xfrm>
            <a:off x="283880" y="1706678"/>
            <a:ext cx="2392750" cy="3284593"/>
            <a:chOff x="512480" y="1630476"/>
            <a:chExt cx="2933700" cy="4128306"/>
          </a:xfrm>
        </p:grpSpPr>
        <p:grpSp>
          <p:nvGrpSpPr>
            <p:cNvPr id="3" name="Group 13"/>
            <p:cNvGrpSpPr>
              <a:grpSpLocks/>
            </p:cNvGrpSpPr>
            <p:nvPr/>
          </p:nvGrpSpPr>
          <p:grpSpPr bwMode="auto">
            <a:xfrm>
              <a:off x="512480" y="1630476"/>
              <a:ext cx="2933700" cy="4064794"/>
              <a:chOff x="176" y="665"/>
              <a:chExt cx="2464" cy="3414"/>
            </a:xfrm>
          </p:grpSpPr>
          <p:grpSp>
            <p:nvGrpSpPr>
              <p:cNvPr id="4" name="Group 14"/>
              <p:cNvGrpSpPr>
                <a:grpSpLocks/>
              </p:cNvGrpSpPr>
              <p:nvPr/>
            </p:nvGrpSpPr>
            <p:grpSpPr bwMode="auto">
              <a:xfrm>
                <a:off x="176" y="665"/>
                <a:ext cx="2464" cy="3414"/>
                <a:chOff x="176" y="622"/>
                <a:chExt cx="2464" cy="3359"/>
              </a:xfrm>
            </p:grpSpPr>
            <p:sp>
              <p:nvSpPr>
                <p:cNvPr id="25615" name="Text Box 15"/>
                <p:cNvSpPr txBox="1">
                  <a:spLocks noChangeArrowheads="1"/>
                </p:cNvSpPr>
                <p:nvPr/>
              </p:nvSpPr>
              <p:spPr bwMode="auto">
                <a:xfrm>
                  <a:off x="176" y="622"/>
                  <a:ext cx="2352" cy="480"/>
                </a:xfrm>
                <a:prstGeom prst="rect">
                  <a:avLst/>
                </a:prstGeom>
                <a:noFill/>
                <a:ln w="28575">
                  <a:noFill/>
                  <a:miter lim="800000"/>
                  <a:headEnd/>
                  <a:tailEnd/>
                </a:ln>
                <a:effectLst/>
              </p:spPr>
              <p:txBody>
                <a:bodyPr>
                  <a:spAutoFit/>
                </a:bodyPr>
                <a:lstStyle/>
                <a:p>
                  <a:pPr>
                    <a:spcBef>
                      <a:spcPct val="50000"/>
                    </a:spcBef>
                  </a:pPr>
                  <a:r>
                    <a:rPr lang="zh-CN" altLang="en-US" sz="2400" b="1" dirty="0">
                      <a:solidFill>
                        <a:srgbClr val="FF0000"/>
                      </a:solidFill>
                      <a:latin typeface="微软雅黑" panose="020B0503020204020204" pitchFamily="34" charset="-122"/>
                      <a:ea typeface="微软雅黑" panose="020B0503020204020204" pitchFamily="34" charset="-122"/>
                    </a:rPr>
                    <a:t>     </a:t>
                  </a:r>
                  <a:r>
                    <a:rPr lang="zh-CN" altLang="en-US" sz="2000" b="1" dirty="0">
                      <a:solidFill>
                        <a:srgbClr val="FF0000"/>
                      </a:solidFill>
                      <a:latin typeface="微软雅黑" panose="020B0503020204020204" pitchFamily="34" charset="-122"/>
                      <a:ea typeface="微软雅黑" panose="020B0503020204020204" pitchFamily="34" charset="-122"/>
                    </a:rPr>
                    <a:t>干涉膨胀仪</a:t>
                  </a:r>
                </a:p>
              </p:txBody>
            </p:sp>
            <p:sp>
              <p:nvSpPr>
                <p:cNvPr id="25616" name="Rectangle 16"/>
                <p:cNvSpPr>
                  <a:spLocks noChangeArrowheads="1"/>
                </p:cNvSpPr>
                <p:nvPr/>
              </p:nvSpPr>
              <p:spPr bwMode="auto">
                <a:xfrm>
                  <a:off x="288" y="1245"/>
                  <a:ext cx="2352" cy="2736"/>
                </a:xfrm>
                <a:prstGeom prst="rect">
                  <a:avLst/>
                </a:prstGeom>
                <a:solidFill>
                  <a:schemeClr val="bg1"/>
                </a:solidFill>
                <a:ln w="19050">
                  <a:solidFill>
                    <a:schemeClr val="tx1"/>
                  </a:solidFill>
                  <a:miter lim="800000"/>
                  <a:headEnd/>
                  <a:tailEnd/>
                </a:ln>
                <a:effectLst/>
              </p:spPr>
              <p:txBody>
                <a:bodyPr wrap="none" anchor="ctr"/>
                <a:lstStyle/>
                <a:p>
                  <a:endParaRPr lang="zh-CN" altLang="en-US" sz="1050"/>
                </a:p>
              </p:txBody>
            </p:sp>
          </p:grpSp>
          <p:sp>
            <p:nvSpPr>
              <p:cNvPr id="25617" name="Rectangle 17"/>
              <p:cNvSpPr>
                <a:spLocks noChangeArrowheads="1"/>
              </p:cNvSpPr>
              <p:nvPr/>
            </p:nvSpPr>
            <p:spPr bwMode="auto">
              <a:xfrm>
                <a:off x="672" y="1714"/>
                <a:ext cx="1731" cy="103"/>
              </a:xfrm>
              <a:prstGeom prst="rect">
                <a:avLst/>
              </a:prstGeom>
              <a:solidFill>
                <a:srgbClr val="00FFCC">
                  <a:alpha val="50000"/>
                </a:srgbClr>
              </a:solidFill>
              <a:ln w="28575">
                <a:solidFill>
                  <a:srgbClr val="000000"/>
                </a:solidFill>
                <a:miter lim="800000"/>
                <a:headEnd/>
                <a:tailEnd/>
              </a:ln>
              <a:effectLst/>
            </p:spPr>
            <p:txBody>
              <a:bodyPr wrap="none" anchor="ctr"/>
              <a:lstStyle/>
              <a:p>
                <a:endParaRPr lang="zh-CN" altLang="en-US" sz="1050"/>
              </a:p>
            </p:txBody>
          </p:sp>
          <p:sp>
            <p:nvSpPr>
              <p:cNvPr id="25618" name="Rectangle 18" descr="深色下对角线"/>
              <p:cNvSpPr>
                <a:spLocks noChangeArrowheads="1"/>
              </p:cNvSpPr>
              <p:nvPr/>
            </p:nvSpPr>
            <p:spPr bwMode="auto">
              <a:xfrm>
                <a:off x="672" y="2777"/>
                <a:ext cx="1731" cy="103"/>
              </a:xfrm>
              <a:prstGeom prst="rect">
                <a:avLst/>
              </a:prstGeom>
              <a:pattFill prst="dkDnDiag">
                <a:fgClr>
                  <a:srgbClr val="000099"/>
                </a:fgClr>
                <a:bgClr>
                  <a:srgbClr val="FFFFFF"/>
                </a:bgClr>
              </a:pattFill>
              <a:ln w="28575">
                <a:solidFill>
                  <a:srgbClr val="000000"/>
                </a:solidFill>
                <a:miter lim="800000"/>
                <a:headEnd/>
                <a:tailEnd/>
              </a:ln>
              <a:effectLst/>
            </p:spPr>
            <p:txBody>
              <a:bodyPr wrap="none" anchor="ctr"/>
              <a:lstStyle/>
              <a:p>
                <a:endParaRPr lang="zh-CN" altLang="en-US" sz="1050"/>
              </a:p>
            </p:txBody>
          </p:sp>
          <p:sp>
            <p:nvSpPr>
              <p:cNvPr id="25619" name="Rectangle 19" descr="浅色上对角线"/>
              <p:cNvSpPr>
                <a:spLocks noChangeArrowheads="1"/>
              </p:cNvSpPr>
              <p:nvPr/>
            </p:nvSpPr>
            <p:spPr bwMode="auto">
              <a:xfrm>
                <a:off x="805" y="1817"/>
                <a:ext cx="200" cy="967"/>
              </a:xfrm>
              <a:prstGeom prst="rect">
                <a:avLst/>
              </a:prstGeom>
              <a:pattFill prst="ltUpDiag">
                <a:fgClr>
                  <a:srgbClr val="0000CC"/>
                </a:fgClr>
                <a:bgClr>
                  <a:schemeClr val="accent1"/>
                </a:bgClr>
              </a:pattFill>
              <a:ln w="28575">
                <a:solidFill>
                  <a:srgbClr val="000099"/>
                </a:solidFill>
                <a:miter lim="800000"/>
                <a:headEnd/>
                <a:tailEnd/>
              </a:ln>
              <a:effectLst/>
            </p:spPr>
            <p:txBody>
              <a:bodyPr wrap="none" anchor="ctr"/>
              <a:lstStyle/>
              <a:p>
                <a:endParaRPr lang="zh-CN" altLang="en-US" sz="1050"/>
              </a:p>
            </p:txBody>
          </p:sp>
          <p:sp>
            <p:nvSpPr>
              <p:cNvPr id="25620" name="Rectangle 20" descr="浅色上对角线"/>
              <p:cNvSpPr>
                <a:spLocks noChangeArrowheads="1"/>
              </p:cNvSpPr>
              <p:nvPr/>
            </p:nvSpPr>
            <p:spPr bwMode="auto">
              <a:xfrm>
                <a:off x="2070" y="1817"/>
                <a:ext cx="200" cy="967"/>
              </a:xfrm>
              <a:prstGeom prst="rect">
                <a:avLst/>
              </a:prstGeom>
              <a:pattFill prst="ltUpDiag">
                <a:fgClr>
                  <a:srgbClr val="0000CC"/>
                </a:fgClr>
                <a:bgClr>
                  <a:schemeClr val="accent1"/>
                </a:bgClr>
              </a:pattFill>
              <a:ln w="28575">
                <a:solidFill>
                  <a:srgbClr val="000099"/>
                </a:solidFill>
                <a:miter lim="800000"/>
                <a:headEnd/>
                <a:tailEnd/>
              </a:ln>
              <a:effectLst/>
            </p:spPr>
            <p:txBody>
              <a:bodyPr wrap="none" anchor="ctr"/>
              <a:lstStyle/>
              <a:p>
                <a:endParaRPr lang="zh-CN" altLang="en-US" sz="1050"/>
              </a:p>
            </p:txBody>
          </p:sp>
          <p:sp>
            <p:nvSpPr>
              <p:cNvPr id="25621" name="Freeform 21" descr="深色上对角线"/>
              <p:cNvSpPr>
                <a:spLocks/>
              </p:cNvSpPr>
              <p:nvPr/>
            </p:nvSpPr>
            <p:spPr bwMode="auto">
              <a:xfrm>
                <a:off x="1200" y="1920"/>
                <a:ext cx="665" cy="864"/>
              </a:xfrm>
              <a:custGeom>
                <a:avLst/>
                <a:gdLst/>
                <a:ahLst/>
                <a:cxnLst>
                  <a:cxn ang="0">
                    <a:pos x="0" y="672"/>
                  </a:cxn>
                  <a:cxn ang="0">
                    <a:pos x="0" y="0"/>
                  </a:cxn>
                  <a:cxn ang="0">
                    <a:pos x="480" y="96"/>
                  </a:cxn>
                  <a:cxn ang="0">
                    <a:pos x="480" y="672"/>
                  </a:cxn>
                  <a:cxn ang="0">
                    <a:pos x="0" y="672"/>
                  </a:cxn>
                </a:cxnLst>
                <a:rect l="0" t="0" r="r" b="b"/>
                <a:pathLst>
                  <a:path w="480" h="672">
                    <a:moveTo>
                      <a:pt x="0" y="672"/>
                    </a:moveTo>
                    <a:lnTo>
                      <a:pt x="0" y="0"/>
                    </a:lnTo>
                    <a:lnTo>
                      <a:pt x="480" y="96"/>
                    </a:lnTo>
                    <a:lnTo>
                      <a:pt x="480" y="672"/>
                    </a:lnTo>
                    <a:lnTo>
                      <a:pt x="0" y="672"/>
                    </a:lnTo>
                    <a:close/>
                  </a:path>
                </a:pathLst>
              </a:custGeom>
              <a:pattFill prst="dkUpDiag">
                <a:fgClr>
                  <a:srgbClr val="CC9900"/>
                </a:fgClr>
                <a:bgClr>
                  <a:srgbClr val="FFFF99"/>
                </a:bgClr>
              </a:pattFill>
              <a:ln w="9525" cap="flat" cmpd="sng">
                <a:solidFill>
                  <a:srgbClr val="000000"/>
                </a:solidFill>
                <a:prstDash val="solid"/>
                <a:round/>
                <a:headEnd/>
                <a:tailEnd/>
              </a:ln>
              <a:effectLst/>
            </p:spPr>
            <p:txBody>
              <a:bodyPr wrap="none" anchor="ctr"/>
              <a:lstStyle/>
              <a:p>
                <a:endParaRPr lang="zh-CN" altLang="en-US" sz="1050"/>
              </a:p>
            </p:txBody>
          </p:sp>
          <p:sp>
            <p:nvSpPr>
              <p:cNvPr id="25622" name="Line 22"/>
              <p:cNvSpPr>
                <a:spLocks noChangeShapeType="1"/>
              </p:cNvSpPr>
              <p:nvPr/>
            </p:nvSpPr>
            <p:spPr bwMode="auto">
              <a:xfrm flipH="1">
                <a:off x="472" y="2784"/>
                <a:ext cx="733" cy="0"/>
              </a:xfrm>
              <a:prstGeom prst="line">
                <a:avLst/>
              </a:prstGeom>
              <a:noFill/>
              <a:ln w="19050">
                <a:solidFill>
                  <a:srgbClr val="FF0066"/>
                </a:solidFill>
                <a:prstDash val="dash"/>
                <a:round/>
                <a:headEnd type="none" w="sm" len="lg"/>
                <a:tailEnd/>
              </a:ln>
              <a:effectLst/>
            </p:spPr>
            <p:txBody>
              <a:bodyPr wrap="none" anchor="ctr"/>
              <a:lstStyle/>
              <a:p>
                <a:endParaRPr lang="zh-CN" altLang="en-US" sz="1050"/>
              </a:p>
            </p:txBody>
          </p:sp>
          <p:sp>
            <p:nvSpPr>
              <p:cNvPr id="25623" name="Line 23"/>
              <p:cNvSpPr>
                <a:spLocks noChangeShapeType="1"/>
              </p:cNvSpPr>
              <p:nvPr/>
            </p:nvSpPr>
            <p:spPr bwMode="auto">
              <a:xfrm>
                <a:off x="624" y="1920"/>
                <a:ext cx="0" cy="864"/>
              </a:xfrm>
              <a:prstGeom prst="line">
                <a:avLst/>
              </a:prstGeom>
              <a:noFill/>
              <a:ln w="19050">
                <a:solidFill>
                  <a:srgbClr val="FF0066"/>
                </a:solidFill>
                <a:prstDash val="dash"/>
                <a:round/>
                <a:headEnd type="triangle" w="sm" len="lg"/>
                <a:tailEnd type="triangle" w="sm" len="lg"/>
              </a:ln>
              <a:effectLst/>
            </p:spPr>
            <p:txBody>
              <a:bodyPr wrap="none" anchor="ctr"/>
              <a:lstStyle/>
              <a:p>
                <a:endParaRPr lang="zh-CN" altLang="en-US" sz="1050"/>
              </a:p>
            </p:txBody>
          </p:sp>
          <p:graphicFrame>
            <p:nvGraphicFramePr>
              <p:cNvPr id="25624" name="Object 24"/>
              <p:cNvGraphicFramePr>
                <a:graphicFrameLocks noChangeAspect="1"/>
              </p:cNvGraphicFramePr>
              <p:nvPr/>
            </p:nvGraphicFramePr>
            <p:xfrm>
              <a:off x="376" y="2180"/>
              <a:ext cx="296" cy="364"/>
            </p:xfrm>
            <a:graphic>
              <a:graphicData uri="http://schemas.openxmlformats.org/presentationml/2006/ole">
                <mc:AlternateContent xmlns:mc="http://schemas.openxmlformats.org/markup-compatibility/2006">
                  <mc:Choice xmlns:v="urn:schemas-microsoft-com:vml" Requires="v">
                    <p:oleObj name="公式" r:id="rId12" imgW="177646" imgH="329914" progId="Equation.3">
                      <p:embed/>
                    </p:oleObj>
                  </mc:Choice>
                  <mc:Fallback>
                    <p:oleObj name="公式" r:id="rId12" imgW="177646" imgH="329914" progId="Equation.3">
                      <p:embed/>
                      <p:pic>
                        <p:nvPicPr>
                          <p:cNvPr id="25624"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6" y="2180"/>
                            <a:ext cx="296" cy="3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25"/>
              <p:cNvGrpSpPr>
                <a:grpSpLocks/>
              </p:cNvGrpSpPr>
              <p:nvPr/>
            </p:nvGrpSpPr>
            <p:grpSpPr bwMode="auto">
              <a:xfrm>
                <a:off x="1344" y="1388"/>
                <a:ext cx="288" cy="244"/>
                <a:chOff x="1200" y="1200"/>
                <a:chExt cx="288" cy="336"/>
              </a:xfrm>
            </p:grpSpPr>
            <p:sp>
              <p:nvSpPr>
                <p:cNvPr id="25626" name="Rectangle 26"/>
                <p:cNvSpPr>
                  <a:spLocks noChangeArrowheads="1"/>
                </p:cNvSpPr>
                <p:nvPr/>
              </p:nvSpPr>
              <p:spPr bwMode="auto">
                <a:xfrm>
                  <a:off x="1200" y="1200"/>
                  <a:ext cx="288" cy="240"/>
                </a:xfrm>
                <a:prstGeom prst="rect">
                  <a:avLst/>
                </a:prstGeom>
                <a:gradFill rotWithShape="0">
                  <a:gsLst>
                    <a:gs pos="0">
                      <a:schemeClr val="accent1">
                        <a:gamma/>
                        <a:shade val="36078"/>
                        <a:invGamma/>
                      </a:schemeClr>
                    </a:gs>
                    <a:gs pos="50000">
                      <a:schemeClr val="accent1"/>
                    </a:gs>
                    <a:gs pos="100000">
                      <a:schemeClr val="accent1">
                        <a:gamma/>
                        <a:shade val="36078"/>
                        <a:invGamma/>
                      </a:schemeClr>
                    </a:gs>
                  </a:gsLst>
                  <a:lin ang="0" scaled="1"/>
                </a:gradFill>
                <a:ln w="9525">
                  <a:solidFill>
                    <a:schemeClr val="tx1"/>
                  </a:solidFill>
                  <a:miter lim="800000"/>
                  <a:headEnd/>
                  <a:tailEnd/>
                </a:ln>
                <a:effectLst/>
              </p:spPr>
              <p:txBody>
                <a:bodyPr wrap="none" anchor="ctr"/>
                <a:lstStyle/>
                <a:p>
                  <a:endParaRPr lang="zh-CN" altLang="en-US" sz="1050"/>
                </a:p>
              </p:txBody>
            </p:sp>
            <p:sp>
              <p:nvSpPr>
                <p:cNvPr id="25627" name="AutoShape 27"/>
                <p:cNvSpPr>
                  <a:spLocks noChangeArrowheads="1"/>
                </p:cNvSpPr>
                <p:nvPr/>
              </p:nvSpPr>
              <p:spPr bwMode="auto">
                <a:xfrm>
                  <a:off x="1200" y="1440"/>
                  <a:ext cx="288" cy="96"/>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gradFill rotWithShape="0">
                  <a:gsLst>
                    <a:gs pos="0">
                      <a:schemeClr val="accent1">
                        <a:gamma/>
                        <a:shade val="26275"/>
                        <a:invGamma/>
                      </a:schemeClr>
                    </a:gs>
                    <a:gs pos="50000">
                      <a:schemeClr val="accent1"/>
                    </a:gs>
                    <a:gs pos="100000">
                      <a:schemeClr val="accent1">
                        <a:gamma/>
                        <a:shade val="26275"/>
                        <a:invGamma/>
                      </a:schemeClr>
                    </a:gs>
                  </a:gsLst>
                  <a:lin ang="0" scaled="1"/>
                </a:gradFill>
                <a:ln w="9525">
                  <a:solidFill>
                    <a:schemeClr val="tx1"/>
                  </a:solidFill>
                  <a:miter lim="800000"/>
                  <a:headEnd/>
                  <a:tailEnd/>
                </a:ln>
                <a:effectLst/>
              </p:spPr>
              <p:txBody>
                <a:bodyPr wrap="none" anchor="ctr"/>
                <a:lstStyle/>
                <a:p>
                  <a:endParaRPr lang="zh-CN" altLang="en-US" sz="1050"/>
                </a:p>
              </p:txBody>
            </p:sp>
          </p:grpSp>
        </p:grpSp>
        <p:sp>
          <p:nvSpPr>
            <p:cNvPr id="25628" name="Line 28"/>
            <p:cNvSpPr>
              <a:spLocks noChangeShapeType="1"/>
            </p:cNvSpPr>
            <p:nvPr/>
          </p:nvSpPr>
          <p:spPr bwMode="auto">
            <a:xfrm flipH="1">
              <a:off x="874429" y="3363245"/>
              <a:ext cx="857250" cy="0"/>
            </a:xfrm>
            <a:prstGeom prst="line">
              <a:avLst/>
            </a:prstGeom>
            <a:noFill/>
            <a:ln w="19050">
              <a:solidFill>
                <a:srgbClr val="FF0066"/>
              </a:solidFill>
              <a:prstDash val="dash"/>
              <a:round/>
              <a:headEnd/>
              <a:tailEnd/>
            </a:ln>
            <a:effectLst/>
          </p:spPr>
          <p:txBody>
            <a:bodyPr wrap="none"/>
            <a:lstStyle/>
            <a:p>
              <a:endParaRPr lang="zh-CN" altLang="en-US" sz="1050"/>
            </a:p>
          </p:txBody>
        </p:sp>
        <p:grpSp>
          <p:nvGrpSpPr>
            <p:cNvPr id="8" name="Group 46"/>
            <p:cNvGrpSpPr>
              <a:grpSpLocks/>
            </p:cNvGrpSpPr>
            <p:nvPr/>
          </p:nvGrpSpPr>
          <p:grpSpPr bwMode="auto">
            <a:xfrm>
              <a:off x="645830" y="2844132"/>
              <a:ext cx="1883569" cy="1543050"/>
              <a:chOff x="288" y="1488"/>
              <a:chExt cx="1582" cy="1296"/>
            </a:xfrm>
          </p:grpSpPr>
          <p:sp>
            <p:nvSpPr>
              <p:cNvPr id="25647" name="Freeform 47" descr="深色上对角线"/>
              <p:cNvSpPr>
                <a:spLocks/>
              </p:cNvSpPr>
              <p:nvPr/>
            </p:nvSpPr>
            <p:spPr bwMode="auto">
              <a:xfrm>
                <a:off x="1205" y="1882"/>
                <a:ext cx="665" cy="902"/>
              </a:xfrm>
              <a:custGeom>
                <a:avLst/>
                <a:gdLst/>
                <a:ahLst/>
                <a:cxnLst>
                  <a:cxn ang="0">
                    <a:pos x="0" y="672"/>
                  </a:cxn>
                  <a:cxn ang="0">
                    <a:pos x="0" y="0"/>
                  </a:cxn>
                  <a:cxn ang="0">
                    <a:pos x="480" y="96"/>
                  </a:cxn>
                  <a:cxn ang="0">
                    <a:pos x="480" y="672"/>
                  </a:cxn>
                  <a:cxn ang="0">
                    <a:pos x="0" y="672"/>
                  </a:cxn>
                </a:cxnLst>
                <a:rect l="0" t="0" r="r" b="b"/>
                <a:pathLst>
                  <a:path w="480" h="672">
                    <a:moveTo>
                      <a:pt x="0" y="672"/>
                    </a:moveTo>
                    <a:lnTo>
                      <a:pt x="0" y="0"/>
                    </a:lnTo>
                    <a:lnTo>
                      <a:pt x="480" y="96"/>
                    </a:lnTo>
                    <a:lnTo>
                      <a:pt x="480" y="672"/>
                    </a:lnTo>
                    <a:lnTo>
                      <a:pt x="0" y="672"/>
                    </a:lnTo>
                    <a:close/>
                  </a:path>
                </a:pathLst>
              </a:custGeom>
              <a:noFill/>
              <a:ln w="19050" cap="flat" cmpd="sng">
                <a:solidFill>
                  <a:srgbClr val="000000"/>
                </a:solidFill>
                <a:prstDash val="dash"/>
                <a:round/>
                <a:headEnd/>
                <a:tailEnd/>
              </a:ln>
              <a:effectLst/>
            </p:spPr>
            <p:txBody>
              <a:bodyPr wrap="none" anchor="ctr"/>
              <a:lstStyle/>
              <a:p>
                <a:endParaRPr lang="zh-CN" altLang="en-US" sz="1050"/>
              </a:p>
            </p:txBody>
          </p:sp>
          <p:sp>
            <p:nvSpPr>
              <p:cNvPr id="25648" name="Line 48"/>
              <p:cNvSpPr>
                <a:spLocks noChangeShapeType="1"/>
              </p:cNvSpPr>
              <p:nvPr/>
            </p:nvSpPr>
            <p:spPr bwMode="auto">
              <a:xfrm flipH="1">
                <a:off x="472" y="1920"/>
                <a:ext cx="733" cy="0"/>
              </a:xfrm>
              <a:prstGeom prst="line">
                <a:avLst/>
              </a:prstGeom>
              <a:noFill/>
              <a:ln w="19050">
                <a:solidFill>
                  <a:srgbClr val="FF0066"/>
                </a:solidFill>
                <a:prstDash val="dash"/>
                <a:round/>
                <a:headEnd type="none" w="sm" len="lg"/>
                <a:tailEnd/>
              </a:ln>
              <a:effectLst/>
            </p:spPr>
            <p:txBody>
              <a:bodyPr wrap="none" anchor="ctr"/>
              <a:lstStyle/>
              <a:p>
                <a:endParaRPr lang="zh-CN" altLang="en-US" sz="1050"/>
              </a:p>
            </p:txBody>
          </p:sp>
          <p:sp>
            <p:nvSpPr>
              <p:cNvPr id="25649" name="Line 49"/>
              <p:cNvSpPr>
                <a:spLocks noChangeShapeType="1"/>
              </p:cNvSpPr>
              <p:nvPr/>
            </p:nvSpPr>
            <p:spPr bwMode="auto">
              <a:xfrm flipH="1">
                <a:off x="472" y="1882"/>
                <a:ext cx="733" cy="0"/>
              </a:xfrm>
              <a:prstGeom prst="line">
                <a:avLst/>
              </a:prstGeom>
              <a:noFill/>
              <a:ln w="19050">
                <a:solidFill>
                  <a:srgbClr val="FF0066"/>
                </a:solidFill>
                <a:prstDash val="dash"/>
                <a:round/>
                <a:headEnd type="none" w="sm" len="lg"/>
                <a:tailEnd/>
              </a:ln>
              <a:effectLst/>
            </p:spPr>
            <p:txBody>
              <a:bodyPr wrap="none" anchor="ctr"/>
              <a:lstStyle/>
              <a:p>
                <a:endParaRPr lang="zh-CN" altLang="en-US" sz="1050"/>
              </a:p>
            </p:txBody>
          </p:sp>
          <p:sp>
            <p:nvSpPr>
              <p:cNvPr id="25650" name="Line 50"/>
              <p:cNvSpPr>
                <a:spLocks noChangeShapeType="1"/>
              </p:cNvSpPr>
              <p:nvPr/>
            </p:nvSpPr>
            <p:spPr bwMode="auto">
              <a:xfrm>
                <a:off x="624" y="1488"/>
                <a:ext cx="0" cy="394"/>
              </a:xfrm>
              <a:prstGeom prst="line">
                <a:avLst/>
              </a:prstGeom>
              <a:noFill/>
              <a:ln w="12700">
                <a:solidFill>
                  <a:srgbClr val="FF0066"/>
                </a:solidFill>
                <a:prstDash val="dash"/>
                <a:round/>
                <a:headEnd type="none" w="sm" len="lg"/>
                <a:tailEnd type="triangle" w="sm" len="lg"/>
              </a:ln>
              <a:effectLst/>
            </p:spPr>
            <p:txBody>
              <a:bodyPr wrap="none" anchor="ctr"/>
              <a:lstStyle/>
              <a:p>
                <a:endParaRPr lang="zh-CN" altLang="en-US" sz="1050"/>
              </a:p>
            </p:txBody>
          </p:sp>
          <p:graphicFrame>
            <p:nvGraphicFramePr>
              <p:cNvPr id="25651" name="Object 51"/>
              <p:cNvGraphicFramePr>
                <a:graphicFrameLocks noChangeAspect="1"/>
              </p:cNvGraphicFramePr>
              <p:nvPr/>
            </p:nvGraphicFramePr>
            <p:xfrm>
              <a:off x="288" y="1564"/>
              <a:ext cx="336" cy="257"/>
            </p:xfrm>
            <a:graphic>
              <a:graphicData uri="http://schemas.openxmlformats.org/presentationml/2006/ole">
                <mc:AlternateContent xmlns:mc="http://schemas.openxmlformats.org/markup-compatibility/2006">
                  <mc:Choice xmlns:v="urn:schemas-microsoft-com:vml" Requires="v">
                    <p:oleObj name="公式" r:id="rId14" imgW="279279" imgH="253890" progId="Equation.3">
                      <p:embed/>
                    </p:oleObj>
                  </mc:Choice>
                  <mc:Fallback>
                    <p:oleObj name="公式" r:id="rId14" imgW="279279" imgH="253890" progId="Equation.3">
                      <p:embed/>
                      <p:pic>
                        <p:nvPicPr>
                          <p:cNvPr id="25651" name="Object 5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8" y="1564"/>
                            <a:ext cx="336" cy="2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52" name="Freeform 52"/>
              <p:cNvSpPr>
                <a:spLocks/>
              </p:cNvSpPr>
              <p:nvPr/>
            </p:nvSpPr>
            <p:spPr bwMode="auto">
              <a:xfrm>
                <a:off x="1396" y="1812"/>
                <a:ext cx="1" cy="144"/>
              </a:xfrm>
              <a:custGeom>
                <a:avLst/>
                <a:gdLst/>
                <a:ahLst/>
                <a:cxnLst>
                  <a:cxn ang="0">
                    <a:pos x="0" y="144"/>
                  </a:cxn>
                  <a:cxn ang="0">
                    <a:pos x="0" y="0"/>
                  </a:cxn>
                </a:cxnLst>
                <a:rect l="0" t="0" r="r" b="b"/>
                <a:pathLst>
                  <a:path w="1" h="144">
                    <a:moveTo>
                      <a:pt x="0" y="144"/>
                    </a:moveTo>
                    <a:lnTo>
                      <a:pt x="0" y="0"/>
                    </a:lnTo>
                  </a:path>
                </a:pathLst>
              </a:custGeom>
              <a:noFill/>
              <a:ln w="28575">
                <a:solidFill>
                  <a:srgbClr val="FF0000"/>
                </a:solidFill>
                <a:round/>
                <a:headEnd type="none" w="sm" len="lg"/>
                <a:tailEnd/>
              </a:ln>
              <a:effectLst/>
            </p:spPr>
            <p:txBody>
              <a:bodyPr wrap="none" anchor="ctr"/>
              <a:lstStyle/>
              <a:p>
                <a:endParaRPr lang="zh-CN" altLang="en-US" sz="1050"/>
              </a:p>
            </p:txBody>
          </p:sp>
          <p:sp>
            <p:nvSpPr>
              <p:cNvPr id="25653" name="Freeform 53"/>
              <p:cNvSpPr>
                <a:spLocks/>
              </p:cNvSpPr>
              <p:nvPr/>
            </p:nvSpPr>
            <p:spPr bwMode="auto">
              <a:xfrm>
                <a:off x="1731" y="1816"/>
                <a:ext cx="1" cy="167"/>
              </a:xfrm>
              <a:custGeom>
                <a:avLst/>
                <a:gdLst/>
                <a:ahLst/>
                <a:cxnLst>
                  <a:cxn ang="0">
                    <a:pos x="0" y="167"/>
                  </a:cxn>
                  <a:cxn ang="0">
                    <a:pos x="1" y="0"/>
                  </a:cxn>
                </a:cxnLst>
                <a:rect l="0" t="0" r="r" b="b"/>
                <a:pathLst>
                  <a:path w="1" h="167">
                    <a:moveTo>
                      <a:pt x="0" y="167"/>
                    </a:moveTo>
                    <a:lnTo>
                      <a:pt x="1" y="0"/>
                    </a:lnTo>
                  </a:path>
                </a:pathLst>
              </a:custGeom>
              <a:noFill/>
              <a:ln w="28575">
                <a:solidFill>
                  <a:srgbClr val="FF0000"/>
                </a:solidFill>
                <a:round/>
                <a:headEnd type="none" w="sm" len="lg"/>
                <a:tailEnd/>
              </a:ln>
              <a:effectLst/>
            </p:spPr>
            <p:txBody>
              <a:bodyPr wrap="none" anchor="ctr"/>
              <a:lstStyle/>
              <a:p>
                <a:endParaRPr lang="zh-CN" altLang="en-US" sz="1050"/>
              </a:p>
            </p:txBody>
          </p:sp>
        </p:grpSp>
        <p:grpSp>
          <p:nvGrpSpPr>
            <p:cNvPr id="9" name="Group 54"/>
            <p:cNvGrpSpPr>
              <a:grpSpLocks/>
            </p:cNvGrpSpPr>
            <p:nvPr/>
          </p:nvGrpSpPr>
          <p:grpSpPr bwMode="auto">
            <a:xfrm>
              <a:off x="1388779" y="4558632"/>
              <a:ext cx="1143000" cy="1200150"/>
              <a:chOff x="912" y="2832"/>
              <a:chExt cx="1008" cy="1008"/>
            </a:xfrm>
          </p:grpSpPr>
          <p:sp>
            <p:nvSpPr>
              <p:cNvPr id="25655" name="Line 55"/>
              <p:cNvSpPr>
                <a:spLocks noChangeShapeType="1"/>
              </p:cNvSpPr>
              <p:nvPr/>
            </p:nvSpPr>
            <p:spPr bwMode="auto">
              <a:xfrm>
                <a:off x="1269" y="3840"/>
                <a:ext cx="315" cy="0"/>
              </a:xfrm>
              <a:prstGeom prst="line">
                <a:avLst/>
              </a:prstGeom>
              <a:noFill/>
              <a:ln w="38100">
                <a:solidFill>
                  <a:srgbClr val="FF0000"/>
                </a:solidFill>
                <a:round/>
                <a:headEnd type="none" w="sm" len="lg"/>
                <a:tailEnd type="triangle" w="sm" len="lg"/>
              </a:ln>
              <a:effectLst/>
            </p:spPr>
            <p:txBody>
              <a:bodyPr wrap="none" anchor="ctr"/>
              <a:lstStyle/>
              <a:p>
                <a:endParaRPr lang="zh-CN" altLang="en-US" sz="1050"/>
              </a:p>
            </p:txBody>
          </p:sp>
          <p:grpSp>
            <p:nvGrpSpPr>
              <p:cNvPr id="10" name="Group 56"/>
              <p:cNvGrpSpPr>
                <a:grpSpLocks/>
              </p:cNvGrpSpPr>
              <p:nvPr/>
            </p:nvGrpSpPr>
            <p:grpSpPr bwMode="auto">
              <a:xfrm>
                <a:off x="912" y="2832"/>
                <a:ext cx="1008" cy="960"/>
                <a:chOff x="912" y="2832"/>
                <a:chExt cx="1008" cy="960"/>
              </a:xfrm>
            </p:grpSpPr>
            <p:grpSp>
              <p:nvGrpSpPr>
                <p:cNvPr id="11" name="Group 57"/>
                <p:cNvGrpSpPr>
                  <a:grpSpLocks/>
                </p:cNvGrpSpPr>
                <p:nvPr/>
              </p:nvGrpSpPr>
              <p:grpSpPr bwMode="auto">
                <a:xfrm>
                  <a:off x="1038" y="3006"/>
                  <a:ext cx="756" cy="611"/>
                  <a:chOff x="3312" y="3408"/>
                  <a:chExt cx="864" cy="432"/>
                </a:xfrm>
              </p:grpSpPr>
              <p:sp>
                <p:nvSpPr>
                  <p:cNvPr id="25658" name="Rectangle 58"/>
                  <p:cNvSpPr>
                    <a:spLocks noChangeArrowheads="1"/>
                  </p:cNvSpPr>
                  <p:nvPr/>
                </p:nvSpPr>
                <p:spPr bwMode="auto">
                  <a:xfrm>
                    <a:off x="3312" y="3408"/>
                    <a:ext cx="96" cy="432"/>
                  </a:xfrm>
                  <a:prstGeom prst="rect">
                    <a:avLst/>
                  </a:prstGeom>
                  <a:gradFill rotWithShape="0">
                    <a:gsLst>
                      <a:gs pos="0">
                        <a:srgbClr val="FFFF99">
                          <a:gamma/>
                          <a:shade val="26275"/>
                          <a:invGamma/>
                        </a:srgbClr>
                      </a:gs>
                      <a:gs pos="50000">
                        <a:srgbClr val="FFFF99"/>
                      </a:gs>
                      <a:gs pos="100000">
                        <a:srgbClr val="FFFF99">
                          <a:gamma/>
                          <a:shade val="26275"/>
                          <a:invGamma/>
                        </a:srgbClr>
                      </a:gs>
                    </a:gsLst>
                    <a:lin ang="0" scaled="1"/>
                  </a:gradFill>
                  <a:ln w="9525">
                    <a:solidFill>
                      <a:schemeClr val="tx1"/>
                    </a:solidFill>
                    <a:miter lim="800000"/>
                    <a:headEnd/>
                    <a:tailEnd/>
                  </a:ln>
                  <a:effectLst/>
                </p:spPr>
                <p:txBody>
                  <a:bodyPr wrap="none" anchor="ctr"/>
                  <a:lstStyle/>
                  <a:p>
                    <a:endParaRPr lang="zh-CN" altLang="en-US" sz="1050"/>
                  </a:p>
                </p:txBody>
              </p:sp>
              <p:sp>
                <p:nvSpPr>
                  <p:cNvPr id="25659" name="Rectangle 59"/>
                  <p:cNvSpPr>
                    <a:spLocks noChangeArrowheads="1"/>
                  </p:cNvSpPr>
                  <p:nvPr/>
                </p:nvSpPr>
                <p:spPr bwMode="auto">
                  <a:xfrm>
                    <a:off x="3408" y="3408"/>
                    <a:ext cx="96" cy="432"/>
                  </a:xfrm>
                  <a:prstGeom prst="rect">
                    <a:avLst/>
                  </a:prstGeom>
                  <a:gradFill rotWithShape="0">
                    <a:gsLst>
                      <a:gs pos="0">
                        <a:srgbClr val="FFFF99">
                          <a:gamma/>
                          <a:shade val="26275"/>
                          <a:invGamma/>
                        </a:srgbClr>
                      </a:gs>
                      <a:gs pos="50000">
                        <a:srgbClr val="FFFF99"/>
                      </a:gs>
                      <a:gs pos="100000">
                        <a:srgbClr val="FFFF99">
                          <a:gamma/>
                          <a:shade val="26275"/>
                          <a:invGamma/>
                        </a:srgbClr>
                      </a:gs>
                    </a:gsLst>
                    <a:lin ang="0" scaled="1"/>
                  </a:gradFill>
                  <a:ln w="9525">
                    <a:solidFill>
                      <a:schemeClr val="tx1"/>
                    </a:solidFill>
                    <a:miter lim="800000"/>
                    <a:headEnd/>
                    <a:tailEnd/>
                  </a:ln>
                  <a:effectLst/>
                </p:spPr>
                <p:txBody>
                  <a:bodyPr wrap="none" anchor="ctr"/>
                  <a:lstStyle/>
                  <a:p>
                    <a:endParaRPr lang="zh-CN" altLang="en-US" sz="1050"/>
                  </a:p>
                </p:txBody>
              </p:sp>
              <p:sp>
                <p:nvSpPr>
                  <p:cNvPr id="25660" name="Rectangle 60"/>
                  <p:cNvSpPr>
                    <a:spLocks noChangeArrowheads="1"/>
                  </p:cNvSpPr>
                  <p:nvPr/>
                </p:nvSpPr>
                <p:spPr bwMode="auto">
                  <a:xfrm>
                    <a:off x="3504" y="3408"/>
                    <a:ext cx="96" cy="432"/>
                  </a:xfrm>
                  <a:prstGeom prst="rect">
                    <a:avLst/>
                  </a:prstGeom>
                  <a:gradFill rotWithShape="0">
                    <a:gsLst>
                      <a:gs pos="0">
                        <a:srgbClr val="FFFF99">
                          <a:gamma/>
                          <a:shade val="26275"/>
                          <a:invGamma/>
                        </a:srgbClr>
                      </a:gs>
                      <a:gs pos="50000">
                        <a:srgbClr val="FFFF99"/>
                      </a:gs>
                      <a:gs pos="100000">
                        <a:srgbClr val="FFFF99">
                          <a:gamma/>
                          <a:shade val="26275"/>
                          <a:invGamma/>
                        </a:srgbClr>
                      </a:gs>
                    </a:gsLst>
                    <a:lin ang="0" scaled="1"/>
                  </a:gradFill>
                  <a:ln w="9525">
                    <a:solidFill>
                      <a:schemeClr val="tx1"/>
                    </a:solidFill>
                    <a:miter lim="800000"/>
                    <a:headEnd/>
                    <a:tailEnd/>
                  </a:ln>
                  <a:effectLst/>
                </p:spPr>
                <p:txBody>
                  <a:bodyPr wrap="none" anchor="ctr"/>
                  <a:lstStyle/>
                  <a:p>
                    <a:endParaRPr lang="zh-CN" altLang="en-US" sz="1050"/>
                  </a:p>
                </p:txBody>
              </p:sp>
              <p:sp>
                <p:nvSpPr>
                  <p:cNvPr id="25661" name="Rectangle 61"/>
                  <p:cNvSpPr>
                    <a:spLocks noChangeArrowheads="1"/>
                  </p:cNvSpPr>
                  <p:nvPr/>
                </p:nvSpPr>
                <p:spPr bwMode="auto">
                  <a:xfrm>
                    <a:off x="3600" y="3408"/>
                    <a:ext cx="96" cy="432"/>
                  </a:xfrm>
                  <a:prstGeom prst="rect">
                    <a:avLst/>
                  </a:prstGeom>
                  <a:gradFill rotWithShape="0">
                    <a:gsLst>
                      <a:gs pos="0">
                        <a:srgbClr val="FFFF99">
                          <a:gamma/>
                          <a:shade val="26275"/>
                          <a:invGamma/>
                        </a:srgbClr>
                      </a:gs>
                      <a:gs pos="50000">
                        <a:srgbClr val="FFFF99"/>
                      </a:gs>
                      <a:gs pos="100000">
                        <a:srgbClr val="FFFF99">
                          <a:gamma/>
                          <a:shade val="26275"/>
                          <a:invGamma/>
                        </a:srgbClr>
                      </a:gs>
                    </a:gsLst>
                    <a:lin ang="0" scaled="1"/>
                  </a:gradFill>
                  <a:ln w="9525">
                    <a:solidFill>
                      <a:schemeClr val="tx1"/>
                    </a:solidFill>
                    <a:miter lim="800000"/>
                    <a:headEnd/>
                    <a:tailEnd/>
                  </a:ln>
                  <a:effectLst/>
                </p:spPr>
                <p:txBody>
                  <a:bodyPr wrap="none" anchor="ctr"/>
                  <a:lstStyle/>
                  <a:p>
                    <a:endParaRPr lang="zh-CN" altLang="en-US" sz="1050"/>
                  </a:p>
                </p:txBody>
              </p:sp>
              <p:sp>
                <p:nvSpPr>
                  <p:cNvPr id="25662" name="Rectangle 62"/>
                  <p:cNvSpPr>
                    <a:spLocks noChangeArrowheads="1"/>
                  </p:cNvSpPr>
                  <p:nvPr/>
                </p:nvSpPr>
                <p:spPr bwMode="auto">
                  <a:xfrm>
                    <a:off x="3696" y="3408"/>
                    <a:ext cx="96" cy="432"/>
                  </a:xfrm>
                  <a:prstGeom prst="rect">
                    <a:avLst/>
                  </a:prstGeom>
                  <a:gradFill rotWithShape="0">
                    <a:gsLst>
                      <a:gs pos="0">
                        <a:srgbClr val="FFFF99">
                          <a:gamma/>
                          <a:shade val="26275"/>
                          <a:invGamma/>
                        </a:srgbClr>
                      </a:gs>
                      <a:gs pos="50000">
                        <a:srgbClr val="FFFF99"/>
                      </a:gs>
                      <a:gs pos="100000">
                        <a:srgbClr val="FFFF99">
                          <a:gamma/>
                          <a:shade val="26275"/>
                          <a:invGamma/>
                        </a:srgbClr>
                      </a:gs>
                    </a:gsLst>
                    <a:lin ang="0" scaled="1"/>
                  </a:gradFill>
                  <a:ln w="9525">
                    <a:solidFill>
                      <a:schemeClr val="tx1"/>
                    </a:solidFill>
                    <a:miter lim="800000"/>
                    <a:headEnd/>
                    <a:tailEnd/>
                  </a:ln>
                  <a:effectLst/>
                </p:spPr>
                <p:txBody>
                  <a:bodyPr wrap="none" anchor="ctr"/>
                  <a:lstStyle/>
                  <a:p>
                    <a:endParaRPr lang="zh-CN" altLang="en-US" sz="1050"/>
                  </a:p>
                </p:txBody>
              </p:sp>
              <p:sp>
                <p:nvSpPr>
                  <p:cNvPr id="25663" name="Rectangle 63"/>
                  <p:cNvSpPr>
                    <a:spLocks noChangeArrowheads="1"/>
                  </p:cNvSpPr>
                  <p:nvPr/>
                </p:nvSpPr>
                <p:spPr bwMode="auto">
                  <a:xfrm>
                    <a:off x="3792" y="3408"/>
                    <a:ext cx="96" cy="432"/>
                  </a:xfrm>
                  <a:prstGeom prst="rect">
                    <a:avLst/>
                  </a:prstGeom>
                  <a:gradFill rotWithShape="0">
                    <a:gsLst>
                      <a:gs pos="0">
                        <a:srgbClr val="FFFF99">
                          <a:gamma/>
                          <a:shade val="26275"/>
                          <a:invGamma/>
                        </a:srgbClr>
                      </a:gs>
                      <a:gs pos="50000">
                        <a:srgbClr val="FFFF99"/>
                      </a:gs>
                      <a:gs pos="100000">
                        <a:srgbClr val="FFFF99">
                          <a:gamma/>
                          <a:shade val="26275"/>
                          <a:invGamma/>
                        </a:srgbClr>
                      </a:gs>
                    </a:gsLst>
                    <a:lin ang="0" scaled="1"/>
                  </a:gradFill>
                  <a:ln w="9525">
                    <a:solidFill>
                      <a:schemeClr val="tx1"/>
                    </a:solidFill>
                    <a:miter lim="800000"/>
                    <a:headEnd/>
                    <a:tailEnd/>
                  </a:ln>
                  <a:effectLst/>
                </p:spPr>
                <p:txBody>
                  <a:bodyPr wrap="none" anchor="ctr"/>
                  <a:lstStyle/>
                  <a:p>
                    <a:endParaRPr lang="zh-CN" altLang="en-US" sz="1050"/>
                  </a:p>
                </p:txBody>
              </p:sp>
              <p:sp>
                <p:nvSpPr>
                  <p:cNvPr id="25664" name="Rectangle 64"/>
                  <p:cNvSpPr>
                    <a:spLocks noChangeArrowheads="1"/>
                  </p:cNvSpPr>
                  <p:nvPr/>
                </p:nvSpPr>
                <p:spPr bwMode="auto">
                  <a:xfrm>
                    <a:off x="3888" y="3408"/>
                    <a:ext cx="96" cy="432"/>
                  </a:xfrm>
                  <a:prstGeom prst="rect">
                    <a:avLst/>
                  </a:prstGeom>
                  <a:gradFill rotWithShape="0">
                    <a:gsLst>
                      <a:gs pos="0">
                        <a:srgbClr val="FFFF99">
                          <a:gamma/>
                          <a:shade val="26275"/>
                          <a:invGamma/>
                        </a:srgbClr>
                      </a:gs>
                      <a:gs pos="50000">
                        <a:srgbClr val="FFFF99"/>
                      </a:gs>
                      <a:gs pos="100000">
                        <a:srgbClr val="FFFF99">
                          <a:gamma/>
                          <a:shade val="26275"/>
                          <a:invGamma/>
                        </a:srgbClr>
                      </a:gs>
                    </a:gsLst>
                    <a:lin ang="0" scaled="1"/>
                  </a:gradFill>
                  <a:ln w="9525">
                    <a:solidFill>
                      <a:schemeClr val="tx1"/>
                    </a:solidFill>
                    <a:miter lim="800000"/>
                    <a:headEnd/>
                    <a:tailEnd/>
                  </a:ln>
                  <a:effectLst/>
                </p:spPr>
                <p:txBody>
                  <a:bodyPr wrap="none" anchor="ctr"/>
                  <a:lstStyle/>
                  <a:p>
                    <a:endParaRPr lang="zh-CN" altLang="en-US" sz="1050"/>
                  </a:p>
                </p:txBody>
              </p:sp>
              <p:sp>
                <p:nvSpPr>
                  <p:cNvPr id="25665" name="Rectangle 65"/>
                  <p:cNvSpPr>
                    <a:spLocks noChangeArrowheads="1"/>
                  </p:cNvSpPr>
                  <p:nvPr/>
                </p:nvSpPr>
                <p:spPr bwMode="auto">
                  <a:xfrm>
                    <a:off x="3984" y="3408"/>
                    <a:ext cx="96" cy="432"/>
                  </a:xfrm>
                  <a:prstGeom prst="rect">
                    <a:avLst/>
                  </a:prstGeom>
                  <a:gradFill rotWithShape="0">
                    <a:gsLst>
                      <a:gs pos="0">
                        <a:srgbClr val="FFFF99">
                          <a:gamma/>
                          <a:shade val="26275"/>
                          <a:invGamma/>
                        </a:srgbClr>
                      </a:gs>
                      <a:gs pos="50000">
                        <a:srgbClr val="FFFF99"/>
                      </a:gs>
                      <a:gs pos="100000">
                        <a:srgbClr val="FFFF99">
                          <a:gamma/>
                          <a:shade val="26275"/>
                          <a:invGamma/>
                        </a:srgbClr>
                      </a:gs>
                    </a:gsLst>
                    <a:lin ang="0" scaled="1"/>
                  </a:gradFill>
                  <a:ln w="9525">
                    <a:solidFill>
                      <a:schemeClr val="tx1"/>
                    </a:solidFill>
                    <a:miter lim="800000"/>
                    <a:headEnd/>
                    <a:tailEnd/>
                  </a:ln>
                  <a:effectLst/>
                </p:spPr>
                <p:txBody>
                  <a:bodyPr wrap="none" anchor="ctr"/>
                  <a:lstStyle/>
                  <a:p>
                    <a:endParaRPr lang="zh-CN" altLang="en-US" sz="1050"/>
                  </a:p>
                </p:txBody>
              </p:sp>
              <p:sp>
                <p:nvSpPr>
                  <p:cNvPr id="25666" name="Rectangle 66"/>
                  <p:cNvSpPr>
                    <a:spLocks noChangeArrowheads="1"/>
                  </p:cNvSpPr>
                  <p:nvPr/>
                </p:nvSpPr>
                <p:spPr bwMode="auto">
                  <a:xfrm>
                    <a:off x="4080" y="3408"/>
                    <a:ext cx="96" cy="432"/>
                  </a:xfrm>
                  <a:prstGeom prst="rect">
                    <a:avLst/>
                  </a:prstGeom>
                  <a:gradFill rotWithShape="0">
                    <a:gsLst>
                      <a:gs pos="0">
                        <a:srgbClr val="FFFF99">
                          <a:gamma/>
                          <a:shade val="26275"/>
                          <a:invGamma/>
                        </a:srgbClr>
                      </a:gs>
                      <a:gs pos="50000">
                        <a:srgbClr val="FFFF99"/>
                      </a:gs>
                      <a:gs pos="100000">
                        <a:srgbClr val="FFFF99">
                          <a:gamma/>
                          <a:shade val="26275"/>
                          <a:invGamma/>
                        </a:srgbClr>
                      </a:gs>
                    </a:gsLst>
                    <a:lin ang="0" scaled="1"/>
                  </a:gradFill>
                  <a:ln w="9525">
                    <a:solidFill>
                      <a:schemeClr val="tx1"/>
                    </a:solidFill>
                    <a:miter lim="800000"/>
                    <a:headEnd/>
                    <a:tailEnd/>
                  </a:ln>
                  <a:effectLst/>
                </p:spPr>
                <p:txBody>
                  <a:bodyPr wrap="none" anchor="ctr"/>
                  <a:lstStyle/>
                  <a:p>
                    <a:endParaRPr lang="zh-CN" altLang="en-US" sz="1050"/>
                  </a:p>
                </p:txBody>
              </p:sp>
            </p:grpSp>
            <p:sp>
              <p:nvSpPr>
                <p:cNvPr id="25667" name="Line 67"/>
                <p:cNvSpPr>
                  <a:spLocks noChangeShapeType="1"/>
                </p:cNvSpPr>
                <p:nvPr/>
              </p:nvSpPr>
              <p:spPr bwMode="auto">
                <a:xfrm>
                  <a:off x="1133" y="3355"/>
                  <a:ext cx="598" cy="0"/>
                </a:xfrm>
                <a:prstGeom prst="line">
                  <a:avLst/>
                </a:prstGeom>
                <a:noFill/>
                <a:ln w="28575">
                  <a:solidFill>
                    <a:srgbClr val="FF0000"/>
                  </a:solidFill>
                  <a:round/>
                  <a:headEnd type="none" w="sm" len="lg"/>
                  <a:tailEnd/>
                </a:ln>
                <a:effectLst/>
              </p:spPr>
              <p:txBody>
                <a:bodyPr wrap="none" anchor="ctr"/>
                <a:lstStyle/>
                <a:p>
                  <a:endParaRPr lang="zh-CN" altLang="en-US" sz="1050"/>
                </a:p>
              </p:txBody>
            </p:sp>
            <p:sp>
              <p:nvSpPr>
                <p:cNvPr id="25668" name="Line 68"/>
                <p:cNvSpPr>
                  <a:spLocks noChangeShapeType="1"/>
                </p:cNvSpPr>
                <p:nvPr/>
              </p:nvSpPr>
              <p:spPr bwMode="auto">
                <a:xfrm flipV="1">
                  <a:off x="1416" y="3152"/>
                  <a:ext cx="0" cy="407"/>
                </a:xfrm>
                <a:prstGeom prst="line">
                  <a:avLst/>
                </a:prstGeom>
                <a:noFill/>
                <a:ln w="28575">
                  <a:solidFill>
                    <a:srgbClr val="FF0000"/>
                  </a:solidFill>
                  <a:round/>
                  <a:headEnd type="none" w="sm" len="lg"/>
                  <a:tailEnd/>
                </a:ln>
                <a:effectLst/>
              </p:spPr>
              <p:txBody>
                <a:bodyPr wrap="none" anchor="ctr"/>
                <a:lstStyle/>
                <a:p>
                  <a:endParaRPr lang="zh-CN" altLang="en-US" sz="1050"/>
                </a:p>
              </p:txBody>
            </p:sp>
            <p:sp>
              <p:nvSpPr>
                <p:cNvPr id="25669" name="AutoShape 69"/>
                <p:cNvSpPr>
                  <a:spLocks noChangeArrowheads="1"/>
                </p:cNvSpPr>
                <p:nvPr/>
              </p:nvSpPr>
              <p:spPr bwMode="auto">
                <a:xfrm>
                  <a:off x="912" y="2832"/>
                  <a:ext cx="1008" cy="960"/>
                </a:xfrm>
                <a:custGeom>
                  <a:avLst/>
                  <a:gdLst>
                    <a:gd name="G0" fmla="+- 4221 0 0"/>
                    <a:gd name="G1" fmla="+- 21600 0 4221"/>
                    <a:gd name="G2" fmla="+- 21600 0 4221"/>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4221" y="10800"/>
                      </a:moveTo>
                      <a:cubicBezTo>
                        <a:pt x="4221" y="14433"/>
                        <a:pt x="7167" y="17379"/>
                        <a:pt x="10800" y="17379"/>
                      </a:cubicBezTo>
                      <a:cubicBezTo>
                        <a:pt x="14433" y="17379"/>
                        <a:pt x="17379" y="14433"/>
                        <a:pt x="17379" y="10800"/>
                      </a:cubicBezTo>
                      <a:cubicBezTo>
                        <a:pt x="17379" y="7167"/>
                        <a:pt x="14433" y="4221"/>
                        <a:pt x="10800" y="4221"/>
                      </a:cubicBezTo>
                      <a:cubicBezTo>
                        <a:pt x="7167" y="4221"/>
                        <a:pt x="4221" y="7167"/>
                        <a:pt x="4221" y="10800"/>
                      </a:cubicBezTo>
                      <a:close/>
                    </a:path>
                  </a:pathLst>
                </a:custGeom>
                <a:solidFill>
                  <a:srgbClr val="FFFFFF"/>
                </a:solidFill>
                <a:ln w="9525">
                  <a:solidFill>
                    <a:srgbClr val="000000"/>
                  </a:solidFill>
                  <a:round/>
                  <a:headEnd/>
                  <a:tailEnd/>
                </a:ln>
                <a:effectLst/>
              </p:spPr>
              <p:txBody>
                <a:bodyPr wrap="none" anchor="ctr"/>
                <a:lstStyle/>
                <a:p>
                  <a:endParaRPr lang="zh-CN" altLang="en-US" sz="1050"/>
                </a:p>
              </p:txBody>
            </p:sp>
          </p:grpSp>
        </p:grpSp>
      </p:grpSp>
      <p:sp>
        <p:nvSpPr>
          <p:cNvPr id="25670" name="Text Box 70"/>
          <p:cNvSpPr txBox="1">
            <a:spLocks noChangeArrowheads="1"/>
          </p:cNvSpPr>
          <p:nvPr/>
        </p:nvSpPr>
        <p:spPr bwMode="auto">
          <a:xfrm>
            <a:off x="95252" y="1031135"/>
            <a:ext cx="3486150" cy="523220"/>
          </a:xfrm>
          <a:prstGeom prst="rect">
            <a:avLst/>
          </a:prstGeom>
          <a:noFill/>
          <a:ln w="9525">
            <a:noFill/>
            <a:miter lim="800000"/>
            <a:headEnd/>
            <a:tailEnd/>
          </a:ln>
          <a:effectLst/>
        </p:spPr>
        <p:txBody>
          <a:bodyPr>
            <a:spAutoFit/>
          </a:bodyPr>
          <a:lstStyle/>
          <a:p>
            <a:pPr>
              <a:spcBef>
                <a:spcPct val="50000"/>
              </a:spcBef>
            </a:pPr>
            <a:r>
              <a:rPr lang="zh-CN" altLang="en-US" sz="2800" b="1" dirty="0">
                <a:solidFill>
                  <a:srgbClr val="0000FF"/>
                </a:solidFill>
                <a:latin typeface="微软雅黑" panose="020B0503020204020204" pitchFamily="34" charset="-122"/>
                <a:ea typeface="微软雅黑" panose="020B0503020204020204" pitchFamily="34" charset="-122"/>
              </a:rPr>
              <a:t>劈尖干涉的应用</a:t>
            </a:r>
          </a:p>
        </p:txBody>
      </p:sp>
      <p:sp>
        <p:nvSpPr>
          <p:cNvPr id="12" name="WordArt 51">
            <a:extLst>
              <a:ext uri="{FF2B5EF4-FFF2-40B4-BE49-F238E27FC236}">
                <a16:creationId xmlns:a16="http://schemas.microsoft.com/office/drawing/2014/main" id="{83AB2829-16A2-B348-13A3-5BB97FED37A6}"/>
              </a:ext>
            </a:extLst>
          </p:cNvPr>
          <p:cNvSpPr>
            <a:spLocks noChangeArrowheads="1" noChangeShapeType="1"/>
          </p:cNvSpPr>
          <p:nvPr/>
        </p:nvSpPr>
        <p:spPr bwMode="auto">
          <a:xfrm>
            <a:off x="142844" y="71414"/>
            <a:ext cx="1729499" cy="409097"/>
          </a:xfrm>
          <a:prstGeom prst="rect">
            <a:avLst/>
          </a:prstGeom>
        </p:spPr>
        <p:txBody>
          <a:bodyPr wrap="none" fromWordArt="1">
            <a:prstTxWarp prst="textPlain">
              <a:avLst>
                <a:gd name="adj" fmla="val 50000"/>
              </a:avLst>
            </a:prstTxWarp>
          </a:bodyPr>
          <a:lstStyle/>
          <a:p>
            <a:pPr algn="ctr"/>
            <a:r>
              <a:rPr lang="zh-CN" altLang="en-US" sz="3600" dirty="0">
                <a:ln w="9525">
                  <a:noFill/>
                  <a:round/>
                  <a:headEnd/>
                  <a:tailEnd/>
                </a:ln>
                <a:gradFill rotWithShape="0">
                  <a:gsLst>
                    <a:gs pos="0">
                      <a:schemeClr val="bg1"/>
                    </a:gs>
                    <a:gs pos="100000">
                      <a:srgbClr val="FFFE7D"/>
                    </a:gs>
                  </a:gsLst>
                  <a:lin ang="5400000" scaled="1"/>
                </a:gradFill>
                <a:effectLst>
                  <a:outerShdw dist="38100" dir="5400000" algn="ctr" rotWithShape="0">
                    <a:srgbClr val="4D4D4D">
                      <a:alpha val="76999"/>
                    </a:srgbClr>
                  </a:outerShdw>
                </a:effectLst>
                <a:latin typeface="华文琥珀"/>
                <a:ea typeface="华文琥珀"/>
              </a:rPr>
              <a:t>知识拓展</a:t>
            </a:r>
          </a:p>
        </p:txBody>
      </p:sp>
      <p:sp>
        <p:nvSpPr>
          <p:cNvPr id="15" name="Text Box 5">
            <a:extLst>
              <a:ext uri="{FF2B5EF4-FFF2-40B4-BE49-F238E27FC236}">
                <a16:creationId xmlns:a16="http://schemas.microsoft.com/office/drawing/2014/main" id="{1B973CEA-3752-F8B8-EFE8-EA3E6C33D4B3}"/>
              </a:ext>
            </a:extLst>
          </p:cNvPr>
          <p:cNvSpPr txBox="1">
            <a:spLocks noChangeArrowheads="1"/>
          </p:cNvSpPr>
          <p:nvPr/>
        </p:nvSpPr>
        <p:spPr bwMode="auto">
          <a:xfrm>
            <a:off x="3136210" y="2930687"/>
            <a:ext cx="3143250" cy="461963"/>
          </a:xfrm>
          <a:prstGeom prst="rect">
            <a:avLst/>
          </a:prstGeom>
          <a:noFill/>
          <a:ln w="28575">
            <a:noFill/>
            <a:miter lim="800000"/>
            <a:headEnd/>
            <a:tailEnd/>
          </a:ln>
          <a:effectLst/>
        </p:spPr>
        <p:txBody>
          <a:bodyPr>
            <a:spAutoFit/>
          </a:bodyPr>
          <a:lstStyle/>
          <a:p>
            <a:pPr>
              <a:spcBef>
                <a:spcPct val="50000"/>
              </a:spcBef>
            </a:pPr>
            <a:r>
              <a:rPr lang="zh-CN" altLang="en-US" sz="2400" b="1" dirty="0">
                <a:solidFill>
                  <a:srgbClr val="FF0000"/>
                </a:solidFill>
                <a:latin typeface="微软雅黑" panose="020B0503020204020204" pitchFamily="34" charset="-122"/>
                <a:ea typeface="微软雅黑" panose="020B0503020204020204" pitchFamily="34" charset="-122"/>
              </a:rPr>
              <a:t>        </a:t>
            </a:r>
            <a:r>
              <a:rPr lang="zh-CN" altLang="en-US" sz="2000" b="1" dirty="0">
                <a:solidFill>
                  <a:srgbClr val="FF0000"/>
                </a:solidFill>
                <a:latin typeface="微软雅黑" panose="020B0503020204020204" pitchFamily="34" charset="-122"/>
                <a:ea typeface="微软雅黑" panose="020B0503020204020204" pitchFamily="34" charset="-122"/>
              </a:rPr>
              <a:t>测膜厚</a:t>
            </a:r>
          </a:p>
        </p:txBody>
      </p:sp>
      <p:sp>
        <p:nvSpPr>
          <p:cNvPr id="17" name="Text Box 31">
            <a:extLst>
              <a:ext uri="{FF2B5EF4-FFF2-40B4-BE49-F238E27FC236}">
                <a16:creationId xmlns:a16="http://schemas.microsoft.com/office/drawing/2014/main" id="{C6DCCAD4-A7DE-C8DE-2296-458FE0A658AE}"/>
              </a:ext>
            </a:extLst>
          </p:cNvPr>
          <p:cNvSpPr txBox="1">
            <a:spLocks noChangeArrowheads="1"/>
          </p:cNvSpPr>
          <p:nvPr/>
        </p:nvSpPr>
        <p:spPr bwMode="auto">
          <a:xfrm>
            <a:off x="5893329" y="1634749"/>
            <a:ext cx="5086350" cy="400110"/>
          </a:xfrm>
          <a:prstGeom prst="rect">
            <a:avLst/>
          </a:prstGeom>
          <a:noFill/>
          <a:ln w="9525">
            <a:noFill/>
            <a:miter lim="800000"/>
            <a:headEnd/>
            <a:tailEnd/>
          </a:ln>
          <a:effectLst/>
        </p:spPr>
        <p:txBody>
          <a:bodyPr>
            <a:spAutoFit/>
          </a:bodyPr>
          <a:lstStyle/>
          <a:p>
            <a:pPr>
              <a:spcBef>
                <a:spcPct val="50000"/>
              </a:spcBef>
            </a:pPr>
            <a:r>
              <a:rPr lang="zh-CN" altLang="en-US" sz="2000" b="1" dirty="0">
                <a:solidFill>
                  <a:srgbClr val="FF0000"/>
                </a:solidFill>
                <a:latin typeface="微软雅黑" panose="020B0503020204020204" pitchFamily="34" charset="-122"/>
                <a:ea typeface="微软雅黑" panose="020B0503020204020204" pitchFamily="34" charset="-122"/>
              </a:rPr>
              <a:t>检验光学元件表面的平整度</a:t>
            </a:r>
          </a:p>
        </p:txBody>
      </p:sp>
      <p:grpSp>
        <p:nvGrpSpPr>
          <p:cNvPr id="18" name="组合 17">
            <a:extLst>
              <a:ext uri="{FF2B5EF4-FFF2-40B4-BE49-F238E27FC236}">
                <a16:creationId xmlns:a16="http://schemas.microsoft.com/office/drawing/2014/main" id="{4E35E11F-7910-EF38-4B87-0DC707DE2034}"/>
              </a:ext>
            </a:extLst>
          </p:cNvPr>
          <p:cNvGrpSpPr/>
          <p:nvPr/>
        </p:nvGrpSpPr>
        <p:grpSpPr>
          <a:xfrm>
            <a:off x="6106196" y="2642365"/>
            <a:ext cx="2776537" cy="2220796"/>
            <a:chOff x="304120" y="1891253"/>
            <a:chExt cx="3200400" cy="2514600"/>
          </a:xfrm>
        </p:grpSpPr>
        <p:grpSp>
          <p:nvGrpSpPr>
            <p:cNvPr id="19" name="Group 17">
              <a:extLst>
                <a:ext uri="{FF2B5EF4-FFF2-40B4-BE49-F238E27FC236}">
                  <a16:creationId xmlns:a16="http://schemas.microsoft.com/office/drawing/2014/main" id="{313B87F3-1F57-AC0A-005A-0186C629228B}"/>
                </a:ext>
              </a:extLst>
            </p:cNvPr>
            <p:cNvGrpSpPr>
              <a:grpSpLocks/>
            </p:cNvGrpSpPr>
            <p:nvPr/>
          </p:nvGrpSpPr>
          <p:grpSpPr bwMode="auto">
            <a:xfrm>
              <a:off x="304120" y="1891253"/>
              <a:ext cx="3200400" cy="2514600"/>
              <a:chOff x="240" y="1008"/>
              <a:chExt cx="2688" cy="2112"/>
            </a:xfrm>
          </p:grpSpPr>
          <p:sp>
            <p:nvSpPr>
              <p:cNvPr id="25678" name="Rectangle 18">
                <a:extLst>
                  <a:ext uri="{FF2B5EF4-FFF2-40B4-BE49-F238E27FC236}">
                    <a16:creationId xmlns:a16="http://schemas.microsoft.com/office/drawing/2014/main" id="{425CA112-E08D-8164-A9F3-1A88BE90685B}"/>
                  </a:ext>
                </a:extLst>
              </p:cNvPr>
              <p:cNvSpPr>
                <a:spLocks noChangeArrowheads="1"/>
              </p:cNvSpPr>
              <p:nvPr/>
            </p:nvSpPr>
            <p:spPr bwMode="auto">
              <a:xfrm>
                <a:off x="240" y="1008"/>
                <a:ext cx="2688" cy="2112"/>
              </a:xfrm>
              <a:prstGeom prst="rect">
                <a:avLst/>
              </a:prstGeom>
              <a:solidFill>
                <a:schemeClr val="bg1"/>
              </a:solidFill>
              <a:ln w="19050">
                <a:solidFill>
                  <a:schemeClr val="tx2"/>
                </a:solidFill>
                <a:miter lim="800000"/>
                <a:headEnd/>
                <a:tailEnd/>
              </a:ln>
              <a:effectLst/>
            </p:spPr>
            <p:txBody>
              <a:bodyPr wrap="none" anchor="ctr"/>
              <a:lstStyle/>
              <a:p>
                <a:endParaRPr lang="zh-CN" altLang="en-US" sz="1050"/>
              </a:p>
            </p:txBody>
          </p:sp>
          <p:sp>
            <p:nvSpPr>
              <p:cNvPr id="25679" name="Oval 19" descr="深色下对角线">
                <a:extLst>
                  <a:ext uri="{FF2B5EF4-FFF2-40B4-BE49-F238E27FC236}">
                    <a16:creationId xmlns:a16="http://schemas.microsoft.com/office/drawing/2014/main" id="{884DCBA4-5CB7-04DF-061E-D051032F01D7}"/>
                  </a:ext>
                </a:extLst>
              </p:cNvPr>
              <p:cNvSpPr>
                <a:spLocks noChangeArrowheads="1"/>
              </p:cNvSpPr>
              <p:nvPr/>
            </p:nvSpPr>
            <p:spPr bwMode="auto">
              <a:xfrm>
                <a:off x="1584" y="1632"/>
                <a:ext cx="311" cy="144"/>
              </a:xfrm>
              <a:prstGeom prst="ellipse">
                <a:avLst/>
              </a:prstGeom>
              <a:pattFill prst="dkDnDiag">
                <a:fgClr>
                  <a:srgbClr val="CC9900"/>
                </a:fgClr>
                <a:bgClr>
                  <a:srgbClr val="FFFF99"/>
                </a:bgClr>
              </a:pattFill>
              <a:ln w="9525">
                <a:solidFill>
                  <a:schemeClr val="tx1"/>
                </a:solidFill>
                <a:round/>
                <a:headEnd/>
                <a:tailEnd/>
              </a:ln>
              <a:effectLst/>
            </p:spPr>
            <p:txBody>
              <a:bodyPr wrap="none" anchor="ctr"/>
              <a:lstStyle/>
              <a:p>
                <a:endParaRPr lang="zh-CN" altLang="en-US" sz="1050"/>
              </a:p>
            </p:txBody>
          </p:sp>
          <p:sp>
            <p:nvSpPr>
              <p:cNvPr id="25680" name="Rectangle 20">
                <a:extLst>
                  <a:ext uri="{FF2B5EF4-FFF2-40B4-BE49-F238E27FC236}">
                    <a16:creationId xmlns:a16="http://schemas.microsoft.com/office/drawing/2014/main" id="{2DC1FE46-7385-442F-270D-8613370F8024}"/>
                  </a:ext>
                </a:extLst>
              </p:cNvPr>
              <p:cNvSpPr>
                <a:spLocks noChangeArrowheads="1"/>
              </p:cNvSpPr>
              <p:nvPr/>
            </p:nvSpPr>
            <p:spPr bwMode="auto">
              <a:xfrm>
                <a:off x="432" y="1680"/>
                <a:ext cx="2112" cy="144"/>
              </a:xfrm>
              <a:prstGeom prst="rect">
                <a:avLst/>
              </a:prstGeom>
              <a:solidFill>
                <a:srgbClr val="ADFFEF"/>
              </a:solidFill>
              <a:ln w="28575">
                <a:solidFill>
                  <a:srgbClr val="000000"/>
                </a:solidFill>
                <a:miter lim="800000"/>
                <a:headEnd/>
                <a:tailEnd/>
              </a:ln>
              <a:effectLst/>
            </p:spPr>
            <p:txBody>
              <a:bodyPr wrap="none" anchor="ctr"/>
              <a:lstStyle/>
              <a:p>
                <a:endParaRPr lang="zh-CN" altLang="en-US" sz="1050"/>
              </a:p>
            </p:txBody>
          </p:sp>
          <p:sp>
            <p:nvSpPr>
              <p:cNvPr id="25681" name="Rectangle 21">
                <a:extLst>
                  <a:ext uri="{FF2B5EF4-FFF2-40B4-BE49-F238E27FC236}">
                    <a16:creationId xmlns:a16="http://schemas.microsoft.com/office/drawing/2014/main" id="{AAB3D8FA-4461-AFCA-782D-F1DA9671989E}"/>
                  </a:ext>
                </a:extLst>
              </p:cNvPr>
              <p:cNvSpPr>
                <a:spLocks noChangeArrowheads="1"/>
              </p:cNvSpPr>
              <p:nvPr/>
            </p:nvSpPr>
            <p:spPr bwMode="auto">
              <a:xfrm rot="-438106">
                <a:off x="432" y="1392"/>
                <a:ext cx="2112" cy="144"/>
              </a:xfrm>
              <a:prstGeom prst="rect">
                <a:avLst/>
              </a:prstGeom>
              <a:solidFill>
                <a:srgbClr val="00FFCC">
                  <a:alpha val="50000"/>
                </a:srgbClr>
              </a:solidFill>
              <a:ln w="28575">
                <a:solidFill>
                  <a:srgbClr val="000000"/>
                </a:solidFill>
                <a:miter lim="800000"/>
                <a:headEnd/>
                <a:tailEnd/>
              </a:ln>
              <a:effectLst/>
            </p:spPr>
            <p:txBody>
              <a:bodyPr wrap="none" anchor="ctr"/>
              <a:lstStyle/>
              <a:p>
                <a:endParaRPr lang="zh-CN" altLang="en-US" sz="1050"/>
              </a:p>
            </p:txBody>
          </p:sp>
          <p:sp>
            <p:nvSpPr>
              <p:cNvPr id="25682" name="Line 22">
                <a:extLst>
                  <a:ext uri="{FF2B5EF4-FFF2-40B4-BE49-F238E27FC236}">
                    <a16:creationId xmlns:a16="http://schemas.microsoft.com/office/drawing/2014/main" id="{CBAC9EA1-0F34-6506-416F-1925130C7FCD}"/>
                  </a:ext>
                </a:extLst>
              </p:cNvPr>
              <p:cNvSpPr>
                <a:spLocks noChangeShapeType="1"/>
              </p:cNvSpPr>
              <p:nvPr/>
            </p:nvSpPr>
            <p:spPr bwMode="auto">
              <a:xfrm>
                <a:off x="432" y="1680"/>
                <a:ext cx="1152" cy="0"/>
              </a:xfrm>
              <a:prstGeom prst="line">
                <a:avLst/>
              </a:prstGeom>
              <a:noFill/>
              <a:ln w="12700">
                <a:solidFill>
                  <a:srgbClr val="000000"/>
                </a:solidFill>
                <a:round/>
                <a:headEnd type="none" w="sm" len="lg"/>
                <a:tailEnd type="none" w="sm" len="lg"/>
              </a:ln>
              <a:effectLst/>
            </p:spPr>
            <p:txBody>
              <a:bodyPr wrap="none" anchor="ctr"/>
              <a:lstStyle/>
              <a:p>
                <a:endParaRPr lang="zh-CN" altLang="en-US" sz="1050"/>
              </a:p>
            </p:txBody>
          </p:sp>
          <p:sp>
            <p:nvSpPr>
              <p:cNvPr id="25683" name="Line 23">
                <a:extLst>
                  <a:ext uri="{FF2B5EF4-FFF2-40B4-BE49-F238E27FC236}">
                    <a16:creationId xmlns:a16="http://schemas.microsoft.com/office/drawing/2014/main" id="{9A43CB4E-9331-3A48-3746-7C3747EFA2D3}"/>
                  </a:ext>
                </a:extLst>
              </p:cNvPr>
              <p:cNvSpPr>
                <a:spLocks noChangeShapeType="1"/>
              </p:cNvSpPr>
              <p:nvPr/>
            </p:nvSpPr>
            <p:spPr bwMode="auto">
              <a:xfrm>
                <a:off x="432" y="1680"/>
                <a:ext cx="0" cy="144"/>
              </a:xfrm>
              <a:prstGeom prst="line">
                <a:avLst/>
              </a:prstGeom>
              <a:noFill/>
              <a:ln w="9525">
                <a:solidFill>
                  <a:srgbClr val="000000"/>
                </a:solidFill>
                <a:round/>
                <a:headEnd type="none" w="sm" len="lg"/>
                <a:tailEnd type="none" w="sm" len="lg"/>
              </a:ln>
              <a:effectLst/>
            </p:spPr>
            <p:txBody>
              <a:bodyPr wrap="none" anchor="ctr"/>
              <a:lstStyle/>
              <a:p>
                <a:endParaRPr lang="zh-CN" altLang="en-US" sz="1050"/>
              </a:p>
            </p:txBody>
          </p:sp>
          <p:sp>
            <p:nvSpPr>
              <p:cNvPr id="25684" name="Line 24">
                <a:extLst>
                  <a:ext uri="{FF2B5EF4-FFF2-40B4-BE49-F238E27FC236}">
                    <a16:creationId xmlns:a16="http://schemas.microsoft.com/office/drawing/2014/main" id="{ABB0AA1A-0814-2EF5-DC0D-DF152D956CC5}"/>
                  </a:ext>
                </a:extLst>
              </p:cNvPr>
              <p:cNvSpPr>
                <a:spLocks noChangeShapeType="1"/>
              </p:cNvSpPr>
              <p:nvPr/>
            </p:nvSpPr>
            <p:spPr bwMode="auto">
              <a:xfrm>
                <a:off x="2544" y="1680"/>
                <a:ext cx="0" cy="144"/>
              </a:xfrm>
              <a:prstGeom prst="line">
                <a:avLst/>
              </a:prstGeom>
              <a:noFill/>
              <a:ln w="9525">
                <a:solidFill>
                  <a:srgbClr val="000000"/>
                </a:solidFill>
                <a:round/>
                <a:headEnd type="none" w="sm" len="lg"/>
                <a:tailEnd type="none" w="sm" len="lg"/>
              </a:ln>
              <a:effectLst/>
            </p:spPr>
            <p:txBody>
              <a:bodyPr wrap="none" anchor="ctr"/>
              <a:lstStyle/>
              <a:p>
                <a:endParaRPr lang="zh-CN" altLang="en-US" sz="1050"/>
              </a:p>
            </p:txBody>
          </p:sp>
          <p:sp>
            <p:nvSpPr>
              <p:cNvPr id="25685" name="Line 25">
                <a:extLst>
                  <a:ext uri="{FF2B5EF4-FFF2-40B4-BE49-F238E27FC236}">
                    <a16:creationId xmlns:a16="http://schemas.microsoft.com/office/drawing/2014/main" id="{256FE52C-6F19-D309-4ACF-B1756ACC93D9}"/>
                  </a:ext>
                </a:extLst>
              </p:cNvPr>
              <p:cNvSpPr>
                <a:spLocks noChangeShapeType="1"/>
              </p:cNvSpPr>
              <p:nvPr/>
            </p:nvSpPr>
            <p:spPr bwMode="auto">
              <a:xfrm>
                <a:off x="1824" y="1680"/>
                <a:ext cx="672" cy="0"/>
              </a:xfrm>
              <a:prstGeom prst="line">
                <a:avLst/>
              </a:prstGeom>
              <a:noFill/>
              <a:ln w="12700">
                <a:solidFill>
                  <a:srgbClr val="000000"/>
                </a:solidFill>
                <a:round/>
                <a:headEnd type="none" w="sm" len="lg"/>
                <a:tailEnd type="none" w="sm" len="lg"/>
              </a:ln>
              <a:effectLst/>
            </p:spPr>
            <p:txBody>
              <a:bodyPr wrap="none" anchor="ctr"/>
              <a:lstStyle/>
              <a:p>
                <a:endParaRPr lang="zh-CN" altLang="en-US" sz="1050"/>
              </a:p>
            </p:txBody>
          </p:sp>
          <p:sp>
            <p:nvSpPr>
              <p:cNvPr id="25686" name="Line 26">
                <a:extLst>
                  <a:ext uri="{FF2B5EF4-FFF2-40B4-BE49-F238E27FC236}">
                    <a16:creationId xmlns:a16="http://schemas.microsoft.com/office/drawing/2014/main" id="{7328393B-F9E7-E2F3-3CD3-E8D8AD8EDAD7}"/>
                  </a:ext>
                </a:extLst>
              </p:cNvPr>
              <p:cNvSpPr>
                <a:spLocks noChangeShapeType="1"/>
              </p:cNvSpPr>
              <p:nvPr/>
            </p:nvSpPr>
            <p:spPr bwMode="auto">
              <a:xfrm>
                <a:off x="1632" y="1680"/>
                <a:ext cx="1008" cy="0"/>
              </a:xfrm>
              <a:prstGeom prst="line">
                <a:avLst/>
              </a:prstGeom>
              <a:noFill/>
              <a:ln w="28575">
                <a:solidFill>
                  <a:srgbClr val="0000FF"/>
                </a:solidFill>
                <a:prstDash val="dash"/>
                <a:round/>
                <a:headEnd type="none" w="sm" len="lg"/>
                <a:tailEnd type="none" w="sm" len="lg"/>
              </a:ln>
              <a:effectLst/>
            </p:spPr>
            <p:txBody>
              <a:bodyPr wrap="none" anchor="ctr"/>
              <a:lstStyle/>
              <a:p>
                <a:endParaRPr lang="zh-CN" altLang="en-US" sz="1050"/>
              </a:p>
            </p:txBody>
          </p:sp>
          <p:sp>
            <p:nvSpPr>
              <p:cNvPr id="25687" name="Line 27">
                <a:extLst>
                  <a:ext uri="{FF2B5EF4-FFF2-40B4-BE49-F238E27FC236}">
                    <a16:creationId xmlns:a16="http://schemas.microsoft.com/office/drawing/2014/main" id="{2D865BAF-F37A-1E95-62D0-4E6A4FAE4A50}"/>
                  </a:ext>
                </a:extLst>
              </p:cNvPr>
              <p:cNvSpPr>
                <a:spLocks noChangeShapeType="1"/>
              </p:cNvSpPr>
              <p:nvPr/>
            </p:nvSpPr>
            <p:spPr bwMode="auto">
              <a:xfrm>
                <a:off x="1680" y="1632"/>
                <a:ext cx="912" cy="0"/>
              </a:xfrm>
              <a:prstGeom prst="line">
                <a:avLst/>
              </a:prstGeom>
              <a:noFill/>
              <a:ln w="28575">
                <a:solidFill>
                  <a:srgbClr val="0000FF"/>
                </a:solidFill>
                <a:prstDash val="dash"/>
                <a:round/>
                <a:headEnd type="none" w="sm" len="lg"/>
                <a:tailEnd type="none" w="sm" len="lg"/>
              </a:ln>
              <a:effectLst/>
            </p:spPr>
            <p:txBody>
              <a:bodyPr wrap="none" anchor="ctr"/>
              <a:lstStyle/>
              <a:p>
                <a:endParaRPr lang="zh-CN" altLang="en-US" sz="1050"/>
              </a:p>
            </p:txBody>
          </p:sp>
          <p:sp>
            <p:nvSpPr>
              <p:cNvPr id="25688" name="Line 28">
                <a:extLst>
                  <a:ext uri="{FF2B5EF4-FFF2-40B4-BE49-F238E27FC236}">
                    <a16:creationId xmlns:a16="http://schemas.microsoft.com/office/drawing/2014/main" id="{6DF4CC65-6464-6E7F-75FF-B0793AFCF197}"/>
                  </a:ext>
                </a:extLst>
              </p:cNvPr>
              <p:cNvSpPr>
                <a:spLocks noChangeShapeType="1"/>
              </p:cNvSpPr>
              <p:nvPr/>
            </p:nvSpPr>
            <p:spPr bwMode="auto">
              <a:xfrm>
                <a:off x="2304" y="1440"/>
                <a:ext cx="0" cy="192"/>
              </a:xfrm>
              <a:prstGeom prst="line">
                <a:avLst/>
              </a:prstGeom>
              <a:noFill/>
              <a:ln w="19050">
                <a:solidFill>
                  <a:srgbClr val="FF0000"/>
                </a:solidFill>
                <a:round/>
                <a:headEnd type="none" w="sm" len="lg"/>
                <a:tailEnd type="triangle" w="sm" len="lg"/>
              </a:ln>
              <a:effectLst/>
            </p:spPr>
            <p:txBody>
              <a:bodyPr wrap="none" anchor="ctr"/>
              <a:lstStyle/>
              <a:p>
                <a:endParaRPr lang="zh-CN" altLang="en-US" sz="1050"/>
              </a:p>
            </p:txBody>
          </p:sp>
          <p:graphicFrame>
            <p:nvGraphicFramePr>
              <p:cNvPr id="25689" name="Object 29">
                <a:extLst>
                  <a:ext uri="{FF2B5EF4-FFF2-40B4-BE49-F238E27FC236}">
                    <a16:creationId xmlns:a16="http://schemas.microsoft.com/office/drawing/2014/main" id="{3200E0C0-23A2-B2F6-9671-735D525C741E}"/>
                  </a:ext>
                </a:extLst>
              </p:cNvPr>
              <p:cNvGraphicFramePr>
                <a:graphicFrameLocks noChangeAspect="1"/>
              </p:cNvGraphicFramePr>
              <p:nvPr/>
            </p:nvGraphicFramePr>
            <p:xfrm>
              <a:off x="2304" y="1392"/>
              <a:ext cx="336" cy="265"/>
            </p:xfrm>
            <a:graphic>
              <a:graphicData uri="http://schemas.openxmlformats.org/presentationml/2006/ole">
                <mc:AlternateContent xmlns:mc="http://schemas.openxmlformats.org/markup-compatibility/2006">
                  <mc:Choice xmlns:v="urn:schemas-microsoft-com:vml" Requires="v">
                    <p:oleObj name="公式" r:id="rId16" imgW="304668" imgH="241195" progId="Equation.3">
                      <p:embed/>
                    </p:oleObj>
                  </mc:Choice>
                  <mc:Fallback>
                    <p:oleObj name="公式" r:id="rId16" imgW="304668" imgH="241195" progId="Equation.3">
                      <p:embed/>
                      <p:pic>
                        <p:nvPicPr>
                          <p:cNvPr id="26653" name="Object 2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04" y="1392"/>
                            <a:ext cx="336" cy="2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90" name="Line 30">
                <a:extLst>
                  <a:ext uri="{FF2B5EF4-FFF2-40B4-BE49-F238E27FC236}">
                    <a16:creationId xmlns:a16="http://schemas.microsoft.com/office/drawing/2014/main" id="{001E6DD8-97B5-79F8-1B21-028D7A112C08}"/>
                  </a:ext>
                </a:extLst>
              </p:cNvPr>
              <p:cNvSpPr>
                <a:spLocks noChangeShapeType="1"/>
              </p:cNvSpPr>
              <p:nvPr/>
            </p:nvSpPr>
            <p:spPr bwMode="auto">
              <a:xfrm>
                <a:off x="2304" y="1680"/>
                <a:ext cx="0" cy="192"/>
              </a:xfrm>
              <a:prstGeom prst="line">
                <a:avLst/>
              </a:prstGeom>
              <a:noFill/>
              <a:ln w="19050">
                <a:solidFill>
                  <a:srgbClr val="FF0000"/>
                </a:solidFill>
                <a:round/>
                <a:headEnd type="triangle" w="sm" len="lg"/>
                <a:tailEnd type="none" w="sm" len="lg"/>
              </a:ln>
              <a:effectLst/>
            </p:spPr>
            <p:txBody>
              <a:bodyPr wrap="none" anchor="ctr"/>
              <a:lstStyle/>
              <a:p>
                <a:endParaRPr lang="zh-CN" altLang="en-US" sz="1050"/>
              </a:p>
            </p:txBody>
          </p:sp>
        </p:grpSp>
        <p:grpSp>
          <p:nvGrpSpPr>
            <p:cNvPr id="20" name="Group 32">
              <a:extLst>
                <a:ext uri="{FF2B5EF4-FFF2-40B4-BE49-F238E27FC236}">
                  <a16:creationId xmlns:a16="http://schemas.microsoft.com/office/drawing/2014/main" id="{57BA537B-420F-C0FC-D5FC-968707BFD75E}"/>
                </a:ext>
              </a:extLst>
            </p:cNvPr>
            <p:cNvGrpSpPr>
              <a:grpSpLocks/>
            </p:cNvGrpSpPr>
            <p:nvPr/>
          </p:nvGrpSpPr>
          <p:grpSpPr bwMode="auto">
            <a:xfrm>
              <a:off x="532720" y="2862803"/>
              <a:ext cx="2514600" cy="1485900"/>
              <a:chOff x="432" y="1824"/>
              <a:chExt cx="2112" cy="1248"/>
            </a:xfrm>
          </p:grpSpPr>
          <p:sp>
            <p:nvSpPr>
              <p:cNvPr id="21" name="Rectangle 33">
                <a:extLst>
                  <a:ext uri="{FF2B5EF4-FFF2-40B4-BE49-F238E27FC236}">
                    <a16:creationId xmlns:a16="http://schemas.microsoft.com/office/drawing/2014/main" id="{BD4F923B-F2C4-4A55-F8D3-9AD8540263C4}"/>
                  </a:ext>
                </a:extLst>
              </p:cNvPr>
              <p:cNvSpPr>
                <a:spLocks noChangeArrowheads="1"/>
              </p:cNvSpPr>
              <p:nvPr/>
            </p:nvSpPr>
            <p:spPr bwMode="auto">
              <a:xfrm>
                <a:off x="432" y="1920"/>
                <a:ext cx="2112" cy="528"/>
              </a:xfrm>
              <a:prstGeom prst="rect">
                <a:avLst/>
              </a:prstGeom>
              <a:solidFill>
                <a:srgbClr val="FFFF99"/>
              </a:solidFill>
              <a:ln w="28575">
                <a:solidFill>
                  <a:srgbClr val="000000"/>
                </a:solidFill>
                <a:miter lim="800000"/>
                <a:headEnd/>
                <a:tailEnd/>
              </a:ln>
              <a:effectLst/>
            </p:spPr>
            <p:txBody>
              <a:bodyPr wrap="none" anchor="ctr"/>
              <a:lstStyle/>
              <a:p>
                <a:endParaRPr lang="zh-CN" altLang="en-US" sz="1050"/>
              </a:p>
            </p:txBody>
          </p:sp>
          <p:sp>
            <p:nvSpPr>
              <p:cNvPr id="22" name="Rectangle 34">
                <a:extLst>
                  <a:ext uri="{FF2B5EF4-FFF2-40B4-BE49-F238E27FC236}">
                    <a16:creationId xmlns:a16="http://schemas.microsoft.com/office/drawing/2014/main" id="{965E03D2-A7A5-25A6-C317-0394E11B20BE}"/>
                  </a:ext>
                </a:extLst>
              </p:cNvPr>
              <p:cNvSpPr>
                <a:spLocks noChangeArrowheads="1"/>
              </p:cNvSpPr>
              <p:nvPr/>
            </p:nvSpPr>
            <p:spPr bwMode="auto">
              <a:xfrm>
                <a:off x="432" y="1920"/>
                <a:ext cx="128" cy="528"/>
              </a:xfrm>
              <a:prstGeom prst="rect">
                <a:avLst/>
              </a:prstGeom>
              <a:solidFill>
                <a:srgbClr val="5A5800"/>
              </a:solidFill>
              <a:ln w="9525">
                <a:solidFill>
                  <a:srgbClr val="000000"/>
                </a:solidFill>
                <a:miter lim="800000"/>
                <a:headEnd/>
                <a:tailEnd/>
              </a:ln>
              <a:effectLst/>
            </p:spPr>
            <p:txBody>
              <a:bodyPr wrap="none" anchor="ctr"/>
              <a:lstStyle/>
              <a:p>
                <a:endParaRPr lang="zh-CN" altLang="en-US" sz="1050"/>
              </a:p>
            </p:txBody>
          </p:sp>
          <p:sp>
            <p:nvSpPr>
              <p:cNvPr id="23" name="Rectangle 35">
                <a:extLst>
                  <a:ext uri="{FF2B5EF4-FFF2-40B4-BE49-F238E27FC236}">
                    <a16:creationId xmlns:a16="http://schemas.microsoft.com/office/drawing/2014/main" id="{4135FF42-C982-56BF-EFAA-F124939DAAFB}"/>
                  </a:ext>
                </a:extLst>
              </p:cNvPr>
              <p:cNvSpPr>
                <a:spLocks noChangeArrowheads="1"/>
              </p:cNvSpPr>
              <p:nvPr/>
            </p:nvSpPr>
            <p:spPr bwMode="auto">
              <a:xfrm>
                <a:off x="688" y="1920"/>
                <a:ext cx="128" cy="528"/>
              </a:xfrm>
              <a:prstGeom prst="rect">
                <a:avLst/>
              </a:prstGeom>
              <a:solidFill>
                <a:srgbClr val="5A5800"/>
              </a:solidFill>
              <a:ln w="9525">
                <a:solidFill>
                  <a:srgbClr val="000000"/>
                </a:solidFill>
                <a:miter lim="800000"/>
                <a:headEnd/>
                <a:tailEnd/>
              </a:ln>
              <a:effectLst/>
            </p:spPr>
            <p:txBody>
              <a:bodyPr wrap="none" anchor="ctr"/>
              <a:lstStyle/>
              <a:p>
                <a:endParaRPr lang="zh-CN" altLang="en-US" sz="1050"/>
              </a:p>
            </p:txBody>
          </p:sp>
          <p:sp>
            <p:nvSpPr>
              <p:cNvPr id="24" name="Rectangle 36">
                <a:extLst>
                  <a:ext uri="{FF2B5EF4-FFF2-40B4-BE49-F238E27FC236}">
                    <a16:creationId xmlns:a16="http://schemas.microsoft.com/office/drawing/2014/main" id="{99D21AAE-A6F6-12AC-1482-7E18528714E3}"/>
                  </a:ext>
                </a:extLst>
              </p:cNvPr>
              <p:cNvSpPr>
                <a:spLocks noChangeArrowheads="1"/>
              </p:cNvSpPr>
              <p:nvPr/>
            </p:nvSpPr>
            <p:spPr bwMode="auto">
              <a:xfrm>
                <a:off x="945" y="1920"/>
                <a:ext cx="127" cy="528"/>
              </a:xfrm>
              <a:prstGeom prst="rect">
                <a:avLst/>
              </a:prstGeom>
              <a:solidFill>
                <a:srgbClr val="5A5800"/>
              </a:solidFill>
              <a:ln w="9525">
                <a:solidFill>
                  <a:srgbClr val="000000"/>
                </a:solidFill>
                <a:miter lim="800000"/>
                <a:headEnd/>
                <a:tailEnd/>
              </a:ln>
              <a:effectLst/>
            </p:spPr>
            <p:txBody>
              <a:bodyPr wrap="none" anchor="ctr"/>
              <a:lstStyle/>
              <a:p>
                <a:endParaRPr lang="zh-CN" altLang="en-US" sz="1050"/>
              </a:p>
            </p:txBody>
          </p:sp>
          <p:grpSp>
            <p:nvGrpSpPr>
              <p:cNvPr id="25" name="Group 37">
                <a:extLst>
                  <a:ext uri="{FF2B5EF4-FFF2-40B4-BE49-F238E27FC236}">
                    <a16:creationId xmlns:a16="http://schemas.microsoft.com/office/drawing/2014/main" id="{EFA9C3D0-2A56-C2C2-6577-CD344125489E}"/>
                  </a:ext>
                </a:extLst>
              </p:cNvPr>
              <p:cNvGrpSpPr>
                <a:grpSpLocks/>
              </p:cNvGrpSpPr>
              <p:nvPr/>
            </p:nvGrpSpPr>
            <p:grpSpPr bwMode="auto">
              <a:xfrm>
                <a:off x="1264" y="1920"/>
                <a:ext cx="385" cy="528"/>
                <a:chOff x="1344" y="3552"/>
                <a:chExt cx="288" cy="480"/>
              </a:xfrm>
            </p:grpSpPr>
            <p:sp>
              <p:nvSpPr>
                <p:cNvPr id="25674" name="AutoShape 38">
                  <a:extLst>
                    <a:ext uri="{FF2B5EF4-FFF2-40B4-BE49-F238E27FC236}">
                      <a16:creationId xmlns:a16="http://schemas.microsoft.com/office/drawing/2014/main" id="{61C9CFAB-2EAB-5CFA-521A-1EB404F60664}"/>
                    </a:ext>
                  </a:extLst>
                </p:cNvPr>
                <p:cNvSpPr>
                  <a:spLocks noChangeArrowheads="1"/>
                </p:cNvSpPr>
                <p:nvPr/>
              </p:nvSpPr>
              <p:spPr bwMode="auto">
                <a:xfrm rot="5301541">
                  <a:off x="1344" y="3648"/>
                  <a:ext cx="288" cy="288"/>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5A5800"/>
                </a:solidFill>
                <a:ln w="9525">
                  <a:solidFill>
                    <a:srgbClr val="000000"/>
                  </a:solidFill>
                  <a:miter lim="800000"/>
                  <a:headEnd/>
                  <a:tailEnd/>
                </a:ln>
                <a:effectLst/>
              </p:spPr>
              <p:txBody>
                <a:bodyPr wrap="none" anchor="ctr"/>
                <a:lstStyle/>
                <a:p>
                  <a:endParaRPr lang="zh-CN" altLang="en-US" sz="1050"/>
                </a:p>
              </p:txBody>
            </p:sp>
            <p:grpSp>
              <p:nvGrpSpPr>
                <p:cNvPr id="25675" name="Group 39">
                  <a:extLst>
                    <a:ext uri="{FF2B5EF4-FFF2-40B4-BE49-F238E27FC236}">
                      <a16:creationId xmlns:a16="http://schemas.microsoft.com/office/drawing/2014/main" id="{9AE79B89-B942-0518-C0D2-98CE0EF549C9}"/>
                    </a:ext>
                  </a:extLst>
                </p:cNvPr>
                <p:cNvGrpSpPr>
                  <a:grpSpLocks/>
                </p:cNvGrpSpPr>
                <p:nvPr/>
              </p:nvGrpSpPr>
              <p:grpSpPr bwMode="auto">
                <a:xfrm>
                  <a:off x="1488" y="3552"/>
                  <a:ext cx="96" cy="480"/>
                  <a:chOff x="1488" y="3552"/>
                  <a:chExt cx="96" cy="480"/>
                </a:xfrm>
              </p:grpSpPr>
              <p:sp>
                <p:nvSpPr>
                  <p:cNvPr id="25676" name="Rectangle 40">
                    <a:extLst>
                      <a:ext uri="{FF2B5EF4-FFF2-40B4-BE49-F238E27FC236}">
                        <a16:creationId xmlns:a16="http://schemas.microsoft.com/office/drawing/2014/main" id="{643E21C4-FD3B-F4D3-D29D-399B192164DC}"/>
                      </a:ext>
                    </a:extLst>
                  </p:cNvPr>
                  <p:cNvSpPr>
                    <a:spLocks noChangeArrowheads="1"/>
                  </p:cNvSpPr>
                  <p:nvPr/>
                </p:nvSpPr>
                <p:spPr bwMode="auto">
                  <a:xfrm>
                    <a:off x="1488" y="3888"/>
                    <a:ext cx="96" cy="144"/>
                  </a:xfrm>
                  <a:prstGeom prst="rect">
                    <a:avLst/>
                  </a:prstGeom>
                  <a:solidFill>
                    <a:srgbClr val="5A5800"/>
                  </a:solidFill>
                  <a:ln w="9525">
                    <a:solidFill>
                      <a:srgbClr val="000000"/>
                    </a:solidFill>
                    <a:miter lim="800000"/>
                    <a:headEnd/>
                    <a:tailEnd/>
                  </a:ln>
                  <a:effectLst/>
                </p:spPr>
                <p:txBody>
                  <a:bodyPr wrap="none" anchor="ctr"/>
                  <a:lstStyle/>
                  <a:p>
                    <a:endParaRPr lang="zh-CN" altLang="en-US" sz="1050"/>
                  </a:p>
                </p:txBody>
              </p:sp>
              <p:sp>
                <p:nvSpPr>
                  <p:cNvPr id="25677" name="Rectangle 41">
                    <a:extLst>
                      <a:ext uri="{FF2B5EF4-FFF2-40B4-BE49-F238E27FC236}">
                        <a16:creationId xmlns:a16="http://schemas.microsoft.com/office/drawing/2014/main" id="{85F57E2C-FB52-C8B1-2152-51CCCF8D4764}"/>
                      </a:ext>
                    </a:extLst>
                  </p:cNvPr>
                  <p:cNvSpPr>
                    <a:spLocks noChangeArrowheads="1"/>
                  </p:cNvSpPr>
                  <p:nvPr/>
                </p:nvSpPr>
                <p:spPr bwMode="auto">
                  <a:xfrm>
                    <a:off x="1488" y="3552"/>
                    <a:ext cx="96" cy="144"/>
                  </a:xfrm>
                  <a:prstGeom prst="rect">
                    <a:avLst/>
                  </a:prstGeom>
                  <a:solidFill>
                    <a:srgbClr val="5A5800"/>
                  </a:solidFill>
                  <a:ln w="9525">
                    <a:solidFill>
                      <a:srgbClr val="000000"/>
                    </a:solidFill>
                    <a:miter lim="800000"/>
                    <a:headEnd/>
                    <a:tailEnd/>
                  </a:ln>
                  <a:effectLst/>
                </p:spPr>
                <p:txBody>
                  <a:bodyPr wrap="none" anchor="ctr"/>
                  <a:lstStyle/>
                  <a:p>
                    <a:endParaRPr lang="zh-CN" altLang="en-US" sz="1050"/>
                  </a:p>
                </p:txBody>
              </p:sp>
            </p:grpSp>
          </p:grpSp>
          <p:grpSp>
            <p:nvGrpSpPr>
              <p:cNvPr id="26" name="Group 42">
                <a:extLst>
                  <a:ext uri="{FF2B5EF4-FFF2-40B4-BE49-F238E27FC236}">
                    <a16:creationId xmlns:a16="http://schemas.microsoft.com/office/drawing/2014/main" id="{189941A0-FA9C-557A-8B7A-A07BC80F11C4}"/>
                  </a:ext>
                </a:extLst>
              </p:cNvPr>
              <p:cNvGrpSpPr>
                <a:grpSpLocks/>
              </p:cNvGrpSpPr>
              <p:nvPr/>
            </p:nvGrpSpPr>
            <p:grpSpPr bwMode="auto">
              <a:xfrm>
                <a:off x="1520" y="1920"/>
                <a:ext cx="384" cy="528"/>
                <a:chOff x="1344" y="3552"/>
                <a:chExt cx="288" cy="480"/>
              </a:xfrm>
            </p:grpSpPr>
            <p:sp>
              <p:nvSpPr>
                <p:cNvPr id="25657" name="AutoShape 43">
                  <a:extLst>
                    <a:ext uri="{FF2B5EF4-FFF2-40B4-BE49-F238E27FC236}">
                      <a16:creationId xmlns:a16="http://schemas.microsoft.com/office/drawing/2014/main" id="{DFAC263E-C6FE-EBCE-0224-D2C554A14EFD}"/>
                    </a:ext>
                  </a:extLst>
                </p:cNvPr>
                <p:cNvSpPr>
                  <a:spLocks noChangeArrowheads="1"/>
                </p:cNvSpPr>
                <p:nvPr/>
              </p:nvSpPr>
              <p:spPr bwMode="auto">
                <a:xfrm rot="5301541">
                  <a:off x="1344" y="3648"/>
                  <a:ext cx="288" cy="288"/>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5A5800"/>
                </a:solidFill>
                <a:ln w="9525">
                  <a:solidFill>
                    <a:srgbClr val="000000"/>
                  </a:solidFill>
                  <a:miter lim="800000"/>
                  <a:headEnd/>
                  <a:tailEnd/>
                </a:ln>
                <a:effectLst/>
              </p:spPr>
              <p:txBody>
                <a:bodyPr wrap="none" anchor="ctr"/>
                <a:lstStyle/>
                <a:p>
                  <a:endParaRPr lang="zh-CN" altLang="en-US" sz="1050"/>
                </a:p>
              </p:txBody>
            </p:sp>
            <p:grpSp>
              <p:nvGrpSpPr>
                <p:cNvPr id="25671" name="Group 44">
                  <a:extLst>
                    <a:ext uri="{FF2B5EF4-FFF2-40B4-BE49-F238E27FC236}">
                      <a16:creationId xmlns:a16="http://schemas.microsoft.com/office/drawing/2014/main" id="{C136EE43-0CBB-2E08-38BC-D1BC80FEC0E6}"/>
                    </a:ext>
                  </a:extLst>
                </p:cNvPr>
                <p:cNvGrpSpPr>
                  <a:grpSpLocks/>
                </p:cNvGrpSpPr>
                <p:nvPr/>
              </p:nvGrpSpPr>
              <p:grpSpPr bwMode="auto">
                <a:xfrm>
                  <a:off x="1488" y="3552"/>
                  <a:ext cx="96" cy="480"/>
                  <a:chOff x="1488" y="3552"/>
                  <a:chExt cx="96" cy="480"/>
                </a:xfrm>
              </p:grpSpPr>
              <p:sp>
                <p:nvSpPr>
                  <p:cNvPr id="25672" name="Rectangle 45">
                    <a:extLst>
                      <a:ext uri="{FF2B5EF4-FFF2-40B4-BE49-F238E27FC236}">
                        <a16:creationId xmlns:a16="http://schemas.microsoft.com/office/drawing/2014/main" id="{8C17D524-966E-4BE3-369F-003A8215DBF6}"/>
                      </a:ext>
                    </a:extLst>
                  </p:cNvPr>
                  <p:cNvSpPr>
                    <a:spLocks noChangeArrowheads="1"/>
                  </p:cNvSpPr>
                  <p:nvPr/>
                </p:nvSpPr>
                <p:spPr bwMode="auto">
                  <a:xfrm>
                    <a:off x="1488" y="3888"/>
                    <a:ext cx="96" cy="144"/>
                  </a:xfrm>
                  <a:prstGeom prst="rect">
                    <a:avLst/>
                  </a:prstGeom>
                  <a:solidFill>
                    <a:srgbClr val="5A5800"/>
                  </a:solidFill>
                  <a:ln w="9525">
                    <a:solidFill>
                      <a:srgbClr val="000000"/>
                    </a:solidFill>
                    <a:miter lim="800000"/>
                    <a:headEnd/>
                    <a:tailEnd/>
                  </a:ln>
                  <a:effectLst/>
                </p:spPr>
                <p:txBody>
                  <a:bodyPr wrap="none" anchor="ctr"/>
                  <a:lstStyle/>
                  <a:p>
                    <a:endParaRPr lang="zh-CN" altLang="en-US" sz="1050"/>
                  </a:p>
                </p:txBody>
              </p:sp>
              <p:sp>
                <p:nvSpPr>
                  <p:cNvPr id="25673" name="Rectangle 46">
                    <a:extLst>
                      <a:ext uri="{FF2B5EF4-FFF2-40B4-BE49-F238E27FC236}">
                        <a16:creationId xmlns:a16="http://schemas.microsoft.com/office/drawing/2014/main" id="{FBDE7BB0-A69C-F386-BF6B-7AF24724A1AD}"/>
                      </a:ext>
                    </a:extLst>
                  </p:cNvPr>
                  <p:cNvSpPr>
                    <a:spLocks noChangeArrowheads="1"/>
                  </p:cNvSpPr>
                  <p:nvPr/>
                </p:nvSpPr>
                <p:spPr bwMode="auto">
                  <a:xfrm>
                    <a:off x="1488" y="3552"/>
                    <a:ext cx="96" cy="144"/>
                  </a:xfrm>
                  <a:prstGeom prst="rect">
                    <a:avLst/>
                  </a:prstGeom>
                  <a:solidFill>
                    <a:srgbClr val="5A5800"/>
                  </a:solidFill>
                  <a:ln w="9525">
                    <a:solidFill>
                      <a:srgbClr val="000000"/>
                    </a:solidFill>
                    <a:miter lim="800000"/>
                    <a:headEnd/>
                    <a:tailEnd/>
                  </a:ln>
                  <a:effectLst/>
                </p:spPr>
                <p:txBody>
                  <a:bodyPr wrap="none" anchor="ctr"/>
                  <a:lstStyle/>
                  <a:p>
                    <a:endParaRPr lang="zh-CN" altLang="en-US" sz="1050"/>
                  </a:p>
                </p:txBody>
              </p:sp>
            </p:grpSp>
          </p:grpSp>
          <p:sp>
            <p:nvSpPr>
              <p:cNvPr id="27" name="Rectangle 47">
                <a:extLst>
                  <a:ext uri="{FF2B5EF4-FFF2-40B4-BE49-F238E27FC236}">
                    <a16:creationId xmlns:a16="http://schemas.microsoft.com/office/drawing/2014/main" id="{EFF2E3DA-9E10-034D-95A1-A7BD5A51AC12}"/>
                  </a:ext>
                </a:extLst>
              </p:cNvPr>
              <p:cNvSpPr>
                <a:spLocks noChangeArrowheads="1"/>
              </p:cNvSpPr>
              <p:nvPr/>
            </p:nvSpPr>
            <p:spPr bwMode="auto">
              <a:xfrm>
                <a:off x="1200" y="1920"/>
                <a:ext cx="127" cy="528"/>
              </a:xfrm>
              <a:prstGeom prst="rect">
                <a:avLst/>
              </a:prstGeom>
              <a:solidFill>
                <a:srgbClr val="5A5800"/>
              </a:solidFill>
              <a:ln w="9525">
                <a:solidFill>
                  <a:srgbClr val="000000"/>
                </a:solidFill>
                <a:miter lim="800000"/>
                <a:headEnd/>
                <a:tailEnd/>
              </a:ln>
              <a:effectLst/>
            </p:spPr>
            <p:txBody>
              <a:bodyPr wrap="none" anchor="ctr"/>
              <a:lstStyle/>
              <a:p>
                <a:endParaRPr lang="zh-CN" altLang="en-US" sz="1050"/>
              </a:p>
            </p:txBody>
          </p:sp>
          <p:sp>
            <p:nvSpPr>
              <p:cNvPr id="28" name="Rectangle 48">
                <a:extLst>
                  <a:ext uri="{FF2B5EF4-FFF2-40B4-BE49-F238E27FC236}">
                    <a16:creationId xmlns:a16="http://schemas.microsoft.com/office/drawing/2014/main" id="{817C1291-DDCD-7F36-9E9F-B31376EC790B}"/>
                  </a:ext>
                </a:extLst>
              </p:cNvPr>
              <p:cNvSpPr>
                <a:spLocks noChangeArrowheads="1"/>
              </p:cNvSpPr>
              <p:nvPr/>
            </p:nvSpPr>
            <p:spPr bwMode="auto">
              <a:xfrm>
                <a:off x="1973" y="1920"/>
                <a:ext cx="114" cy="528"/>
              </a:xfrm>
              <a:prstGeom prst="rect">
                <a:avLst/>
              </a:prstGeom>
              <a:solidFill>
                <a:srgbClr val="5A5800"/>
              </a:solidFill>
              <a:ln w="9525">
                <a:solidFill>
                  <a:srgbClr val="000000"/>
                </a:solidFill>
                <a:miter lim="800000"/>
                <a:headEnd/>
                <a:tailEnd/>
              </a:ln>
              <a:effectLst/>
            </p:spPr>
            <p:txBody>
              <a:bodyPr wrap="none" anchor="ctr"/>
              <a:lstStyle/>
              <a:p>
                <a:endParaRPr lang="zh-CN" altLang="en-US" sz="1050"/>
              </a:p>
            </p:txBody>
          </p:sp>
          <p:sp>
            <p:nvSpPr>
              <p:cNvPr id="29" name="Rectangle 49">
                <a:extLst>
                  <a:ext uri="{FF2B5EF4-FFF2-40B4-BE49-F238E27FC236}">
                    <a16:creationId xmlns:a16="http://schemas.microsoft.com/office/drawing/2014/main" id="{DD57D9E8-BB21-2C16-DDB3-F5A21A19FF04}"/>
                  </a:ext>
                </a:extLst>
              </p:cNvPr>
              <p:cNvSpPr>
                <a:spLocks noChangeArrowheads="1"/>
              </p:cNvSpPr>
              <p:nvPr/>
            </p:nvSpPr>
            <p:spPr bwMode="auto">
              <a:xfrm>
                <a:off x="2224" y="1920"/>
                <a:ext cx="129" cy="528"/>
              </a:xfrm>
              <a:prstGeom prst="rect">
                <a:avLst/>
              </a:prstGeom>
              <a:solidFill>
                <a:srgbClr val="5A5800"/>
              </a:solidFill>
              <a:ln w="9525">
                <a:solidFill>
                  <a:srgbClr val="000000"/>
                </a:solidFill>
                <a:miter lim="800000"/>
                <a:headEnd/>
                <a:tailEnd/>
              </a:ln>
              <a:effectLst/>
            </p:spPr>
            <p:txBody>
              <a:bodyPr wrap="none" anchor="ctr"/>
              <a:lstStyle/>
              <a:p>
                <a:endParaRPr lang="zh-CN" altLang="en-US" sz="1050"/>
              </a:p>
            </p:txBody>
          </p:sp>
          <p:sp>
            <p:nvSpPr>
              <p:cNvPr id="30" name="Rectangle 50">
                <a:extLst>
                  <a:ext uri="{FF2B5EF4-FFF2-40B4-BE49-F238E27FC236}">
                    <a16:creationId xmlns:a16="http://schemas.microsoft.com/office/drawing/2014/main" id="{BEF56E71-A675-C510-1997-0538FEAF6944}"/>
                  </a:ext>
                </a:extLst>
              </p:cNvPr>
              <p:cNvSpPr>
                <a:spLocks noChangeArrowheads="1"/>
              </p:cNvSpPr>
              <p:nvPr/>
            </p:nvSpPr>
            <p:spPr bwMode="auto">
              <a:xfrm>
                <a:off x="2480" y="1920"/>
                <a:ext cx="64" cy="528"/>
              </a:xfrm>
              <a:prstGeom prst="rect">
                <a:avLst/>
              </a:prstGeom>
              <a:solidFill>
                <a:srgbClr val="5A5800"/>
              </a:solidFill>
              <a:ln w="9525">
                <a:solidFill>
                  <a:srgbClr val="000000"/>
                </a:solidFill>
                <a:miter lim="800000"/>
                <a:headEnd/>
                <a:tailEnd/>
              </a:ln>
              <a:effectLst/>
            </p:spPr>
            <p:txBody>
              <a:bodyPr wrap="none" anchor="ctr"/>
              <a:lstStyle/>
              <a:p>
                <a:endParaRPr lang="zh-CN" altLang="en-US" sz="1050"/>
              </a:p>
            </p:txBody>
          </p:sp>
          <p:grpSp>
            <p:nvGrpSpPr>
              <p:cNvPr id="31" name="Group 51">
                <a:extLst>
                  <a:ext uri="{FF2B5EF4-FFF2-40B4-BE49-F238E27FC236}">
                    <a16:creationId xmlns:a16="http://schemas.microsoft.com/office/drawing/2014/main" id="{497A9467-3898-FF5F-7947-8D16CDCAA352}"/>
                  </a:ext>
                </a:extLst>
              </p:cNvPr>
              <p:cNvGrpSpPr>
                <a:grpSpLocks/>
              </p:cNvGrpSpPr>
              <p:nvPr/>
            </p:nvGrpSpPr>
            <p:grpSpPr bwMode="auto">
              <a:xfrm>
                <a:off x="1392" y="1920"/>
                <a:ext cx="1152" cy="1152"/>
                <a:chOff x="1392" y="1920"/>
                <a:chExt cx="1152" cy="1152"/>
              </a:xfrm>
            </p:grpSpPr>
            <p:sp>
              <p:nvSpPr>
                <p:cNvPr id="25601" name="Line 52">
                  <a:extLst>
                    <a:ext uri="{FF2B5EF4-FFF2-40B4-BE49-F238E27FC236}">
                      <a16:creationId xmlns:a16="http://schemas.microsoft.com/office/drawing/2014/main" id="{B2AEADA3-24CD-AA15-0E2C-3C8D5D10F061}"/>
                    </a:ext>
                  </a:extLst>
                </p:cNvPr>
                <p:cNvSpPr>
                  <a:spLocks noChangeShapeType="1"/>
                </p:cNvSpPr>
                <p:nvPr/>
              </p:nvSpPr>
              <p:spPr bwMode="auto">
                <a:xfrm>
                  <a:off x="1728" y="1920"/>
                  <a:ext cx="0" cy="1056"/>
                </a:xfrm>
                <a:prstGeom prst="line">
                  <a:avLst/>
                </a:prstGeom>
                <a:noFill/>
                <a:ln w="28575">
                  <a:solidFill>
                    <a:srgbClr val="FF33CC"/>
                  </a:solidFill>
                  <a:prstDash val="dash"/>
                  <a:round/>
                  <a:headEnd type="none" w="sm" len="lg"/>
                  <a:tailEnd type="none" w="sm" len="lg"/>
                </a:ln>
                <a:effectLst/>
              </p:spPr>
              <p:txBody>
                <a:bodyPr wrap="none" anchor="ctr"/>
                <a:lstStyle/>
                <a:p>
                  <a:endParaRPr lang="zh-CN" altLang="en-US" sz="1050"/>
                </a:p>
              </p:txBody>
            </p:sp>
            <p:sp>
              <p:nvSpPr>
                <p:cNvPr id="25602" name="Line 53">
                  <a:extLst>
                    <a:ext uri="{FF2B5EF4-FFF2-40B4-BE49-F238E27FC236}">
                      <a16:creationId xmlns:a16="http://schemas.microsoft.com/office/drawing/2014/main" id="{75212B81-2A19-7657-2AE9-1BD2169588A9}"/>
                    </a:ext>
                  </a:extLst>
                </p:cNvPr>
                <p:cNvSpPr>
                  <a:spLocks noChangeShapeType="1"/>
                </p:cNvSpPr>
                <p:nvPr/>
              </p:nvSpPr>
              <p:spPr bwMode="auto">
                <a:xfrm>
                  <a:off x="1816" y="1920"/>
                  <a:ext cx="0" cy="1056"/>
                </a:xfrm>
                <a:prstGeom prst="line">
                  <a:avLst/>
                </a:prstGeom>
                <a:noFill/>
                <a:ln w="28575">
                  <a:solidFill>
                    <a:srgbClr val="FF33CC"/>
                  </a:solidFill>
                  <a:prstDash val="dash"/>
                  <a:round/>
                  <a:headEnd type="none" w="sm" len="lg"/>
                  <a:tailEnd type="none" w="sm" len="lg"/>
                </a:ln>
                <a:effectLst/>
              </p:spPr>
              <p:txBody>
                <a:bodyPr wrap="none" anchor="ctr"/>
                <a:lstStyle/>
                <a:p>
                  <a:endParaRPr lang="zh-CN" altLang="en-US" sz="1050"/>
                </a:p>
              </p:txBody>
            </p:sp>
            <p:sp>
              <p:nvSpPr>
                <p:cNvPr id="25613" name="Line 54">
                  <a:extLst>
                    <a:ext uri="{FF2B5EF4-FFF2-40B4-BE49-F238E27FC236}">
                      <a16:creationId xmlns:a16="http://schemas.microsoft.com/office/drawing/2014/main" id="{6FC3CCCB-C3B1-086C-EA83-6B504C64A84B}"/>
                    </a:ext>
                  </a:extLst>
                </p:cNvPr>
                <p:cNvSpPr>
                  <a:spLocks noChangeShapeType="1"/>
                </p:cNvSpPr>
                <p:nvPr/>
              </p:nvSpPr>
              <p:spPr bwMode="auto">
                <a:xfrm>
                  <a:off x="1392" y="2928"/>
                  <a:ext cx="327" cy="0"/>
                </a:xfrm>
                <a:prstGeom prst="line">
                  <a:avLst/>
                </a:prstGeom>
                <a:noFill/>
                <a:ln w="19050">
                  <a:solidFill>
                    <a:srgbClr val="FF0066"/>
                  </a:solidFill>
                  <a:round/>
                  <a:headEnd type="none" w="sm" len="lg"/>
                  <a:tailEnd type="triangle" w="sm" len="lg"/>
                </a:ln>
                <a:effectLst/>
              </p:spPr>
              <p:txBody>
                <a:bodyPr wrap="none" anchor="ctr"/>
                <a:lstStyle/>
                <a:p>
                  <a:endParaRPr lang="zh-CN" altLang="en-US" sz="1050"/>
                </a:p>
              </p:txBody>
            </p:sp>
            <p:sp>
              <p:nvSpPr>
                <p:cNvPr id="25614" name="Line 55">
                  <a:extLst>
                    <a:ext uri="{FF2B5EF4-FFF2-40B4-BE49-F238E27FC236}">
                      <a16:creationId xmlns:a16="http://schemas.microsoft.com/office/drawing/2014/main" id="{CD24D1EC-D5F2-BF86-6834-F4D4A8C78060}"/>
                    </a:ext>
                  </a:extLst>
                </p:cNvPr>
                <p:cNvSpPr>
                  <a:spLocks noChangeShapeType="1"/>
                </p:cNvSpPr>
                <p:nvPr/>
              </p:nvSpPr>
              <p:spPr bwMode="auto">
                <a:xfrm>
                  <a:off x="1824" y="2928"/>
                  <a:ext cx="326" cy="0"/>
                </a:xfrm>
                <a:prstGeom prst="line">
                  <a:avLst/>
                </a:prstGeom>
                <a:noFill/>
                <a:ln w="19050">
                  <a:solidFill>
                    <a:srgbClr val="FF0066"/>
                  </a:solidFill>
                  <a:round/>
                  <a:headEnd type="triangle" w="sm" len="lg"/>
                  <a:tailEnd type="none" w="sm" len="lg"/>
                </a:ln>
                <a:effectLst/>
              </p:spPr>
              <p:txBody>
                <a:bodyPr wrap="none" anchor="ctr"/>
                <a:lstStyle/>
                <a:p>
                  <a:endParaRPr lang="zh-CN" altLang="en-US" sz="1050"/>
                </a:p>
              </p:txBody>
            </p:sp>
            <p:sp>
              <p:nvSpPr>
                <p:cNvPr id="25625" name="Line 56">
                  <a:extLst>
                    <a:ext uri="{FF2B5EF4-FFF2-40B4-BE49-F238E27FC236}">
                      <a16:creationId xmlns:a16="http://schemas.microsoft.com/office/drawing/2014/main" id="{65E19FE5-4305-1D28-05AE-3549272A9597}"/>
                    </a:ext>
                  </a:extLst>
                </p:cNvPr>
                <p:cNvSpPr>
                  <a:spLocks noChangeShapeType="1"/>
                </p:cNvSpPr>
                <p:nvPr/>
              </p:nvSpPr>
              <p:spPr bwMode="auto">
                <a:xfrm>
                  <a:off x="1975" y="1920"/>
                  <a:ext cx="0" cy="1056"/>
                </a:xfrm>
                <a:prstGeom prst="line">
                  <a:avLst/>
                </a:prstGeom>
                <a:noFill/>
                <a:ln w="28575">
                  <a:solidFill>
                    <a:srgbClr val="0000FF"/>
                  </a:solidFill>
                  <a:prstDash val="dash"/>
                  <a:round/>
                  <a:headEnd type="none" w="sm" len="lg"/>
                  <a:tailEnd type="none" w="sm" len="lg"/>
                </a:ln>
                <a:effectLst/>
              </p:spPr>
              <p:txBody>
                <a:bodyPr wrap="none" anchor="ctr"/>
                <a:lstStyle/>
                <a:p>
                  <a:endParaRPr lang="zh-CN" altLang="en-US" sz="1050"/>
                </a:p>
              </p:txBody>
            </p:sp>
            <p:sp>
              <p:nvSpPr>
                <p:cNvPr id="25631" name="Line 57">
                  <a:extLst>
                    <a:ext uri="{FF2B5EF4-FFF2-40B4-BE49-F238E27FC236}">
                      <a16:creationId xmlns:a16="http://schemas.microsoft.com/office/drawing/2014/main" id="{FC7966DC-8796-C48E-A387-B7FAA60B34D1}"/>
                    </a:ext>
                  </a:extLst>
                </p:cNvPr>
                <p:cNvSpPr>
                  <a:spLocks noChangeShapeType="1"/>
                </p:cNvSpPr>
                <p:nvPr/>
              </p:nvSpPr>
              <p:spPr bwMode="auto">
                <a:xfrm>
                  <a:off x="1719" y="1920"/>
                  <a:ext cx="0" cy="1056"/>
                </a:xfrm>
                <a:prstGeom prst="line">
                  <a:avLst/>
                </a:prstGeom>
                <a:noFill/>
                <a:ln w="28575">
                  <a:solidFill>
                    <a:srgbClr val="0000FF"/>
                  </a:solidFill>
                  <a:prstDash val="dash"/>
                  <a:round/>
                  <a:headEnd type="none" w="sm" len="lg"/>
                  <a:tailEnd type="none" w="sm" len="lg"/>
                </a:ln>
                <a:effectLst/>
              </p:spPr>
              <p:txBody>
                <a:bodyPr wrap="none" anchor="ctr"/>
                <a:lstStyle/>
                <a:p>
                  <a:endParaRPr lang="zh-CN" altLang="en-US" sz="1050"/>
                </a:p>
              </p:txBody>
            </p:sp>
            <p:sp>
              <p:nvSpPr>
                <p:cNvPr id="25632" name="Line 58">
                  <a:extLst>
                    <a:ext uri="{FF2B5EF4-FFF2-40B4-BE49-F238E27FC236}">
                      <a16:creationId xmlns:a16="http://schemas.microsoft.com/office/drawing/2014/main" id="{56BFD156-0B72-6F02-2244-CEEA192287B2}"/>
                    </a:ext>
                  </a:extLst>
                </p:cNvPr>
                <p:cNvSpPr>
                  <a:spLocks noChangeShapeType="1"/>
                </p:cNvSpPr>
                <p:nvPr/>
              </p:nvSpPr>
              <p:spPr bwMode="auto">
                <a:xfrm>
                  <a:off x="1392" y="2640"/>
                  <a:ext cx="327" cy="0"/>
                </a:xfrm>
                <a:prstGeom prst="line">
                  <a:avLst/>
                </a:prstGeom>
                <a:noFill/>
                <a:ln w="19050">
                  <a:solidFill>
                    <a:srgbClr val="FF0000"/>
                  </a:solidFill>
                  <a:round/>
                  <a:headEnd type="none" w="sm" len="lg"/>
                  <a:tailEnd type="triangle" w="sm" len="lg"/>
                </a:ln>
                <a:effectLst/>
              </p:spPr>
              <p:txBody>
                <a:bodyPr wrap="none" anchor="ctr"/>
                <a:lstStyle/>
                <a:p>
                  <a:endParaRPr lang="zh-CN" altLang="en-US" sz="1050"/>
                </a:p>
              </p:txBody>
            </p:sp>
            <p:sp>
              <p:nvSpPr>
                <p:cNvPr id="25646" name="Line 59">
                  <a:extLst>
                    <a:ext uri="{FF2B5EF4-FFF2-40B4-BE49-F238E27FC236}">
                      <a16:creationId xmlns:a16="http://schemas.microsoft.com/office/drawing/2014/main" id="{D37091BA-1F0C-2CCF-0A84-15B9F00B4B28}"/>
                    </a:ext>
                  </a:extLst>
                </p:cNvPr>
                <p:cNvSpPr>
                  <a:spLocks noChangeShapeType="1"/>
                </p:cNvSpPr>
                <p:nvPr/>
              </p:nvSpPr>
              <p:spPr bwMode="auto">
                <a:xfrm>
                  <a:off x="1980" y="2640"/>
                  <a:ext cx="327" cy="0"/>
                </a:xfrm>
                <a:prstGeom prst="line">
                  <a:avLst/>
                </a:prstGeom>
                <a:noFill/>
                <a:ln w="19050">
                  <a:solidFill>
                    <a:srgbClr val="FF0000"/>
                  </a:solidFill>
                  <a:round/>
                  <a:headEnd type="triangle" w="sm" len="lg"/>
                  <a:tailEnd type="none" w="sm" len="lg"/>
                </a:ln>
                <a:effectLst/>
              </p:spPr>
              <p:txBody>
                <a:bodyPr wrap="none" anchor="ctr"/>
                <a:lstStyle/>
                <a:p>
                  <a:endParaRPr lang="zh-CN" altLang="en-US" sz="1050"/>
                </a:p>
              </p:txBody>
            </p:sp>
            <p:graphicFrame>
              <p:nvGraphicFramePr>
                <p:cNvPr id="25654" name="Object 60">
                  <a:extLst>
                    <a:ext uri="{FF2B5EF4-FFF2-40B4-BE49-F238E27FC236}">
                      <a16:creationId xmlns:a16="http://schemas.microsoft.com/office/drawing/2014/main" id="{B6B5CECB-128B-1989-F2D5-17CB6259761C}"/>
                    </a:ext>
                  </a:extLst>
                </p:cNvPr>
                <p:cNvGraphicFramePr>
                  <a:graphicFrameLocks noChangeAspect="1"/>
                </p:cNvGraphicFramePr>
                <p:nvPr/>
              </p:nvGraphicFramePr>
              <p:xfrm>
                <a:off x="2307" y="2496"/>
                <a:ext cx="237" cy="268"/>
              </p:xfrm>
              <a:graphic>
                <a:graphicData uri="http://schemas.openxmlformats.org/presentationml/2006/ole">
                  <mc:AlternateContent xmlns:mc="http://schemas.openxmlformats.org/markup-compatibility/2006">
                    <mc:Choice xmlns:v="urn:schemas-microsoft-com:vml" Requires="v">
                      <p:oleObj name="公式" r:id="rId18" imgW="164957" imgH="253780" progId="Equation.3">
                        <p:embed/>
                      </p:oleObj>
                    </mc:Choice>
                    <mc:Fallback>
                      <p:oleObj name="公式" r:id="rId18" imgW="164957" imgH="253780" progId="Equation.3">
                        <p:embed/>
                        <p:pic>
                          <p:nvPicPr>
                            <p:cNvPr id="26684" name="Object 6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307" y="2496"/>
                              <a:ext cx="237" cy="2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56" name="Object 61">
                  <a:extLst>
                    <a:ext uri="{FF2B5EF4-FFF2-40B4-BE49-F238E27FC236}">
                      <a16:creationId xmlns:a16="http://schemas.microsoft.com/office/drawing/2014/main" id="{C0A658DF-7C37-FEB4-8BDA-BC27125F77EB}"/>
                    </a:ext>
                  </a:extLst>
                </p:cNvPr>
                <p:cNvGraphicFramePr>
                  <a:graphicFrameLocks noChangeAspect="1"/>
                </p:cNvGraphicFramePr>
                <p:nvPr/>
              </p:nvGraphicFramePr>
              <p:xfrm>
                <a:off x="2158" y="2811"/>
                <a:ext cx="194" cy="261"/>
              </p:xfrm>
              <a:graphic>
                <a:graphicData uri="http://schemas.openxmlformats.org/presentationml/2006/ole">
                  <mc:AlternateContent xmlns:mc="http://schemas.openxmlformats.org/markup-compatibility/2006">
                    <mc:Choice xmlns:v="urn:schemas-microsoft-com:vml" Requires="v">
                      <p:oleObj name="Equation" r:id="rId20" imgW="228600" imgH="279400" progId="Equation.3">
                        <p:embed/>
                      </p:oleObj>
                    </mc:Choice>
                    <mc:Fallback>
                      <p:oleObj name="Equation" r:id="rId20" imgW="228600" imgH="279400" progId="Equation.3">
                        <p:embed/>
                        <p:pic>
                          <p:nvPicPr>
                            <p:cNvPr id="26685" name="Object 6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158" y="2811"/>
                              <a:ext cx="194" cy="2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5600" name="Line 62">
                <a:extLst>
                  <a:ext uri="{FF2B5EF4-FFF2-40B4-BE49-F238E27FC236}">
                    <a16:creationId xmlns:a16="http://schemas.microsoft.com/office/drawing/2014/main" id="{33A42810-461F-F3C6-1510-35C64016FE83}"/>
                  </a:ext>
                </a:extLst>
              </p:cNvPr>
              <p:cNvSpPr>
                <a:spLocks noChangeShapeType="1"/>
              </p:cNvSpPr>
              <p:nvPr/>
            </p:nvSpPr>
            <p:spPr bwMode="auto">
              <a:xfrm>
                <a:off x="432" y="1824"/>
                <a:ext cx="2112" cy="0"/>
              </a:xfrm>
              <a:prstGeom prst="line">
                <a:avLst/>
              </a:prstGeom>
              <a:noFill/>
              <a:ln w="12700">
                <a:solidFill>
                  <a:srgbClr val="000000"/>
                </a:solidFill>
                <a:round/>
                <a:headEnd type="none" w="sm" len="lg"/>
                <a:tailEnd type="none" w="sm" len="lg"/>
              </a:ln>
              <a:effectLst/>
            </p:spPr>
            <p:txBody>
              <a:bodyPr wrap="none" anchor="ctr"/>
              <a:lstStyle/>
              <a:p>
                <a:endParaRPr lang="zh-CN" altLang="en-US" sz="1050"/>
              </a:p>
            </p:txBody>
          </p:sp>
        </p:grpSp>
      </p:gr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51E6417-964A-6F0F-43B6-0EC53CAE6696}"/>
              </a:ext>
            </a:extLst>
          </p:cNvPr>
          <p:cNvSpPr txBox="1"/>
          <p:nvPr/>
        </p:nvSpPr>
        <p:spPr>
          <a:xfrm>
            <a:off x="127284" y="3233910"/>
            <a:ext cx="492443" cy="1118255"/>
          </a:xfrm>
          <a:prstGeom prst="rect">
            <a:avLst/>
          </a:prstGeom>
          <a:noFill/>
        </p:spPr>
        <p:txBody>
          <a:bodyPr vert="eaVert" wrap="none" rtlCol="0">
            <a:spAutoFit/>
          </a:bodyPr>
          <a:lstStyle/>
          <a:p>
            <a:r>
              <a:rPr lang="zh-CN" altLang="en-US" sz="2000" b="1" dirty="0">
                <a:solidFill>
                  <a:srgbClr val="FF0000"/>
                </a:solidFill>
                <a:latin typeface="+mn-ea"/>
              </a:rPr>
              <a:t>光的叠加</a:t>
            </a:r>
          </a:p>
        </p:txBody>
      </p:sp>
      <p:sp>
        <p:nvSpPr>
          <p:cNvPr id="5" name="文本框 4">
            <a:extLst>
              <a:ext uri="{FF2B5EF4-FFF2-40B4-BE49-F238E27FC236}">
                <a16:creationId xmlns:a16="http://schemas.microsoft.com/office/drawing/2014/main" id="{613564DB-1816-DE1B-0E71-C648ED54C03B}"/>
              </a:ext>
            </a:extLst>
          </p:cNvPr>
          <p:cNvSpPr txBox="1"/>
          <p:nvPr/>
        </p:nvSpPr>
        <p:spPr>
          <a:xfrm>
            <a:off x="2524126" y="1181100"/>
            <a:ext cx="2113079" cy="400110"/>
          </a:xfrm>
          <a:prstGeom prst="rect">
            <a:avLst/>
          </a:prstGeom>
          <a:noFill/>
        </p:spPr>
        <p:txBody>
          <a:bodyPr wrap="none" rtlCol="0">
            <a:spAutoFit/>
          </a:bodyPr>
          <a:lstStyle/>
          <a:p>
            <a:r>
              <a:rPr lang="zh-CN" altLang="en-US" sz="2000" b="1" dirty="0">
                <a:solidFill>
                  <a:srgbClr val="00B050"/>
                </a:solidFill>
                <a:latin typeface="+mn-ea"/>
              </a:rPr>
              <a:t>一</a:t>
            </a:r>
            <a:r>
              <a:rPr lang="en-US" altLang="zh-CN" sz="2000" b="1" dirty="0">
                <a:solidFill>
                  <a:srgbClr val="00B050"/>
                </a:solidFill>
                <a:latin typeface="+mn-ea"/>
              </a:rPr>
              <a:t>.</a:t>
            </a:r>
            <a:r>
              <a:rPr lang="zh-CN" altLang="en-US" sz="2000" b="1" dirty="0">
                <a:solidFill>
                  <a:srgbClr val="00B050"/>
                </a:solidFill>
                <a:latin typeface="+mn-ea"/>
              </a:rPr>
              <a:t>相干光的条件</a:t>
            </a:r>
            <a:r>
              <a:rPr lang="en-US" altLang="zh-CN" sz="2000" b="1" dirty="0">
                <a:solidFill>
                  <a:srgbClr val="00B050"/>
                </a:solidFill>
                <a:latin typeface="+mn-ea"/>
              </a:rPr>
              <a:t> </a:t>
            </a:r>
            <a:endParaRPr lang="zh-CN" altLang="en-US" sz="2000" b="1" dirty="0">
              <a:solidFill>
                <a:srgbClr val="00B050"/>
              </a:solidFill>
              <a:latin typeface="+mn-ea"/>
            </a:endParaRPr>
          </a:p>
        </p:txBody>
      </p:sp>
      <p:sp>
        <p:nvSpPr>
          <p:cNvPr id="6" name="文本框 5">
            <a:extLst>
              <a:ext uri="{FF2B5EF4-FFF2-40B4-BE49-F238E27FC236}">
                <a16:creationId xmlns:a16="http://schemas.microsoft.com/office/drawing/2014/main" id="{5BC04079-ED52-CE69-7636-C1C406E79A41}"/>
              </a:ext>
            </a:extLst>
          </p:cNvPr>
          <p:cNvSpPr txBox="1"/>
          <p:nvPr/>
        </p:nvSpPr>
        <p:spPr>
          <a:xfrm>
            <a:off x="2524126" y="2288372"/>
            <a:ext cx="2113079" cy="400110"/>
          </a:xfrm>
          <a:prstGeom prst="rect">
            <a:avLst/>
          </a:prstGeom>
          <a:noFill/>
        </p:spPr>
        <p:txBody>
          <a:bodyPr wrap="none" rtlCol="0">
            <a:spAutoFit/>
          </a:bodyPr>
          <a:lstStyle/>
          <a:p>
            <a:r>
              <a:rPr lang="zh-CN" altLang="en-US" sz="2000" b="1" dirty="0">
                <a:solidFill>
                  <a:srgbClr val="00B050"/>
                </a:solidFill>
                <a:latin typeface="+mn-ea"/>
              </a:rPr>
              <a:t>二</a:t>
            </a:r>
            <a:r>
              <a:rPr lang="en-US" altLang="zh-CN" sz="2000" b="1" dirty="0">
                <a:solidFill>
                  <a:srgbClr val="00B050"/>
                </a:solidFill>
                <a:latin typeface="+mn-ea"/>
              </a:rPr>
              <a:t>.</a:t>
            </a:r>
            <a:r>
              <a:rPr lang="zh-CN" altLang="en-US" sz="2000" b="1" dirty="0">
                <a:solidFill>
                  <a:srgbClr val="00B050"/>
                </a:solidFill>
                <a:latin typeface="+mn-ea"/>
              </a:rPr>
              <a:t>相干光的获取</a:t>
            </a:r>
            <a:r>
              <a:rPr lang="en-US" altLang="zh-CN" sz="2000" b="1" dirty="0">
                <a:solidFill>
                  <a:srgbClr val="00B050"/>
                </a:solidFill>
                <a:latin typeface="+mn-ea"/>
              </a:rPr>
              <a:t> </a:t>
            </a:r>
            <a:endParaRPr lang="zh-CN" altLang="en-US" sz="2000" b="1" dirty="0">
              <a:solidFill>
                <a:srgbClr val="00B050"/>
              </a:solidFill>
              <a:latin typeface="+mn-ea"/>
            </a:endParaRPr>
          </a:p>
        </p:txBody>
      </p:sp>
      <p:sp>
        <p:nvSpPr>
          <p:cNvPr id="7" name="文本框 6">
            <a:extLst>
              <a:ext uri="{FF2B5EF4-FFF2-40B4-BE49-F238E27FC236}">
                <a16:creationId xmlns:a16="http://schemas.microsoft.com/office/drawing/2014/main" id="{7AC40AC1-5B5D-94CF-DB8C-4671F5E655C5}"/>
              </a:ext>
            </a:extLst>
          </p:cNvPr>
          <p:cNvSpPr txBox="1"/>
          <p:nvPr/>
        </p:nvSpPr>
        <p:spPr>
          <a:xfrm>
            <a:off x="2524126" y="3236128"/>
            <a:ext cx="3134191" cy="707886"/>
          </a:xfrm>
          <a:prstGeom prst="rect">
            <a:avLst/>
          </a:prstGeom>
          <a:noFill/>
        </p:spPr>
        <p:txBody>
          <a:bodyPr wrap="none" rtlCol="0">
            <a:spAutoFit/>
          </a:bodyPr>
          <a:lstStyle/>
          <a:p>
            <a:r>
              <a:rPr lang="zh-CN" altLang="en-US" sz="2000" b="1" dirty="0">
                <a:solidFill>
                  <a:srgbClr val="00B050"/>
                </a:solidFill>
                <a:latin typeface="+mn-ea"/>
              </a:rPr>
              <a:t>三</a:t>
            </a:r>
            <a:r>
              <a:rPr lang="en-US" altLang="zh-CN" sz="2000" b="1" dirty="0">
                <a:solidFill>
                  <a:srgbClr val="00B050"/>
                </a:solidFill>
                <a:latin typeface="+mn-ea"/>
              </a:rPr>
              <a:t>.</a:t>
            </a:r>
            <a:r>
              <a:rPr lang="zh-CN" altLang="en-US" sz="2000" b="1" dirty="0">
                <a:solidFill>
                  <a:srgbClr val="00B050"/>
                </a:solidFill>
                <a:latin typeface="+mn-ea"/>
              </a:rPr>
              <a:t>相干光叠加的光强表示</a:t>
            </a:r>
            <a:endParaRPr lang="en-US" altLang="zh-CN" sz="2000" b="1" dirty="0">
              <a:solidFill>
                <a:srgbClr val="00B050"/>
              </a:solidFill>
              <a:latin typeface="+mn-ea"/>
            </a:endParaRPr>
          </a:p>
          <a:p>
            <a:r>
              <a:rPr lang="en-US" altLang="zh-CN" sz="2000" dirty="0">
                <a:latin typeface="+mn-ea"/>
              </a:rPr>
              <a:t>    </a:t>
            </a:r>
            <a:endParaRPr lang="zh-CN" altLang="en-US" sz="2000" dirty="0">
              <a:latin typeface="+mn-ea"/>
            </a:endParaRPr>
          </a:p>
        </p:txBody>
      </p:sp>
      <p:sp>
        <p:nvSpPr>
          <p:cNvPr id="8" name="文本框 7">
            <a:extLst>
              <a:ext uri="{FF2B5EF4-FFF2-40B4-BE49-F238E27FC236}">
                <a16:creationId xmlns:a16="http://schemas.microsoft.com/office/drawing/2014/main" id="{F0DFB048-D119-7A0F-94D5-C5DEC824D8FD}"/>
              </a:ext>
            </a:extLst>
          </p:cNvPr>
          <p:cNvSpPr txBox="1"/>
          <p:nvPr/>
        </p:nvSpPr>
        <p:spPr>
          <a:xfrm>
            <a:off x="2524125" y="4114770"/>
            <a:ext cx="1600118" cy="400110"/>
          </a:xfrm>
          <a:prstGeom prst="rect">
            <a:avLst/>
          </a:prstGeom>
          <a:noFill/>
        </p:spPr>
        <p:txBody>
          <a:bodyPr wrap="none" rtlCol="0">
            <a:spAutoFit/>
          </a:bodyPr>
          <a:lstStyle/>
          <a:p>
            <a:r>
              <a:rPr lang="zh-CN" altLang="en-US" sz="2000" b="1" dirty="0">
                <a:solidFill>
                  <a:srgbClr val="00B050"/>
                </a:solidFill>
                <a:latin typeface="+mn-ea"/>
              </a:rPr>
              <a:t>四</a:t>
            </a:r>
            <a:r>
              <a:rPr lang="en-US" altLang="zh-CN" sz="2000" b="1" dirty="0">
                <a:solidFill>
                  <a:srgbClr val="00B050"/>
                </a:solidFill>
                <a:latin typeface="+mn-ea"/>
              </a:rPr>
              <a:t>.</a:t>
            </a:r>
            <a:r>
              <a:rPr lang="zh-CN" altLang="en-US" sz="2000" b="1" dirty="0">
                <a:solidFill>
                  <a:srgbClr val="00B050"/>
                </a:solidFill>
                <a:latin typeface="+mn-ea"/>
              </a:rPr>
              <a:t>干涉特征</a:t>
            </a:r>
            <a:r>
              <a:rPr lang="en-US" altLang="zh-CN" sz="2000" b="1" dirty="0">
                <a:solidFill>
                  <a:srgbClr val="00B050"/>
                </a:solidFill>
                <a:latin typeface="+mn-ea"/>
              </a:rPr>
              <a:t> </a:t>
            </a:r>
            <a:endParaRPr lang="zh-CN" altLang="en-US" sz="2000" b="1" dirty="0">
              <a:solidFill>
                <a:srgbClr val="00B050"/>
              </a:solidFill>
              <a:latin typeface="+mn-ea"/>
            </a:endParaRPr>
          </a:p>
        </p:txBody>
      </p:sp>
      <p:sp>
        <p:nvSpPr>
          <p:cNvPr id="9" name="文本框 8">
            <a:extLst>
              <a:ext uri="{FF2B5EF4-FFF2-40B4-BE49-F238E27FC236}">
                <a16:creationId xmlns:a16="http://schemas.microsoft.com/office/drawing/2014/main" id="{E06E29FC-F3BF-3773-BD5F-73C19845204B}"/>
              </a:ext>
            </a:extLst>
          </p:cNvPr>
          <p:cNvSpPr txBox="1"/>
          <p:nvPr/>
        </p:nvSpPr>
        <p:spPr>
          <a:xfrm>
            <a:off x="4714875" y="762000"/>
            <a:ext cx="1486304" cy="400110"/>
          </a:xfrm>
          <a:prstGeom prst="rect">
            <a:avLst/>
          </a:prstGeom>
          <a:noFill/>
        </p:spPr>
        <p:txBody>
          <a:bodyPr wrap="none" rtlCol="0">
            <a:spAutoFit/>
          </a:bodyPr>
          <a:lstStyle/>
          <a:p>
            <a:r>
              <a:rPr lang="en-US" altLang="zh-CN" sz="2000" b="1" dirty="0">
                <a:solidFill>
                  <a:srgbClr val="C00000"/>
                </a:solidFill>
                <a:latin typeface="+mn-ea"/>
              </a:rPr>
              <a:t>1.</a:t>
            </a:r>
            <a:r>
              <a:rPr lang="zh-CN" altLang="en-US" sz="2000" b="1" dirty="0">
                <a:solidFill>
                  <a:srgbClr val="C00000"/>
                </a:solidFill>
                <a:latin typeface="+mn-ea"/>
              </a:rPr>
              <a:t>频率相同</a:t>
            </a:r>
            <a:r>
              <a:rPr lang="en-US" altLang="zh-CN" sz="2000" b="1" dirty="0">
                <a:solidFill>
                  <a:srgbClr val="C00000"/>
                </a:solidFill>
                <a:latin typeface="+mn-ea"/>
              </a:rPr>
              <a:t> </a:t>
            </a:r>
            <a:endParaRPr lang="zh-CN" altLang="en-US" sz="2000" b="1" dirty="0">
              <a:solidFill>
                <a:srgbClr val="C00000"/>
              </a:solidFill>
              <a:latin typeface="+mn-ea"/>
            </a:endParaRPr>
          </a:p>
        </p:txBody>
      </p:sp>
      <p:sp>
        <p:nvSpPr>
          <p:cNvPr id="10" name="文本框 9">
            <a:extLst>
              <a:ext uri="{FF2B5EF4-FFF2-40B4-BE49-F238E27FC236}">
                <a16:creationId xmlns:a16="http://schemas.microsoft.com/office/drawing/2014/main" id="{275AD8CD-B82C-205D-3C55-73269B1688E3}"/>
              </a:ext>
            </a:extLst>
          </p:cNvPr>
          <p:cNvSpPr txBox="1"/>
          <p:nvPr/>
        </p:nvSpPr>
        <p:spPr>
          <a:xfrm>
            <a:off x="4724401" y="1162050"/>
            <a:ext cx="2877711" cy="400110"/>
          </a:xfrm>
          <a:prstGeom prst="rect">
            <a:avLst/>
          </a:prstGeom>
          <a:noFill/>
        </p:spPr>
        <p:txBody>
          <a:bodyPr wrap="none" rtlCol="0">
            <a:spAutoFit/>
          </a:bodyPr>
          <a:lstStyle/>
          <a:p>
            <a:r>
              <a:rPr lang="en-US" altLang="zh-CN" sz="2000" b="1" dirty="0">
                <a:solidFill>
                  <a:srgbClr val="C00000"/>
                </a:solidFill>
                <a:latin typeface="+mn-ea"/>
              </a:rPr>
              <a:t>2.</a:t>
            </a:r>
            <a:r>
              <a:rPr lang="zh-CN" altLang="en-US" sz="2000" b="1" dirty="0">
                <a:solidFill>
                  <a:srgbClr val="C00000"/>
                </a:solidFill>
                <a:latin typeface="+mn-ea"/>
              </a:rPr>
              <a:t>相互平行的振动分量</a:t>
            </a:r>
            <a:r>
              <a:rPr lang="en-US" altLang="zh-CN" sz="2000" b="1" dirty="0">
                <a:solidFill>
                  <a:srgbClr val="C00000"/>
                </a:solidFill>
                <a:latin typeface="+mn-ea"/>
              </a:rPr>
              <a:t> </a:t>
            </a:r>
            <a:endParaRPr lang="zh-CN" altLang="en-US" sz="2000" b="1" dirty="0">
              <a:solidFill>
                <a:srgbClr val="C00000"/>
              </a:solidFill>
              <a:latin typeface="+mn-ea"/>
            </a:endParaRPr>
          </a:p>
        </p:txBody>
      </p:sp>
      <p:sp>
        <p:nvSpPr>
          <p:cNvPr id="11" name="文本框 10">
            <a:extLst>
              <a:ext uri="{FF2B5EF4-FFF2-40B4-BE49-F238E27FC236}">
                <a16:creationId xmlns:a16="http://schemas.microsoft.com/office/drawing/2014/main" id="{6A59284C-87C2-F8C8-4542-A2494B2221EE}"/>
              </a:ext>
            </a:extLst>
          </p:cNvPr>
          <p:cNvSpPr txBox="1"/>
          <p:nvPr/>
        </p:nvSpPr>
        <p:spPr>
          <a:xfrm>
            <a:off x="4743451" y="1609725"/>
            <a:ext cx="1999265" cy="400110"/>
          </a:xfrm>
          <a:prstGeom prst="rect">
            <a:avLst/>
          </a:prstGeom>
          <a:noFill/>
        </p:spPr>
        <p:txBody>
          <a:bodyPr wrap="none" rtlCol="0">
            <a:spAutoFit/>
          </a:bodyPr>
          <a:lstStyle/>
          <a:p>
            <a:r>
              <a:rPr lang="en-US" altLang="zh-CN" sz="2000" b="1" dirty="0">
                <a:solidFill>
                  <a:srgbClr val="C00000"/>
                </a:solidFill>
                <a:latin typeface="+mn-ea"/>
              </a:rPr>
              <a:t>3.</a:t>
            </a:r>
            <a:r>
              <a:rPr lang="zh-CN" altLang="en-US" sz="2000" b="1" dirty="0">
                <a:solidFill>
                  <a:srgbClr val="C00000"/>
                </a:solidFill>
                <a:latin typeface="+mn-ea"/>
              </a:rPr>
              <a:t>恒定的相位差</a:t>
            </a:r>
            <a:r>
              <a:rPr lang="en-US" altLang="zh-CN" sz="2000" b="1" dirty="0">
                <a:solidFill>
                  <a:srgbClr val="C00000"/>
                </a:solidFill>
                <a:latin typeface="+mn-ea"/>
              </a:rPr>
              <a:t> </a:t>
            </a:r>
            <a:endParaRPr lang="zh-CN" altLang="en-US" sz="2000" b="1" dirty="0">
              <a:solidFill>
                <a:srgbClr val="C00000"/>
              </a:solidFill>
              <a:latin typeface="+mn-ea"/>
            </a:endParaRPr>
          </a:p>
        </p:txBody>
      </p:sp>
      <p:sp>
        <p:nvSpPr>
          <p:cNvPr id="12" name="文本框 11">
            <a:extLst>
              <a:ext uri="{FF2B5EF4-FFF2-40B4-BE49-F238E27FC236}">
                <a16:creationId xmlns:a16="http://schemas.microsoft.com/office/drawing/2014/main" id="{B9370814-70B3-2269-86C3-012BDA123567}"/>
              </a:ext>
            </a:extLst>
          </p:cNvPr>
          <p:cNvSpPr txBox="1"/>
          <p:nvPr/>
        </p:nvSpPr>
        <p:spPr>
          <a:xfrm>
            <a:off x="4752975" y="2019300"/>
            <a:ext cx="1467068" cy="707886"/>
          </a:xfrm>
          <a:prstGeom prst="rect">
            <a:avLst/>
          </a:prstGeom>
          <a:noFill/>
        </p:spPr>
        <p:txBody>
          <a:bodyPr wrap="none" rtlCol="0">
            <a:spAutoFit/>
          </a:bodyPr>
          <a:lstStyle/>
          <a:p>
            <a:r>
              <a:rPr lang="en-US" altLang="zh-CN" sz="2000" b="1" dirty="0">
                <a:solidFill>
                  <a:srgbClr val="C00000"/>
                </a:solidFill>
                <a:latin typeface="+mn-ea"/>
              </a:rPr>
              <a:t>1.</a:t>
            </a:r>
            <a:r>
              <a:rPr lang="zh-CN" altLang="en-US" sz="2000" b="1" dirty="0">
                <a:solidFill>
                  <a:srgbClr val="C00000"/>
                </a:solidFill>
                <a:latin typeface="+mn-ea"/>
              </a:rPr>
              <a:t>分波阵面</a:t>
            </a:r>
            <a:endParaRPr lang="en-US" altLang="zh-CN" sz="2000" b="1" dirty="0">
              <a:solidFill>
                <a:srgbClr val="C00000"/>
              </a:solidFill>
              <a:latin typeface="+mn-ea"/>
            </a:endParaRPr>
          </a:p>
          <a:p>
            <a:r>
              <a:rPr lang="en-US" altLang="zh-CN" sz="2000" dirty="0">
                <a:latin typeface="+mn-ea"/>
              </a:rPr>
              <a:t>  </a:t>
            </a:r>
            <a:endParaRPr lang="zh-CN" altLang="en-US" sz="2000" dirty="0">
              <a:latin typeface="+mn-ea"/>
            </a:endParaRPr>
          </a:p>
        </p:txBody>
      </p:sp>
      <p:sp>
        <p:nvSpPr>
          <p:cNvPr id="13" name="文本框 12">
            <a:extLst>
              <a:ext uri="{FF2B5EF4-FFF2-40B4-BE49-F238E27FC236}">
                <a16:creationId xmlns:a16="http://schemas.microsoft.com/office/drawing/2014/main" id="{2DBA3291-02EB-3A30-9A20-C078ACE3291A}"/>
              </a:ext>
            </a:extLst>
          </p:cNvPr>
          <p:cNvSpPr txBox="1"/>
          <p:nvPr/>
        </p:nvSpPr>
        <p:spPr>
          <a:xfrm>
            <a:off x="4800600" y="2762250"/>
            <a:ext cx="1229824" cy="400110"/>
          </a:xfrm>
          <a:prstGeom prst="rect">
            <a:avLst/>
          </a:prstGeom>
          <a:noFill/>
        </p:spPr>
        <p:txBody>
          <a:bodyPr wrap="none" rtlCol="0">
            <a:spAutoFit/>
          </a:bodyPr>
          <a:lstStyle/>
          <a:p>
            <a:r>
              <a:rPr lang="en-US" altLang="zh-CN" sz="2000" b="1" dirty="0">
                <a:solidFill>
                  <a:srgbClr val="C00000"/>
                </a:solidFill>
                <a:latin typeface="+mn-ea"/>
              </a:rPr>
              <a:t>2.</a:t>
            </a:r>
            <a:r>
              <a:rPr lang="zh-CN" altLang="en-US" sz="2000" b="1" dirty="0">
                <a:solidFill>
                  <a:srgbClr val="C00000"/>
                </a:solidFill>
                <a:latin typeface="+mn-ea"/>
              </a:rPr>
              <a:t>分振幅</a:t>
            </a:r>
            <a:r>
              <a:rPr lang="en-US" altLang="zh-CN" sz="2000" b="1" dirty="0">
                <a:solidFill>
                  <a:srgbClr val="C00000"/>
                </a:solidFill>
                <a:latin typeface="+mn-ea"/>
              </a:rPr>
              <a:t> </a:t>
            </a:r>
            <a:endParaRPr lang="zh-CN" altLang="en-US" sz="2000" b="1" dirty="0">
              <a:solidFill>
                <a:srgbClr val="C00000"/>
              </a:solidFill>
              <a:latin typeface="+mn-ea"/>
            </a:endParaRPr>
          </a:p>
        </p:txBody>
      </p:sp>
      <p:sp>
        <p:nvSpPr>
          <p:cNvPr id="14" name="文本框 13">
            <a:extLst>
              <a:ext uri="{FF2B5EF4-FFF2-40B4-BE49-F238E27FC236}">
                <a16:creationId xmlns:a16="http://schemas.microsoft.com/office/drawing/2014/main" id="{18588188-C6F6-D289-43B9-B24BC78A0A66}"/>
              </a:ext>
            </a:extLst>
          </p:cNvPr>
          <p:cNvSpPr txBox="1"/>
          <p:nvPr/>
        </p:nvSpPr>
        <p:spPr>
          <a:xfrm>
            <a:off x="6219826" y="1838325"/>
            <a:ext cx="2010487" cy="707886"/>
          </a:xfrm>
          <a:prstGeom prst="rect">
            <a:avLst/>
          </a:prstGeom>
          <a:noFill/>
        </p:spPr>
        <p:txBody>
          <a:bodyPr wrap="none" rtlCol="0">
            <a:spAutoFit/>
          </a:bodyPr>
          <a:lstStyle/>
          <a:p>
            <a:r>
              <a:rPr lang="en-US" altLang="zh-CN" sz="2000" b="1" dirty="0">
                <a:solidFill>
                  <a:srgbClr val="002060"/>
                </a:solidFill>
                <a:latin typeface="+mn-ea"/>
              </a:rPr>
              <a:t>a.</a:t>
            </a:r>
            <a:r>
              <a:rPr lang="zh-CN" altLang="en-US" sz="2000" b="1" dirty="0">
                <a:solidFill>
                  <a:srgbClr val="002060"/>
                </a:solidFill>
                <a:latin typeface="+mn-ea"/>
              </a:rPr>
              <a:t>杨氏双缝</a:t>
            </a:r>
            <a:endParaRPr lang="en-US" altLang="zh-CN" sz="2000" b="1" dirty="0">
              <a:solidFill>
                <a:srgbClr val="002060"/>
              </a:solidFill>
              <a:latin typeface="+mn-ea"/>
            </a:endParaRPr>
          </a:p>
          <a:p>
            <a:r>
              <a:rPr lang="en-US" altLang="zh-CN" sz="2000" b="1" dirty="0">
                <a:solidFill>
                  <a:srgbClr val="002060"/>
                </a:solidFill>
                <a:latin typeface="+mn-ea"/>
              </a:rPr>
              <a:t>b.</a:t>
            </a:r>
            <a:r>
              <a:rPr lang="zh-CN" altLang="en-US" sz="2000" b="1" dirty="0">
                <a:solidFill>
                  <a:srgbClr val="002060"/>
                </a:solidFill>
                <a:latin typeface="+mn-ea"/>
              </a:rPr>
              <a:t>菲涅尔双棱镜</a:t>
            </a:r>
            <a:r>
              <a:rPr lang="en-US" altLang="zh-CN" sz="2000" b="1" dirty="0">
                <a:solidFill>
                  <a:srgbClr val="002060"/>
                </a:solidFill>
                <a:latin typeface="+mn-ea"/>
              </a:rPr>
              <a:t> </a:t>
            </a:r>
            <a:endParaRPr lang="zh-CN" altLang="en-US" sz="2000" b="1" dirty="0">
              <a:solidFill>
                <a:srgbClr val="002060"/>
              </a:solidFill>
              <a:latin typeface="+mn-ea"/>
            </a:endParaRPr>
          </a:p>
        </p:txBody>
      </p:sp>
      <p:sp>
        <p:nvSpPr>
          <p:cNvPr id="15" name="文本框 14">
            <a:extLst>
              <a:ext uri="{FF2B5EF4-FFF2-40B4-BE49-F238E27FC236}">
                <a16:creationId xmlns:a16="http://schemas.microsoft.com/office/drawing/2014/main" id="{B31B6E4C-D002-6D90-E158-827168713B1A}"/>
              </a:ext>
            </a:extLst>
          </p:cNvPr>
          <p:cNvSpPr txBox="1"/>
          <p:nvPr/>
        </p:nvSpPr>
        <p:spPr>
          <a:xfrm>
            <a:off x="6229351" y="2533651"/>
            <a:ext cx="1980029" cy="1015663"/>
          </a:xfrm>
          <a:prstGeom prst="rect">
            <a:avLst/>
          </a:prstGeom>
          <a:noFill/>
        </p:spPr>
        <p:txBody>
          <a:bodyPr wrap="none" rtlCol="0">
            <a:spAutoFit/>
          </a:bodyPr>
          <a:lstStyle/>
          <a:p>
            <a:r>
              <a:rPr lang="en-US" altLang="zh-CN" sz="2000" b="1" dirty="0">
                <a:solidFill>
                  <a:srgbClr val="002060"/>
                </a:solidFill>
                <a:latin typeface="+mn-ea"/>
              </a:rPr>
              <a:t>a.</a:t>
            </a:r>
            <a:r>
              <a:rPr lang="zh-CN" altLang="en-US" sz="2000" b="1" dirty="0">
                <a:solidFill>
                  <a:srgbClr val="002060"/>
                </a:solidFill>
                <a:latin typeface="+mn-ea"/>
              </a:rPr>
              <a:t>牛顿环</a:t>
            </a:r>
            <a:endParaRPr lang="en-US" altLang="zh-CN" sz="2000" b="1" dirty="0">
              <a:solidFill>
                <a:srgbClr val="002060"/>
              </a:solidFill>
              <a:latin typeface="+mn-ea"/>
            </a:endParaRPr>
          </a:p>
          <a:p>
            <a:r>
              <a:rPr lang="en-US" altLang="zh-CN" sz="2000" b="1" dirty="0">
                <a:solidFill>
                  <a:srgbClr val="002060"/>
                </a:solidFill>
                <a:latin typeface="+mn-ea"/>
              </a:rPr>
              <a:t>b.</a:t>
            </a:r>
            <a:r>
              <a:rPr lang="zh-CN" altLang="en-US" sz="2000" b="1" dirty="0">
                <a:solidFill>
                  <a:srgbClr val="002060"/>
                </a:solidFill>
                <a:latin typeface="+mn-ea"/>
              </a:rPr>
              <a:t>劈尖</a:t>
            </a:r>
            <a:endParaRPr lang="en-US" altLang="zh-CN" sz="2000" b="1" dirty="0">
              <a:solidFill>
                <a:srgbClr val="002060"/>
              </a:solidFill>
              <a:latin typeface="+mn-ea"/>
            </a:endParaRPr>
          </a:p>
          <a:p>
            <a:r>
              <a:rPr lang="en-US" altLang="zh-CN" sz="2000" b="1" dirty="0">
                <a:solidFill>
                  <a:srgbClr val="002060"/>
                </a:solidFill>
                <a:latin typeface="+mn-ea"/>
              </a:rPr>
              <a:t>c.</a:t>
            </a:r>
            <a:r>
              <a:rPr lang="zh-CN" altLang="en-US" sz="2000" b="1" dirty="0">
                <a:solidFill>
                  <a:srgbClr val="002060"/>
                </a:solidFill>
                <a:latin typeface="+mn-ea"/>
              </a:rPr>
              <a:t>迈克尔逊干涉</a:t>
            </a:r>
          </a:p>
        </p:txBody>
      </p:sp>
      <p:sp>
        <p:nvSpPr>
          <p:cNvPr id="16" name="文本框 15">
            <a:extLst>
              <a:ext uri="{FF2B5EF4-FFF2-40B4-BE49-F238E27FC236}">
                <a16:creationId xmlns:a16="http://schemas.microsoft.com/office/drawing/2014/main" id="{9CC8A785-C8DC-5DC9-EA71-747D91EB21A9}"/>
              </a:ext>
            </a:extLst>
          </p:cNvPr>
          <p:cNvSpPr txBox="1"/>
          <p:nvPr/>
        </p:nvSpPr>
        <p:spPr>
          <a:xfrm>
            <a:off x="3971925" y="3943351"/>
            <a:ext cx="2339102" cy="1200329"/>
          </a:xfrm>
          <a:prstGeom prst="rect">
            <a:avLst/>
          </a:prstGeom>
          <a:noFill/>
        </p:spPr>
        <p:txBody>
          <a:bodyPr wrap="none" rtlCol="0">
            <a:spAutoFit/>
          </a:bodyPr>
          <a:lstStyle/>
          <a:p>
            <a:r>
              <a:rPr lang="en-US" altLang="zh-CN" sz="2000" dirty="0">
                <a:solidFill>
                  <a:srgbClr val="C00000"/>
                </a:solidFill>
                <a:latin typeface="+mn-ea"/>
              </a:rPr>
              <a:t>1.</a:t>
            </a:r>
            <a:r>
              <a:rPr lang="zh-CN" altLang="en-US" sz="2000" dirty="0">
                <a:solidFill>
                  <a:srgbClr val="C00000"/>
                </a:solidFill>
                <a:latin typeface="+mn-ea"/>
              </a:rPr>
              <a:t>等倾干涉 </a:t>
            </a:r>
            <a:endParaRPr lang="en-US" altLang="zh-CN" sz="2000" dirty="0">
              <a:solidFill>
                <a:srgbClr val="C00000"/>
              </a:solidFill>
              <a:latin typeface="+mn-ea"/>
            </a:endParaRPr>
          </a:p>
          <a:p>
            <a:r>
              <a:rPr lang="en-US" altLang="zh-CN" sz="1200" b="1" dirty="0">
                <a:solidFill>
                  <a:srgbClr val="7030A0"/>
                </a:solidFill>
                <a:latin typeface="+mn-ea"/>
              </a:rPr>
              <a:t>(</a:t>
            </a:r>
            <a:r>
              <a:rPr lang="zh-CN" altLang="en-US" sz="1200" b="1" dirty="0">
                <a:solidFill>
                  <a:srgbClr val="7030A0"/>
                </a:solidFill>
                <a:latin typeface="+mn-ea"/>
              </a:rPr>
              <a:t>条纹形状为倾角相等轨迹</a:t>
            </a:r>
            <a:r>
              <a:rPr lang="zh-CN" altLang="en-US" sz="2000" b="1" dirty="0">
                <a:solidFill>
                  <a:srgbClr val="7030A0"/>
                </a:solidFill>
                <a:latin typeface="+mn-ea"/>
              </a:rPr>
              <a:t>）</a:t>
            </a:r>
            <a:r>
              <a:rPr lang="en-US" altLang="zh-CN" sz="2000" b="1" dirty="0">
                <a:solidFill>
                  <a:srgbClr val="7030A0"/>
                </a:solidFill>
                <a:latin typeface="+mn-ea"/>
              </a:rPr>
              <a:t> </a:t>
            </a:r>
            <a:endParaRPr lang="zh-CN" altLang="en-US" sz="2000" b="1" dirty="0">
              <a:solidFill>
                <a:srgbClr val="7030A0"/>
              </a:solidFill>
              <a:latin typeface="+mn-ea"/>
            </a:endParaRPr>
          </a:p>
          <a:p>
            <a:r>
              <a:rPr lang="en-US" altLang="zh-CN" sz="2000" dirty="0">
                <a:solidFill>
                  <a:srgbClr val="C00000"/>
                </a:solidFill>
                <a:latin typeface="+mn-ea"/>
              </a:rPr>
              <a:t>2.</a:t>
            </a:r>
            <a:r>
              <a:rPr lang="zh-CN" altLang="en-US" sz="2000" dirty="0">
                <a:solidFill>
                  <a:srgbClr val="C00000"/>
                </a:solidFill>
                <a:latin typeface="+mn-ea"/>
              </a:rPr>
              <a:t>等厚干涉</a:t>
            </a:r>
            <a:endParaRPr lang="en-US" altLang="zh-CN" sz="2000" dirty="0">
              <a:solidFill>
                <a:srgbClr val="C00000"/>
              </a:solidFill>
              <a:latin typeface="+mn-ea"/>
            </a:endParaRPr>
          </a:p>
          <a:p>
            <a:r>
              <a:rPr lang="en-US" altLang="zh-CN" sz="1200" b="1" dirty="0">
                <a:solidFill>
                  <a:srgbClr val="7030A0"/>
                </a:solidFill>
                <a:latin typeface="+mn-ea"/>
              </a:rPr>
              <a:t>(</a:t>
            </a:r>
            <a:r>
              <a:rPr lang="zh-CN" altLang="en-US" sz="1200" b="1" dirty="0">
                <a:solidFill>
                  <a:srgbClr val="7030A0"/>
                </a:solidFill>
                <a:latin typeface="+mn-ea"/>
              </a:rPr>
              <a:t>条纹形状为厚度相等轨迹</a:t>
            </a:r>
            <a:r>
              <a:rPr lang="zh-CN" altLang="en-US" sz="1200" b="1" dirty="0">
                <a:latin typeface="+mn-ea"/>
              </a:rPr>
              <a:t>）</a:t>
            </a:r>
            <a:r>
              <a:rPr lang="en-US" altLang="zh-CN" sz="1200" b="1" dirty="0">
                <a:latin typeface="+mn-ea"/>
              </a:rPr>
              <a:t> </a:t>
            </a:r>
            <a:endParaRPr lang="zh-CN" altLang="en-US" sz="1200" b="1" dirty="0">
              <a:latin typeface="+mn-ea"/>
            </a:endParaRPr>
          </a:p>
        </p:txBody>
      </p:sp>
      <p:sp>
        <p:nvSpPr>
          <p:cNvPr id="17" name="文本框 16">
            <a:extLst>
              <a:ext uri="{FF2B5EF4-FFF2-40B4-BE49-F238E27FC236}">
                <a16:creationId xmlns:a16="http://schemas.microsoft.com/office/drawing/2014/main" id="{445AF6DB-C2A5-C0AA-8755-DD85E7D1850D}"/>
              </a:ext>
            </a:extLst>
          </p:cNvPr>
          <p:cNvSpPr txBox="1"/>
          <p:nvPr/>
        </p:nvSpPr>
        <p:spPr>
          <a:xfrm>
            <a:off x="5972175" y="4305301"/>
            <a:ext cx="3262432" cy="1015663"/>
          </a:xfrm>
          <a:prstGeom prst="rect">
            <a:avLst/>
          </a:prstGeom>
          <a:noFill/>
        </p:spPr>
        <p:txBody>
          <a:bodyPr wrap="none" rtlCol="0">
            <a:spAutoFit/>
          </a:bodyPr>
          <a:lstStyle/>
          <a:p>
            <a:r>
              <a:rPr lang="en-US" altLang="zh-CN" sz="2000" b="1" dirty="0">
                <a:solidFill>
                  <a:srgbClr val="002060"/>
                </a:solidFill>
                <a:latin typeface="+mn-ea"/>
              </a:rPr>
              <a:t>a.</a:t>
            </a:r>
            <a:r>
              <a:rPr lang="zh-CN" altLang="en-US" sz="2000" b="1" dirty="0">
                <a:solidFill>
                  <a:srgbClr val="002060"/>
                </a:solidFill>
                <a:latin typeface="+mn-ea"/>
              </a:rPr>
              <a:t>牛顿环</a:t>
            </a:r>
            <a:endParaRPr lang="en-US" altLang="zh-CN" sz="2000" b="1" dirty="0">
              <a:solidFill>
                <a:srgbClr val="002060"/>
              </a:solidFill>
              <a:latin typeface="+mn-ea"/>
            </a:endParaRPr>
          </a:p>
          <a:p>
            <a:r>
              <a:rPr lang="en-US" altLang="zh-CN" sz="2000" b="1" dirty="0">
                <a:solidFill>
                  <a:srgbClr val="002060"/>
                </a:solidFill>
                <a:latin typeface="+mn-ea"/>
              </a:rPr>
              <a:t>b.</a:t>
            </a:r>
            <a:r>
              <a:rPr lang="zh-CN" altLang="en-US" sz="2000" b="1" dirty="0">
                <a:solidFill>
                  <a:srgbClr val="002060"/>
                </a:solidFill>
                <a:latin typeface="+mn-ea"/>
              </a:rPr>
              <a:t>劈尖</a:t>
            </a:r>
            <a:endParaRPr lang="en-US" altLang="zh-CN" sz="2000" b="1" dirty="0">
              <a:solidFill>
                <a:srgbClr val="002060"/>
              </a:solidFill>
              <a:latin typeface="+mn-ea"/>
            </a:endParaRPr>
          </a:p>
          <a:p>
            <a:r>
              <a:rPr lang="en-US" altLang="zh-CN" sz="2000" b="1" dirty="0">
                <a:solidFill>
                  <a:srgbClr val="002060"/>
                </a:solidFill>
                <a:latin typeface="+mn-ea"/>
              </a:rPr>
              <a:t>c.</a:t>
            </a:r>
            <a:r>
              <a:rPr lang="zh-CN" altLang="en-US" sz="2000" b="1" dirty="0">
                <a:solidFill>
                  <a:srgbClr val="002060"/>
                </a:solidFill>
                <a:latin typeface="+mn-ea"/>
              </a:rPr>
              <a:t>迈克尔逊干涉的平行条纹</a:t>
            </a:r>
          </a:p>
        </p:txBody>
      </p:sp>
      <p:sp>
        <p:nvSpPr>
          <p:cNvPr id="19" name="文本框 18">
            <a:extLst>
              <a:ext uri="{FF2B5EF4-FFF2-40B4-BE49-F238E27FC236}">
                <a16:creationId xmlns:a16="http://schemas.microsoft.com/office/drawing/2014/main" id="{B87BCE1A-CC40-1DD7-B693-1F2E9A2A3499}"/>
              </a:ext>
            </a:extLst>
          </p:cNvPr>
          <p:cNvSpPr txBox="1"/>
          <p:nvPr/>
        </p:nvSpPr>
        <p:spPr>
          <a:xfrm>
            <a:off x="5705475" y="3928446"/>
            <a:ext cx="4953000" cy="400110"/>
          </a:xfrm>
          <a:prstGeom prst="rect">
            <a:avLst/>
          </a:prstGeom>
          <a:noFill/>
        </p:spPr>
        <p:txBody>
          <a:bodyPr wrap="square">
            <a:spAutoFit/>
          </a:bodyPr>
          <a:lstStyle/>
          <a:p>
            <a:r>
              <a:rPr lang="zh-CN" altLang="en-US" sz="2000" b="1" dirty="0">
                <a:solidFill>
                  <a:srgbClr val="002060"/>
                </a:solidFill>
                <a:latin typeface="+mn-ea"/>
              </a:rPr>
              <a:t>（迈克尔逊干涉的圆形条纹）</a:t>
            </a:r>
          </a:p>
        </p:txBody>
      </p:sp>
      <p:sp>
        <p:nvSpPr>
          <p:cNvPr id="20" name="文本框 19">
            <a:extLst>
              <a:ext uri="{FF2B5EF4-FFF2-40B4-BE49-F238E27FC236}">
                <a16:creationId xmlns:a16="http://schemas.microsoft.com/office/drawing/2014/main" id="{2CF078B3-EA38-4701-A704-EF47A5E1BD30}"/>
              </a:ext>
            </a:extLst>
          </p:cNvPr>
          <p:cNvSpPr txBox="1"/>
          <p:nvPr/>
        </p:nvSpPr>
        <p:spPr>
          <a:xfrm>
            <a:off x="1831663" y="1552575"/>
            <a:ext cx="492443" cy="1631216"/>
          </a:xfrm>
          <a:prstGeom prst="rect">
            <a:avLst/>
          </a:prstGeom>
          <a:noFill/>
        </p:spPr>
        <p:txBody>
          <a:bodyPr vert="eaVert" wrap="none" rtlCol="0">
            <a:spAutoFit/>
          </a:bodyPr>
          <a:lstStyle/>
          <a:p>
            <a:r>
              <a:rPr lang="zh-CN" altLang="en-US" sz="2000" b="1" dirty="0">
                <a:solidFill>
                  <a:srgbClr val="002060"/>
                </a:solidFill>
                <a:latin typeface="+mn-ea"/>
              </a:rPr>
              <a:t>双光束的干涉</a:t>
            </a:r>
          </a:p>
        </p:txBody>
      </p:sp>
      <p:sp>
        <p:nvSpPr>
          <p:cNvPr id="21" name="文本框 20">
            <a:extLst>
              <a:ext uri="{FF2B5EF4-FFF2-40B4-BE49-F238E27FC236}">
                <a16:creationId xmlns:a16="http://schemas.microsoft.com/office/drawing/2014/main" id="{B6C753E6-A6D6-4BD3-99AE-1625814EB8A2}"/>
              </a:ext>
            </a:extLst>
          </p:cNvPr>
          <p:cNvSpPr txBox="1"/>
          <p:nvPr/>
        </p:nvSpPr>
        <p:spPr>
          <a:xfrm>
            <a:off x="1869764" y="4642882"/>
            <a:ext cx="492443" cy="2248628"/>
          </a:xfrm>
          <a:prstGeom prst="rect">
            <a:avLst/>
          </a:prstGeom>
          <a:noFill/>
        </p:spPr>
        <p:txBody>
          <a:bodyPr vert="eaVert" wrap="square" rtlCol="0">
            <a:spAutoFit/>
          </a:bodyPr>
          <a:lstStyle/>
          <a:p>
            <a:r>
              <a:rPr lang="zh-CN" altLang="en-US" sz="2000" b="1" dirty="0">
                <a:solidFill>
                  <a:srgbClr val="002060"/>
                </a:solidFill>
                <a:latin typeface="+mn-ea"/>
              </a:rPr>
              <a:t>多光束的干涉</a:t>
            </a:r>
          </a:p>
        </p:txBody>
      </p:sp>
      <p:sp>
        <p:nvSpPr>
          <p:cNvPr id="2" name="文本框 1">
            <a:extLst>
              <a:ext uri="{FF2B5EF4-FFF2-40B4-BE49-F238E27FC236}">
                <a16:creationId xmlns:a16="http://schemas.microsoft.com/office/drawing/2014/main" id="{6D549476-8F58-4AD2-090E-83E997413F28}"/>
              </a:ext>
            </a:extLst>
          </p:cNvPr>
          <p:cNvSpPr txBox="1"/>
          <p:nvPr/>
        </p:nvSpPr>
        <p:spPr>
          <a:xfrm>
            <a:off x="765459" y="1757534"/>
            <a:ext cx="492443" cy="1887696"/>
          </a:xfrm>
          <a:prstGeom prst="rect">
            <a:avLst/>
          </a:prstGeom>
          <a:noFill/>
        </p:spPr>
        <p:txBody>
          <a:bodyPr vert="eaVert" wrap="none" rtlCol="0">
            <a:spAutoFit/>
          </a:bodyPr>
          <a:lstStyle/>
          <a:p>
            <a:r>
              <a:rPr lang="zh-CN" altLang="en-US" sz="2000" b="1" dirty="0">
                <a:solidFill>
                  <a:srgbClr val="FF0000"/>
                </a:solidFill>
                <a:latin typeface="+mn-ea"/>
              </a:rPr>
              <a:t>相干光光的叠加</a:t>
            </a:r>
          </a:p>
        </p:txBody>
      </p:sp>
      <p:sp>
        <p:nvSpPr>
          <p:cNvPr id="3" name="文本框 2">
            <a:extLst>
              <a:ext uri="{FF2B5EF4-FFF2-40B4-BE49-F238E27FC236}">
                <a16:creationId xmlns:a16="http://schemas.microsoft.com/office/drawing/2014/main" id="{071CAE5C-66E5-F92A-52F7-B8B65777F389}"/>
              </a:ext>
            </a:extLst>
          </p:cNvPr>
          <p:cNvSpPr txBox="1"/>
          <p:nvPr/>
        </p:nvSpPr>
        <p:spPr>
          <a:xfrm>
            <a:off x="784509" y="3929235"/>
            <a:ext cx="492443" cy="2144177"/>
          </a:xfrm>
          <a:prstGeom prst="rect">
            <a:avLst/>
          </a:prstGeom>
          <a:noFill/>
        </p:spPr>
        <p:txBody>
          <a:bodyPr vert="eaVert" wrap="none" rtlCol="0">
            <a:spAutoFit/>
          </a:bodyPr>
          <a:lstStyle/>
          <a:p>
            <a:r>
              <a:rPr lang="zh-CN" altLang="en-US" sz="2000" b="1" dirty="0">
                <a:solidFill>
                  <a:srgbClr val="FF0000"/>
                </a:solidFill>
                <a:latin typeface="+mn-ea"/>
              </a:rPr>
              <a:t>非相干光光的叠加</a:t>
            </a:r>
          </a:p>
        </p:txBody>
      </p:sp>
      <p:sp>
        <p:nvSpPr>
          <p:cNvPr id="22" name="文本框 21">
            <a:extLst>
              <a:ext uri="{FF2B5EF4-FFF2-40B4-BE49-F238E27FC236}">
                <a16:creationId xmlns:a16="http://schemas.microsoft.com/office/drawing/2014/main" id="{D334156F-2C1F-5F64-EDB6-4E63668A92A2}"/>
              </a:ext>
            </a:extLst>
          </p:cNvPr>
          <p:cNvSpPr txBox="1"/>
          <p:nvPr/>
        </p:nvSpPr>
        <p:spPr>
          <a:xfrm>
            <a:off x="1194105" y="1890884"/>
            <a:ext cx="492443" cy="1631216"/>
          </a:xfrm>
          <a:prstGeom prst="rect">
            <a:avLst/>
          </a:prstGeom>
          <a:noFill/>
        </p:spPr>
        <p:txBody>
          <a:bodyPr vert="eaVert" wrap="none" rtlCol="0">
            <a:spAutoFit/>
          </a:bodyPr>
          <a:lstStyle/>
          <a:p>
            <a:r>
              <a:rPr lang="zh-CN" altLang="en-US" sz="2000" b="1" dirty="0">
                <a:solidFill>
                  <a:srgbClr val="1D72A6"/>
                </a:solidFill>
                <a:latin typeface="+mn-ea"/>
              </a:rPr>
              <a:t>（相互调制）</a:t>
            </a:r>
          </a:p>
        </p:txBody>
      </p:sp>
      <p:sp>
        <p:nvSpPr>
          <p:cNvPr id="23" name="文本框 22">
            <a:extLst>
              <a:ext uri="{FF2B5EF4-FFF2-40B4-BE49-F238E27FC236}">
                <a16:creationId xmlns:a16="http://schemas.microsoft.com/office/drawing/2014/main" id="{15A0B95D-3739-E2E8-264A-DB2949AD85B0}"/>
              </a:ext>
            </a:extLst>
          </p:cNvPr>
          <p:cNvSpPr txBox="1"/>
          <p:nvPr/>
        </p:nvSpPr>
        <p:spPr>
          <a:xfrm>
            <a:off x="1222698" y="4129259"/>
            <a:ext cx="492443" cy="1631216"/>
          </a:xfrm>
          <a:prstGeom prst="rect">
            <a:avLst/>
          </a:prstGeom>
          <a:noFill/>
        </p:spPr>
        <p:txBody>
          <a:bodyPr vert="eaVert" wrap="none" rtlCol="0">
            <a:spAutoFit/>
          </a:bodyPr>
          <a:lstStyle/>
          <a:p>
            <a:r>
              <a:rPr lang="zh-CN" altLang="en-US" sz="2000" b="1" dirty="0">
                <a:solidFill>
                  <a:srgbClr val="1D72A6"/>
                </a:solidFill>
                <a:latin typeface="+mn-ea"/>
              </a:rPr>
              <a:t>（直接叠加）</a:t>
            </a:r>
          </a:p>
        </p:txBody>
      </p:sp>
      <p:sp>
        <p:nvSpPr>
          <p:cNvPr id="24" name="文本框 23">
            <a:extLst>
              <a:ext uri="{FF2B5EF4-FFF2-40B4-BE49-F238E27FC236}">
                <a16:creationId xmlns:a16="http://schemas.microsoft.com/office/drawing/2014/main" id="{3B22FAFC-B36E-460A-B61C-7C02639C9165}"/>
              </a:ext>
            </a:extLst>
          </p:cNvPr>
          <p:cNvSpPr txBox="1"/>
          <p:nvPr/>
        </p:nvSpPr>
        <p:spPr>
          <a:xfrm>
            <a:off x="2438400" y="5353020"/>
            <a:ext cx="4956806" cy="400110"/>
          </a:xfrm>
          <a:prstGeom prst="rect">
            <a:avLst/>
          </a:prstGeom>
          <a:noFill/>
        </p:spPr>
        <p:txBody>
          <a:bodyPr wrap="none" rtlCol="0">
            <a:spAutoFit/>
          </a:bodyPr>
          <a:lstStyle/>
          <a:p>
            <a:r>
              <a:rPr lang="zh-CN" altLang="en-US" sz="2000" b="1" dirty="0">
                <a:solidFill>
                  <a:srgbClr val="00B050"/>
                </a:solidFill>
                <a:latin typeface="+mn-ea"/>
              </a:rPr>
              <a:t>（法布里帕罗干涉仪：细锐的干涉条纹</a:t>
            </a:r>
            <a:r>
              <a:rPr lang="zh-CN" altLang="en-US" sz="2000" dirty="0">
                <a:solidFill>
                  <a:srgbClr val="00B050"/>
                </a:solidFill>
                <a:latin typeface="+mn-ea"/>
              </a:rPr>
              <a:t>）</a:t>
            </a:r>
            <a:r>
              <a:rPr lang="en-US" altLang="zh-CN" sz="2000" dirty="0">
                <a:solidFill>
                  <a:srgbClr val="00B050"/>
                </a:solidFill>
                <a:latin typeface="+mn-ea"/>
              </a:rPr>
              <a:t> </a:t>
            </a:r>
            <a:endParaRPr lang="zh-CN" altLang="en-US" sz="2000" dirty="0">
              <a:solidFill>
                <a:srgbClr val="00B050"/>
              </a:solidFill>
              <a:latin typeface="+mn-ea"/>
            </a:endParaRPr>
          </a:p>
        </p:txBody>
      </p:sp>
      <p:graphicFrame>
        <p:nvGraphicFramePr>
          <p:cNvPr id="25" name="Object 13">
            <a:extLst>
              <a:ext uri="{FF2B5EF4-FFF2-40B4-BE49-F238E27FC236}">
                <a16:creationId xmlns:a16="http://schemas.microsoft.com/office/drawing/2014/main" id="{5598FE20-52B0-9296-A93E-01888A44AEBF}"/>
              </a:ext>
            </a:extLst>
          </p:cNvPr>
          <p:cNvGraphicFramePr>
            <a:graphicFrameLocks noChangeAspect="1"/>
          </p:cNvGraphicFramePr>
          <p:nvPr/>
        </p:nvGraphicFramePr>
        <p:xfrm>
          <a:off x="3646488" y="3640138"/>
          <a:ext cx="4254500" cy="400050"/>
        </p:xfrm>
        <a:graphic>
          <a:graphicData uri="http://schemas.openxmlformats.org/presentationml/2006/ole">
            <mc:AlternateContent xmlns:mc="http://schemas.openxmlformats.org/markup-compatibility/2006">
              <mc:Choice xmlns:v="urn:schemas-microsoft-com:vml" Requires="v">
                <p:oleObj name="公式" r:id="rId4" imgW="2298600" imgH="253800" progId="Equation.3">
                  <p:embed/>
                </p:oleObj>
              </mc:Choice>
              <mc:Fallback>
                <p:oleObj name="公式" r:id="rId4" imgW="2298600" imgH="253800" progId="Equation.3">
                  <p:embed/>
                  <p:pic>
                    <p:nvPicPr>
                      <p:cNvPr id="25" name="Object 13">
                        <a:extLst>
                          <a:ext uri="{FF2B5EF4-FFF2-40B4-BE49-F238E27FC236}">
                            <a16:creationId xmlns:a16="http://schemas.microsoft.com/office/drawing/2014/main" id="{5598FE20-52B0-9296-A93E-01888A44AEBF}"/>
                          </a:ext>
                        </a:extLst>
                      </p:cNvPr>
                      <p:cNvPicPr>
                        <a:picLocks noChangeAspect="1" noChangeArrowheads="1"/>
                      </p:cNvPicPr>
                      <p:nvPr/>
                    </p:nvPicPr>
                    <p:blipFill>
                      <a:blip r:embed="rId5"/>
                      <a:srcRect/>
                      <a:stretch>
                        <a:fillRect/>
                      </a:stretch>
                    </p:blipFill>
                    <p:spPr bwMode="auto">
                      <a:xfrm>
                        <a:off x="3646488" y="3640138"/>
                        <a:ext cx="4254500" cy="400050"/>
                      </a:xfrm>
                      <a:prstGeom prst="rect">
                        <a:avLst/>
                      </a:prstGeom>
                      <a:noFill/>
                      <a:ln>
                        <a:noFill/>
                      </a:ln>
                      <a:effectLst/>
                    </p:spPr>
                  </p:pic>
                </p:oleObj>
              </mc:Fallback>
            </mc:AlternateContent>
          </a:graphicData>
        </a:graphic>
      </p:graphicFrame>
      <p:sp>
        <p:nvSpPr>
          <p:cNvPr id="26" name="左大括号 25">
            <a:extLst>
              <a:ext uri="{FF2B5EF4-FFF2-40B4-BE49-F238E27FC236}">
                <a16:creationId xmlns:a16="http://schemas.microsoft.com/office/drawing/2014/main" id="{DC67F0B2-8E07-621C-D06A-E9598B692825}"/>
              </a:ext>
            </a:extLst>
          </p:cNvPr>
          <p:cNvSpPr/>
          <p:nvPr/>
        </p:nvSpPr>
        <p:spPr>
          <a:xfrm>
            <a:off x="574005" y="2171700"/>
            <a:ext cx="138232" cy="3293314"/>
          </a:xfrm>
          <a:prstGeom prst="leftBrac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左大括号 26">
            <a:extLst>
              <a:ext uri="{FF2B5EF4-FFF2-40B4-BE49-F238E27FC236}">
                <a16:creationId xmlns:a16="http://schemas.microsoft.com/office/drawing/2014/main" id="{C191DEAF-B0D1-ACE7-9D53-851F3CFC1A30}"/>
              </a:ext>
            </a:extLst>
          </p:cNvPr>
          <p:cNvSpPr/>
          <p:nvPr/>
        </p:nvSpPr>
        <p:spPr>
          <a:xfrm>
            <a:off x="1659630" y="1609725"/>
            <a:ext cx="181162" cy="3342769"/>
          </a:xfrm>
          <a:prstGeom prst="leftBrac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左大括号 27">
            <a:extLst>
              <a:ext uri="{FF2B5EF4-FFF2-40B4-BE49-F238E27FC236}">
                <a16:creationId xmlns:a16="http://schemas.microsoft.com/office/drawing/2014/main" id="{D6769CF4-D9BF-8D77-0390-A8B751583864}"/>
              </a:ext>
            </a:extLst>
          </p:cNvPr>
          <p:cNvSpPr/>
          <p:nvPr/>
        </p:nvSpPr>
        <p:spPr>
          <a:xfrm>
            <a:off x="2278980" y="1338434"/>
            <a:ext cx="126202" cy="2990122"/>
          </a:xfrm>
          <a:prstGeom prst="leftBrac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左大括号 28">
            <a:extLst>
              <a:ext uri="{FF2B5EF4-FFF2-40B4-BE49-F238E27FC236}">
                <a16:creationId xmlns:a16="http://schemas.microsoft.com/office/drawing/2014/main" id="{48220C61-B5FD-725B-14E1-605FF9654435}"/>
              </a:ext>
            </a:extLst>
          </p:cNvPr>
          <p:cNvSpPr/>
          <p:nvPr/>
        </p:nvSpPr>
        <p:spPr>
          <a:xfrm>
            <a:off x="4567760" y="919335"/>
            <a:ext cx="126201" cy="938041"/>
          </a:xfrm>
          <a:prstGeom prst="leftBrac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左大括号 29">
            <a:extLst>
              <a:ext uri="{FF2B5EF4-FFF2-40B4-BE49-F238E27FC236}">
                <a16:creationId xmlns:a16="http://schemas.microsoft.com/office/drawing/2014/main" id="{1D594EA1-B96A-0CCF-0500-F54B93E27772}"/>
              </a:ext>
            </a:extLst>
          </p:cNvPr>
          <p:cNvSpPr/>
          <p:nvPr/>
        </p:nvSpPr>
        <p:spPr>
          <a:xfrm>
            <a:off x="4586764" y="2090910"/>
            <a:ext cx="135772" cy="938041"/>
          </a:xfrm>
          <a:prstGeom prst="leftBrac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左大括号 30">
            <a:extLst>
              <a:ext uri="{FF2B5EF4-FFF2-40B4-BE49-F238E27FC236}">
                <a16:creationId xmlns:a16="http://schemas.microsoft.com/office/drawing/2014/main" id="{D16F9CF2-EFB0-6FD5-5CA8-9A6D0CC2C5E6}"/>
              </a:ext>
            </a:extLst>
          </p:cNvPr>
          <p:cNvSpPr/>
          <p:nvPr/>
        </p:nvSpPr>
        <p:spPr>
          <a:xfrm>
            <a:off x="6155655" y="2062335"/>
            <a:ext cx="125954" cy="351510"/>
          </a:xfrm>
          <a:prstGeom prst="leftBrac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2" name="左大括号 31">
            <a:extLst>
              <a:ext uri="{FF2B5EF4-FFF2-40B4-BE49-F238E27FC236}">
                <a16:creationId xmlns:a16="http://schemas.microsoft.com/office/drawing/2014/main" id="{09E649BE-47EB-BD9B-805D-8EC028EAE296}"/>
              </a:ext>
            </a:extLst>
          </p:cNvPr>
          <p:cNvSpPr/>
          <p:nvPr/>
        </p:nvSpPr>
        <p:spPr>
          <a:xfrm>
            <a:off x="6048377" y="2762250"/>
            <a:ext cx="180975" cy="678072"/>
          </a:xfrm>
          <a:prstGeom prst="leftBrac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3" name="左大括号 32">
            <a:extLst>
              <a:ext uri="{FF2B5EF4-FFF2-40B4-BE49-F238E27FC236}">
                <a16:creationId xmlns:a16="http://schemas.microsoft.com/office/drawing/2014/main" id="{E130545C-829E-2799-FEA7-261CE6E2F730}"/>
              </a:ext>
            </a:extLst>
          </p:cNvPr>
          <p:cNvSpPr/>
          <p:nvPr/>
        </p:nvSpPr>
        <p:spPr>
          <a:xfrm>
            <a:off x="5857396" y="4486275"/>
            <a:ext cx="190981" cy="678072"/>
          </a:xfrm>
          <a:prstGeom prst="leftBrac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WordArt 51">
            <a:extLst>
              <a:ext uri="{FF2B5EF4-FFF2-40B4-BE49-F238E27FC236}">
                <a16:creationId xmlns:a16="http://schemas.microsoft.com/office/drawing/2014/main" id="{B603E1E9-5D40-3C8D-C68D-A3793FDE7FEC}"/>
              </a:ext>
            </a:extLst>
          </p:cNvPr>
          <p:cNvSpPr>
            <a:spLocks noChangeArrowheads="1" noChangeShapeType="1"/>
          </p:cNvSpPr>
          <p:nvPr/>
        </p:nvSpPr>
        <p:spPr bwMode="auto">
          <a:xfrm>
            <a:off x="142844" y="71414"/>
            <a:ext cx="1729499" cy="409097"/>
          </a:xfrm>
          <a:prstGeom prst="rect">
            <a:avLst/>
          </a:prstGeom>
        </p:spPr>
        <p:txBody>
          <a:bodyPr wrap="none" fromWordArt="1">
            <a:prstTxWarp prst="textPlain">
              <a:avLst>
                <a:gd name="adj" fmla="val 50000"/>
              </a:avLst>
            </a:prstTxWarp>
          </a:bodyPr>
          <a:lstStyle/>
          <a:p>
            <a:pPr algn="ctr"/>
            <a:r>
              <a:rPr lang="zh-CN" altLang="en-US" sz="3600" dirty="0">
                <a:ln w="9525">
                  <a:noFill/>
                  <a:round/>
                  <a:headEnd/>
                  <a:tailEnd/>
                </a:ln>
                <a:gradFill rotWithShape="0">
                  <a:gsLst>
                    <a:gs pos="0">
                      <a:schemeClr val="bg1"/>
                    </a:gs>
                    <a:gs pos="100000">
                      <a:srgbClr val="FFFE7D"/>
                    </a:gs>
                  </a:gsLst>
                  <a:lin ang="5400000" scaled="1"/>
                </a:gradFill>
                <a:effectLst>
                  <a:outerShdw dist="38100" dir="5400000" algn="ctr" rotWithShape="0">
                    <a:srgbClr val="4D4D4D">
                      <a:alpha val="76999"/>
                    </a:srgbClr>
                  </a:outerShdw>
                </a:effectLst>
                <a:latin typeface="华文琥珀"/>
                <a:ea typeface="华文琥珀"/>
              </a:rPr>
              <a:t>知识图谱</a:t>
            </a:r>
          </a:p>
        </p:txBody>
      </p:sp>
    </p:spTree>
    <p:extLst>
      <p:ext uri="{BB962C8B-B14F-4D97-AF65-F5344CB8AC3E}">
        <p14:creationId xmlns:p14="http://schemas.microsoft.com/office/powerpoint/2010/main" val="4032971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0-#ppt_w/2"/>
                                          </p:val>
                                        </p:tav>
                                        <p:tav tm="100000">
                                          <p:val>
                                            <p:strVal val="#ppt_x"/>
                                          </p:val>
                                        </p:tav>
                                      </p:tavLst>
                                    </p:anim>
                                    <p:anim calcmode="lin" valueType="num">
                                      <p:cBhvr additive="base">
                                        <p:cTn id="8" dur="500" fill="hold"/>
                                        <p:tgtEl>
                                          <p:spTgt spid="2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PA" val="v3.0.1"/>
</p:tagLst>
</file>

<file path=ppt/tags/tag2.xml><?xml version="1.0" encoding="utf-8"?>
<p:tagLst xmlns:a="http://schemas.openxmlformats.org/drawingml/2006/main" xmlns:r="http://schemas.openxmlformats.org/officeDocument/2006/relationships" xmlns:p="http://schemas.openxmlformats.org/presentationml/2006/main">
  <p:tag name="PA" val="v3.0.1"/>
</p:tagLst>
</file>

<file path=ppt/tags/tag3.xml><?xml version="1.0" encoding="utf-8"?>
<p:tagLst xmlns:a="http://schemas.openxmlformats.org/drawingml/2006/main" xmlns:r="http://schemas.openxmlformats.org/officeDocument/2006/relationships" xmlns:p="http://schemas.openxmlformats.org/presentationml/2006/main">
  <p:tag name="PA" val="v3.0.1"/>
</p:tagLst>
</file>

<file path=ppt/tags/tag4.xml><?xml version="1.0" encoding="utf-8"?>
<p:tagLst xmlns:a="http://schemas.openxmlformats.org/drawingml/2006/main" xmlns:r="http://schemas.openxmlformats.org/officeDocument/2006/relationships" xmlns:p="http://schemas.openxmlformats.org/presentationml/2006/main">
  <p:tag name="PA" val="v3.0.1"/>
</p:tagLst>
</file>

<file path=ppt/tags/tag5.xml><?xml version="1.0" encoding="utf-8"?>
<p:tagLst xmlns:a="http://schemas.openxmlformats.org/drawingml/2006/main" xmlns:r="http://schemas.openxmlformats.org/officeDocument/2006/relationships" xmlns:p="http://schemas.openxmlformats.org/presentationml/2006/main">
  <p:tag name="PA" val="v3.0.1"/>
</p:tagLst>
</file>

<file path=ppt/tags/tag6.xml><?xml version="1.0" encoding="utf-8"?>
<p:tagLst xmlns:a="http://schemas.openxmlformats.org/drawingml/2006/main" xmlns:r="http://schemas.openxmlformats.org/officeDocument/2006/relationships" xmlns:p="http://schemas.openxmlformats.org/presentationml/2006/main">
  <p:tag name="PA" val="v3.0.1"/>
</p:tagLst>
</file>

<file path=ppt/tags/tag7.xml><?xml version="1.0" encoding="utf-8"?>
<p:tagLst xmlns:a="http://schemas.openxmlformats.org/drawingml/2006/main" xmlns:r="http://schemas.openxmlformats.org/officeDocument/2006/relationships" xmlns:p="http://schemas.openxmlformats.org/presentationml/2006/main">
  <p:tag name="PA" val="v3.0.1"/>
</p:tagLst>
</file>

<file path=ppt/tags/tag8.xml><?xml version="1.0" encoding="utf-8"?>
<p:tagLst xmlns:a="http://schemas.openxmlformats.org/drawingml/2006/main" xmlns:r="http://schemas.openxmlformats.org/officeDocument/2006/relationships" xmlns:p="http://schemas.openxmlformats.org/presentationml/2006/main">
  <p:tag name="PA" val="v3.0.1"/>
</p:tagLst>
</file>

<file path=ppt/tags/tag9.xml><?xml version="1.0" encoding="utf-8"?>
<p:tagLst xmlns:a="http://schemas.openxmlformats.org/drawingml/2006/main" xmlns:r="http://schemas.openxmlformats.org/officeDocument/2006/relationships" xmlns:p="http://schemas.openxmlformats.org/presentationml/2006/main">
  <p:tag name="PA" val="v3.0.1"/>
</p:tagLst>
</file>

<file path=ppt/tags/tag10.xml><?xml version="1.0" encoding="utf-8"?>
<p:tagLst xmlns:a="http://schemas.openxmlformats.org/drawingml/2006/main" xmlns:r="http://schemas.openxmlformats.org/officeDocument/2006/relationships" xmlns:p="http://schemas.openxmlformats.org/presentationml/2006/main">
  <p:tag name="PA" val="v3.0.1"/>
</p:tagLst>
</file>

<file path=ppt/tags/tag11.xml><?xml version="1.0" encoding="utf-8"?>
<p:tagLst xmlns:a="http://schemas.openxmlformats.org/drawingml/2006/main" xmlns:r="http://schemas.openxmlformats.org/officeDocument/2006/relationships" xmlns:p="http://schemas.openxmlformats.org/presentationml/2006/main">
  <p:tag name="PA" val="v3.0.1"/>
</p:tagLst>
</file>

<file path=ppt/tags/tag12.xml><?xml version="1.0" encoding="utf-8"?>
<p:tagLst xmlns:a="http://schemas.openxmlformats.org/drawingml/2006/main" xmlns:r="http://schemas.openxmlformats.org/officeDocument/2006/relationships" xmlns:p="http://schemas.openxmlformats.org/presentationml/2006/main">
  <p:tag name="PA" val="v3.0.1"/>
</p:tagLst>
</file>

<file path=ppt/tags/tag13.xml><?xml version="1.0" encoding="utf-8"?>
<p:tagLst xmlns:a="http://schemas.openxmlformats.org/drawingml/2006/main" xmlns:r="http://schemas.openxmlformats.org/officeDocument/2006/relationships" xmlns:p="http://schemas.openxmlformats.org/presentationml/2006/main">
  <p:tag name="PA" val="v3.0.1"/>
</p:tagLst>
</file>

<file path=ppt/tags/tag14.xml><?xml version="1.0" encoding="utf-8"?>
<p:tagLst xmlns:a="http://schemas.openxmlformats.org/drawingml/2006/main" xmlns:r="http://schemas.openxmlformats.org/officeDocument/2006/relationships" xmlns:p="http://schemas.openxmlformats.org/presentationml/2006/main">
  <p:tag name="PA" val="v3.0.1"/>
</p:tagLst>
</file>

<file path=ppt/tags/tag15.xml><?xml version="1.0" encoding="utf-8"?>
<p:tagLst xmlns:a="http://schemas.openxmlformats.org/drawingml/2006/main" xmlns:r="http://schemas.openxmlformats.org/officeDocument/2006/relationships" xmlns:p="http://schemas.openxmlformats.org/presentationml/2006/main">
  <p:tag name="PA" val="v3.0.1"/>
</p:tagLst>
</file>

<file path=ppt/tags/tag16.xml><?xml version="1.0" encoding="utf-8"?>
<p:tagLst xmlns:a="http://schemas.openxmlformats.org/drawingml/2006/main" xmlns:r="http://schemas.openxmlformats.org/officeDocument/2006/relationships" xmlns:p="http://schemas.openxmlformats.org/presentationml/2006/main">
  <p:tag name="PA" val="v3.0.1"/>
</p:tagLst>
</file>

<file path=ppt/tags/tag17.xml><?xml version="1.0" encoding="utf-8"?>
<p:tagLst xmlns:a="http://schemas.openxmlformats.org/drawingml/2006/main" xmlns:r="http://schemas.openxmlformats.org/officeDocument/2006/relationships" xmlns:p="http://schemas.openxmlformats.org/presentationml/2006/main">
  <p:tag name="PA" val="v3.0.1"/>
</p:tagLst>
</file>

<file path=ppt/tags/tag18.xml><?xml version="1.0" encoding="utf-8"?>
<p:tagLst xmlns:a="http://schemas.openxmlformats.org/drawingml/2006/main" xmlns:r="http://schemas.openxmlformats.org/officeDocument/2006/relationships" xmlns:p="http://schemas.openxmlformats.org/presentationml/2006/main">
  <p:tag name="PA" val="v3.0.1"/>
</p:tagLst>
</file>

<file path=ppt/tags/tag19.xml><?xml version="1.0" encoding="utf-8"?>
<p:tagLst xmlns:a="http://schemas.openxmlformats.org/drawingml/2006/main" xmlns:r="http://schemas.openxmlformats.org/officeDocument/2006/relationships" xmlns:p="http://schemas.openxmlformats.org/presentationml/2006/main">
  <p:tag name="PA" val="v3.0.1"/>
</p:tagLst>
</file>

<file path=ppt/tags/tag20.xml><?xml version="1.0" encoding="utf-8"?>
<p:tagLst xmlns:a="http://schemas.openxmlformats.org/drawingml/2006/main" xmlns:r="http://schemas.openxmlformats.org/officeDocument/2006/relationships" xmlns:p="http://schemas.openxmlformats.org/presentationml/2006/main">
  <p:tag name="PA" val="v3.0.1"/>
</p:tagLst>
</file>

<file path=ppt/tags/tag21.xml><?xml version="1.0" encoding="utf-8"?>
<p:tagLst xmlns:a="http://schemas.openxmlformats.org/drawingml/2006/main" xmlns:r="http://schemas.openxmlformats.org/officeDocument/2006/relationships" xmlns:p="http://schemas.openxmlformats.org/presentationml/2006/main">
  <p:tag name="PA" val="v3.0.1"/>
</p:tagLst>
</file>

<file path=ppt/tags/tag22.xml><?xml version="1.0" encoding="utf-8"?>
<p:tagLst xmlns:a="http://schemas.openxmlformats.org/drawingml/2006/main" xmlns:r="http://schemas.openxmlformats.org/officeDocument/2006/relationships" xmlns:p="http://schemas.openxmlformats.org/presentationml/2006/main">
  <p:tag name="PA" val="v3.0.1"/>
</p:tagLst>
</file>

<file path=ppt/tags/tag23.xml><?xml version="1.0" encoding="utf-8"?>
<p:tagLst xmlns:a="http://schemas.openxmlformats.org/drawingml/2006/main" xmlns:r="http://schemas.openxmlformats.org/officeDocument/2006/relationships" xmlns:p="http://schemas.openxmlformats.org/presentationml/2006/main">
  <p:tag name="PA" val="v3.0.1"/>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443</TotalTime>
  <Words>1322</Words>
  <Application>Microsoft Office PowerPoint</Application>
  <PresentationFormat>全屏显示(4:3)</PresentationFormat>
  <Paragraphs>190</Paragraphs>
  <Slides>23</Slides>
  <Notes>10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4</vt:i4>
      </vt:variant>
      <vt:variant>
        <vt:lpstr>幻灯片标题</vt:lpstr>
      </vt:variant>
      <vt:variant>
        <vt:i4>23</vt:i4>
      </vt:variant>
    </vt:vector>
  </HeadingPairs>
  <TitlesOfParts>
    <vt:vector size="38" baseType="lpstr">
      <vt:lpstr>等线</vt:lpstr>
      <vt:lpstr>华文琥珀</vt:lpstr>
      <vt:lpstr>华文楷体</vt:lpstr>
      <vt:lpstr>楷体</vt:lpstr>
      <vt:lpstr>宋体</vt:lpstr>
      <vt:lpstr>微软雅黑</vt:lpstr>
      <vt:lpstr>Arial</vt:lpstr>
      <vt:lpstr>Calibri</vt:lpstr>
      <vt:lpstr>Calibri Light</vt:lpstr>
      <vt:lpstr>Times New Roman</vt:lpstr>
      <vt:lpstr>Office 主题​​</vt:lpstr>
      <vt:lpstr>Bitmap Image</vt:lpstr>
      <vt:lpstr>公式</vt:lpstr>
      <vt:lpstr>Equation</vt:lpstr>
      <vt:lpstr>Document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DELL</dc:creator>
  <cp:lastModifiedBy>DELL</cp:lastModifiedBy>
  <cp:revision>86</cp:revision>
  <dcterms:created xsi:type="dcterms:W3CDTF">2022-10-24T02:24:35Z</dcterms:created>
  <dcterms:modified xsi:type="dcterms:W3CDTF">2022-10-27T06:50:43Z</dcterms:modified>
</cp:coreProperties>
</file>